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7"/>
  </p:notesMasterIdLst>
  <p:handoutMasterIdLst>
    <p:handoutMasterId r:id="rId38"/>
  </p:handoutMasterIdLst>
  <p:sldIdLst>
    <p:sldId id="363" r:id="rId5"/>
    <p:sldId id="398" r:id="rId6"/>
    <p:sldId id="413" r:id="rId7"/>
    <p:sldId id="265" r:id="rId8"/>
    <p:sldId id="2147483578" r:id="rId9"/>
    <p:sldId id="2147483584" r:id="rId10"/>
    <p:sldId id="2147483583" r:id="rId11"/>
    <p:sldId id="2147483582" r:id="rId12"/>
    <p:sldId id="345" r:id="rId13"/>
    <p:sldId id="344" r:id="rId14"/>
    <p:sldId id="343" r:id="rId15"/>
    <p:sldId id="2147483581" r:id="rId16"/>
    <p:sldId id="2147483588" r:id="rId17"/>
    <p:sldId id="2147483585" r:id="rId18"/>
    <p:sldId id="2147483587" r:id="rId19"/>
    <p:sldId id="2147483586" r:id="rId20"/>
    <p:sldId id="347" r:id="rId21"/>
    <p:sldId id="346" r:id="rId22"/>
    <p:sldId id="349" r:id="rId23"/>
    <p:sldId id="285" r:id="rId24"/>
    <p:sldId id="421" r:id="rId25"/>
    <p:sldId id="422" r:id="rId26"/>
    <p:sldId id="423" r:id="rId27"/>
    <p:sldId id="424" r:id="rId28"/>
    <p:sldId id="425" r:id="rId29"/>
    <p:sldId id="426" r:id="rId30"/>
    <p:sldId id="429" r:id="rId31"/>
    <p:sldId id="427" r:id="rId32"/>
    <p:sldId id="432" r:id="rId33"/>
    <p:sldId id="430" r:id="rId34"/>
    <p:sldId id="415" r:id="rId35"/>
    <p:sldId id="412" r:id="rId36"/>
  </p:sldIdLst>
  <p:sldSz cx="9144000" cy="5143500" type="screen16x9"/>
  <p:notesSz cx="7315200" cy="9601200"/>
  <p:embeddedFontLst>
    <p:embeddedFont>
      <p:font typeface="Encode Sans Normal ExtraBold" panose="02000000000000000000" pitchFamily="2" charset="0"/>
      <p:bold r:id="rId39"/>
    </p:embeddedFont>
    <p:embeddedFont>
      <p:font typeface="Encode Sans Normal Medium" panose="02000000000000000000" pitchFamily="2" charset="0"/>
      <p:regular r:id="rId40"/>
    </p:embeddedFont>
    <p:embeddedFont>
      <p:font typeface="Open Sans" panose="020B0606030504020204" pitchFamily="34" charset="0"/>
      <p:regular r:id="rId41"/>
      <p:bold r:id="rId42"/>
      <p:italic r:id="rId43"/>
      <p:boldItalic r:id="rId44"/>
    </p:embeddedFont>
    <p:embeddedFont>
      <p:font typeface="Open Sans Light" panose="020B0306030504020204" pitchFamily="34" charset="0"/>
      <p:regular r:id="rId45"/>
      <p:italic r:id="rId46"/>
    </p:embeddedFont>
  </p:embeddedFontLst>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Slide Template" id="{8D555BDC-712A-D847-BE44-26DF3EC466F7}">
          <p14:sldIdLst>
            <p14:sldId id="363"/>
            <p14:sldId id="398"/>
            <p14:sldId id="413"/>
            <p14:sldId id="265"/>
            <p14:sldId id="2147483578"/>
            <p14:sldId id="2147483584"/>
            <p14:sldId id="2147483583"/>
            <p14:sldId id="2147483582"/>
            <p14:sldId id="345"/>
            <p14:sldId id="344"/>
            <p14:sldId id="343"/>
            <p14:sldId id="2147483581"/>
            <p14:sldId id="2147483588"/>
            <p14:sldId id="2147483585"/>
            <p14:sldId id="2147483587"/>
            <p14:sldId id="2147483586"/>
            <p14:sldId id="347"/>
            <p14:sldId id="346"/>
            <p14:sldId id="349"/>
            <p14:sldId id="285"/>
            <p14:sldId id="421"/>
            <p14:sldId id="422"/>
            <p14:sldId id="423"/>
            <p14:sldId id="424"/>
            <p14:sldId id="425"/>
            <p14:sldId id="426"/>
            <p14:sldId id="429"/>
            <p14:sldId id="427"/>
            <p14:sldId id="432"/>
            <p14:sldId id="430"/>
            <p14:sldId id="415"/>
            <p14:sldId id="4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guide id="4" pos="228">
          <p15:clr>
            <a:srgbClr val="A4A3A4"/>
          </p15:clr>
        </p15:guide>
        <p15:guide id="5" pos="2887">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9F29"/>
    <a:srgbClr val="32006E"/>
    <a:srgbClr val="361F6D"/>
    <a:srgbClr val="41298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2"/>
    <p:restoredTop sz="72213" autoAdjust="0"/>
  </p:normalViewPr>
  <p:slideViewPr>
    <p:cSldViewPr snapToGrid="0">
      <p:cViewPr varScale="1">
        <p:scale>
          <a:sx n="151" d="100"/>
          <a:sy n="151" d="100"/>
        </p:scale>
        <p:origin x="240" y="138"/>
      </p:cViewPr>
      <p:guideLst>
        <p:guide orient="horz" pos="2160"/>
        <p:guide pos="2880"/>
        <p:guide orient="horz" pos="1620"/>
        <p:guide pos="228"/>
        <p:guide pos="2887"/>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5320" y="152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mn-lt"/>
                <a:cs typeface="+mn-cs"/>
              </a:defRPr>
            </a:lvl1pPr>
          </a:lstStyle>
          <a:p>
            <a:pPr>
              <a:defRPr/>
            </a:pP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smtClean="0">
                <a:latin typeface="+mn-lt"/>
                <a:cs typeface="+mn-cs"/>
              </a:defRPr>
            </a:lvl1pPr>
          </a:lstStyle>
          <a:p>
            <a:pPr>
              <a:defRPr/>
            </a:pPr>
            <a:fld id="{F87AE820-DFE1-4C3C-B564-108A438BD633}" type="datetimeFigureOut">
              <a:rPr lang="en-US">
                <a:latin typeface="Open Sans Light" panose="020B0606030504020204" pitchFamily="34" charset="0"/>
                <a:ea typeface="Open Sans Light" panose="020B0606030504020204" pitchFamily="34" charset="0"/>
                <a:cs typeface="Open Sans Light" panose="020B0606030504020204" pitchFamily="34" charset="0"/>
              </a:rPr>
              <a:pPr>
                <a:defRPr/>
              </a:pPr>
              <a:t>4/13/2026</a:t>
            </a:fld>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mn-lt"/>
                <a:cs typeface="+mn-cs"/>
              </a:defRPr>
            </a:lvl1pPr>
          </a:lstStyle>
          <a:p>
            <a:pPr>
              <a:defRPr/>
            </a:pP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smtClean="0">
                <a:latin typeface="+mn-lt"/>
                <a:cs typeface="+mn-cs"/>
              </a:defRPr>
            </a:lvl1pPr>
          </a:lstStyle>
          <a:p>
            <a:pPr>
              <a:defRPr/>
            </a:pPr>
            <a:fld id="{429C84BD-FF2B-4119-9416-77652C2C47E2}" type="slidenum">
              <a:rPr lang="en-US">
                <a:latin typeface="Open Sans Light" panose="020B0606030504020204" pitchFamily="34" charset="0"/>
                <a:ea typeface="Open Sans Light" panose="020B0606030504020204" pitchFamily="34" charset="0"/>
                <a:cs typeface="Open Sans Light" panose="020B0606030504020204" pitchFamily="34" charset="0"/>
              </a:rPr>
              <a:pPr>
                <a:defRPr/>
              </a:pPr>
              <a:t>‹#›</a:t>
            </a:fld>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Tree>
    <p:extLst>
      <p:ext uri="{BB962C8B-B14F-4D97-AF65-F5344CB8AC3E}">
        <p14:creationId xmlns:p14="http://schemas.microsoft.com/office/powerpoint/2010/main" val="137617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smtClean="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fld id="{7C0560D2-22A1-4522-9A61-5BC081CC233D}" type="datetimeFigureOut">
              <a:rPr lang="en-US" smtClean="0"/>
              <a:pPr>
                <a:defRPr/>
              </a:pPr>
              <a:t>4/13/2026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smtClean="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fld id="{7B479713-0D50-44A6-B1F4-4082749E615F}" type="slidenum">
              <a:rPr lang="en-US" smtClean="0"/>
              <a:pPr>
                <a:defRPr/>
              </a:pPr>
              <a:t>‹#›</a:t>
            </a:fld>
            <a:endParaRPr lang="en-US"/>
          </a:p>
        </p:txBody>
      </p:sp>
    </p:spTree>
    <p:extLst>
      <p:ext uri="{BB962C8B-B14F-4D97-AF65-F5344CB8AC3E}">
        <p14:creationId xmlns:p14="http://schemas.microsoft.com/office/powerpoint/2010/main" val="1719214621"/>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2pPr>
    <a:lvl3pPr marL="9144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3716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4pPr>
    <a:lvl5pPr marL="18288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a:t>
            </a:fld>
            <a:endParaRPr lang="en-US"/>
          </a:p>
        </p:txBody>
      </p:sp>
    </p:spTree>
    <p:extLst>
      <p:ext uri="{BB962C8B-B14F-4D97-AF65-F5344CB8AC3E}">
        <p14:creationId xmlns:p14="http://schemas.microsoft.com/office/powerpoint/2010/main" val="4219873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a:t>
            </a:fld>
            <a:endParaRPr lang="en-US"/>
          </a:p>
        </p:txBody>
      </p:sp>
    </p:spTree>
    <p:extLst>
      <p:ext uri="{BB962C8B-B14F-4D97-AF65-F5344CB8AC3E}">
        <p14:creationId xmlns:p14="http://schemas.microsoft.com/office/powerpoint/2010/main" val="2882380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a:t>
            </a:fld>
            <a:endParaRPr lang="en-US"/>
          </a:p>
        </p:txBody>
      </p:sp>
    </p:spTree>
    <p:extLst>
      <p:ext uri="{BB962C8B-B14F-4D97-AF65-F5344CB8AC3E}">
        <p14:creationId xmlns:p14="http://schemas.microsoft.com/office/powerpoint/2010/main" val="2796864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A87F-74B0-1783-24C6-F2D06EC1C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BBDAE-9AC9-0C7F-AF56-E37B9838E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E4EAC-7A7B-FC63-1FDA-2855C315955B}"/>
              </a:ext>
            </a:extLst>
          </p:cNvPr>
          <p:cNvSpPr>
            <a:spLocks noGrp="1"/>
          </p:cNvSpPr>
          <p:nvPr>
            <p:ph type="body" idx="1"/>
          </p:nvPr>
        </p:nvSpPr>
        <p:spPr/>
        <p:txBody>
          <a:bodyPr>
            <a:normAutofit/>
          </a:bodyPr>
          <a:lstStyle/>
          <a:p>
            <a:pPr>
              <a:buFont typeface="Arial" panose="020B0604020202020204" pitchFamily="34" charset="0"/>
              <a:buChar char="•"/>
            </a:pPr>
            <a:r>
              <a:rPr lang="en-US" dirty="0"/>
              <a:t>Everything happens in one place: the UiPath Platform—where AI Agents aren’t just assistants, they’re true work partners, transforming complexity into a seamless, orchestrated operation.</a:t>
            </a:r>
          </a:p>
          <a:p>
            <a:pPr>
              <a:buFont typeface="Arial" panose="020B0604020202020204" pitchFamily="34" charset="0"/>
              <a:buChar char="•"/>
            </a:pPr>
            <a:endParaRPr lang="en-US" dirty="0"/>
          </a:p>
          <a:p>
            <a:pPr>
              <a:buFont typeface="Arial" panose="020B0604020202020204" pitchFamily="34" charset="0"/>
              <a:buChar char="•"/>
            </a:pPr>
            <a:r>
              <a:rPr lang="en-US" dirty="0"/>
              <a:t>We break it down into three powerful layers: </a:t>
            </a:r>
            <a:r>
              <a:rPr lang="en-US" b="1" dirty="0"/>
              <a:t>Activities</a:t>
            </a:r>
            <a:r>
              <a:rPr lang="en-US" dirty="0"/>
              <a:t> (the building blocks—reading, processing, integrating), </a:t>
            </a:r>
            <a:r>
              <a:rPr lang="en-US" b="1" dirty="0"/>
              <a:t>Workflows</a:t>
            </a:r>
            <a:r>
              <a:rPr lang="en-US" dirty="0"/>
              <a:t> (connecting the dots with human-in-the-loop and testing), and </a:t>
            </a:r>
            <a:r>
              <a:rPr lang="en-US" b="1" dirty="0"/>
              <a:t>Processes</a:t>
            </a:r>
            <a:r>
              <a:rPr lang="en-US" dirty="0"/>
              <a:t> (the big picture—managing, optimizing, and enhancing enterprise operations).</a:t>
            </a:r>
          </a:p>
          <a:p>
            <a:pPr>
              <a:buFont typeface="Arial" panose="020B0604020202020204" pitchFamily="34" charset="0"/>
              <a:buChar char="•"/>
            </a:pPr>
            <a:endParaRPr lang="en-US" dirty="0"/>
          </a:p>
          <a:p>
            <a:pPr>
              <a:buFont typeface="Arial" panose="020B0604020202020204" pitchFamily="34" charset="0"/>
              <a:buChar char="•"/>
            </a:pPr>
            <a:r>
              <a:rPr lang="en-US" dirty="0"/>
              <a:t>Agentic Orchestration / Maestro takes automation even further—coordinating UiPath Agents, third-party AI models, people, robots, and tools into a single, intelligent system.</a:t>
            </a:r>
          </a:p>
          <a:p>
            <a:pPr>
              <a:buFont typeface="Arial" panose="020B0604020202020204" pitchFamily="34" charset="0"/>
              <a:buChar char="•"/>
            </a:pPr>
            <a:endParaRPr lang="en-US" dirty="0"/>
          </a:p>
          <a:p>
            <a:pPr>
              <a:buFont typeface="Arial" panose="020B0604020202020204" pitchFamily="34" charset="0"/>
              <a:buChar char="•"/>
            </a:pPr>
            <a:r>
              <a:rPr lang="en-US" dirty="0"/>
              <a:t>Your existing systems don’t need to be reinvented—our platform integrates seamlessly with your data, applications, and workflows while maintaining enterprise-grade security, governance, and AI trust.</a:t>
            </a:r>
          </a:p>
          <a:p>
            <a:pPr>
              <a:buFont typeface="Arial" panose="020B0604020202020204" pitchFamily="34" charset="0"/>
              <a:buChar char="•"/>
            </a:pPr>
            <a:endParaRPr lang="en-US" dirty="0"/>
          </a:p>
          <a:p>
            <a:pPr>
              <a:buFont typeface="Arial" panose="020B0604020202020204" pitchFamily="34" charset="0"/>
              <a:buChar char="•"/>
            </a:pPr>
            <a:r>
              <a:rPr lang="en-US" dirty="0"/>
              <a:t>We’re not just compatible with your tech stack—we enhance it. From cloud providers like AWS, Google, and Azure to enterprise apps like Salesforce and SAP, we turn digital chaos into a symphony of efficiency.</a:t>
            </a:r>
          </a:p>
        </p:txBody>
      </p:sp>
      <p:sp>
        <p:nvSpPr>
          <p:cNvPr id="4" name="Slide Number Placeholder 3">
            <a:extLst>
              <a:ext uri="{FF2B5EF4-FFF2-40B4-BE49-F238E27FC236}">
                <a16:creationId xmlns:a16="http://schemas.microsoft.com/office/drawing/2014/main" id="{F216D4BF-46AD-CBC7-A571-AF4108DD3EFD}"/>
              </a:ext>
            </a:extLst>
          </p:cNvPr>
          <p:cNvSpPr>
            <a:spLocks noGrp="1"/>
          </p:cNvSpPr>
          <p:nvPr>
            <p:ph type="sldNum" sz="quarter" idx="5"/>
          </p:nvPr>
        </p:nvSpPr>
        <p:spPr/>
        <p:txBody>
          <a:bodyPr/>
          <a:lstStyle/>
          <a:p>
            <a:pPr defTabSz="483306">
              <a:defRPr/>
            </a:pPr>
            <a:fld id="{1618B97D-45A5-1E45-A1E0-6392C6E84CC6}" type="slidenum">
              <a:rPr lang="en-US">
                <a:solidFill>
                  <a:prstClr val="black"/>
                </a:solidFill>
                <a:latin typeface="Calibri"/>
                <a:ea typeface="+mn-ea"/>
                <a:cs typeface="+mn-cs"/>
              </a:rPr>
              <a:pPr defTabSz="483306">
                <a:defRPr/>
              </a:pPr>
              <a:t>4</a:t>
            </a:fld>
            <a:endParaRPr lang="en-US">
              <a:solidFill>
                <a:prstClr val="black"/>
              </a:solidFill>
              <a:latin typeface="Calibri"/>
              <a:ea typeface="+mn-ea"/>
              <a:cs typeface="+mn-cs"/>
            </a:endParaRPr>
          </a:p>
        </p:txBody>
      </p:sp>
    </p:spTree>
    <p:extLst>
      <p:ext uri="{BB962C8B-B14F-4D97-AF65-F5344CB8AC3E}">
        <p14:creationId xmlns:p14="http://schemas.microsoft.com/office/powerpoint/2010/main" val="369260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Process Model and Notation (BPMN) is a standardized graphical notation used for modeling, visualizing, and communicating business processes. It provides a clear, structured way of representing the sequence, flow, and logic of tasks within an organization or between different organizations. The primary objective of BPMN is to simplify process communication among stakeholders (such as business analysts, managers, and IT professionals) by providing a universally understood visual language.</a:t>
            </a:r>
          </a:p>
          <a:p>
            <a:endParaRPr lang="en-US" dirty="0"/>
          </a:p>
          <a:p>
            <a:r>
              <a:rPr lang="en-US" dirty="0"/>
              <a:t>BPMN consists of various symbols and notations, which fall into several core categories:</a:t>
            </a:r>
          </a:p>
          <a:p>
            <a:pPr marL="228600" indent="-228600">
              <a:buAutoNum type="arabicPeriod"/>
            </a:pPr>
            <a:r>
              <a:rPr lang="ro-RO" dirty="0"/>
              <a:t>Events</a:t>
            </a:r>
            <a:r>
              <a:rPr lang="en-US" dirty="0"/>
              <a:t> - </a:t>
            </a:r>
            <a:r>
              <a:rPr lang="ro-RO" dirty="0"/>
              <a:t>show </a:t>
            </a:r>
            <a:r>
              <a:rPr lang="ro-RO" b="1" dirty="0"/>
              <a:t>when</a:t>
            </a:r>
            <a:r>
              <a:rPr lang="ro-RO" dirty="0"/>
              <a:t> things happen.</a:t>
            </a:r>
            <a:endParaRPr lang="en-US" dirty="0"/>
          </a:p>
          <a:p>
            <a:pPr marL="228600" indent="-228600">
              <a:buAutoNum type="arabicPeriod"/>
            </a:pPr>
            <a:r>
              <a:rPr lang="ro-RO" dirty="0"/>
              <a:t>Activities</a:t>
            </a:r>
            <a:r>
              <a:rPr lang="en-US" dirty="0"/>
              <a:t> - </a:t>
            </a:r>
            <a:r>
              <a:rPr lang="ro-RO" dirty="0"/>
              <a:t>represent the </a:t>
            </a:r>
            <a:r>
              <a:rPr lang="ro-RO" b="1" dirty="0"/>
              <a:t>work performed</a:t>
            </a:r>
            <a:r>
              <a:rPr lang="ro-RO" dirty="0"/>
              <a:t>.</a:t>
            </a:r>
            <a:endParaRPr lang="en-US" dirty="0"/>
          </a:p>
          <a:p>
            <a:pPr marL="228600" indent="-228600">
              <a:buAutoNum type="arabicPeriod"/>
            </a:pPr>
            <a:r>
              <a:rPr lang="ro-RO" dirty="0"/>
              <a:t>Gateways</a:t>
            </a:r>
            <a:r>
              <a:rPr lang="en-US" dirty="0"/>
              <a:t> - manage the process </a:t>
            </a:r>
            <a:r>
              <a:rPr lang="en-US" b="1" dirty="0"/>
              <a:t>flow and logic</a:t>
            </a:r>
            <a:r>
              <a:rPr lang="en-US" dirty="0"/>
              <a:t>.</a:t>
            </a:r>
          </a:p>
          <a:p>
            <a:pPr marL="0" indent="0">
              <a:buNone/>
            </a:pPr>
            <a:endParaRPr lang="en-US" dirty="0"/>
          </a:p>
          <a:p>
            <a:pPr marL="0" indent="0">
              <a:buNone/>
            </a:pPr>
            <a:r>
              <a:rPr lang="en-US" dirty="0"/>
              <a:t>BPMN helps stakeholders visualize and understand the detailed flow of business processes clearly, facilitating analysis, improvement, and automation.</a:t>
            </a:r>
          </a:p>
          <a:p>
            <a:pPr marL="0" indent="0">
              <a:buNone/>
            </a:pPr>
            <a:endParaRPr lang="en-US" dirty="0"/>
          </a:p>
          <a:p>
            <a:pPr marL="0" indent="0">
              <a:buNone/>
            </a:pPr>
            <a:r>
              <a:rPr lang="en-US" dirty="0"/>
              <a:t>Let’s take them one by one.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618B97D-45A5-1E45-A1E0-6392C6E84C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7920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i="0" dirty="0"/>
              <a:t>Events represent things that happen during a process. They indicate the start, intermediate points, and end of a process.</a:t>
            </a:r>
          </a:p>
          <a:p>
            <a:endParaRPr lang="en-US" i="0" dirty="0"/>
          </a:p>
          <a:p>
            <a:pPr>
              <a:buFont typeface="Arial" panose="020B0604020202020204" pitchFamily="34" charset="0"/>
              <a:buChar char="•"/>
            </a:pPr>
            <a:r>
              <a:rPr lang="en-US" b="1" i="0" dirty="0"/>
              <a:t>Start Event</a:t>
            </a:r>
            <a:r>
              <a:rPr lang="en-US" i="0" dirty="0"/>
              <a:t> (circle with thin outline):</a:t>
            </a:r>
          </a:p>
          <a:p>
            <a:pPr marL="742950" lvl="1" indent="-285750">
              <a:buFont typeface="Arial" panose="020B0604020202020204" pitchFamily="34" charset="0"/>
              <a:buChar char="•"/>
            </a:pPr>
            <a:r>
              <a:rPr lang="en-US" i="0" dirty="0"/>
              <a:t>Indicates the initiation or starting point of a process.</a:t>
            </a:r>
          </a:p>
          <a:p>
            <a:pPr marL="742950" lvl="1" indent="-285750">
              <a:buFont typeface="Arial" panose="020B0604020202020204" pitchFamily="34" charset="0"/>
              <a:buChar char="•"/>
            </a:pPr>
            <a:r>
              <a:rPr lang="en-US" i="0" dirty="0"/>
              <a:t>Example: "Order received“</a:t>
            </a:r>
          </a:p>
          <a:p>
            <a:pPr marL="742950" lvl="1" indent="-285750">
              <a:buFont typeface="Arial" panose="020B0604020202020204" pitchFamily="34" charset="0"/>
              <a:buChar char="•"/>
            </a:pPr>
            <a:endParaRPr lang="en-US" i="0" dirty="0"/>
          </a:p>
          <a:p>
            <a:pPr>
              <a:buFont typeface="Arial" panose="020B0604020202020204" pitchFamily="34" charset="0"/>
              <a:buChar char="•"/>
            </a:pPr>
            <a:r>
              <a:rPr lang="en-US" b="1" i="0" dirty="0"/>
              <a:t>Intermediate Event</a:t>
            </a:r>
            <a:r>
              <a:rPr lang="en-US" i="0" dirty="0"/>
              <a:t> (circle with double outline):</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Marks an occurrence during the process flow, often used for triggers, timers, messages, or conditions. </a:t>
            </a:r>
            <a:r>
              <a:rPr lang="en-US" sz="1800" i="0" dirty="0">
                <a:effectLst/>
                <a:latin typeface="Times New Roman" panose="02020603050405020304" pitchFamily="18" charset="0"/>
                <a:ea typeface="Times New Roman" panose="02020603050405020304" pitchFamily="18" charset="0"/>
              </a:rPr>
              <a:t>An Intermediate Throwing Event indicates that something is happening between the start and end of a process. Intermediate Events affect the flow of a process, but do not start or directly terminate the process.</a:t>
            </a:r>
            <a:endParaRPr lang="en-US" i="0" dirty="0"/>
          </a:p>
          <a:p>
            <a:pPr marL="742950" lvl="1" indent="-285750">
              <a:buFont typeface="Arial" panose="020B0604020202020204" pitchFamily="34" charset="0"/>
              <a:buChar char="•"/>
            </a:pPr>
            <a:r>
              <a:rPr lang="en-US" i="0" dirty="0"/>
              <a:t>Example: "Wait for payment confirmation“</a:t>
            </a:r>
          </a:p>
          <a:p>
            <a:pPr marL="742950" lvl="1" indent="-285750">
              <a:buFont typeface="Arial" panose="020B0604020202020204" pitchFamily="34" charset="0"/>
              <a:buChar char="•"/>
            </a:pPr>
            <a:endParaRPr lang="en-US" i="0" dirty="0"/>
          </a:p>
          <a:p>
            <a:pPr>
              <a:buFont typeface="Arial" panose="020B0604020202020204" pitchFamily="34" charset="0"/>
              <a:buChar char="•"/>
            </a:pPr>
            <a:r>
              <a:rPr lang="en-US" b="1" i="0" dirty="0"/>
              <a:t>End Event</a:t>
            </a:r>
            <a:r>
              <a:rPr lang="en-US" i="0" dirty="0"/>
              <a:t> (circle with thick outline):</a:t>
            </a:r>
          </a:p>
          <a:p>
            <a:pPr marL="742950" lvl="1" indent="-285750">
              <a:buFont typeface="Arial" panose="020B0604020202020204" pitchFamily="34" charset="0"/>
              <a:buChar char="•"/>
            </a:pPr>
            <a:r>
              <a:rPr lang="en-US" i="0" dirty="0"/>
              <a:t>Indicates the completion or final outcome of a process, </a:t>
            </a:r>
            <a:r>
              <a:rPr lang="en-US" sz="1800" i="0" dirty="0">
                <a:effectLst/>
                <a:latin typeface="Times New Roman" panose="02020603050405020304" pitchFamily="18" charset="0"/>
                <a:ea typeface="Times New Roman" panose="02020603050405020304" pitchFamily="18" charset="0"/>
              </a:rPr>
              <a:t>and every process has at least one end event.</a:t>
            </a:r>
            <a:endParaRPr lang="en-US" i="0" dirty="0"/>
          </a:p>
          <a:p>
            <a:pPr marL="742950" lvl="1" indent="-285750">
              <a:buFont typeface="Arial" panose="020B0604020202020204" pitchFamily="34" charset="0"/>
              <a:buChar char="•"/>
            </a:pPr>
            <a:r>
              <a:rPr lang="en-US" i="0" dirty="0"/>
              <a:t>Example: "Order delivered successfully“</a:t>
            </a:r>
          </a:p>
          <a:p>
            <a:pPr marL="742950" lvl="1" indent="-285750">
              <a:buFont typeface="Arial" panose="020B0604020202020204" pitchFamily="34" charset="0"/>
              <a:buChar char="•"/>
            </a:pPr>
            <a:endParaRPr lang="en-US" i="0" dirty="0"/>
          </a:p>
          <a:p>
            <a:r>
              <a:rPr lang="en-US" i="0" dirty="0"/>
              <a:t>Events may have specific symbols inside them to further describe the type, such as:</a:t>
            </a:r>
          </a:p>
          <a:p>
            <a:pPr>
              <a:buFont typeface="Arial" panose="020B0604020202020204" pitchFamily="34" charset="0"/>
              <a:buChar char="•"/>
            </a:pPr>
            <a:r>
              <a:rPr lang="en-US" i="0" dirty="0"/>
              <a:t>Timer events ⏲️ (e.g., waiting until a certain date or period passes).</a:t>
            </a:r>
          </a:p>
          <a:p>
            <a:pPr>
              <a:buFont typeface="Arial" panose="020B0604020202020204" pitchFamily="34" charset="0"/>
              <a:buChar char="•"/>
            </a:pPr>
            <a:r>
              <a:rPr lang="en-US" i="0" dirty="0"/>
              <a:t>Message events 📩 (e.g., receiving or sending information).</a:t>
            </a:r>
          </a:p>
          <a:p>
            <a:pPr>
              <a:buFont typeface="Arial" panose="020B0604020202020204" pitchFamily="34" charset="0"/>
              <a:buNone/>
            </a:pPr>
            <a:endParaRPr lang="en-US" i="0" dirty="0"/>
          </a:p>
          <a:p>
            <a:r>
              <a:rPr lang="en-US" b="1" dirty="0"/>
              <a:t>Start &amp; End Events best practices</a:t>
            </a:r>
          </a:p>
          <a:p>
            <a:pPr>
              <a:buFont typeface="Arial" panose="020B0604020202020204" pitchFamily="34" charset="0"/>
              <a:buChar char="•"/>
            </a:pPr>
            <a:r>
              <a:rPr lang="en-US" dirty="0"/>
              <a:t>Always include </a:t>
            </a:r>
            <a:r>
              <a:rPr lang="en-US" b="1" dirty="0"/>
              <a:t>Start and End Events</a:t>
            </a:r>
            <a:r>
              <a:rPr lang="en-US" dirty="0"/>
              <a:t>.</a:t>
            </a:r>
          </a:p>
          <a:p>
            <a:pPr>
              <a:buFont typeface="Arial" panose="020B0604020202020204" pitchFamily="34" charset="0"/>
              <a:buChar char="•"/>
            </a:pPr>
            <a:r>
              <a:rPr lang="en-US" dirty="0"/>
              <a:t>Represent alternative </a:t>
            </a:r>
            <a:r>
              <a:rPr lang="en-US" b="1" dirty="0"/>
              <a:t>process initiations</a:t>
            </a:r>
            <a:r>
              <a:rPr lang="en-US" dirty="0"/>
              <a:t> with separate Start Events.</a:t>
            </a:r>
          </a:p>
          <a:p>
            <a:pPr>
              <a:buFont typeface="Arial" panose="020B0604020202020204" pitchFamily="34" charset="0"/>
              <a:buChar char="•"/>
            </a:pPr>
            <a:r>
              <a:rPr lang="en-US" dirty="0"/>
              <a:t>Use distinct </a:t>
            </a:r>
            <a:r>
              <a:rPr lang="en-US" b="1" dirty="0"/>
              <a:t>End Events</a:t>
            </a:r>
            <a:r>
              <a:rPr lang="en-US" dirty="0"/>
              <a:t> for different outcomes.</a:t>
            </a:r>
          </a:p>
          <a:p>
            <a:pPr>
              <a:buFont typeface="Arial" panose="020B0604020202020204" pitchFamily="34" charset="0"/>
              <a:buChar char="•"/>
            </a:pPr>
            <a:r>
              <a:rPr lang="en-US" dirty="0"/>
              <a:t>Merge flows that lead to the same </a:t>
            </a:r>
            <a:r>
              <a:rPr lang="en-US" b="1" dirty="0"/>
              <a:t>end state</a:t>
            </a:r>
            <a:r>
              <a:rPr lang="en-US" dirty="0"/>
              <a:t>.</a:t>
            </a:r>
          </a:p>
          <a:p>
            <a:pPr>
              <a:buFont typeface="Arial" panose="020B0604020202020204" pitchFamily="34" charset="0"/>
              <a:buChar char="•"/>
            </a:pPr>
            <a:endParaRPr lang="en-US" i="0" dirty="0"/>
          </a:p>
          <a:p>
            <a:endParaRPr lang="en-US" i="0" dirty="0"/>
          </a:p>
          <a:p>
            <a:endParaRPr lang="en-SG" dirty="0"/>
          </a:p>
        </p:txBody>
      </p:sp>
      <p:sp>
        <p:nvSpPr>
          <p:cNvPr id="4" name="Slide Number Placeholder 3"/>
          <p:cNvSpPr>
            <a:spLocks noGrp="1"/>
          </p:cNvSpPr>
          <p:nvPr>
            <p:ph type="sldNum" sz="quarter" idx="5"/>
          </p:nvPr>
        </p:nvSpPr>
        <p:spPr/>
        <p:txBody>
          <a:bodyPr/>
          <a:lstStyle/>
          <a:p>
            <a:fld id="{1409B15B-20B2-214F-AADC-50F2CA7A0C43}" type="slidenum">
              <a:rPr lang="en-US" smtClean="0"/>
              <a:t>8</a:t>
            </a:fld>
            <a:endParaRPr lang="en-US" dirty="0"/>
          </a:p>
        </p:txBody>
      </p:sp>
    </p:spTree>
    <p:extLst>
      <p:ext uri="{BB962C8B-B14F-4D97-AF65-F5344CB8AC3E}">
        <p14:creationId xmlns:p14="http://schemas.microsoft.com/office/powerpoint/2010/main" val="316523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Activities describe tasks or actions performed within the process. They represent the actual work done.</a:t>
            </a:r>
          </a:p>
          <a:p>
            <a:endParaRPr lang="en-US" dirty="0"/>
          </a:p>
          <a:p>
            <a:pPr>
              <a:buFont typeface="Arial" panose="020B0604020202020204" pitchFamily="34" charset="0"/>
              <a:buChar char="•"/>
            </a:pPr>
            <a:r>
              <a:rPr lang="en-US" b="1" dirty="0"/>
              <a:t>Task</a:t>
            </a:r>
            <a:r>
              <a:rPr lang="en-US" dirty="0"/>
              <a:t> </a:t>
            </a:r>
            <a:r>
              <a:rPr lang="en-US" i="1" dirty="0"/>
              <a:t>(rounded rectangle)</a:t>
            </a:r>
            <a:r>
              <a:rPr lang="en-US" dirty="0"/>
              <a:t>:</a:t>
            </a:r>
          </a:p>
          <a:p>
            <a:pPr marL="742950" lvl="1" indent="-285750">
              <a:buFont typeface="Arial" panose="020B0604020202020204" pitchFamily="34" charset="0"/>
              <a:buChar char="•"/>
            </a:pPr>
            <a:r>
              <a:rPr lang="en-US" dirty="0"/>
              <a:t>Represents an atomic activity or action performed by someone or a system.</a:t>
            </a:r>
          </a:p>
          <a:p>
            <a:pPr marL="742950" lvl="1" indent="-285750">
              <a:buFont typeface="Arial" panose="020B0604020202020204" pitchFamily="34" charset="0"/>
              <a:buChar char="•"/>
            </a:pPr>
            <a:r>
              <a:rPr lang="en-US" dirty="0"/>
              <a:t>Example: </a:t>
            </a:r>
            <a:r>
              <a:rPr lang="en-US" i="1" dirty="0"/>
              <a:t>"Approve loan application“</a:t>
            </a:r>
          </a:p>
          <a:p>
            <a:pPr marL="742950" lvl="1" indent="-285750">
              <a:buFont typeface="Arial" panose="020B0604020202020204" pitchFamily="34" charset="0"/>
              <a:buChar char="•"/>
            </a:pPr>
            <a:endParaRPr lang="en-US" i="1" dirty="0"/>
          </a:p>
          <a:p>
            <a:r>
              <a:rPr lang="en-US" dirty="0"/>
              <a:t>Tasks are further classified based on how they are executed:</a:t>
            </a:r>
          </a:p>
          <a:p>
            <a:pPr>
              <a:buFont typeface="Arial" panose="020B0604020202020204" pitchFamily="34" charset="0"/>
              <a:buChar char="•"/>
            </a:pPr>
            <a:r>
              <a:rPr lang="en-US" b="1" dirty="0"/>
              <a:t>User Task</a:t>
            </a:r>
            <a:r>
              <a:rPr lang="en-US" dirty="0"/>
              <a:t> – Performed by a human (e.g., manual approval).</a:t>
            </a:r>
          </a:p>
          <a:p>
            <a:pPr>
              <a:buFont typeface="Arial" panose="020B0604020202020204" pitchFamily="34" charset="0"/>
              <a:buChar char="•"/>
            </a:pPr>
            <a:r>
              <a:rPr lang="en-US" b="1" dirty="0"/>
              <a:t>Service Task</a:t>
            </a:r>
            <a:r>
              <a:rPr lang="en-US" dirty="0"/>
              <a:t> – Performed by a system or external service.</a:t>
            </a:r>
          </a:p>
          <a:p>
            <a:pPr>
              <a:buFont typeface="Arial" panose="020B0604020202020204" pitchFamily="34" charset="0"/>
              <a:buChar char="•"/>
            </a:pPr>
            <a:r>
              <a:rPr lang="en-US" b="1" dirty="0"/>
              <a:t>Script Task</a:t>
            </a:r>
            <a:r>
              <a:rPr lang="en-US" dirty="0"/>
              <a:t> – Executed automatically via a script.</a:t>
            </a:r>
          </a:p>
          <a:p>
            <a:pPr>
              <a:buFont typeface="Arial" panose="020B0604020202020204" pitchFamily="34" charset="0"/>
              <a:buChar char="•"/>
            </a:pPr>
            <a:r>
              <a:rPr lang="en-US" b="1" dirty="0"/>
              <a:t>Manual Task</a:t>
            </a:r>
            <a:r>
              <a:rPr lang="en-US" dirty="0"/>
              <a:t> – A task performed without automation, such as signing a document</a:t>
            </a:r>
            <a:endParaRPr lang="en-US" i="1" dirty="0"/>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Sub-process</a:t>
            </a:r>
            <a:r>
              <a:rPr lang="en-US" dirty="0"/>
              <a:t> </a:t>
            </a:r>
            <a:r>
              <a:rPr lang="en-US" i="1" dirty="0"/>
              <a:t>(rounded rectangle with plus sign "+")</a:t>
            </a:r>
            <a:r>
              <a:rPr lang="en-US" dirty="0"/>
              <a:t>:</a:t>
            </a:r>
          </a:p>
          <a:p>
            <a:pPr marL="742950" lvl="1" indent="-285750">
              <a:buFont typeface="Arial" panose="020B0604020202020204" pitchFamily="34" charset="0"/>
              <a:buChar char="•"/>
            </a:pPr>
            <a:r>
              <a:rPr lang="en-US" dirty="0"/>
              <a:t>Represents a collection of tasks or subprocesses grouped together, usually depicted in greater detail separately.</a:t>
            </a:r>
          </a:p>
          <a:p>
            <a:pPr marL="742950" lvl="1" indent="-285750">
              <a:buFont typeface="Arial" panose="020B0604020202020204" pitchFamily="34" charset="0"/>
              <a:buChar char="•"/>
            </a:pPr>
            <a:r>
              <a:rPr lang="en-US" dirty="0"/>
              <a:t>Example: </a:t>
            </a:r>
            <a:r>
              <a:rPr lang="en-US" i="1" dirty="0"/>
              <a:t>"Process customer refund" (a subprocess consisting of multiple tasks)</a:t>
            </a:r>
          </a:p>
          <a:p>
            <a:pPr marL="742950" lvl="1" indent="-285750">
              <a:buFont typeface="Arial" panose="020B0604020202020204" pitchFamily="34" charset="0"/>
              <a:buChar char="•"/>
            </a:pPr>
            <a:endParaRPr lang="en-US" dirty="0"/>
          </a:p>
          <a:p>
            <a:r>
              <a:rPr lang="en-US" dirty="0"/>
              <a:t>Activities can also indicate task types:</a:t>
            </a:r>
          </a:p>
          <a:p>
            <a:pPr>
              <a:buFont typeface="Arial" panose="020B0604020202020204" pitchFamily="34" charset="0"/>
              <a:buChar char="•"/>
            </a:pPr>
            <a:r>
              <a:rPr lang="en-US" b="1" dirty="0"/>
              <a:t>User task</a:t>
            </a:r>
            <a:r>
              <a:rPr lang="en-US" dirty="0"/>
              <a:t> </a:t>
            </a:r>
            <a:r>
              <a:rPr lang="en-US" i="1" dirty="0"/>
              <a:t>(human-performed action)</a:t>
            </a:r>
            <a:endParaRPr lang="en-US" dirty="0"/>
          </a:p>
          <a:p>
            <a:pPr>
              <a:buFont typeface="Arial" panose="020B0604020202020204" pitchFamily="34" charset="0"/>
              <a:buChar char="•"/>
            </a:pPr>
            <a:r>
              <a:rPr lang="en-US" b="1" dirty="0"/>
              <a:t>Service task</a:t>
            </a:r>
            <a:r>
              <a:rPr lang="en-US" dirty="0"/>
              <a:t> </a:t>
            </a:r>
            <a:r>
              <a:rPr lang="en-US" i="1" dirty="0"/>
              <a:t>(system-performed action)</a:t>
            </a:r>
            <a:endParaRPr lang="en-US" dirty="0"/>
          </a:p>
          <a:p>
            <a:endParaRPr lang="en-SG" dirty="0"/>
          </a:p>
        </p:txBody>
      </p:sp>
      <p:sp>
        <p:nvSpPr>
          <p:cNvPr id="4" name="Slide Number Placeholder 3"/>
          <p:cNvSpPr>
            <a:spLocks noGrp="1"/>
          </p:cNvSpPr>
          <p:nvPr>
            <p:ph type="sldNum" sz="quarter" idx="5"/>
          </p:nvPr>
        </p:nvSpPr>
        <p:spPr/>
        <p:txBody>
          <a:bodyPr/>
          <a:lstStyle/>
          <a:p>
            <a:fld id="{1409B15B-20B2-214F-AADC-50F2CA7A0C43}" type="slidenum">
              <a:rPr lang="en-US" smtClean="0"/>
              <a:t>10</a:t>
            </a:fld>
            <a:endParaRPr lang="en-US" dirty="0"/>
          </a:p>
        </p:txBody>
      </p:sp>
    </p:spTree>
    <p:extLst>
      <p:ext uri="{BB962C8B-B14F-4D97-AF65-F5344CB8AC3E}">
        <p14:creationId xmlns:p14="http://schemas.microsoft.com/office/powerpoint/2010/main" val="2609446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dirty="0"/>
              <a:t>Gateways control the flow of the process, managing how sequences branch, merge, or parallelize. They handle decision-making logic.</a:t>
            </a:r>
          </a:p>
          <a:p>
            <a:endParaRPr lang="en-US" dirty="0"/>
          </a:p>
          <a:p>
            <a:pPr>
              <a:buFont typeface="Arial" panose="020B0604020202020204" pitchFamily="34" charset="0"/>
              <a:buChar char="•"/>
            </a:pPr>
            <a:r>
              <a:rPr lang="en-US" b="1" dirty="0"/>
              <a:t>Exclusive Gateway (XOR)</a:t>
            </a:r>
            <a:r>
              <a:rPr lang="en-US" dirty="0"/>
              <a:t> </a:t>
            </a:r>
            <a:r>
              <a:rPr lang="en-US" i="1" dirty="0"/>
              <a:t>(diamond with an "X")</a:t>
            </a:r>
            <a:r>
              <a:rPr lang="en-US" dirty="0"/>
              <a:t>:</a:t>
            </a:r>
          </a:p>
          <a:p>
            <a:pPr marL="742950" lvl="1" indent="-285750">
              <a:buFont typeface="Arial" panose="020B0604020202020204" pitchFamily="34" charset="0"/>
              <a:buChar char="•"/>
            </a:pPr>
            <a:r>
              <a:rPr lang="en-US" dirty="0"/>
              <a:t>Represents a decision point where only one path can be chosen.</a:t>
            </a:r>
          </a:p>
          <a:p>
            <a:pPr marL="742950" lvl="1" indent="-285750">
              <a:buFont typeface="Arial" panose="020B0604020202020204" pitchFamily="34" charset="0"/>
              <a:buChar char="•"/>
            </a:pPr>
            <a:r>
              <a:rPr lang="en-US" dirty="0"/>
              <a:t>Example: </a:t>
            </a:r>
            <a:r>
              <a:rPr lang="en-US" i="1" dirty="0"/>
              <a:t>"Is the order approved? Yes or No.“</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Inclusive Gateway (OR)</a:t>
            </a:r>
            <a:r>
              <a:rPr lang="en-US" dirty="0"/>
              <a:t> </a:t>
            </a:r>
            <a:r>
              <a:rPr lang="en-US" i="1" dirty="0"/>
              <a:t>(diamond with circle)</a:t>
            </a:r>
            <a:r>
              <a:rPr lang="en-US" dirty="0"/>
              <a:t>:</a:t>
            </a:r>
          </a:p>
          <a:p>
            <a:pPr marL="742950" lvl="1" indent="-285750">
              <a:buFont typeface="Arial" panose="020B0604020202020204" pitchFamily="34" charset="0"/>
              <a:buChar char="•"/>
            </a:pPr>
            <a:r>
              <a:rPr lang="en-US" dirty="0"/>
              <a:t>Allows multiple possible paths simultaneously based on conditions (one or more).</a:t>
            </a:r>
          </a:p>
          <a:p>
            <a:pPr marL="742950" lvl="1" indent="-285750">
              <a:buFont typeface="Arial" panose="020B0604020202020204" pitchFamily="34" charset="0"/>
              <a:buChar char="•"/>
            </a:pPr>
            <a:r>
              <a:rPr lang="en-US" dirty="0"/>
              <a:t>Example: </a:t>
            </a:r>
            <a:r>
              <a:rPr lang="en-US" i="1" dirty="0"/>
              <a:t>"Choose multiple optional insurance products.“</a:t>
            </a:r>
          </a:p>
          <a:p>
            <a:pPr marL="742950" lvl="1" indent="-285750">
              <a:buFont typeface="Arial" panose="020B0604020202020204" pitchFamily="34" charset="0"/>
              <a:buChar char="•"/>
            </a:pPr>
            <a:endParaRPr lang="en-US" i="1" dirty="0"/>
          </a:p>
          <a:p>
            <a:pPr>
              <a:buFont typeface="Arial" panose="020B0604020202020204" pitchFamily="34" charset="0"/>
              <a:buChar char="•"/>
            </a:pPr>
            <a:r>
              <a:rPr lang="en-US" b="1" dirty="0"/>
              <a:t>Parallel Gateway (AND)</a:t>
            </a:r>
            <a:r>
              <a:rPr lang="en-US" dirty="0"/>
              <a:t> </a:t>
            </a:r>
            <a:r>
              <a:rPr lang="en-US" i="1" dirty="0"/>
              <a:t>(diamond with “plus")</a:t>
            </a:r>
            <a:r>
              <a:rPr lang="en-US" dirty="0"/>
              <a:t>:</a:t>
            </a:r>
          </a:p>
          <a:p>
            <a:pPr marL="742950" lvl="1" indent="-285750">
              <a:buFont typeface="Arial" panose="020B0604020202020204" pitchFamily="34" charset="0"/>
              <a:buChar char="•"/>
            </a:pPr>
            <a:r>
              <a:rPr lang="en-US" dirty="0"/>
              <a:t>Indicates parallel paths; multiple flows happen simultaneously.</a:t>
            </a:r>
          </a:p>
          <a:p>
            <a:pPr marL="742950" lvl="1" indent="-285750">
              <a:buFont typeface="Arial" panose="020B0604020202020204" pitchFamily="34" charset="0"/>
              <a:buChar char="•"/>
            </a:pPr>
            <a:r>
              <a:rPr lang="en-US" dirty="0"/>
              <a:t>Example: </a:t>
            </a:r>
            <a:r>
              <a:rPr lang="en-US" i="1" dirty="0"/>
              <a:t>"Send invoice and ship goods at the same time."</a:t>
            </a:r>
            <a:endParaRPr lang="en-US" dirty="0"/>
          </a:p>
          <a:p>
            <a:pPr marL="457200" lvl="1" indent="0">
              <a:buFont typeface="Arial" panose="020B0604020202020204" pitchFamily="34" charset="0"/>
              <a:buNone/>
            </a:pPr>
            <a:endParaRPr lang="en-US" i="1" dirty="0"/>
          </a:p>
          <a:p>
            <a:pPr marL="285750" lvl="0" indent="-285750">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Event Based Gateway </a:t>
            </a:r>
            <a:r>
              <a:rPr lang="en-US" sz="1800" i="1" dirty="0"/>
              <a:t>(diamond with “star")</a:t>
            </a:r>
            <a:r>
              <a:rPr lang="en-US" sz="1800" dirty="0"/>
              <a:t>:</a:t>
            </a:r>
            <a:endParaRPr lang="en-US" sz="1800" dirty="0">
              <a:effectLst/>
              <a:latin typeface="Times New Roman" panose="02020603050405020304" pitchFamily="18" charset="0"/>
              <a:ea typeface="Times New Roman" panose="02020603050405020304" pitchFamily="18" charset="0"/>
            </a:endParaRPr>
          </a:p>
          <a:p>
            <a:pPr marL="742950" lvl="1" indent="-285750">
              <a:buFont typeface="Arial" panose="020B0604020202020204" pitchFamily="34" charset="0"/>
              <a:buChar char="•"/>
            </a:pPr>
            <a:r>
              <a:rPr lang="en-US" sz="2800" dirty="0"/>
              <a:t>Represents a branching point in a process where the path taken depends on events that occur rather than evaluations of process data (as with an Exclusive or Inclusive Gateway).</a:t>
            </a:r>
          </a:p>
          <a:p>
            <a:r>
              <a:rPr lang="en-US" sz="2800" dirty="0"/>
              <a:t>Example: "Wait for customer response—proceed based on message received.“</a:t>
            </a:r>
            <a:br>
              <a:rPr lang="en-US" sz="2800" dirty="0"/>
            </a:br>
            <a:br>
              <a:rPr lang="en-US" sz="2800" dirty="0"/>
            </a:br>
            <a:r>
              <a:rPr lang="en-US" sz="2800" b="1" dirty="0"/>
              <a:t>Gateways best practices</a:t>
            </a:r>
          </a:p>
          <a:p>
            <a:pPr>
              <a:buFont typeface="Arial" panose="020B0604020202020204" pitchFamily="34" charset="0"/>
              <a:buChar char="•"/>
            </a:pPr>
            <a:r>
              <a:rPr lang="en-US" sz="2800" dirty="0"/>
              <a:t>Use </a:t>
            </a:r>
            <a:r>
              <a:rPr lang="en-US" sz="2800" b="1" dirty="0"/>
              <a:t>Gateways</a:t>
            </a:r>
            <a:r>
              <a:rPr lang="en-US" sz="2800" dirty="0"/>
              <a:t> for splitting or merging flows.</a:t>
            </a:r>
          </a:p>
          <a:p>
            <a:pPr>
              <a:buFont typeface="Arial" panose="020B0604020202020204" pitchFamily="34" charset="0"/>
              <a:buChar char="•"/>
            </a:pPr>
            <a:r>
              <a:rPr lang="en-US" sz="2800" dirty="0"/>
              <a:t>Avoid </a:t>
            </a:r>
            <a:r>
              <a:rPr lang="en-US" sz="2800" b="1" dirty="0"/>
              <a:t>mixed-mode Gateways</a:t>
            </a:r>
            <a:r>
              <a:rPr lang="en-US" sz="2800" dirty="0"/>
              <a:t> (both diverging and converging).</a:t>
            </a:r>
          </a:p>
          <a:p>
            <a:pPr>
              <a:buFont typeface="Arial" panose="020B0604020202020204" pitchFamily="34" charset="0"/>
              <a:buChar char="•"/>
            </a:pPr>
            <a:r>
              <a:rPr lang="en-US" sz="2800" dirty="0"/>
              <a:t>Place an </a:t>
            </a:r>
            <a:r>
              <a:rPr lang="en-US" sz="2800" b="1" dirty="0"/>
              <a:t>Activity before diverging Gateways</a:t>
            </a:r>
            <a:r>
              <a:rPr lang="en-US" sz="2800" dirty="0"/>
              <a:t> (Exclusive, Inclusive, Complex) to allow process interruption if needed.</a:t>
            </a:r>
          </a:p>
          <a:p>
            <a:pPr>
              <a:buFont typeface="Arial" panose="020B0604020202020204" pitchFamily="34" charset="0"/>
              <a:buChar char="•"/>
            </a:pPr>
            <a:r>
              <a:rPr lang="en-US" sz="2800" b="1" dirty="0"/>
              <a:t>Abstract multiple diverging Gateways</a:t>
            </a:r>
            <a:r>
              <a:rPr lang="en-US" sz="2800" dirty="0"/>
              <a:t> into a Business Rule Task for </a:t>
            </a:r>
            <a:r>
              <a:rPr lang="en-US" sz="2800" b="1" dirty="0"/>
              <a:t>simplified diagrams</a:t>
            </a:r>
            <a:r>
              <a:rPr lang="en-US" sz="2800" dirty="0"/>
              <a:t>.</a:t>
            </a:r>
          </a:p>
          <a:p>
            <a:pPr marL="742950" lvl="1" indent="-285750">
              <a:buFont typeface="Arial" panose="020B0604020202020204" pitchFamily="34" charset="0"/>
              <a:buChar char="•"/>
            </a:pPr>
            <a:endParaRPr lang="en-US" sz="2800" dirty="0"/>
          </a:p>
        </p:txBody>
      </p:sp>
      <p:sp>
        <p:nvSpPr>
          <p:cNvPr id="4" name="Slide Number Placeholder 3"/>
          <p:cNvSpPr>
            <a:spLocks noGrp="1"/>
          </p:cNvSpPr>
          <p:nvPr>
            <p:ph type="sldNum" sz="quarter" idx="5"/>
          </p:nvPr>
        </p:nvSpPr>
        <p:spPr/>
        <p:txBody>
          <a:bodyPr/>
          <a:lstStyle/>
          <a:p>
            <a:fld id="{1409B15B-20B2-214F-AADC-50F2CA7A0C43}" type="slidenum">
              <a:rPr lang="en-US" smtClean="0"/>
              <a:t>11</a:t>
            </a:fld>
            <a:endParaRPr lang="en-US" dirty="0"/>
          </a:p>
        </p:txBody>
      </p:sp>
    </p:spTree>
    <p:extLst>
      <p:ext uri="{BB962C8B-B14F-4D97-AF65-F5344CB8AC3E}">
        <p14:creationId xmlns:p14="http://schemas.microsoft.com/office/powerpoint/2010/main" val="1400848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255F8-CF47-5AD9-4DE9-9531DE3FA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B4D8B-9C22-14A0-8412-C3A6096D3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6B026-7180-7518-A37C-7E8F642495C7}"/>
              </a:ext>
            </a:extLst>
          </p:cNvPr>
          <p:cNvSpPr>
            <a:spLocks noGrp="1"/>
          </p:cNvSpPr>
          <p:nvPr>
            <p:ph type="body" idx="1"/>
          </p:nvPr>
        </p:nvSpPr>
        <p:spPr/>
        <p:txBody>
          <a:bodyPr>
            <a:normAutofit fontScale="47500" lnSpcReduction="20000"/>
          </a:bodyPr>
          <a:lstStyle/>
          <a:p>
            <a:r>
              <a:rPr lang="en-US" dirty="0"/>
              <a:t>Gateways control the flow of the process, managing how sequences branch, merge, or parallelize. They handle decision-making logic.</a:t>
            </a:r>
          </a:p>
          <a:p>
            <a:endParaRPr lang="en-US" dirty="0"/>
          </a:p>
          <a:p>
            <a:pPr>
              <a:buFont typeface="Arial" panose="020B0604020202020204" pitchFamily="34" charset="0"/>
              <a:buChar char="•"/>
            </a:pPr>
            <a:r>
              <a:rPr lang="en-US" b="1" dirty="0"/>
              <a:t>Exclusive Gateway (XOR)</a:t>
            </a:r>
            <a:r>
              <a:rPr lang="en-US" dirty="0"/>
              <a:t> </a:t>
            </a:r>
            <a:r>
              <a:rPr lang="en-US" i="1" dirty="0"/>
              <a:t>(diamond with an "X")</a:t>
            </a:r>
            <a:r>
              <a:rPr lang="en-US" dirty="0"/>
              <a:t>:</a:t>
            </a:r>
          </a:p>
          <a:p>
            <a:pPr marL="742950" lvl="1" indent="-285750">
              <a:buFont typeface="Arial" panose="020B0604020202020204" pitchFamily="34" charset="0"/>
              <a:buChar char="•"/>
            </a:pPr>
            <a:r>
              <a:rPr lang="en-US" dirty="0"/>
              <a:t>Represents a decision point where only one path can be chosen.</a:t>
            </a:r>
          </a:p>
          <a:p>
            <a:pPr marL="742950" lvl="1" indent="-285750">
              <a:buFont typeface="Arial" panose="020B0604020202020204" pitchFamily="34" charset="0"/>
              <a:buChar char="•"/>
            </a:pPr>
            <a:r>
              <a:rPr lang="en-US" dirty="0"/>
              <a:t>Example: </a:t>
            </a:r>
            <a:r>
              <a:rPr lang="en-US" i="1" dirty="0"/>
              <a:t>"Is the order approved? Yes or No.“</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Inclusive Gateway (OR)</a:t>
            </a:r>
            <a:r>
              <a:rPr lang="en-US" dirty="0"/>
              <a:t> </a:t>
            </a:r>
            <a:r>
              <a:rPr lang="en-US" i="1" dirty="0"/>
              <a:t>(diamond with circle)</a:t>
            </a:r>
            <a:r>
              <a:rPr lang="en-US" dirty="0"/>
              <a:t>:</a:t>
            </a:r>
          </a:p>
          <a:p>
            <a:pPr marL="742950" lvl="1" indent="-285750">
              <a:buFont typeface="Arial" panose="020B0604020202020204" pitchFamily="34" charset="0"/>
              <a:buChar char="•"/>
            </a:pPr>
            <a:r>
              <a:rPr lang="en-US" dirty="0"/>
              <a:t>Allows multiple possible paths simultaneously based on conditions (one or more).</a:t>
            </a:r>
          </a:p>
          <a:p>
            <a:pPr marL="742950" lvl="1" indent="-285750">
              <a:buFont typeface="Arial" panose="020B0604020202020204" pitchFamily="34" charset="0"/>
              <a:buChar char="•"/>
            </a:pPr>
            <a:r>
              <a:rPr lang="en-US" dirty="0"/>
              <a:t>Example: </a:t>
            </a:r>
            <a:r>
              <a:rPr lang="en-US" i="1" dirty="0"/>
              <a:t>"Choose multiple optional insurance products.“</a:t>
            </a:r>
          </a:p>
          <a:p>
            <a:pPr marL="742950" lvl="1" indent="-285750">
              <a:buFont typeface="Arial" panose="020B0604020202020204" pitchFamily="34" charset="0"/>
              <a:buChar char="•"/>
            </a:pPr>
            <a:endParaRPr lang="en-US" i="1" dirty="0"/>
          </a:p>
          <a:p>
            <a:pPr>
              <a:buFont typeface="Arial" panose="020B0604020202020204" pitchFamily="34" charset="0"/>
              <a:buChar char="•"/>
            </a:pPr>
            <a:r>
              <a:rPr lang="en-US" b="1" dirty="0"/>
              <a:t>Parallel Gateway (AND)</a:t>
            </a:r>
            <a:r>
              <a:rPr lang="en-US" dirty="0"/>
              <a:t> </a:t>
            </a:r>
            <a:r>
              <a:rPr lang="en-US" i="1" dirty="0"/>
              <a:t>(diamond with “plus")</a:t>
            </a:r>
            <a:r>
              <a:rPr lang="en-US" dirty="0"/>
              <a:t>:</a:t>
            </a:r>
          </a:p>
          <a:p>
            <a:pPr marL="742950" lvl="1" indent="-285750">
              <a:buFont typeface="Arial" panose="020B0604020202020204" pitchFamily="34" charset="0"/>
              <a:buChar char="•"/>
            </a:pPr>
            <a:r>
              <a:rPr lang="en-US" dirty="0"/>
              <a:t>Indicates parallel paths; multiple flows happen simultaneously.</a:t>
            </a:r>
          </a:p>
          <a:p>
            <a:pPr marL="742950" lvl="1" indent="-285750">
              <a:buFont typeface="Arial" panose="020B0604020202020204" pitchFamily="34" charset="0"/>
              <a:buChar char="•"/>
            </a:pPr>
            <a:r>
              <a:rPr lang="en-US" dirty="0"/>
              <a:t>Example: </a:t>
            </a:r>
            <a:r>
              <a:rPr lang="en-US" i="1" dirty="0"/>
              <a:t>"Send invoice and ship goods at the same time."</a:t>
            </a:r>
            <a:endParaRPr lang="en-US" dirty="0"/>
          </a:p>
          <a:p>
            <a:pPr marL="457200" lvl="1" indent="0">
              <a:buFont typeface="Arial" panose="020B0604020202020204" pitchFamily="34" charset="0"/>
              <a:buNone/>
            </a:pPr>
            <a:endParaRPr lang="en-US" i="1" dirty="0"/>
          </a:p>
          <a:p>
            <a:pPr marL="285750" lvl="0" indent="-285750">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Event Based Gateway </a:t>
            </a:r>
            <a:r>
              <a:rPr lang="en-US" sz="1800" i="1" dirty="0"/>
              <a:t>(diamond with “star")</a:t>
            </a:r>
            <a:r>
              <a:rPr lang="en-US" sz="1800" dirty="0"/>
              <a:t>:</a:t>
            </a:r>
            <a:endParaRPr lang="en-US" sz="1800" dirty="0">
              <a:effectLst/>
              <a:latin typeface="Times New Roman" panose="02020603050405020304" pitchFamily="18" charset="0"/>
              <a:ea typeface="Times New Roman" panose="02020603050405020304" pitchFamily="18" charset="0"/>
            </a:endParaRPr>
          </a:p>
          <a:p>
            <a:pPr marL="742950" lvl="1" indent="-285750">
              <a:buFont typeface="Arial" panose="020B0604020202020204" pitchFamily="34" charset="0"/>
              <a:buChar char="•"/>
            </a:pPr>
            <a:r>
              <a:rPr lang="en-US" sz="2800" dirty="0"/>
              <a:t>Represents a branching point in a process where the path taken depends on events that occur rather than evaluations of process data (as with an Exclusive or Inclusive Gateway).</a:t>
            </a:r>
          </a:p>
          <a:p>
            <a:r>
              <a:rPr lang="en-US" sz="2800" dirty="0"/>
              <a:t>Example: "Wait for customer response—proceed based on message received.“</a:t>
            </a:r>
            <a:br>
              <a:rPr lang="en-US" sz="2800" dirty="0"/>
            </a:br>
            <a:br>
              <a:rPr lang="en-US" sz="2800" dirty="0"/>
            </a:br>
            <a:r>
              <a:rPr lang="en-US" sz="2800" b="1" dirty="0"/>
              <a:t>Gateways best practices</a:t>
            </a:r>
          </a:p>
          <a:p>
            <a:pPr>
              <a:buFont typeface="Arial" panose="020B0604020202020204" pitchFamily="34" charset="0"/>
              <a:buChar char="•"/>
            </a:pPr>
            <a:r>
              <a:rPr lang="en-US" sz="2800" dirty="0"/>
              <a:t>Use </a:t>
            </a:r>
            <a:r>
              <a:rPr lang="en-US" sz="2800" b="1" dirty="0"/>
              <a:t>Gateways</a:t>
            </a:r>
            <a:r>
              <a:rPr lang="en-US" sz="2800" dirty="0"/>
              <a:t> for splitting or merging flows.</a:t>
            </a:r>
          </a:p>
          <a:p>
            <a:pPr>
              <a:buFont typeface="Arial" panose="020B0604020202020204" pitchFamily="34" charset="0"/>
              <a:buChar char="•"/>
            </a:pPr>
            <a:r>
              <a:rPr lang="en-US" sz="2800" dirty="0"/>
              <a:t>Avoid </a:t>
            </a:r>
            <a:r>
              <a:rPr lang="en-US" sz="2800" b="1" dirty="0"/>
              <a:t>mixed-mode Gateways</a:t>
            </a:r>
            <a:r>
              <a:rPr lang="en-US" sz="2800" dirty="0"/>
              <a:t> (both diverging and converging).</a:t>
            </a:r>
          </a:p>
          <a:p>
            <a:pPr>
              <a:buFont typeface="Arial" panose="020B0604020202020204" pitchFamily="34" charset="0"/>
              <a:buChar char="•"/>
            </a:pPr>
            <a:r>
              <a:rPr lang="en-US" sz="2800" dirty="0"/>
              <a:t>Place an </a:t>
            </a:r>
            <a:r>
              <a:rPr lang="en-US" sz="2800" b="1" dirty="0"/>
              <a:t>Activity before diverging Gateways</a:t>
            </a:r>
            <a:r>
              <a:rPr lang="en-US" sz="2800" dirty="0"/>
              <a:t> (Exclusive, Inclusive, Complex) to allow process interruption if needed.</a:t>
            </a:r>
          </a:p>
          <a:p>
            <a:pPr>
              <a:buFont typeface="Arial" panose="020B0604020202020204" pitchFamily="34" charset="0"/>
              <a:buChar char="•"/>
            </a:pPr>
            <a:r>
              <a:rPr lang="en-US" sz="2800" b="1" dirty="0"/>
              <a:t>Abstract multiple diverging Gateways</a:t>
            </a:r>
            <a:r>
              <a:rPr lang="en-US" sz="2800" dirty="0"/>
              <a:t> into a Business Rule Task for </a:t>
            </a:r>
            <a:r>
              <a:rPr lang="en-US" sz="2800" b="1" dirty="0"/>
              <a:t>simplified diagrams</a:t>
            </a:r>
            <a:r>
              <a:rPr lang="en-US" sz="2800" dirty="0"/>
              <a:t>.</a:t>
            </a:r>
          </a:p>
          <a:p>
            <a:pPr marL="742950" lvl="1" indent="-285750">
              <a:buFont typeface="Arial" panose="020B0604020202020204" pitchFamily="34" charset="0"/>
              <a:buChar char="•"/>
            </a:pPr>
            <a:endParaRPr lang="en-US" sz="2800" dirty="0"/>
          </a:p>
        </p:txBody>
      </p:sp>
      <p:sp>
        <p:nvSpPr>
          <p:cNvPr id="4" name="Slide Number Placeholder 3">
            <a:extLst>
              <a:ext uri="{FF2B5EF4-FFF2-40B4-BE49-F238E27FC236}">
                <a16:creationId xmlns:a16="http://schemas.microsoft.com/office/drawing/2014/main" id="{919DA66A-76DA-FD62-532A-D174D1FD8C6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618B97D-45A5-1E45-A1E0-6392C6E84C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3498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618B97D-45A5-1E45-A1E0-6392C6E84C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002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21</a:t>
            </a:fld>
            <a:endParaRPr lang="en-US"/>
          </a:p>
        </p:txBody>
      </p:sp>
    </p:spTree>
    <p:extLst>
      <p:ext uri="{BB962C8B-B14F-4D97-AF65-F5344CB8AC3E}">
        <p14:creationId xmlns:p14="http://schemas.microsoft.com/office/powerpoint/2010/main" val="1043739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22</a:t>
            </a:fld>
            <a:endParaRPr lang="en-US"/>
          </a:p>
        </p:txBody>
      </p:sp>
    </p:spTree>
    <p:extLst>
      <p:ext uri="{BB962C8B-B14F-4D97-AF65-F5344CB8AC3E}">
        <p14:creationId xmlns:p14="http://schemas.microsoft.com/office/powerpoint/2010/main" val="4210078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23</a:t>
            </a:fld>
            <a:endParaRPr lang="en-US"/>
          </a:p>
        </p:txBody>
      </p:sp>
    </p:spTree>
    <p:extLst>
      <p:ext uri="{BB962C8B-B14F-4D97-AF65-F5344CB8AC3E}">
        <p14:creationId xmlns:p14="http://schemas.microsoft.com/office/powerpoint/2010/main" val="3133979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24</a:t>
            </a:fld>
            <a:endParaRPr lang="en-US"/>
          </a:p>
        </p:txBody>
      </p:sp>
    </p:spTree>
    <p:extLst>
      <p:ext uri="{BB962C8B-B14F-4D97-AF65-F5344CB8AC3E}">
        <p14:creationId xmlns:p14="http://schemas.microsoft.com/office/powerpoint/2010/main" val="1840863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25</a:t>
            </a:fld>
            <a:endParaRPr lang="en-US"/>
          </a:p>
        </p:txBody>
      </p:sp>
    </p:spTree>
    <p:extLst>
      <p:ext uri="{BB962C8B-B14F-4D97-AF65-F5344CB8AC3E}">
        <p14:creationId xmlns:p14="http://schemas.microsoft.com/office/powerpoint/2010/main" val="1694688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26</a:t>
            </a:fld>
            <a:endParaRPr lang="en-US"/>
          </a:p>
        </p:txBody>
      </p:sp>
    </p:spTree>
    <p:extLst>
      <p:ext uri="{BB962C8B-B14F-4D97-AF65-F5344CB8AC3E}">
        <p14:creationId xmlns:p14="http://schemas.microsoft.com/office/powerpoint/2010/main" val="386810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5D924-7E7A-A3EE-BD7D-18092AC8C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89337-150F-8AF5-0A97-92695421C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D0379-A014-3958-5703-089E807F95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075898-A1CF-CA9E-0138-039EB8251703}"/>
              </a:ext>
            </a:extLst>
          </p:cNvPr>
          <p:cNvSpPr>
            <a:spLocks noGrp="1"/>
          </p:cNvSpPr>
          <p:nvPr>
            <p:ph type="sldNum" sz="quarter" idx="5"/>
          </p:nvPr>
        </p:nvSpPr>
        <p:spPr/>
        <p:txBody>
          <a:bodyPr/>
          <a:lstStyle/>
          <a:p>
            <a:pPr>
              <a:defRPr/>
            </a:pPr>
            <a:fld id="{7B479713-0D50-44A6-B1F4-4082749E615F}" type="slidenum">
              <a:rPr lang="en-US" smtClean="0"/>
              <a:pPr>
                <a:defRPr/>
              </a:pPr>
              <a:t>27</a:t>
            </a:fld>
            <a:endParaRPr lang="en-US"/>
          </a:p>
        </p:txBody>
      </p:sp>
    </p:spTree>
    <p:extLst>
      <p:ext uri="{BB962C8B-B14F-4D97-AF65-F5344CB8AC3E}">
        <p14:creationId xmlns:p14="http://schemas.microsoft.com/office/powerpoint/2010/main" val="351009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28</a:t>
            </a:fld>
            <a:endParaRPr lang="en-US"/>
          </a:p>
        </p:txBody>
      </p:sp>
    </p:spTree>
    <p:extLst>
      <p:ext uri="{BB962C8B-B14F-4D97-AF65-F5344CB8AC3E}">
        <p14:creationId xmlns:p14="http://schemas.microsoft.com/office/powerpoint/2010/main" val="1771395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29</a:t>
            </a:fld>
            <a:endParaRPr lang="en-US"/>
          </a:p>
        </p:txBody>
      </p:sp>
    </p:spTree>
    <p:extLst>
      <p:ext uri="{BB962C8B-B14F-4D97-AF65-F5344CB8AC3E}">
        <p14:creationId xmlns:p14="http://schemas.microsoft.com/office/powerpoint/2010/main" val="1887643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22BB-1425-5A75-0902-5BCF26980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2E767-DE6B-ADB7-6FCB-DD1BF0293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50004-3135-F765-B9E1-E221DA99BC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463212-F3AD-93CB-63EE-12089E3F4C33}"/>
              </a:ext>
            </a:extLst>
          </p:cNvPr>
          <p:cNvSpPr>
            <a:spLocks noGrp="1"/>
          </p:cNvSpPr>
          <p:nvPr>
            <p:ph type="sldNum" sz="quarter" idx="5"/>
          </p:nvPr>
        </p:nvSpPr>
        <p:spPr/>
        <p:txBody>
          <a:bodyPr/>
          <a:lstStyle/>
          <a:p>
            <a:pPr>
              <a:defRPr/>
            </a:pPr>
            <a:fld id="{7B479713-0D50-44A6-B1F4-4082749E615F}" type="slidenum">
              <a:rPr lang="en-US" smtClean="0"/>
              <a:pPr>
                <a:defRPr/>
              </a:pPr>
              <a:t>30</a:t>
            </a:fld>
            <a:endParaRPr lang="en-US"/>
          </a:p>
        </p:txBody>
      </p:sp>
    </p:spTree>
    <p:extLst>
      <p:ext uri="{BB962C8B-B14F-4D97-AF65-F5344CB8AC3E}">
        <p14:creationId xmlns:p14="http://schemas.microsoft.com/office/powerpoint/2010/main" val="4082017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31</a:t>
            </a:fld>
            <a:endParaRPr lang="en-US"/>
          </a:p>
        </p:txBody>
      </p:sp>
    </p:spTree>
    <p:extLst>
      <p:ext uri="{BB962C8B-B14F-4D97-AF65-F5344CB8AC3E}">
        <p14:creationId xmlns:p14="http://schemas.microsoft.com/office/powerpoint/2010/main" val="1423828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32</a:t>
            </a:fld>
            <a:endParaRPr lang="en-US"/>
          </a:p>
        </p:txBody>
      </p:sp>
    </p:spTree>
    <p:extLst>
      <p:ext uri="{BB962C8B-B14F-4D97-AF65-F5344CB8AC3E}">
        <p14:creationId xmlns:p14="http://schemas.microsoft.com/office/powerpoint/2010/main" val="215720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tic Title Slide">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bg2">
                    <a:lumMod val="90000"/>
                  </a:schemeClr>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4" name="Picture 3" descr="White text on a dark background of a logo reading Foster School of Business, University of Washington">
            <a:extLst>
              <a:ext uri="{FF2B5EF4-FFF2-40B4-BE49-F238E27FC236}">
                <a16:creationId xmlns:a16="http://schemas.microsoft.com/office/drawing/2014/main" id="{972C56C5-2F0E-B13F-6B45-D0F73E9B1AB2}"/>
              </a:ext>
            </a:extLst>
          </p:cNvPr>
          <p:cNvPicPr preferRelativeResize="0">
            <a:picLocks noChangeAspect="1"/>
          </p:cNvPicPr>
          <p:nvPr userDrawn="1"/>
        </p:nvPicPr>
        <p:blipFill>
          <a:blip r:embed="rId3"/>
          <a:srcRect/>
          <a:stretch/>
        </p:blipFill>
        <p:spPr>
          <a:xfrm>
            <a:off x="7411253" y="4157062"/>
            <a:ext cx="1314906" cy="648687"/>
          </a:xfrm>
          <a:prstGeom prst="rect">
            <a:avLst/>
          </a:prstGeom>
        </p:spPr>
      </p:pic>
    </p:spTree>
    <p:extLst>
      <p:ext uri="{BB962C8B-B14F-4D97-AF65-F5344CB8AC3E}">
        <p14:creationId xmlns:p14="http://schemas.microsoft.com/office/powerpoint/2010/main" val="406678607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Editable Image">
    <p:bg>
      <p:bgPr>
        <a:solidFill>
          <a:srgbClr val="32006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6D98F01-CF66-FB1D-080E-A5DC501E862D}"/>
              </a:ext>
            </a:extLst>
          </p:cNvPr>
          <p:cNvSpPr>
            <a:spLocks noGrp="1"/>
          </p:cNvSpPr>
          <p:nvPr>
            <p:ph type="title" hasCustomPrompt="1"/>
          </p:nvPr>
        </p:nvSpPr>
        <p:spPr>
          <a:xfrm>
            <a:off x="361951" y="966275"/>
            <a:ext cx="8151113" cy="1605475"/>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Insert Picture TO ADD BACKGROUND</a:t>
            </a:r>
          </a:p>
        </p:txBody>
      </p:sp>
      <p:sp>
        <p:nvSpPr>
          <p:cNvPr id="4" name="Subtitle 2">
            <a:extLst>
              <a:ext uri="{FF2B5EF4-FFF2-40B4-BE49-F238E27FC236}">
                <a16:creationId xmlns:a16="http://schemas.microsoft.com/office/drawing/2014/main" id="{5C1B67E1-136D-93A1-515C-30F74BCF4E3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bg2">
                    <a:lumMod val="90000"/>
                  </a:schemeClr>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sp>
        <p:nvSpPr>
          <p:cNvPr id="6" name="Picture Placeholder 5">
            <a:extLst>
              <a:ext uri="{FF2B5EF4-FFF2-40B4-BE49-F238E27FC236}">
                <a16:creationId xmlns:a16="http://schemas.microsoft.com/office/drawing/2014/main" id="{C3EDC79F-91AA-B3FB-6403-6121F91C5FC6}"/>
              </a:ext>
            </a:extLst>
          </p:cNvPr>
          <p:cNvSpPr>
            <a:spLocks noGrp="1"/>
          </p:cNvSpPr>
          <p:nvPr>
            <p:ph type="pic" sz="quarter" idx="10"/>
          </p:nvPr>
        </p:nvSpPr>
        <p:spPr>
          <a:xfrm>
            <a:off x="-5977" y="0"/>
            <a:ext cx="9144000" cy="5143499"/>
          </a:xfrm>
          <a:noFill/>
        </p:spPr>
        <p:txBody>
          <a:bodyPr/>
          <a:lstStyle>
            <a:lvl1pPr>
              <a:defRPr>
                <a:solidFill>
                  <a:schemeClr val="bg1"/>
                </a:solidFill>
              </a:defRPr>
            </a:lvl1pPr>
          </a:lstStyle>
          <a:p>
            <a:endParaRPr lang="en-US" dirty="0"/>
          </a:p>
        </p:txBody>
      </p:sp>
      <p:pic>
        <p:nvPicPr>
          <p:cNvPr id="5" name="Picture 4" descr="White text on a dark background of a logo reading Foster School of Business, University of Washington">
            <a:extLst>
              <a:ext uri="{FF2B5EF4-FFF2-40B4-BE49-F238E27FC236}">
                <a16:creationId xmlns:a16="http://schemas.microsoft.com/office/drawing/2014/main" id="{EB21C709-91F3-6CAF-A8BD-E48E13397E4E}"/>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74785172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p:bgPr>
        <a:solidFill>
          <a:schemeClr val="tx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07EADFC-8076-BBF7-0C18-A21C6E2C17D2}"/>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4" name="Subtitle 2">
            <a:extLst>
              <a:ext uri="{FF2B5EF4-FFF2-40B4-BE49-F238E27FC236}">
                <a16:creationId xmlns:a16="http://schemas.microsoft.com/office/drawing/2014/main" id="{E2C3B490-F950-1939-70F3-B3718595072B}"/>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accent1"/>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2" name="Picture 1" descr="White text on a black background of a logo reading Foster School of Business, University of Washington">
            <a:extLst>
              <a:ext uri="{FF2B5EF4-FFF2-40B4-BE49-F238E27FC236}">
                <a16:creationId xmlns:a16="http://schemas.microsoft.com/office/drawing/2014/main" id="{7E2379E8-F2CC-8B81-C601-399651B1C1E2}"/>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Gold">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0AAD930-ED54-664A-1E97-0233B4FA4C94}"/>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tx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5" name="Subtitle 2">
            <a:extLst>
              <a:ext uri="{FF2B5EF4-FFF2-40B4-BE49-F238E27FC236}">
                <a16:creationId xmlns:a16="http://schemas.microsoft.com/office/drawing/2014/main" id="{D75B9D8E-3EB1-968E-7670-B7DB44AABE5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tx2"/>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3" name="Picture 2" descr="Black text on a gold background of a logo reading Foster School of Business, University of Washington">
            <a:extLst>
              <a:ext uri="{FF2B5EF4-FFF2-40B4-BE49-F238E27FC236}">
                <a16:creationId xmlns:a16="http://schemas.microsoft.com/office/drawing/2014/main" id="{FC35D0AB-3D5D-25E5-AA78-FD3B13ACFBFF}"/>
              </a:ext>
            </a:extLst>
          </p:cNvPr>
          <p:cNvPicPr preferRelativeResize="0">
            <a:picLocks noChangeAspect="1"/>
          </p:cNvPicPr>
          <p:nvPr userDrawn="1"/>
        </p:nvPicPr>
        <p:blipFill>
          <a:blip r:embed="rId2"/>
          <a:srcRect/>
          <a:stretch/>
        </p:blipFill>
        <p:spPr>
          <a:xfrm>
            <a:off x="7411254" y="4159567"/>
            <a:ext cx="1314904" cy="643677"/>
          </a:xfrm>
          <a:prstGeom prst="rect">
            <a:avLst/>
          </a:prstGeom>
        </p:spPr>
      </p:pic>
    </p:spTree>
    <p:extLst>
      <p:ext uri="{BB962C8B-B14F-4D97-AF65-F5344CB8AC3E}">
        <p14:creationId xmlns:p14="http://schemas.microsoft.com/office/powerpoint/2010/main" val="385189205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oster Purple">
    <p:bg>
      <p:bgPr>
        <a:solidFill>
          <a:schemeClr val="tx2">
            <a:lumMod val="7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DA4939C-77CE-3DA1-0128-ADAAB515A0ED}"/>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5" name="Subtitle 2">
            <a:extLst>
              <a:ext uri="{FF2B5EF4-FFF2-40B4-BE49-F238E27FC236}">
                <a16:creationId xmlns:a16="http://schemas.microsoft.com/office/drawing/2014/main" id="{CDF57B08-8C4A-3347-B462-B99823F58A9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accent1"/>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3" name="Picture 2" descr="White text on a purple background of a logo reading Foster School of Business, University of Washington">
            <a:extLst>
              <a:ext uri="{FF2B5EF4-FFF2-40B4-BE49-F238E27FC236}">
                <a16:creationId xmlns:a16="http://schemas.microsoft.com/office/drawing/2014/main" id="{9F5EA4AC-71C6-D854-3BA5-146AD76AEF53}"/>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213383237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Slide - N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5" y="1083527"/>
            <a:ext cx="6134555" cy="2084481"/>
          </a:xfrm>
          <a:prstGeom prst="rect">
            <a:avLst/>
          </a:prstGeom>
        </p:spPr>
        <p:txBody>
          <a:bodyPr vert="horz" wrap="square"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17011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 Slide - No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280641-9D77-2460-1A27-076A4B03E988}"/>
              </a:ext>
              <a:ext uri="{C183D7F6-B498-43B3-948B-1728B52AA6E4}">
                <adec:decorative xmlns:adec="http://schemas.microsoft.com/office/drawing/2017/decorative" val="1"/>
              </a:ext>
            </a:extLst>
          </p:cNvPr>
          <p:cNvSpPr/>
          <p:nvPr userDrawn="1"/>
        </p:nvSpPr>
        <p:spPr>
          <a:xfrm>
            <a:off x="0" y="0"/>
            <a:ext cx="9144000" cy="96643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lvl1pPr>
              <a:defRPr>
                <a:solidFill>
                  <a:schemeClr val="bg1"/>
                </a:solidFill>
              </a:defRPr>
            </a:lvl1p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4" y="1084196"/>
            <a:ext cx="6134555" cy="2084481"/>
          </a:xfrm>
          <a:prstGeom prst="rect">
            <a:avLst/>
          </a:prstGeom>
        </p:spPr>
        <p:txBody>
          <a:bodyPr vert="horz" wrap="square" lIns="0" tIns="0" rIns="0" bIns="0" rtlCol="0">
            <a:no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156608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ext Slide - No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280641-9D77-2460-1A27-076A4B03E988}"/>
              </a:ext>
              <a:ext uri="{C183D7F6-B498-43B3-948B-1728B52AA6E4}">
                <adec:decorative xmlns:adec="http://schemas.microsoft.com/office/drawing/2017/decorative" val="1"/>
              </a:ext>
            </a:extLst>
          </p:cNvPr>
          <p:cNvSpPr/>
          <p:nvPr userDrawn="1"/>
        </p:nvSpPr>
        <p:spPr>
          <a:xfrm>
            <a:off x="0" y="0"/>
            <a:ext cx="9144000" cy="96643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lvl1pPr>
              <a:defRPr>
                <a:solidFill>
                  <a:schemeClr val="tx2"/>
                </a:solidFill>
              </a:defRPr>
            </a:lvl1p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4" y="1084196"/>
            <a:ext cx="6134555" cy="2084481"/>
          </a:xfrm>
          <a:prstGeom prst="rect">
            <a:avLst/>
          </a:prstGeom>
        </p:spPr>
        <p:txBody>
          <a:bodyPr vert="horz" wrap="square" lIns="0" tIns="0" rIns="0" bIns="0" rtlCol="0">
            <a:no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23882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xt Slide - Editable Image">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D6B2EAA1-56C8-BE7C-EE51-68C12895021A}"/>
              </a:ext>
            </a:extLst>
          </p:cNvPr>
          <p:cNvSpPr>
            <a:spLocks noGrp="1"/>
          </p:cNvSpPr>
          <p:nvPr>
            <p:ph type="title" hasCustomPrompt="1"/>
          </p:nvPr>
        </p:nvSpPr>
        <p:spPr>
          <a:xfrm>
            <a:off x="469446" y="406036"/>
            <a:ext cx="4873022" cy="369332"/>
          </a:xfrm>
          <a:prstGeom prst="rect">
            <a:avLst/>
          </a:prstGeom>
        </p:spPr>
        <p:txBody>
          <a:bodyPr vert="horz" wrap="square" lIns="0" tIns="0" rIns="0" bIns="0" rtlCol="0" anchor="t" anchorCtr="0">
            <a:noAutofit/>
          </a:bodyPr>
          <a:lstStyle/>
          <a:p>
            <a:r>
              <a:rPr lang="en-US" dirty="0"/>
              <a:t>CLICK TO EDIT TITLE STYLE</a:t>
            </a:r>
          </a:p>
        </p:txBody>
      </p:sp>
      <p:sp>
        <p:nvSpPr>
          <p:cNvPr id="3" name="Picture Placeholder 2">
            <a:extLst>
              <a:ext uri="{FF2B5EF4-FFF2-40B4-BE49-F238E27FC236}">
                <a16:creationId xmlns:a16="http://schemas.microsoft.com/office/drawing/2014/main" id="{C20C6CCC-8AA2-B4C9-2718-27DD013B166E}"/>
              </a:ext>
            </a:extLst>
          </p:cNvPr>
          <p:cNvSpPr>
            <a:spLocks noGrp="1"/>
          </p:cNvSpPr>
          <p:nvPr>
            <p:ph type="pic" sz="quarter" idx="12"/>
          </p:nvPr>
        </p:nvSpPr>
        <p:spPr>
          <a:xfrm>
            <a:off x="5578475" y="0"/>
            <a:ext cx="3565525" cy="5143500"/>
          </a:xfrm>
          <a:noFill/>
        </p:spPr>
        <p:txBody>
          <a:bodyPr wrap="square" lIns="0" tIns="0" rIns="0" bIns="0">
            <a:noAutofit/>
          </a:bodyPr>
          <a:lstStyle/>
          <a:p>
            <a:r>
              <a:rPr lang="en-US"/>
              <a:t>Click icon to add picture</a:t>
            </a:r>
          </a:p>
        </p:txBody>
      </p:sp>
      <p:sp>
        <p:nvSpPr>
          <p:cNvPr id="6" name="Text Placeholder 5">
            <a:extLst>
              <a:ext uri="{FF2B5EF4-FFF2-40B4-BE49-F238E27FC236}">
                <a16:creationId xmlns:a16="http://schemas.microsoft.com/office/drawing/2014/main" id="{4B0BF171-C36A-97F6-13E8-1D538C2626BB}"/>
              </a:ext>
            </a:extLst>
          </p:cNvPr>
          <p:cNvSpPr>
            <a:spLocks noGrp="1"/>
          </p:cNvSpPr>
          <p:nvPr>
            <p:ph type="body" sz="quarter" idx="13" hasCustomPrompt="1"/>
          </p:nvPr>
        </p:nvSpPr>
        <p:spPr>
          <a:xfrm>
            <a:off x="470430" y="1085336"/>
            <a:ext cx="4872038" cy="2084481"/>
          </a:xfrm>
        </p:spPr>
        <p:txBody>
          <a:bodyPr lIns="0" tIns="0" rIns="0" bIns="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Slide - Lists with Hea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445" y="406036"/>
            <a:ext cx="8186406" cy="369332"/>
          </a:xfrm>
        </p:spPr>
        <p:txBody>
          <a:bodyPr/>
          <a:lstStyle>
            <a:lvl1pPr>
              <a:defRPr>
                <a:solidFill>
                  <a:schemeClr val="tx2"/>
                </a:solidFill>
              </a:defRPr>
            </a:lvl1pPr>
          </a:lstStyle>
          <a:p>
            <a:r>
              <a:rPr lang="en-US"/>
              <a:t>CLICK TO EDIT TITLE STYLE</a:t>
            </a:r>
          </a:p>
        </p:txBody>
      </p:sp>
      <p:sp>
        <p:nvSpPr>
          <p:cNvPr id="3" name="Text Placeholder 4">
            <a:extLst>
              <a:ext uri="{FF2B5EF4-FFF2-40B4-BE49-F238E27FC236}">
                <a16:creationId xmlns:a16="http://schemas.microsoft.com/office/drawing/2014/main" id="{0C492763-7F70-C5FA-0820-3577947AC99F}"/>
              </a:ext>
            </a:extLst>
          </p:cNvPr>
          <p:cNvSpPr>
            <a:spLocks noGrp="1"/>
          </p:cNvSpPr>
          <p:nvPr>
            <p:ph type="body" sz="quarter" idx="20" hasCustomPrompt="1"/>
          </p:nvPr>
        </p:nvSpPr>
        <p:spPr>
          <a:xfrm>
            <a:off x="486696" y="1323994"/>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9" name="Text Placeholder 8"/>
          <p:cNvSpPr>
            <a:spLocks noGrp="1"/>
          </p:cNvSpPr>
          <p:nvPr>
            <p:ph type="body" sz="quarter" idx="13" hasCustomPrompt="1"/>
          </p:nvPr>
        </p:nvSpPr>
        <p:spPr>
          <a:xfrm>
            <a:off x="486695" y="1785963"/>
            <a:ext cx="3958303" cy="369332"/>
          </a:xfrm>
        </p:spPr>
        <p:txBody>
          <a:bodyPr wrap="square" lIns="0" tIns="0" rIns="0" bIns="0">
            <a:noAutofit/>
          </a:bodyPr>
          <a:lstStyle>
            <a:lvl1pPr>
              <a:defRPr sz="1800"/>
            </a:lvl1pPr>
          </a:lstStyle>
          <a:p>
            <a:pPr lvl="0"/>
            <a:r>
              <a:rPr lang="en-US"/>
              <a:t>Click to edit text</a:t>
            </a:r>
          </a:p>
        </p:txBody>
      </p:sp>
      <p:sp>
        <p:nvSpPr>
          <p:cNvPr id="4" name="Text Placeholder 4">
            <a:extLst>
              <a:ext uri="{FF2B5EF4-FFF2-40B4-BE49-F238E27FC236}">
                <a16:creationId xmlns:a16="http://schemas.microsoft.com/office/drawing/2014/main" id="{59F63A1E-80AC-873A-7B08-C7265BB5967D}"/>
              </a:ext>
            </a:extLst>
          </p:cNvPr>
          <p:cNvSpPr>
            <a:spLocks noGrp="1"/>
          </p:cNvSpPr>
          <p:nvPr>
            <p:ph type="body" sz="quarter" idx="14" hasCustomPrompt="1"/>
          </p:nvPr>
        </p:nvSpPr>
        <p:spPr>
          <a:xfrm>
            <a:off x="486696" y="2499651"/>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6" name="Text Placeholder 8">
            <a:extLst>
              <a:ext uri="{FF2B5EF4-FFF2-40B4-BE49-F238E27FC236}">
                <a16:creationId xmlns:a16="http://schemas.microsoft.com/office/drawing/2014/main" id="{69324E9C-60EB-28A4-B685-42B2774AEFAF}"/>
              </a:ext>
            </a:extLst>
          </p:cNvPr>
          <p:cNvSpPr>
            <a:spLocks noGrp="1"/>
          </p:cNvSpPr>
          <p:nvPr>
            <p:ph type="body" sz="quarter" idx="15" hasCustomPrompt="1"/>
          </p:nvPr>
        </p:nvSpPr>
        <p:spPr>
          <a:xfrm>
            <a:off x="486695" y="2970083"/>
            <a:ext cx="3958303" cy="369332"/>
          </a:xfrm>
        </p:spPr>
        <p:txBody>
          <a:bodyPr wrap="square" lIns="0" tIns="0" rIns="0" bIns="0">
            <a:noAutofit/>
          </a:bodyPr>
          <a:lstStyle>
            <a:lvl1pPr>
              <a:defRPr sz="1800"/>
            </a:lvl1pPr>
          </a:lstStyle>
          <a:p>
            <a:pPr lvl="0"/>
            <a:r>
              <a:rPr lang="en-US"/>
              <a:t>Click to edit text</a:t>
            </a:r>
          </a:p>
        </p:txBody>
      </p:sp>
      <p:sp>
        <p:nvSpPr>
          <p:cNvPr id="10" name="Text Placeholder 4">
            <a:extLst>
              <a:ext uri="{FF2B5EF4-FFF2-40B4-BE49-F238E27FC236}">
                <a16:creationId xmlns:a16="http://schemas.microsoft.com/office/drawing/2014/main" id="{DFEE20B9-CD1F-8C9B-BEA0-B9D319CCC211}"/>
              </a:ext>
            </a:extLst>
          </p:cNvPr>
          <p:cNvSpPr>
            <a:spLocks noGrp="1"/>
          </p:cNvSpPr>
          <p:nvPr>
            <p:ph type="body" sz="quarter" idx="22" hasCustomPrompt="1"/>
          </p:nvPr>
        </p:nvSpPr>
        <p:spPr>
          <a:xfrm>
            <a:off x="4697547" y="1323994"/>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11" name="Text Placeholder 8">
            <a:extLst>
              <a:ext uri="{FF2B5EF4-FFF2-40B4-BE49-F238E27FC236}">
                <a16:creationId xmlns:a16="http://schemas.microsoft.com/office/drawing/2014/main" id="{BD8CB4E0-D660-D5F2-909F-028F7EFFCD95}"/>
              </a:ext>
            </a:extLst>
          </p:cNvPr>
          <p:cNvSpPr>
            <a:spLocks noGrp="1"/>
          </p:cNvSpPr>
          <p:nvPr>
            <p:ph type="body" sz="quarter" idx="17" hasCustomPrompt="1"/>
          </p:nvPr>
        </p:nvSpPr>
        <p:spPr>
          <a:xfrm>
            <a:off x="4703095" y="1785963"/>
            <a:ext cx="3958303" cy="369332"/>
          </a:xfrm>
        </p:spPr>
        <p:txBody>
          <a:bodyPr wrap="square" lIns="0" tIns="0" rIns="0" bIns="0">
            <a:noAutofit/>
          </a:bodyPr>
          <a:lstStyle>
            <a:lvl1pPr>
              <a:defRPr sz="1800"/>
            </a:lvl1pPr>
          </a:lstStyle>
          <a:p>
            <a:pPr lvl="0"/>
            <a:r>
              <a:rPr lang="en-US" dirty="0"/>
              <a:t>Click to edit text</a:t>
            </a:r>
          </a:p>
        </p:txBody>
      </p:sp>
      <p:sp>
        <p:nvSpPr>
          <p:cNvPr id="8" name="Text Placeholder 4">
            <a:extLst>
              <a:ext uri="{FF2B5EF4-FFF2-40B4-BE49-F238E27FC236}">
                <a16:creationId xmlns:a16="http://schemas.microsoft.com/office/drawing/2014/main" id="{FDDAFFA5-C05C-EA69-DBA3-676A18E8CEF7}"/>
              </a:ext>
            </a:extLst>
          </p:cNvPr>
          <p:cNvSpPr>
            <a:spLocks noGrp="1"/>
          </p:cNvSpPr>
          <p:nvPr>
            <p:ph type="body" sz="quarter" idx="21" hasCustomPrompt="1"/>
          </p:nvPr>
        </p:nvSpPr>
        <p:spPr>
          <a:xfrm>
            <a:off x="4697547" y="2499651"/>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13" name="Text Placeholder 8">
            <a:extLst>
              <a:ext uri="{FF2B5EF4-FFF2-40B4-BE49-F238E27FC236}">
                <a16:creationId xmlns:a16="http://schemas.microsoft.com/office/drawing/2014/main" id="{0D09874F-B2CF-BD5A-EE3E-7444C4E16C88}"/>
              </a:ext>
            </a:extLst>
          </p:cNvPr>
          <p:cNvSpPr>
            <a:spLocks noGrp="1"/>
          </p:cNvSpPr>
          <p:nvPr>
            <p:ph type="body" sz="quarter" idx="19" hasCustomPrompt="1"/>
          </p:nvPr>
        </p:nvSpPr>
        <p:spPr>
          <a:xfrm>
            <a:off x="4703095" y="2966044"/>
            <a:ext cx="3958303" cy="369332"/>
          </a:xfrm>
        </p:spPr>
        <p:txBody>
          <a:bodyPr wrap="square" lIns="0" tIns="0" rIns="0" bIns="0">
            <a:noAutofit/>
          </a:bodyPr>
          <a:lstStyle>
            <a:lvl1pPr>
              <a:defRPr sz="1800" b="0"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edit text</a:t>
            </a:r>
          </a:p>
        </p:txBody>
      </p:sp>
    </p:spTree>
    <p:extLst>
      <p:ext uri="{BB962C8B-B14F-4D97-AF65-F5344CB8AC3E}">
        <p14:creationId xmlns:p14="http://schemas.microsoft.com/office/powerpoint/2010/main" val="79479997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mage Only Slide">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CC5F2F5B-6F0D-D207-EBEE-C1FD4E77DD29}"/>
              </a:ext>
            </a:extLst>
          </p:cNvPr>
          <p:cNvSpPr>
            <a:spLocks noGrp="1"/>
          </p:cNvSpPr>
          <p:nvPr>
            <p:ph type="body" sz="quarter" idx="13" hasCustomPrompt="1"/>
          </p:nvPr>
        </p:nvSpPr>
        <p:spPr>
          <a:xfrm>
            <a:off x="216730" y="4367181"/>
            <a:ext cx="1222603" cy="369332"/>
          </a:xfrm>
        </p:spPr>
        <p:txBody>
          <a:bodyPr wrap="square">
            <a:spAutoFit/>
          </a:bodyPr>
          <a:lstStyle>
            <a:lvl1pPr>
              <a:lnSpc>
                <a:spcPct val="100000"/>
              </a:lnSpc>
              <a:defRPr sz="900"/>
            </a:lvl1pPr>
          </a:lstStyle>
          <a:p>
            <a:pPr lvl="0"/>
            <a:r>
              <a:rPr lang="en-US" dirty="0"/>
              <a:t>Image Caption Goes Here</a:t>
            </a:r>
          </a:p>
        </p:txBody>
      </p:sp>
      <p:sp>
        <p:nvSpPr>
          <p:cNvPr id="3" name="Picture Placeholder 2">
            <a:extLst>
              <a:ext uri="{FF2B5EF4-FFF2-40B4-BE49-F238E27FC236}">
                <a16:creationId xmlns:a16="http://schemas.microsoft.com/office/drawing/2014/main" id="{905B892A-4F81-3DE8-DAB9-C9ACD1E4B2D0}"/>
              </a:ext>
            </a:extLst>
          </p:cNvPr>
          <p:cNvSpPr>
            <a:spLocks noGrp="1"/>
          </p:cNvSpPr>
          <p:nvPr>
            <p:ph type="pic" sz="quarter" idx="14"/>
          </p:nvPr>
        </p:nvSpPr>
        <p:spPr>
          <a:xfrm>
            <a:off x="1778000" y="0"/>
            <a:ext cx="7366000" cy="5143500"/>
          </a:xfrm>
        </p:spPr>
        <p:txBody>
          <a:bodyPr/>
          <a:lstStyle/>
          <a:p>
            <a:r>
              <a:rPr lang="en-US"/>
              <a:t>Click icon to add picture</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lide - Bulleted Lists">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6B5C0D-562C-B668-B0FD-B003E2FB7251}"/>
              </a:ext>
            </a:extLst>
          </p:cNvPr>
          <p:cNvSpPr>
            <a:spLocks noGrp="1"/>
          </p:cNvSpPr>
          <p:nvPr>
            <p:ph type="title" hasCustomPrompt="1"/>
          </p:nvPr>
        </p:nvSpPr>
        <p:spPr/>
        <p:txBody>
          <a:bodyPr/>
          <a:lstStyle/>
          <a:p>
            <a:r>
              <a:rPr lang="en-US"/>
              <a:t>CLICK TO EDIT TITLE STYLE</a:t>
            </a:r>
          </a:p>
        </p:txBody>
      </p:sp>
      <p:sp>
        <p:nvSpPr>
          <p:cNvPr id="3" name="Content Placeholder 12">
            <a:extLst>
              <a:ext uri="{FF2B5EF4-FFF2-40B4-BE49-F238E27FC236}">
                <a16:creationId xmlns:a16="http://schemas.microsoft.com/office/drawing/2014/main" id="{2A43680B-0C4E-035C-8289-47EE40A3E9E9}"/>
              </a:ext>
            </a:extLst>
          </p:cNvPr>
          <p:cNvSpPr>
            <a:spLocks noGrp="1"/>
          </p:cNvSpPr>
          <p:nvPr>
            <p:ph sz="quarter" idx="11" hasCustomPrompt="1"/>
          </p:nvPr>
        </p:nvSpPr>
        <p:spPr>
          <a:xfrm>
            <a:off x="469445" y="1089739"/>
            <a:ext cx="7061200" cy="1436291"/>
          </a:xfrm>
        </p:spPr>
        <p:txBody>
          <a:bodyPr lIns="0" tIns="0" rIns="0" bIns="0">
            <a:noAutofit/>
          </a:bodyPr>
          <a:lstStyle>
            <a:lvl1pPr marL="0" marR="0" indent="0" algn="l" defTabSz="457200" rtl="0" eaLnBrk="1" fontAlgn="base" latinLnBrk="0" hangingPunct="1">
              <a:lnSpc>
                <a:spcPct val="100000"/>
              </a:lnSpc>
              <a:spcBef>
                <a:spcPts val="0"/>
              </a:spcBef>
              <a:spcAft>
                <a:spcPts val="100"/>
              </a:spcAft>
              <a:buClrTx/>
              <a:buSzTx/>
              <a:buFont typeface="Arial"/>
              <a:buNone/>
              <a:tabLst/>
              <a:defRPr sz="1800">
                <a:solidFill>
                  <a:schemeClr val="tx1"/>
                </a:solidFill>
              </a:defRPr>
            </a:lvl1pPr>
          </a:lstStyle>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a:p>
            <a:pPr lvl="0"/>
            <a:endParaRPr lang="en-US"/>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endParaRPr lang="en-US"/>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p:txBody>
      </p:sp>
    </p:spTree>
    <p:extLst>
      <p:ext uri="{BB962C8B-B14F-4D97-AF65-F5344CB8AC3E}">
        <p14:creationId xmlns:p14="http://schemas.microsoft.com/office/powerpoint/2010/main" val="102425082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Slide - Purple">
    <p:bg>
      <p:bgPr>
        <a:solidFill>
          <a:srgbClr val="32006E"/>
        </a:solidFill>
        <a:effectLst/>
      </p:bgPr>
    </p:bg>
    <p:spTree>
      <p:nvGrpSpPr>
        <p:cNvPr id="1" name=""/>
        <p:cNvGrpSpPr/>
        <p:nvPr/>
      </p:nvGrpSpPr>
      <p:grpSpPr>
        <a:xfrm>
          <a:off x="0" y="0"/>
          <a:ext cx="0" cy="0"/>
          <a:chOff x="0" y="0"/>
          <a:chExt cx="0" cy="0"/>
        </a:xfrm>
      </p:grpSpPr>
      <p:pic>
        <p:nvPicPr>
          <p:cNvPr id="3" name="Picture 2" descr="White text on a purple background of a logo reading Foster School of Business, University of Washington">
            <a:extLst>
              <a:ext uri="{FF2B5EF4-FFF2-40B4-BE49-F238E27FC236}">
                <a16:creationId xmlns:a16="http://schemas.microsoft.com/office/drawing/2014/main" id="{5B1E3909-C49C-88C9-7739-53611D8906B0}"/>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316884668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Picture 1" descr="White text on a black background of a logo reading Foster School of Business, University of Washington">
            <a:extLst>
              <a:ext uri="{FF2B5EF4-FFF2-40B4-BE49-F238E27FC236}">
                <a16:creationId xmlns:a16="http://schemas.microsoft.com/office/drawing/2014/main" id="{896C50C3-4866-1537-1649-67A0A4D5C703}"/>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120909630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2928" name="Slide Number"/>
          <p:cNvSpPr txBox="1">
            <a:spLocks noGrp="1"/>
          </p:cNvSpPr>
          <p:nvPr>
            <p:ph type="sldNum" sz="quarter" idx="2"/>
          </p:nvPr>
        </p:nvSpPr>
        <p:spPr>
          <a:xfrm>
            <a:off x="6343290" y="4663394"/>
            <a:ext cx="209911" cy="207746"/>
          </a:xfrm>
          <a:prstGeom prst="rect">
            <a:avLst/>
          </a:prstGeom>
        </p:spPr>
        <p:txBody>
          <a:bodyPr lIns="45718" tIns="45718" rIns="45718" bIns="45718" anchor="ctr"/>
          <a:lstStyle>
            <a:lvl1pPr algn="r">
              <a:defRPr sz="900">
                <a:latin typeface="Arial"/>
                <a:ea typeface="Arial"/>
                <a:cs typeface="Arial"/>
                <a:sym typeface="Arial"/>
              </a:defRPr>
            </a:lvl1pPr>
          </a:lstStyle>
          <a:p>
            <a:fld id="{86CB4B4D-7CA3-9044-876B-883B54F8677D}" type="slidenum">
              <a:t>‹#›</a:t>
            </a:fld>
            <a:endParaRPr/>
          </a:p>
        </p:txBody>
      </p:sp>
    </p:spTree>
    <p:extLst>
      <p:ext uri="{BB962C8B-B14F-4D97-AF65-F5344CB8AC3E}">
        <p14:creationId xmlns:p14="http://schemas.microsoft.com/office/powerpoint/2010/main" val="336955219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ILT Default slide">
    <p:spTree>
      <p:nvGrpSpPr>
        <p:cNvPr id="1" name=""/>
        <p:cNvGrpSpPr/>
        <p:nvPr/>
      </p:nvGrpSpPr>
      <p:grpSpPr>
        <a:xfrm>
          <a:off x="0" y="0"/>
          <a:ext cx="0" cy="0"/>
          <a:chOff x="0" y="0"/>
          <a:chExt cx="0" cy="0"/>
        </a:xfrm>
      </p:grpSpPr>
      <p:sp>
        <p:nvSpPr>
          <p:cNvPr id="701" name="Slide Number"/>
          <p:cNvSpPr txBox="1">
            <a:spLocks noGrp="1"/>
          </p:cNvSpPr>
          <p:nvPr>
            <p:ph type="sldNum" sz="quarter" idx="2"/>
          </p:nvPr>
        </p:nvSpPr>
        <p:spPr>
          <a:xfrm>
            <a:off x="8661346" y="4867401"/>
            <a:ext cx="117944" cy="115416"/>
          </a:xfrm>
          <a:prstGeom prst="rect">
            <a:avLst/>
          </a:prstGeom>
        </p:spPr>
        <p:txBody>
          <a:bodyPr/>
          <a:lstStyle/>
          <a:p>
            <a:pPr defTabSz="342797" hangingPunct="0"/>
            <a:fld id="{86CB4B4D-7CA3-9044-876B-883B54F8677D}" type="slidenum">
              <a:rPr lang="en-US" kern="0" smtClean="0">
                <a:solidFill>
                  <a:srgbClr val="434648">
                    <a:hueOff val="-839560"/>
                    <a:satOff val="19935"/>
                    <a:lumOff val="-15534"/>
                  </a:srgbClr>
                </a:solidFill>
                <a:latin typeface="Arial"/>
                <a:cs typeface="Arial"/>
                <a:sym typeface="Arial"/>
              </a:rPr>
              <a:pPr defTabSz="342797" hangingPunct="0"/>
              <a:t>‹#›</a:t>
            </a:fld>
            <a:endParaRPr lang="en-US" kern="0" dirty="0">
              <a:solidFill>
                <a:srgbClr val="434648">
                  <a:hueOff val="-839560"/>
                  <a:satOff val="19935"/>
                  <a:lumOff val="-15534"/>
                </a:srgbClr>
              </a:solidFill>
              <a:latin typeface="Arial"/>
              <a:cs typeface="Arial"/>
              <a:sym typeface="Arial"/>
            </a:endParaRPr>
          </a:p>
        </p:txBody>
      </p:sp>
      <p:sp>
        <p:nvSpPr>
          <p:cNvPr id="703" name="Rectangle 26"/>
          <p:cNvSpPr/>
          <p:nvPr/>
        </p:nvSpPr>
        <p:spPr>
          <a:xfrm>
            <a:off x="-1" y="5071111"/>
            <a:ext cx="9151154" cy="72390"/>
          </a:xfrm>
          <a:prstGeom prst="rect">
            <a:avLst/>
          </a:prstGeom>
          <a:solidFill>
            <a:schemeClr val="accent1">
              <a:hueOff val="1057894"/>
              <a:satOff val="4889"/>
              <a:lumOff val="-33725"/>
            </a:schemeClr>
          </a:solidFill>
          <a:ln w="12700">
            <a:miter lim="400000"/>
          </a:ln>
        </p:spPr>
        <p:txBody>
          <a:bodyPr tIns="68561" bIns="68561" anchor="ctr"/>
          <a:lstStyle/>
          <a:p>
            <a:pPr marL="0" marR="0" lvl="0" indent="0" algn="ctr" defTabSz="342797" rtl="0" eaLnBrk="1" fontAlgn="auto" latinLnBrk="0" hangingPunct="0">
              <a:lnSpc>
                <a:spcPct val="100000"/>
              </a:lnSpc>
              <a:spcBef>
                <a:spcPts val="0"/>
              </a:spcBef>
              <a:spcAft>
                <a:spcPts val="0"/>
              </a:spcAft>
              <a:buClrTx/>
              <a:buSzTx/>
              <a:buFontTx/>
              <a:buNone/>
              <a:tabLst/>
              <a:defRPr sz="2800">
                <a:solidFill>
                  <a:srgbClr val="F6F6F6">
                    <a:hueOff val="-3600000"/>
                    <a:lumOff val="3392"/>
                  </a:srgbClr>
                </a:solidFill>
              </a:defRPr>
            </a:pPr>
            <a:endParaRPr kumimoji="0" sz="2099" b="1" i="0" u="none" strike="noStrike" kern="0" cap="none" spc="0" normalizeH="0" baseline="0" noProof="0">
              <a:ln>
                <a:noFill/>
              </a:ln>
              <a:solidFill>
                <a:srgbClr val="F6F6F6">
                  <a:hueOff val="-3600000"/>
                  <a:lumOff val="3392"/>
                </a:srgbClr>
              </a:solidFill>
              <a:effectLst/>
              <a:uLnTx/>
              <a:uFillTx/>
              <a:latin typeface="Arial"/>
              <a:cs typeface="Arial"/>
              <a:sym typeface="Arial"/>
            </a:endParaRPr>
          </a:p>
        </p:txBody>
      </p:sp>
      <p:pic>
        <p:nvPicPr>
          <p:cNvPr id="704" name="Image" descr="Image"/>
          <p:cNvPicPr>
            <a:picLocks noChangeAspect="1"/>
          </p:cNvPicPr>
          <p:nvPr/>
        </p:nvPicPr>
        <p:blipFill>
          <a:blip r:embed="rId2"/>
          <a:stretch>
            <a:fillRect/>
          </a:stretch>
        </p:blipFill>
        <p:spPr>
          <a:xfrm>
            <a:off x="8236113" y="160684"/>
            <a:ext cx="686516" cy="310415"/>
          </a:xfrm>
          <a:prstGeom prst="rect">
            <a:avLst/>
          </a:prstGeom>
          <a:ln w="12700">
            <a:miter lim="400000"/>
          </a:ln>
        </p:spPr>
      </p:pic>
      <p:sp>
        <p:nvSpPr>
          <p:cNvPr id="3" name="Title 2">
            <a:extLst>
              <a:ext uri="{FF2B5EF4-FFF2-40B4-BE49-F238E27FC236}">
                <a16:creationId xmlns:a16="http://schemas.microsoft.com/office/drawing/2014/main" id="{918D3F97-1F84-89C2-DE27-46858474215D}"/>
              </a:ext>
            </a:extLst>
          </p:cNvPr>
          <p:cNvSpPr>
            <a:spLocks noGrp="1"/>
          </p:cNvSpPr>
          <p:nvPr>
            <p:ph type="title" hasCustomPrompt="1"/>
          </p:nvPr>
        </p:nvSpPr>
        <p:spPr>
          <a:xfrm>
            <a:off x="227183" y="260701"/>
            <a:ext cx="7089416" cy="576209"/>
          </a:xfrm>
        </p:spPr>
        <p:txBody>
          <a:bodyPr/>
          <a:lstStyle>
            <a:lvl1pPr>
              <a:lnSpc>
                <a:spcPts val="2249"/>
              </a:lnSpc>
              <a:spcBef>
                <a:spcPts val="0"/>
              </a:spcBef>
              <a:defRPr sz="2249" spc="-83" baseline="0"/>
            </a:lvl1pPr>
          </a:lstStyle>
          <a:p>
            <a:r>
              <a:rPr lang="en-GB" dirty="0"/>
              <a:t>Headline goes here. Maximum in 2 lines.</a:t>
            </a:r>
            <a:br>
              <a:rPr lang="en-GB" dirty="0"/>
            </a:br>
            <a:r>
              <a:rPr lang="en-GB" dirty="0"/>
              <a:t>All headlines should be sentence case.</a:t>
            </a:r>
            <a:endParaRPr lang="en-RS" dirty="0"/>
          </a:p>
        </p:txBody>
      </p:sp>
    </p:spTree>
    <p:extLst>
      <p:ext uri="{BB962C8B-B14F-4D97-AF65-F5344CB8AC3E}">
        <p14:creationId xmlns:p14="http://schemas.microsoft.com/office/powerpoint/2010/main" val="3203505634"/>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ILT Default Grey slide">
    <p:bg>
      <p:bgPr>
        <a:solidFill>
          <a:schemeClr val="accent3"/>
        </a:solidFill>
        <a:effectLst/>
      </p:bgPr>
    </p:bg>
    <p:spTree>
      <p:nvGrpSpPr>
        <p:cNvPr id="1" name=""/>
        <p:cNvGrpSpPr/>
        <p:nvPr/>
      </p:nvGrpSpPr>
      <p:grpSpPr>
        <a:xfrm>
          <a:off x="0" y="0"/>
          <a:ext cx="0" cy="0"/>
          <a:chOff x="0" y="0"/>
          <a:chExt cx="0" cy="0"/>
        </a:xfrm>
      </p:grpSpPr>
      <p:sp>
        <p:nvSpPr>
          <p:cNvPr id="711" name="Slide Number"/>
          <p:cNvSpPr txBox="1">
            <a:spLocks noGrp="1"/>
          </p:cNvSpPr>
          <p:nvPr>
            <p:ph type="sldNum" sz="quarter" idx="2"/>
          </p:nvPr>
        </p:nvSpPr>
        <p:spPr>
          <a:xfrm>
            <a:off x="8661346" y="4867401"/>
            <a:ext cx="117944" cy="115416"/>
          </a:xfrm>
          <a:prstGeom prst="rect">
            <a:avLst/>
          </a:prstGeom>
        </p:spPr>
        <p:txBody>
          <a:bodyPr/>
          <a:lstStyle/>
          <a:p>
            <a:pPr defTabSz="342797" hangingPunct="0"/>
            <a:fld id="{86CB4B4D-7CA3-9044-876B-883B54F8677D}" type="slidenum">
              <a:rPr lang="en-US" kern="0" smtClean="0">
                <a:solidFill>
                  <a:srgbClr val="434648">
                    <a:hueOff val="-839560"/>
                    <a:satOff val="19935"/>
                    <a:lumOff val="-15534"/>
                  </a:srgbClr>
                </a:solidFill>
                <a:latin typeface="Arial"/>
                <a:cs typeface="Arial"/>
                <a:sym typeface="Arial"/>
              </a:rPr>
              <a:pPr defTabSz="342797" hangingPunct="0"/>
              <a:t>‹#›</a:t>
            </a:fld>
            <a:endParaRPr lang="en-US" kern="0">
              <a:solidFill>
                <a:srgbClr val="434648">
                  <a:hueOff val="-839560"/>
                  <a:satOff val="19935"/>
                  <a:lumOff val="-15534"/>
                </a:srgbClr>
              </a:solidFill>
              <a:latin typeface="Arial"/>
              <a:cs typeface="Arial"/>
              <a:sym typeface="Arial"/>
            </a:endParaRPr>
          </a:p>
        </p:txBody>
      </p:sp>
      <p:sp>
        <p:nvSpPr>
          <p:cNvPr id="713" name="Rectangle 26"/>
          <p:cNvSpPr/>
          <p:nvPr/>
        </p:nvSpPr>
        <p:spPr>
          <a:xfrm>
            <a:off x="-1" y="5071111"/>
            <a:ext cx="9151154" cy="72390"/>
          </a:xfrm>
          <a:prstGeom prst="rect">
            <a:avLst/>
          </a:prstGeom>
          <a:solidFill>
            <a:schemeClr val="accent1">
              <a:hueOff val="1057894"/>
              <a:satOff val="4889"/>
              <a:lumOff val="-33725"/>
            </a:schemeClr>
          </a:solidFill>
          <a:ln w="12700">
            <a:miter lim="400000"/>
          </a:ln>
        </p:spPr>
        <p:txBody>
          <a:bodyPr tIns="68561" bIns="68561" anchor="ctr"/>
          <a:lstStyle/>
          <a:p>
            <a:pPr marL="0" marR="0" lvl="0" indent="0" algn="ctr" defTabSz="342797" rtl="0" eaLnBrk="1" fontAlgn="auto" latinLnBrk="0" hangingPunct="0">
              <a:lnSpc>
                <a:spcPct val="100000"/>
              </a:lnSpc>
              <a:spcBef>
                <a:spcPts val="0"/>
              </a:spcBef>
              <a:spcAft>
                <a:spcPts val="0"/>
              </a:spcAft>
              <a:buClrTx/>
              <a:buSzTx/>
              <a:buFontTx/>
              <a:buNone/>
              <a:tabLst/>
              <a:defRPr sz="2800">
                <a:solidFill>
                  <a:srgbClr val="F6F6F6">
                    <a:hueOff val="-3600000"/>
                    <a:lumOff val="3392"/>
                  </a:srgbClr>
                </a:solidFill>
              </a:defRPr>
            </a:pPr>
            <a:endParaRPr kumimoji="0" sz="2099" b="1" i="0" u="none" strike="noStrike" kern="0" cap="none" spc="0" normalizeH="0" baseline="0" noProof="0">
              <a:ln>
                <a:noFill/>
              </a:ln>
              <a:solidFill>
                <a:srgbClr val="F6F6F6">
                  <a:hueOff val="-3600000"/>
                  <a:lumOff val="3392"/>
                </a:srgbClr>
              </a:solidFill>
              <a:effectLst/>
              <a:uLnTx/>
              <a:uFillTx/>
              <a:latin typeface="Arial"/>
              <a:cs typeface="Arial"/>
              <a:sym typeface="Arial"/>
            </a:endParaRPr>
          </a:p>
        </p:txBody>
      </p:sp>
      <p:pic>
        <p:nvPicPr>
          <p:cNvPr id="714" name="Image" descr="Image"/>
          <p:cNvPicPr>
            <a:picLocks noChangeAspect="1"/>
          </p:cNvPicPr>
          <p:nvPr/>
        </p:nvPicPr>
        <p:blipFill>
          <a:blip r:embed="rId2"/>
          <a:stretch>
            <a:fillRect/>
          </a:stretch>
        </p:blipFill>
        <p:spPr>
          <a:xfrm>
            <a:off x="8236113" y="160684"/>
            <a:ext cx="686516" cy="310415"/>
          </a:xfrm>
          <a:prstGeom prst="rect">
            <a:avLst/>
          </a:prstGeom>
          <a:ln w="12700">
            <a:miter lim="400000"/>
          </a:ln>
        </p:spPr>
      </p:pic>
      <p:sp>
        <p:nvSpPr>
          <p:cNvPr id="2" name="Title 1">
            <a:extLst>
              <a:ext uri="{FF2B5EF4-FFF2-40B4-BE49-F238E27FC236}">
                <a16:creationId xmlns:a16="http://schemas.microsoft.com/office/drawing/2014/main" id="{9FB846F8-5CBF-773D-E828-4870931A97D3}"/>
              </a:ext>
            </a:extLst>
          </p:cNvPr>
          <p:cNvSpPr>
            <a:spLocks noGrp="1"/>
          </p:cNvSpPr>
          <p:nvPr>
            <p:ph type="title" hasCustomPrompt="1"/>
          </p:nvPr>
        </p:nvSpPr>
        <p:spPr>
          <a:xfrm>
            <a:off x="227183" y="260637"/>
            <a:ext cx="7107390" cy="581894"/>
          </a:xfrm>
        </p:spPr>
        <p:txBody>
          <a:bodyPr/>
          <a:lstStyle>
            <a:lvl1pPr>
              <a:lnSpc>
                <a:spcPts val="2249"/>
              </a:lnSpc>
              <a:spcBef>
                <a:spcPts val="0"/>
              </a:spcBef>
              <a:defRPr sz="2249" spc="-83" baseline="0">
                <a:solidFill>
                  <a:srgbClr val="172325"/>
                </a:solidFill>
              </a:defRPr>
            </a:lvl1pPr>
          </a:lstStyle>
          <a:p>
            <a:r>
              <a:rPr lang="en-GB" dirty="0"/>
              <a:t>Headline goes here. Maximum in 2 lines.</a:t>
            </a:r>
            <a:br>
              <a:rPr lang="en-GB" dirty="0"/>
            </a:br>
            <a:r>
              <a:rPr lang="en-GB" dirty="0"/>
              <a:t>All headlines should be sentence case.</a:t>
            </a:r>
            <a:endParaRPr lang="en-RS" dirty="0"/>
          </a:p>
        </p:txBody>
      </p:sp>
    </p:spTree>
    <p:extLst>
      <p:ext uri="{BB962C8B-B14F-4D97-AF65-F5344CB8AC3E}">
        <p14:creationId xmlns:p14="http://schemas.microsoft.com/office/powerpoint/2010/main" val="166938844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469445" y="406036"/>
            <a:ext cx="6134555" cy="369332"/>
          </a:xfrm>
          <a:prstGeom prst="rect">
            <a:avLst/>
          </a:prstGeom>
        </p:spPr>
        <p:txBody>
          <a:bodyPr vert="horz" wrap="square" lIns="0" tIns="0" rIns="0" bIns="0" rtlCol="0" anchor="t" anchorCtr="0">
            <a:noAutofit/>
          </a:bodyPr>
          <a:lstStyle/>
          <a:p>
            <a:r>
              <a:rPr lang="en-US" dirty="0"/>
              <a:t>CLICK TO EDIT TITLE STYLE</a:t>
            </a:r>
          </a:p>
        </p:txBody>
      </p:sp>
      <p:sp>
        <p:nvSpPr>
          <p:cNvPr id="6" name="Text Placeholder 5"/>
          <p:cNvSpPr>
            <a:spLocks noGrp="1"/>
          </p:cNvSpPr>
          <p:nvPr>
            <p:ph type="body" idx="1"/>
          </p:nvPr>
        </p:nvSpPr>
        <p:spPr>
          <a:xfrm>
            <a:off x="469445" y="928079"/>
            <a:ext cx="6134555" cy="2084481"/>
          </a:xfrm>
          <a:prstGeom prst="rect">
            <a:avLst/>
          </a:prstGeom>
        </p:spPr>
        <p:txBody>
          <a:bodyPr vert="horz" wrap="square"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Box 23">
            <a:extLst>
              <a:ext uri="{FF2B5EF4-FFF2-40B4-BE49-F238E27FC236}">
                <a16:creationId xmlns:a16="http://schemas.microsoft.com/office/drawing/2014/main" id="{67DCE893-6A75-F770-3EBA-345A9472F0A7}"/>
              </a:ext>
            </a:extLst>
          </p:cNvPr>
          <p:cNvSpPr txBox="1"/>
          <p:nvPr userDrawn="1"/>
        </p:nvSpPr>
        <p:spPr>
          <a:xfrm>
            <a:off x="285895" y="4807183"/>
            <a:ext cx="3206240" cy="200055"/>
          </a:xfrm>
          <a:prstGeom prst="rect">
            <a:avLst/>
          </a:prstGeom>
          <a:noFill/>
        </p:spPr>
        <p:txBody>
          <a:bodyPr wrap="square">
            <a:spAutoFit/>
          </a:bodyPr>
          <a:lstStyle/>
          <a:p>
            <a:r>
              <a:rPr lang="en-US" sz="700" b="0" i="0" spc="20" baseline="0" dirty="0">
                <a:solidFill>
                  <a:schemeClr val="tx1">
                    <a:lumMod val="65000"/>
                    <a:lumOff val="35000"/>
                  </a:schemeClr>
                </a:solidFill>
                <a:latin typeface="Uni Sans Regular" pitchFamily="2" charset="77"/>
                <a:ea typeface="Open Sans Light" panose="020B0306030504020204" pitchFamily="34" charset="0"/>
                <a:cs typeface="Open Sans Light" panose="020B0306030504020204" pitchFamily="34" charset="0"/>
              </a:rPr>
              <a:t> FOSTER SCHOOL OF BUSINESS, UNIVERSITY OF WASHINGTON</a:t>
            </a:r>
            <a:endParaRPr lang="en-US" sz="1600" b="0" i="0" spc="20" baseline="0" dirty="0">
              <a:solidFill>
                <a:schemeClr val="tx1">
                  <a:lumMod val="65000"/>
                  <a:lumOff val="35000"/>
                </a:schemeClr>
              </a:solidFill>
              <a:latin typeface="Uni Sans Regular" pitchFamily="2" charset="77"/>
            </a:endParaRPr>
          </a:p>
        </p:txBody>
      </p:sp>
      <p:sp>
        <p:nvSpPr>
          <p:cNvPr id="27" name="TextBox 26">
            <a:extLst>
              <a:ext uri="{FF2B5EF4-FFF2-40B4-BE49-F238E27FC236}">
                <a16:creationId xmlns:a16="http://schemas.microsoft.com/office/drawing/2014/main" id="{1EB5DED1-6392-63AA-0761-1325CD3A98B5}"/>
              </a:ext>
            </a:extLst>
          </p:cNvPr>
          <p:cNvSpPr txBox="1"/>
          <p:nvPr userDrawn="1"/>
        </p:nvSpPr>
        <p:spPr>
          <a:xfrm>
            <a:off x="6182426" y="4807183"/>
            <a:ext cx="2570510" cy="200055"/>
          </a:xfrm>
          <a:prstGeom prst="rect">
            <a:avLst/>
          </a:prstGeom>
          <a:noFill/>
        </p:spPr>
        <p:txBody>
          <a:bodyPr wrap="square">
            <a:spAutoFit/>
          </a:bodyPr>
          <a:lstStyle/>
          <a:p>
            <a:pPr algn="r"/>
            <a:r>
              <a:rPr lang="en-US" sz="700" b="0" i="0" dirty="0">
                <a:solidFill>
                  <a:schemeClr val="tx1">
                    <a:lumMod val="65000"/>
                    <a:lumOff val="35000"/>
                  </a:schemeClr>
                </a:solidFill>
                <a:latin typeface="Encode Sans Normal Medium" panose="02000000000000000000" pitchFamily="2" charset="77"/>
                <a:ea typeface="Open Sans Light" panose="020B0306030504020204" pitchFamily="34" charset="0"/>
                <a:cs typeface="Open Sans Light" panose="020B0306030504020204" pitchFamily="34" charset="0"/>
              </a:rPr>
              <a:t>foster.uw.edu</a:t>
            </a:r>
            <a:endParaRPr lang="en-US" sz="1600" b="0" i="0" dirty="0">
              <a:solidFill>
                <a:schemeClr val="tx1">
                  <a:lumMod val="65000"/>
                  <a:lumOff val="35000"/>
                </a:schemeClr>
              </a:solidFill>
              <a:latin typeface="Encode Sans Normal Medium" panose="02000000000000000000" pitchFamily="2" charset="77"/>
            </a:endParaRPr>
          </a:p>
        </p:txBody>
      </p:sp>
      <p:cxnSp>
        <p:nvCxnSpPr>
          <p:cNvPr id="29" name="Straight Connector 28">
            <a:extLst>
              <a:ext uri="{FF2B5EF4-FFF2-40B4-BE49-F238E27FC236}">
                <a16:creationId xmlns:a16="http://schemas.microsoft.com/office/drawing/2014/main" id="{AF715F98-A0BC-AA2E-45A5-62072B08C576}"/>
              </a:ext>
            </a:extLst>
          </p:cNvPr>
          <p:cNvCxnSpPr>
            <a:cxnSpLocks/>
          </p:cNvCxnSpPr>
          <p:nvPr userDrawn="1"/>
        </p:nvCxnSpPr>
        <p:spPr>
          <a:xfrm>
            <a:off x="391886" y="4737463"/>
            <a:ext cx="8282669" cy="0"/>
          </a:xfrm>
          <a:prstGeom prst="line">
            <a:avLst/>
          </a:prstGeom>
          <a:ln>
            <a:solidFill>
              <a:srgbClr val="C09F29">
                <a:alpha val="34419"/>
              </a:srgbClr>
            </a:solidFill>
          </a:ln>
        </p:spPr>
        <p:style>
          <a:lnRef idx="1">
            <a:schemeClr val="accent6"/>
          </a:lnRef>
          <a:fillRef idx="0">
            <a:schemeClr val="accent6"/>
          </a:fillRef>
          <a:effectRef idx="0">
            <a:schemeClr val="accent6"/>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74" r:id="rId2"/>
    <p:sldLayoutId id="2147483649" r:id="rId3"/>
    <p:sldLayoutId id="2147483663" r:id="rId4"/>
    <p:sldLayoutId id="2147483668" r:id="rId5"/>
    <p:sldLayoutId id="2147483669" r:id="rId6"/>
    <p:sldLayoutId id="2147483675" r:id="rId7"/>
    <p:sldLayoutId id="2147483676" r:id="rId8"/>
    <p:sldLayoutId id="2147483650" r:id="rId9"/>
    <p:sldLayoutId id="2147483665" r:id="rId10"/>
    <p:sldLayoutId id="2147483653" r:id="rId11"/>
    <p:sldLayoutId id="2147483671" r:id="rId12"/>
    <p:sldLayoutId id="2147483662" r:id="rId13"/>
    <p:sldLayoutId id="2147483667" r:id="rId14"/>
    <p:sldLayoutId id="2147483677" r:id="rId15"/>
    <p:sldLayoutId id="2147483678" r:id="rId16"/>
    <p:sldLayoutId id="2147483679" r:id="rId17"/>
  </p:sldLayoutIdLst>
  <p:transition>
    <p:fade/>
  </p:transition>
  <p:hf hdr="0" ftr="0" dt="0"/>
  <p:txStyles>
    <p:titleStyle>
      <a:lvl1pPr algn="l" defTabSz="457200" rtl="0" eaLnBrk="1" fontAlgn="base" hangingPunct="1">
        <a:spcBef>
          <a:spcPct val="0"/>
        </a:spcBef>
        <a:spcAft>
          <a:spcPct val="0"/>
        </a:spcAft>
        <a:defRPr sz="2400" b="1" i="0" kern="1200">
          <a:solidFill>
            <a:schemeClr val="tx2"/>
          </a:solidFill>
          <a:latin typeface="Encode Sans Normal ExtraBold" panose="02000000000000000000" pitchFamily="2" charset="77"/>
          <a:ea typeface="+mj-ea"/>
          <a:cs typeface="Arial" panose="020B0604020202020204" pitchFamily="34" charset="0"/>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p:titleStyle>
    <p:bodyStyle>
      <a:lvl1pPr marL="0" indent="0" algn="l" defTabSz="457200" rtl="0" eaLnBrk="1" fontAlgn="base" hangingPunct="1">
        <a:lnSpc>
          <a:spcPct val="100000"/>
        </a:lnSpc>
        <a:spcBef>
          <a:spcPts val="0"/>
        </a:spcBef>
        <a:spcAft>
          <a:spcPts val="700"/>
        </a:spcAft>
        <a:buFont typeface="Arial" charset="0"/>
        <a:buNone/>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515938" indent="-174625"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685800" indent="-169863" algn="l" defTabSz="457200" rtl="0" eaLnBrk="1" fontAlgn="base" hangingPunct="1">
        <a:lnSpc>
          <a:spcPct val="100000"/>
        </a:lnSpc>
        <a:spcBef>
          <a:spcPts val="0"/>
        </a:spcBef>
        <a:spcAft>
          <a:spcPts val="700"/>
        </a:spcAft>
        <a:buFont typeface="Arial"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855663" indent="-169863"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031875" indent="-176213"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88" userDrawn="1">
          <p15:clr>
            <a:srgbClr val="F26B43"/>
          </p15:clr>
        </p15:guide>
        <p15:guide id="4" orient="horz" pos="279" userDrawn="1">
          <p15:clr>
            <a:srgbClr val="F26B43"/>
          </p15:clr>
        </p15:guide>
        <p15:guide id="5" orient="horz" pos="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4.xml"/><Relationship Id="rId16" Type="http://schemas.openxmlformats.org/officeDocument/2006/relationships/image" Target="../media/image20.png"/><Relationship Id="rId1" Type="http://schemas.openxmlformats.org/officeDocument/2006/relationships/slideLayout" Target="../slideLayouts/slideLayout15.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6.xml"/><Relationship Id="rId16" Type="http://schemas.openxmlformats.org/officeDocument/2006/relationships/image" Target="../media/image40.png"/><Relationship Id="rId1" Type="http://schemas.openxmlformats.org/officeDocument/2006/relationships/slideLayout" Target="../slideLayouts/slideLayout6.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44.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40.png"/><Relationship Id="rId4" Type="http://schemas.openxmlformats.org/officeDocument/2006/relationships/image" Target="../media/image46.png"/><Relationship Id="rId9" Type="http://schemas.openxmlformats.org/officeDocument/2006/relationships/image" Target="../media/image51.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jpe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40.png"/><Relationship Id="rId1" Type="http://schemas.openxmlformats.org/officeDocument/2006/relationships/slideLayout" Target="../slideLayouts/slideLayout6.xml"/><Relationship Id="rId4" Type="http://schemas.openxmlformats.org/officeDocument/2006/relationships/image" Target="../media/image6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26B0663-EF24-1647-73F5-01EDE88C8B76}"/>
              </a:ext>
            </a:extLst>
          </p:cNvPr>
          <p:cNvSpPr>
            <a:spLocks noGrp="1"/>
          </p:cNvSpPr>
          <p:nvPr>
            <p:ph type="subTitle" idx="1"/>
          </p:nvPr>
        </p:nvSpPr>
        <p:spPr>
          <a:xfrm>
            <a:off x="361951" y="3079957"/>
            <a:ext cx="7762875" cy="452688"/>
          </a:xfrm>
        </p:spPr>
        <p:txBody>
          <a:bodyPr/>
          <a:lstStyle/>
          <a:p>
            <a:r>
              <a:rPr lang="en-US" spc="0" dirty="0">
                <a:solidFill>
                  <a:schemeClr val="bg2">
                    <a:lumMod val="90000"/>
                  </a:schemeClr>
                </a:solidFill>
              </a:rPr>
              <a:t>Adv. Advisory | ACCTG 528 | Class 06</a:t>
            </a:r>
          </a:p>
          <a:p>
            <a:r>
              <a:rPr lang="en-US" dirty="0"/>
              <a:t>MPAcc Class of 2026</a:t>
            </a:r>
            <a:endParaRPr lang="en-US" spc="0" dirty="0">
              <a:solidFill>
                <a:schemeClr val="bg2">
                  <a:lumMod val="90000"/>
                </a:schemeClr>
              </a:solidFill>
            </a:endParaRPr>
          </a:p>
        </p:txBody>
      </p:sp>
      <p:sp>
        <p:nvSpPr>
          <p:cNvPr id="3" name="Title 2">
            <a:extLst>
              <a:ext uri="{FF2B5EF4-FFF2-40B4-BE49-F238E27FC236}">
                <a16:creationId xmlns:a16="http://schemas.microsoft.com/office/drawing/2014/main" id="{6E1A986F-1CE3-AE6A-F426-F9525E84E6F9}"/>
              </a:ext>
            </a:extLst>
          </p:cNvPr>
          <p:cNvSpPr>
            <a:spLocks noGrp="1"/>
          </p:cNvSpPr>
          <p:nvPr>
            <p:ph type="title"/>
          </p:nvPr>
        </p:nvSpPr>
        <p:spPr>
          <a:xfrm>
            <a:off x="361951" y="1140965"/>
            <a:ext cx="8095065" cy="1938992"/>
          </a:xfrm>
        </p:spPr>
        <p:txBody>
          <a:bodyPr anchor="t"/>
          <a:lstStyle/>
          <a:p>
            <a:r>
              <a:rPr lang="en-US" sz="4000" b="0" dirty="0"/>
              <a:t>Individual RPA Workshop</a:t>
            </a:r>
          </a:p>
        </p:txBody>
      </p:sp>
    </p:spTree>
    <p:extLst>
      <p:ext uri="{BB962C8B-B14F-4D97-AF65-F5344CB8AC3E}">
        <p14:creationId xmlns:p14="http://schemas.microsoft.com/office/powerpoint/2010/main" val="153964264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33DC0ED9-48FE-34EC-5ADA-355F4BC1D605}"/>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FD5F9A17-21D2-BB20-F9BF-BAAE67C53CDA}"/>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AEC3D1FA-978D-54C1-2B87-4B1136B2B60E}"/>
              </a:ext>
            </a:extLst>
          </p:cNvPr>
          <p:cNvSpPr>
            <a:spLocks noGrp="1"/>
          </p:cNvSpPr>
          <p:nvPr>
            <p:ph type="body" sz="quarter" idx="13"/>
          </p:nvPr>
        </p:nvSpPr>
        <p:spPr/>
        <p:txBody>
          <a:bodyPr/>
          <a:lstStyle/>
          <a:p>
            <a:pPr marL="285750" indent="-285750">
              <a:buFont typeface="Arial" panose="020B0604020202020204" pitchFamily="34" charset="0"/>
              <a:buChar char="•"/>
            </a:pPr>
            <a:r>
              <a:rPr lang="en-US" b="1" dirty="0">
                <a:solidFill>
                  <a:schemeClr val="tx2"/>
                </a:solidFill>
              </a:rPr>
              <a:t>Review of workflows</a:t>
            </a:r>
          </a:p>
          <a:p>
            <a:pPr marL="285750" indent="-285750">
              <a:buFont typeface="Arial" panose="020B0604020202020204" pitchFamily="34" charset="0"/>
              <a:buChar char="•"/>
            </a:pPr>
            <a:r>
              <a:rPr lang="en-US" dirty="0"/>
              <a:t>Submission overview: </a:t>
            </a:r>
          </a:p>
          <a:p>
            <a:pPr marL="801688" lvl="1" indent="-285750"/>
            <a:r>
              <a:rPr lang="en-US" dirty="0"/>
              <a:t>Download your UiPath cloud file (.</a:t>
            </a:r>
            <a:r>
              <a:rPr lang="en-US" dirty="0" err="1"/>
              <a:t>uip</a:t>
            </a:r>
            <a:r>
              <a:rPr lang="en-US" dirty="0"/>
              <a:t> or .</a:t>
            </a:r>
            <a:r>
              <a:rPr lang="en-US" dirty="0" err="1"/>
              <a:t>uis</a:t>
            </a:r>
            <a:r>
              <a:rPr lang="en-US" dirty="0"/>
              <a:t>)</a:t>
            </a:r>
          </a:p>
          <a:p>
            <a:pPr marL="801688" lvl="1" indent="-285750"/>
            <a:r>
              <a:rPr lang="en-US" dirty="0"/>
              <a:t>Submit to canvas and add commentary about the bot.</a:t>
            </a:r>
          </a:p>
          <a:p>
            <a:pPr marL="285750" indent="-285750">
              <a:buFont typeface="Arial" panose="020B0604020202020204" pitchFamily="34" charset="0"/>
              <a:buChar char="•"/>
            </a:pPr>
            <a:r>
              <a:rPr lang="en-US" dirty="0"/>
              <a:t>Workshop time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777514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urple rectangular sign with white text&#10;&#10;AI-generated content may be incorrect.">
            <a:extLst>
              <a:ext uri="{FF2B5EF4-FFF2-40B4-BE49-F238E27FC236}">
                <a16:creationId xmlns:a16="http://schemas.microsoft.com/office/drawing/2014/main" id="{2D557AA9-8FEF-4C94-0D5E-108DEFD31931}"/>
              </a:ext>
            </a:extLst>
          </p:cNvPr>
          <p:cNvPicPr>
            <a:picLocks noChangeAspect="1"/>
          </p:cNvPicPr>
          <p:nvPr/>
        </p:nvPicPr>
        <p:blipFill>
          <a:blip r:embed="rId3"/>
          <a:srcRect t="23294" b="25622"/>
          <a:stretch/>
        </p:blipFill>
        <p:spPr>
          <a:xfrm>
            <a:off x="90488" y="840418"/>
            <a:ext cx="8963025" cy="3056263"/>
          </a:xfrm>
          <a:prstGeom prst="rect">
            <a:avLst/>
          </a:prstGeom>
          <a:noFill/>
        </p:spPr>
      </p:pic>
      <p:sp>
        <p:nvSpPr>
          <p:cNvPr id="8" name="Title 2">
            <a:extLst>
              <a:ext uri="{FF2B5EF4-FFF2-40B4-BE49-F238E27FC236}">
                <a16:creationId xmlns:a16="http://schemas.microsoft.com/office/drawing/2014/main" id="{8B02A910-3949-34FF-B07A-868F3898D15B}"/>
              </a:ext>
            </a:extLst>
          </p:cNvPr>
          <p:cNvSpPr>
            <a:spLocks noGrp="1"/>
          </p:cNvSpPr>
          <p:nvPr>
            <p:ph type="title"/>
          </p:nvPr>
        </p:nvSpPr>
        <p:spPr>
          <a:xfrm>
            <a:off x="417330" y="249687"/>
            <a:ext cx="4873022" cy="369332"/>
          </a:xfrm>
        </p:spPr>
        <p:txBody>
          <a:bodyPr/>
          <a:lstStyle/>
          <a:p>
            <a:r>
              <a:rPr lang="en-US" dirty="0"/>
              <a:t>Course Diagram (high-level)</a:t>
            </a:r>
          </a:p>
        </p:txBody>
      </p:sp>
    </p:spTree>
    <p:extLst>
      <p:ext uri="{BB962C8B-B14F-4D97-AF65-F5344CB8AC3E}">
        <p14:creationId xmlns:p14="http://schemas.microsoft.com/office/powerpoint/2010/main" val="229647346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06EC-4AB4-4292-4444-29AD0A6607B9}"/>
            </a:ext>
          </a:extLst>
        </p:cNvPr>
        <p:cNvGrpSpPr/>
        <p:nvPr/>
      </p:nvGrpSpPr>
      <p:grpSpPr>
        <a:xfrm>
          <a:off x="0" y="0"/>
          <a:ext cx="0" cy="0"/>
          <a:chOff x="0" y="0"/>
          <a:chExt cx="0" cy="0"/>
        </a:xfrm>
      </p:grpSpPr>
      <p:pic>
        <p:nvPicPr>
          <p:cNvPr id="5" name="Picture 4" descr="A planet with a rainbow of light&#10;&#10;AI-generated content may be incorrect.">
            <a:extLst>
              <a:ext uri="{FF2B5EF4-FFF2-40B4-BE49-F238E27FC236}">
                <a16:creationId xmlns:a16="http://schemas.microsoft.com/office/drawing/2014/main" id="{33AA38EF-6EDC-4C9D-99BD-8CEA67E60B52}"/>
              </a:ext>
            </a:extLst>
          </p:cNvPr>
          <p:cNvPicPr>
            <a:picLocks noChangeAspect="1"/>
          </p:cNvPicPr>
          <p:nvPr/>
        </p:nvPicPr>
        <p:blipFill>
          <a:blip r:embed="rId3"/>
          <a:stretch>
            <a:fillRect/>
          </a:stretch>
        </p:blipFill>
        <p:spPr>
          <a:xfrm>
            <a:off x="0" y="1339"/>
            <a:ext cx="9141619" cy="5142161"/>
          </a:xfrm>
          <a:prstGeom prst="rect">
            <a:avLst/>
          </a:prstGeom>
        </p:spPr>
      </p:pic>
      <p:pic>
        <p:nvPicPr>
          <p:cNvPr id="22" name="Picture 21" descr="A blue and black gradient&#10;&#10;Description automatically generated">
            <a:extLst>
              <a:ext uri="{FF2B5EF4-FFF2-40B4-BE49-F238E27FC236}">
                <a16:creationId xmlns:a16="http://schemas.microsoft.com/office/drawing/2014/main" id="{39273404-ABCA-9A2A-025B-1DBAB09BE6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910" y="1424554"/>
            <a:ext cx="8527416" cy="2556797"/>
          </a:xfrm>
          <a:prstGeom prst="rect">
            <a:avLst/>
          </a:prstGeom>
        </p:spPr>
      </p:pic>
      <p:pic>
        <p:nvPicPr>
          <p:cNvPr id="18" name="Picture 17">
            <a:extLst>
              <a:ext uri="{FF2B5EF4-FFF2-40B4-BE49-F238E27FC236}">
                <a16:creationId xmlns:a16="http://schemas.microsoft.com/office/drawing/2014/main" id="{A6BD02BD-CFE3-21E9-A91E-5CB8986D7DEC}"/>
              </a:ext>
            </a:extLst>
          </p:cNvPr>
          <p:cNvPicPr>
            <a:picLocks noChangeAspect="1"/>
          </p:cNvPicPr>
          <p:nvPr/>
        </p:nvPicPr>
        <p:blipFill>
          <a:blip r:embed="rId5"/>
          <a:srcRect/>
          <a:stretch/>
        </p:blipFill>
        <p:spPr>
          <a:xfrm>
            <a:off x="1124848" y="2104254"/>
            <a:ext cx="6889543" cy="1885459"/>
          </a:xfrm>
          <a:prstGeom prst="rect">
            <a:avLst/>
          </a:prstGeom>
        </p:spPr>
      </p:pic>
      <p:pic>
        <p:nvPicPr>
          <p:cNvPr id="14" name="Picture 13">
            <a:extLst>
              <a:ext uri="{FF2B5EF4-FFF2-40B4-BE49-F238E27FC236}">
                <a16:creationId xmlns:a16="http://schemas.microsoft.com/office/drawing/2014/main" id="{AF7DA506-1045-AF1A-6B15-28F7678DD59C}"/>
              </a:ext>
            </a:extLst>
          </p:cNvPr>
          <p:cNvPicPr>
            <a:picLocks noChangeAspect="1"/>
          </p:cNvPicPr>
          <p:nvPr/>
        </p:nvPicPr>
        <p:blipFill>
          <a:blip r:embed="rId6"/>
          <a:srcRect/>
          <a:stretch/>
        </p:blipFill>
        <p:spPr>
          <a:xfrm>
            <a:off x="2012822" y="2789875"/>
            <a:ext cx="5113593" cy="1199837"/>
          </a:xfrm>
          <a:prstGeom prst="rect">
            <a:avLst/>
          </a:prstGeom>
        </p:spPr>
      </p:pic>
      <p:pic>
        <p:nvPicPr>
          <p:cNvPr id="4" name="Picture 3">
            <a:extLst>
              <a:ext uri="{FF2B5EF4-FFF2-40B4-BE49-F238E27FC236}">
                <a16:creationId xmlns:a16="http://schemas.microsoft.com/office/drawing/2014/main" id="{CD18DD51-62F5-63E5-D380-4CE3D01598DA}"/>
              </a:ext>
            </a:extLst>
          </p:cNvPr>
          <p:cNvPicPr>
            <a:picLocks noChangeAspect="1"/>
          </p:cNvPicPr>
          <p:nvPr/>
        </p:nvPicPr>
        <p:blipFill>
          <a:blip r:embed="rId7"/>
          <a:srcRect/>
          <a:stretch/>
        </p:blipFill>
        <p:spPr>
          <a:xfrm>
            <a:off x="777275" y="4502979"/>
            <a:ext cx="7584687" cy="471365"/>
          </a:xfrm>
          <a:prstGeom prst="rect">
            <a:avLst/>
          </a:prstGeom>
        </p:spPr>
      </p:pic>
      <p:pic>
        <p:nvPicPr>
          <p:cNvPr id="10" name="Picture 9">
            <a:extLst>
              <a:ext uri="{FF2B5EF4-FFF2-40B4-BE49-F238E27FC236}">
                <a16:creationId xmlns:a16="http://schemas.microsoft.com/office/drawing/2014/main" id="{9F3BE886-4A66-473D-DDCF-8F95E10126DB}"/>
              </a:ext>
            </a:extLst>
          </p:cNvPr>
          <p:cNvPicPr>
            <a:picLocks noChangeAspect="1"/>
          </p:cNvPicPr>
          <p:nvPr/>
        </p:nvPicPr>
        <p:blipFill>
          <a:blip r:embed="rId8"/>
          <a:srcRect/>
          <a:stretch/>
        </p:blipFill>
        <p:spPr>
          <a:xfrm>
            <a:off x="264847" y="3842716"/>
            <a:ext cx="8609549" cy="542558"/>
          </a:xfrm>
          <a:prstGeom prst="rect">
            <a:avLst/>
          </a:prstGeom>
        </p:spPr>
      </p:pic>
      <p:pic>
        <p:nvPicPr>
          <p:cNvPr id="12" name="Picture 11">
            <a:extLst>
              <a:ext uri="{FF2B5EF4-FFF2-40B4-BE49-F238E27FC236}">
                <a16:creationId xmlns:a16="http://schemas.microsoft.com/office/drawing/2014/main" id="{E1BBDB1B-1E83-68C2-814F-A4D17EAFC79A}"/>
              </a:ext>
            </a:extLst>
          </p:cNvPr>
          <p:cNvPicPr>
            <a:picLocks noChangeAspect="1"/>
          </p:cNvPicPr>
          <p:nvPr/>
        </p:nvPicPr>
        <p:blipFill>
          <a:blip r:embed="rId9"/>
          <a:srcRect/>
          <a:stretch/>
        </p:blipFill>
        <p:spPr>
          <a:xfrm>
            <a:off x="1467659" y="3936926"/>
            <a:ext cx="6203921" cy="328779"/>
          </a:xfrm>
          <a:prstGeom prst="rect">
            <a:avLst/>
          </a:prstGeom>
        </p:spPr>
      </p:pic>
      <p:pic>
        <p:nvPicPr>
          <p:cNvPr id="16" name="Picture 15">
            <a:extLst>
              <a:ext uri="{FF2B5EF4-FFF2-40B4-BE49-F238E27FC236}">
                <a16:creationId xmlns:a16="http://schemas.microsoft.com/office/drawing/2014/main" id="{811699D1-3E3B-56E8-99EB-6BC57ED11169}"/>
              </a:ext>
            </a:extLst>
          </p:cNvPr>
          <p:cNvPicPr>
            <a:picLocks noChangeAspect="1"/>
          </p:cNvPicPr>
          <p:nvPr/>
        </p:nvPicPr>
        <p:blipFill>
          <a:blip r:embed="rId10"/>
          <a:srcRect/>
          <a:stretch/>
        </p:blipFill>
        <p:spPr>
          <a:xfrm>
            <a:off x="3736399" y="2978412"/>
            <a:ext cx="1666441" cy="657054"/>
          </a:xfrm>
          <a:prstGeom prst="rect">
            <a:avLst/>
          </a:prstGeom>
        </p:spPr>
      </p:pic>
      <p:pic>
        <p:nvPicPr>
          <p:cNvPr id="20" name="Picture 19">
            <a:extLst>
              <a:ext uri="{FF2B5EF4-FFF2-40B4-BE49-F238E27FC236}">
                <a16:creationId xmlns:a16="http://schemas.microsoft.com/office/drawing/2014/main" id="{7AE31ABF-2E7D-D880-2DF8-6BCEEFE115BD}"/>
              </a:ext>
            </a:extLst>
          </p:cNvPr>
          <p:cNvPicPr>
            <a:picLocks noChangeAspect="1"/>
          </p:cNvPicPr>
          <p:nvPr/>
        </p:nvPicPr>
        <p:blipFill>
          <a:blip r:embed="rId11"/>
          <a:srcRect/>
          <a:stretch/>
        </p:blipFill>
        <p:spPr>
          <a:xfrm>
            <a:off x="2769863" y="2277669"/>
            <a:ext cx="3599511" cy="756040"/>
          </a:xfrm>
          <a:prstGeom prst="rect">
            <a:avLst/>
          </a:prstGeom>
        </p:spPr>
      </p:pic>
      <p:pic>
        <p:nvPicPr>
          <p:cNvPr id="24" name="Picture 23">
            <a:extLst>
              <a:ext uri="{FF2B5EF4-FFF2-40B4-BE49-F238E27FC236}">
                <a16:creationId xmlns:a16="http://schemas.microsoft.com/office/drawing/2014/main" id="{51029ACC-ADB6-7D53-D1BF-F4499B71610F}"/>
              </a:ext>
            </a:extLst>
          </p:cNvPr>
          <p:cNvPicPr>
            <a:picLocks noChangeAspect="1"/>
          </p:cNvPicPr>
          <p:nvPr/>
        </p:nvPicPr>
        <p:blipFill>
          <a:blip r:embed="rId12"/>
          <a:srcRect/>
          <a:stretch/>
        </p:blipFill>
        <p:spPr>
          <a:xfrm>
            <a:off x="1938791" y="1586438"/>
            <a:ext cx="5408791" cy="1209360"/>
          </a:xfrm>
          <a:prstGeom prst="rect">
            <a:avLst/>
          </a:prstGeom>
        </p:spPr>
      </p:pic>
      <p:pic>
        <p:nvPicPr>
          <p:cNvPr id="26" name="Picture 25">
            <a:extLst>
              <a:ext uri="{FF2B5EF4-FFF2-40B4-BE49-F238E27FC236}">
                <a16:creationId xmlns:a16="http://schemas.microsoft.com/office/drawing/2014/main" id="{45F791B4-F783-45AB-DDAE-9FEF39B0391E}"/>
              </a:ext>
            </a:extLst>
          </p:cNvPr>
          <p:cNvPicPr>
            <a:picLocks noChangeAspect="1"/>
          </p:cNvPicPr>
          <p:nvPr/>
        </p:nvPicPr>
        <p:blipFill>
          <a:blip r:embed="rId13"/>
          <a:srcRect/>
          <a:stretch/>
        </p:blipFill>
        <p:spPr>
          <a:xfrm>
            <a:off x="4371238" y="788033"/>
            <a:ext cx="409469" cy="461843"/>
          </a:xfrm>
          <a:prstGeom prst="rect">
            <a:avLst/>
          </a:prstGeom>
        </p:spPr>
      </p:pic>
      <p:pic>
        <p:nvPicPr>
          <p:cNvPr id="28" name="Picture 27">
            <a:extLst>
              <a:ext uri="{FF2B5EF4-FFF2-40B4-BE49-F238E27FC236}">
                <a16:creationId xmlns:a16="http://schemas.microsoft.com/office/drawing/2014/main" id="{92487939-7FC0-FE53-2D87-F70C9DC32F98}"/>
              </a:ext>
            </a:extLst>
          </p:cNvPr>
          <p:cNvPicPr>
            <a:picLocks noChangeAspect="1"/>
          </p:cNvPicPr>
          <p:nvPr/>
        </p:nvPicPr>
        <p:blipFill>
          <a:blip r:embed="rId14"/>
          <a:srcRect/>
          <a:stretch/>
        </p:blipFill>
        <p:spPr>
          <a:xfrm>
            <a:off x="3760651" y="800544"/>
            <a:ext cx="371378" cy="509455"/>
          </a:xfrm>
          <a:prstGeom prst="rect">
            <a:avLst/>
          </a:prstGeom>
        </p:spPr>
      </p:pic>
      <p:pic>
        <p:nvPicPr>
          <p:cNvPr id="30" name="Picture 29">
            <a:extLst>
              <a:ext uri="{FF2B5EF4-FFF2-40B4-BE49-F238E27FC236}">
                <a16:creationId xmlns:a16="http://schemas.microsoft.com/office/drawing/2014/main" id="{05DB02BB-A7B3-265E-78BF-FCB0D2BDB493}"/>
              </a:ext>
            </a:extLst>
          </p:cNvPr>
          <p:cNvPicPr>
            <a:picLocks noChangeAspect="1"/>
          </p:cNvPicPr>
          <p:nvPr/>
        </p:nvPicPr>
        <p:blipFill>
          <a:blip r:embed="rId15"/>
          <a:srcRect/>
          <a:stretch/>
        </p:blipFill>
        <p:spPr>
          <a:xfrm>
            <a:off x="4954837" y="810066"/>
            <a:ext cx="423752" cy="499932"/>
          </a:xfrm>
          <a:prstGeom prst="rect">
            <a:avLst/>
          </a:prstGeom>
        </p:spPr>
      </p:pic>
      <p:sp>
        <p:nvSpPr>
          <p:cNvPr id="37" name="TextBox 36">
            <a:extLst>
              <a:ext uri="{FF2B5EF4-FFF2-40B4-BE49-F238E27FC236}">
                <a16:creationId xmlns:a16="http://schemas.microsoft.com/office/drawing/2014/main" id="{88005872-EF96-672F-B840-01C6BC6D2733}"/>
              </a:ext>
            </a:extLst>
          </p:cNvPr>
          <p:cNvSpPr txBox="1"/>
          <p:nvPr/>
        </p:nvSpPr>
        <p:spPr>
          <a:xfrm>
            <a:off x="2807456" y="131090"/>
            <a:ext cx="3510410" cy="461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68561" tIns="68561" rIns="68561" bIns="68561" numCol="1" spcCol="38100" rtlCol="0" anchor="t">
            <a:spAutoFit/>
          </a:bodyPr>
          <a:lstStyle/>
          <a:p>
            <a:pPr defTabSz="342797" hangingPunct="0"/>
            <a:r>
              <a:rPr lang="en-US" sz="2099" b="1" spc="-30">
                <a:solidFill>
                  <a:srgbClr val="FFFFFF"/>
                </a:solidFill>
                <a:latin typeface="HelveticaNeueLT Pro 55 Roman" panose="020B0604020202020204" pitchFamily="34" charset="77"/>
                <a:ea typeface="Calibri"/>
                <a:cs typeface="Calibri"/>
                <a:sym typeface="Helvetica"/>
              </a:rPr>
              <a:t>UiPath Agentic Automation</a:t>
            </a:r>
          </a:p>
        </p:txBody>
      </p:sp>
      <p:pic>
        <p:nvPicPr>
          <p:cNvPr id="3" name="Picture 2" descr="A black background with colorful lights&#10;&#10;AI-generated content may be incorrect.">
            <a:extLst>
              <a:ext uri="{FF2B5EF4-FFF2-40B4-BE49-F238E27FC236}">
                <a16:creationId xmlns:a16="http://schemas.microsoft.com/office/drawing/2014/main" id="{72094D30-8E66-4C43-3A8A-175236D1CA16}"/>
              </a:ext>
            </a:extLst>
          </p:cNvPr>
          <p:cNvPicPr>
            <a:picLocks noChangeAspect="1"/>
          </p:cNvPicPr>
          <p:nvPr/>
        </p:nvPicPr>
        <p:blipFill>
          <a:blip r:embed="rId16"/>
          <a:stretch>
            <a:fillRect/>
          </a:stretch>
        </p:blipFill>
        <p:spPr>
          <a:xfrm>
            <a:off x="1167700" y="1077512"/>
            <a:ext cx="6803840" cy="2785337"/>
          </a:xfrm>
          <a:prstGeom prst="rect">
            <a:avLst/>
          </a:prstGeom>
        </p:spPr>
      </p:pic>
    </p:spTree>
    <p:extLst>
      <p:ext uri="{BB962C8B-B14F-4D97-AF65-F5344CB8AC3E}">
        <p14:creationId xmlns:p14="http://schemas.microsoft.com/office/powerpoint/2010/main" val="338369805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2A98C-917F-F310-7C1F-845E56DB0CEB}"/>
              </a:ext>
            </a:extLst>
          </p:cNvPr>
          <p:cNvSpPr>
            <a:spLocks noGrp="1"/>
          </p:cNvSpPr>
          <p:nvPr>
            <p:ph type="title"/>
          </p:nvPr>
        </p:nvSpPr>
        <p:spPr/>
        <p:txBody>
          <a:bodyPr/>
          <a:lstStyle/>
          <a:p>
            <a:r>
              <a:rPr lang="en-US" dirty="0"/>
              <a:t>What is BPMN?</a:t>
            </a:r>
          </a:p>
        </p:txBody>
      </p:sp>
      <p:grpSp>
        <p:nvGrpSpPr>
          <p:cNvPr id="14" name="Group 13">
            <a:extLst>
              <a:ext uri="{FF2B5EF4-FFF2-40B4-BE49-F238E27FC236}">
                <a16:creationId xmlns:a16="http://schemas.microsoft.com/office/drawing/2014/main" id="{57E04017-EE4C-988A-82EA-940134406CDD}"/>
              </a:ext>
            </a:extLst>
          </p:cNvPr>
          <p:cNvGrpSpPr/>
          <p:nvPr/>
        </p:nvGrpSpPr>
        <p:grpSpPr>
          <a:xfrm>
            <a:off x="229087" y="853284"/>
            <a:ext cx="8834048" cy="811661"/>
            <a:chOff x="2324195" y="-945663"/>
            <a:chExt cx="11781799" cy="1082495"/>
          </a:xfrm>
          <a:solidFill>
            <a:schemeClr val="tx2"/>
          </a:solidFill>
        </p:grpSpPr>
        <p:sp>
          <p:nvSpPr>
            <p:cNvPr id="15" name="Rectangle 14">
              <a:extLst>
                <a:ext uri="{FF2B5EF4-FFF2-40B4-BE49-F238E27FC236}">
                  <a16:creationId xmlns:a16="http://schemas.microsoft.com/office/drawing/2014/main" id="{629D2F5C-529D-8C2C-AB29-6EC8C26513CE}"/>
                </a:ext>
              </a:extLst>
            </p:cNvPr>
            <p:cNvSpPr>
              <a:spLocks/>
            </p:cNvSpPr>
            <p:nvPr/>
          </p:nvSpPr>
          <p:spPr>
            <a:xfrm>
              <a:off x="2324195" y="-945663"/>
              <a:ext cx="11781799" cy="1082494"/>
            </a:xfrm>
            <a:prstGeom prst="rect">
              <a:avLst/>
            </a:prstGeom>
            <a:grpFill/>
            <a:ln w="9525" cap="flat" cmpd="sng" algn="ctr">
              <a:noFill/>
              <a:prstDash val="solid"/>
            </a:ln>
            <a:effectLst/>
          </p:spPr>
          <p:txBody>
            <a:bodyPr lIns="0" tIns="0" rIns="0" bIns="0" rtlCol="0" anchor="ctr" anchorCtr="0"/>
            <a:lstStyle/>
            <a:p>
              <a:pPr algn="ctr" defTabSz="685389">
                <a:defRPr/>
              </a:pPr>
              <a:endParaRPr lang="en-US" sz="450" kern="0" dirty="0">
                <a:solidFill>
                  <a:srgbClr val="FFFFFF"/>
                </a:solidFill>
                <a:latin typeface="Arial"/>
                <a:ea typeface="Calibri"/>
                <a:cs typeface="Arial"/>
              </a:endParaRPr>
            </a:p>
          </p:txBody>
        </p:sp>
        <p:sp>
          <p:nvSpPr>
            <p:cNvPr id="16" name="TextBox 15">
              <a:extLst>
                <a:ext uri="{FF2B5EF4-FFF2-40B4-BE49-F238E27FC236}">
                  <a16:creationId xmlns:a16="http://schemas.microsoft.com/office/drawing/2014/main" id="{2121FA1B-132A-69B9-5244-92FB5F6BFB56}"/>
                </a:ext>
              </a:extLst>
            </p:cNvPr>
            <p:cNvSpPr txBox="1"/>
            <p:nvPr/>
          </p:nvSpPr>
          <p:spPr>
            <a:xfrm>
              <a:off x="3412394" y="-945663"/>
              <a:ext cx="10161204" cy="1082495"/>
            </a:xfrm>
            <a:prstGeom prst="rect">
              <a:avLst/>
            </a:prstGeom>
            <a:grpFill/>
          </p:spPr>
          <p:txBody>
            <a:bodyPr wrap="square" lIns="68544" tIns="34272" rIns="68544" bIns="34272" anchor="t">
              <a:spAutoFit/>
            </a:bodyPr>
            <a:lstStyle/>
            <a:p>
              <a:pPr defTabSz="342900">
                <a:lnSpc>
                  <a:spcPct val="105000"/>
                </a:lnSpc>
              </a:pPr>
              <a:r>
                <a:rPr lang="en-US" sz="1650" b="1" dirty="0">
                  <a:solidFill>
                    <a:srgbClr val="FFFFFF"/>
                  </a:solidFill>
                  <a:latin typeface="Calibri"/>
                  <a:ea typeface="Calibri"/>
                  <a:cs typeface="Calibri"/>
                </a:rPr>
                <a:t>Business Process Model and Notation </a:t>
              </a:r>
              <a:r>
                <a:rPr lang="en-US" sz="1650" dirty="0">
                  <a:solidFill>
                    <a:srgbClr val="FFFFFF"/>
                  </a:solidFill>
                  <a:latin typeface="Calibri"/>
                  <a:ea typeface="Calibri"/>
                  <a:cs typeface="Calibri"/>
                </a:rPr>
                <a:t>is a standardized graphical notation for modeling, documenting, and visualizing business processes clearly and consistently</a:t>
              </a:r>
            </a:p>
            <a:p>
              <a:pPr defTabSz="342900">
                <a:lnSpc>
                  <a:spcPct val="105000"/>
                </a:lnSpc>
              </a:pPr>
              <a:endParaRPr lang="en-US" sz="1349" b="1" dirty="0">
                <a:solidFill>
                  <a:srgbClr val="FFFFFF"/>
                </a:solidFill>
                <a:latin typeface="Calibri"/>
                <a:ea typeface="Calibri"/>
                <a:cs typeface="Calibri"/>
              </a:endParaRPr>
            </a:p>
          </p:txBody>
        </p:sp>
        <p:pic>
          <p:nvPicPr>
            <p:cNvPr id="17" name="Graphic 16">
              <a:extLst>
                <a:ext uri="{FF2B5EF4-FFF2-40B4-BE49-F238E27FC236}">
                  <a16:creationId xmlns:a16="http://schemas.microsoft.com/office/drawing/2014/main" id="{592880D6-81C2-02B5-B844-9FC90210B1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9972" y="-864025"/>
              <a:ext cx="696644" cy="696644"/>
            </a:xfrm>
            <a:prstGeom prst="rect">
              <a:avLst/>
            </a:prstGeom>
          </p:spPr>
        </p:pic>
      </p:grpSp>
      <p:pic>
        <p:nvPicPr>
          <p:cNvPr id="4" name="Picture 3">
            <a:extLst>
              <a:ext uri="{FF2B5EF4-FFF2-40B4-BE49-F238E27FC236}">
                <a16:creationId xmlns:a16="http://schemas.microsoft.com/office/drawing/2014/main" id="{A2DD338B-BBFC-4282-5400-80AA38BDCBED}"/>
              </a:ext>
            </a:extLst>
          </p:cNvPr>
          <p:cNvPicPr>
            <a:picLocks noChangeAspect="1"/>
          </p:cNvPicPr>
          <p:nvPr/>
        </p:nvPicPr>
        <p:blipFill>
          <a:blip r:embed="rId4"/>
          <a:stretch>
            <a:fillRect/>
          </a:stretch>
        </p:blipFill>
        <p:spPr>
          <a:xfrm>
            <a:off x="0" y="1819487"/>
            <a:ext cx="9144000" cy="2985025"/>
          </a:xfrm>
          <a:prstGeom prst="rect">
            <a:avLst/>
          </a:prstGeom>
        </p:spPr>
      </p:pic>
    </p:spTree>
    <p:extLst>
      <p:ext uri="{BB962C8B-B14F-4D97-AF65-F5344CB8AC3E}">
        <p14:creationId xmlns:p14="http://schemas.microsoft.com/office/powerpoint/2010/main" val="6882580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30713B2-EDC4-CCCD-5AB0-6F7BF1830AE6}"/>
              </a:ext>
            </a:extLst>
          </p:cNvPr>
          <p:cNvSpPr>
            <a:spLocks noGrp="1"/>
          </p:cNvSpPr>
          <p:nvPr>
            <p:ph type="title"/>
          </p:nvPr>
        </p:nvSpPr>
        <p:spPr/>
        <p:txBody>
          <a:bodyPr/>
          <a:lstStyle/>
          <a:p>
            <a:r>
              <a:rPr lang="en-US" dirty="0"/>
              <a:t>BPMN Example with Gateways</a:t>
            </a:r>
          </a:p>
        </p:txBody>
      </p:sp>
      <p:sp>
        <p:nvSpPr>
          <p:cNvPr id="7" name="Content Placeholder 6">
            <a:extLst>
              <a:ext uri="{FF2B5EF4-FFF2-40B4-BE49-F238E27FC236}">
                <a16:creationId xmlns:a16="http://schemas.microsoft.com/office/drawing/2014/main" id="{40AEDB8B-718A-3BDB-6E91-6B420877BE6E}"/>
              </a:ext>
            </a:extLst>
          </p:cNvPr>
          <p:cNvSpPr>
            <a:spLocks noGrp="1"/>
          </p:cNvSpPr>
          <p:nvPr>
            <p:ph idx="1"/>
          </p:nvPr>
        </p:nvSpPr>
        <p:spPr/>
        <p:txBody>
          <a:bodyPr/>
          <a:lstStyle/>
          <a:p>
            <a:endParaRPr lang="en-US"/>
          </a:p>
        </p:txBody>
      </p:sp>
      <p:sp>
        <p:nvSpPr>
          <p:cNvPr id="2" name="Slide Number Placeholder 1">
            <a:extLst>
              <a:ext uri="{FF2B5EF4-FFF2-40B4-BE49-F238E27FC236}">
                <a16:creationId xmlns:a16="http://schemas.microsoft.com/office/drawing/2014/main" id="{2E6FDFBE-02A8-9C11-BBBF-2DC708755E66}"/>
              </a:ext>
            </a:extLst>
          </p:cNvPr>
          <p:cNvSpPr>
            <a:spLocks noGrp="1"/>
          </p:cNvSpPr>
          <p:nvPr>
            <p:ph type="sldNum" sz="quarter" idx="4294967295"/>
          </p:nvPr>
        </p:nvSpPr>
        <p:spPr>
          <a:xfrm>
            <a:off x="9026525" y="4867275"/>
            <a:ext cx="117475" cy="115888"/>
          </a:xfrm>
          <a:prstGeom prst="rect">
            <a:avLst/>
          </a:prstGeom>
        </p:spPr>
        <p:txBody>
          <a:bodyPr/>
          <a:lstStyle/>
          <a:p>
            <a:pPr defTabSz="342797" hangingPunct="0"/>
            <a:fld id="{86CB4B4D-7CA3-9044-876B-883B54F8677D}" type="slidenum">
              <a:rPr lang="en-US" kern="0" smtClean="0">
                <a:solidFill>
                  <a:srgbClr val="434648">
                    <a:hueOff val="-839560"/>
                    <a:satOff val="19935"/>
                    <a:lumOff val="-15534"/>
                  </a:srgbClr>
                </a:solidFill>
                <a:latin typeface="Arial"/>
                <a:cs typeface="Arial"/>
                <a:sym typeface="Arial"/>
              </a:rPr>
              <a:pPr defTabSz="342797" hangingPunct="0"/>
              <a:t>6</a:t>
            </a:fld>
            <a:endParaRPr lang="en-US" kern="0" dirty="0">
              <a:solidFill>
                <a:srgbClr val="434648">
                  <a:hueOff val="-839560"/>
                  <a:satOff val="19935"/>
                  <a:lumOff val="-15534"/>
                </a:srgbClr>
              </a:solidFill>
              <a:latin typeface="Arial"/>
              <a:cs typeface="Arial"/>
              <a:sym typeface="Arial"/>
            </a:endParaRPr>
          </a:p>
        </p:txBody>
      </p:sp>
      <p:pic>
        <p:nvPicPr>
          <p:cNvPr id="5" name="Picture 4">
            <a:extLst>
              <a:ext uri="{FF2B5EF4-FFF2-40B4-BE49-F238E27FC236}">
                <a16:creationId xmlns:a16="http://schemas.microsoft.com/office/drawing/2014/main" id="{F229A795-DAE3-458B-A506-28EB1EB2A75D}"/>
              </a:ext>
            </a:extLst>
          </p:cNvPr>
          <p:cNvPicPr>
            <a:picLocks noChangeAspect="1"/>
          </p:cNvPicPr>
          <p:nvPr/>
        </p:nvPicPr>
        <p:blipFill>
          <a:blip r:embed="rId2"/>
          <a:stretch>
            <a:fillRect/>
          </a:stretch>
        </p:blipFill>
        <p:spPr>
          <a:xfrm>
            <a:off x="0" y="944243"/>
            <a:ext cx="9144000" cy="4289334"/>
          </a:xfrm>
          <a:prstGeom prst="rect">
            <a:avLst/>
          </a:prstGeom>
        </p:spPr>
      </p:pic>
    </p:spTree>
    <p:extLst>
      <p:ext uri="{BB962C8B-B14F-4D97-AF65-F5344CB8AC3E}">
        <p14:creationId xmlns:p14="http://schemas.microsoft.com/office/powerpoint/2010/main" val="392039075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5FAF5C-6CC1-8ED7-F61B-2B2FD7F6B1E6}"/>
              </a:ext>
            </a:extLst>
          </p:cNvPr>
          <p:cNvSpPr>
            <a:spLocks noGrp="1"/>
          </p:cNvSpPr>
          <p:nvPr>
            <p:ph type="title"/>
          </p:nvPr>
        </p:nvSpPr>
        <p:spPr/>
        <p:txBody>
          <a:bodyPr/>
          <a:lstStyle/>
          <a:p>
            <a:r>
              <a:rPr lang="en-US" dirty="0"/>
              <a:t>BPMN main set-up</a:t>
            </a:r>
          </a:p>
        </p:txBody>
      </p:sp>
      <p:sp>
        <p:nvSpPr>
          <p:cNvPr id="5" name="Content Placeholder 4">
            <a:extLst>
              <a:ext uri="{FF2B5EF4-FFF2-40B4-BE49-F238E27FC236}">
                <a16:creationId xmlns:a16="http://schemas.microsoft.com/office/drawing/2014/main" id="{4F6754FD-47C0-6990-96C6-6B32DA709184}"/>
              </a:ext>
            </a:extLst>
          </p:cNvPr>
          <p:cNvSpPr>
            <a:spLocks noGrp="1"/>
          </p:cNvSpPr>
          <p:nvPr>
            <p:ph idx="1"/>
          </p:nvPr>
        </p:nvSpPr>
        <p:spPr/>
        <p:txBody>
          <a:bodyPr/>
          <a:lstStyle/>
          <a:p>
            <a:r>
              <a:rPr lang="en-US" dirty="0"/>
              <a:t>BPMN consists of various symbols and notations, which fall into several core categories:</a:t>
            </a:r>
          </a:p>
          <a:p>
            <a:pPr marL="228600" indent="-228600">
              <a:buAutoNum type="arabicPeriod"/>
            </a:pPr>
            <a:r>
              <a:rPr lang="ro-RO" dirty="0"/>
              <a:t>Events</a:t>
            </a:r>
            <a:r>
              <a:rPr lang="en-US" dirty="0"/>
              <a:t> - </a:t>
            </a:r>
            <a:r>
              <a:rPr lang="ro-RO" dirty="0"/>
              <a:t>show </a:t>
            </a:r>
            <a:r>
              <a:rPr lang="ro-RO" b="1" dirty="0"/>
              <a:t>when</a:t>
            </a:r>
            <a:r>
              <a:rPr lang="ro-RO" dirty="0"/>
              <a:t> things happen.</a:t>
            </a:r>
            <a:endParaRPr lang="en-US" dirty="0"/>
          </a:p>
          <a:p>
            <a:pPr marL="228600" indent="-228600">
              <a:buAutoNum type="arabicPeriod"/>
            </a:pPr>
            <a:r>
              <a:rPr lang="ro-RO" dirty="0"/>
              <a:t>Activities</a:t>
            </a:r>
            <a:r>
              <a:rPr lang="en-US" dirty="0"/>
              <a:t> - </a:t>
            </a:r>
            <a:r>
              <a:rPr lang="ro-RO" dirty="0"/>
              <a:t>represent the </a:t>
            </a:r>
            <a:r>
              <a:rPr lang="ro-RO" b="1" dirty="0"/>
              <a:t>work performed</a:t>
            </a:r>
            <a:r>
              <a:rPr lang="ro-RO" dirty="0"/>
              <a:t>.</a:t>
            </a:r>
            <a:endParaRPr lang="en-US" dirty="0"/>
          </a:p>
          <a:p>
            <a:pPr marL="228600" indent="-228600">
              <a:buAutoNum type="arabicPeriod"/>
            </a:pPr>
            <a:r>
              <a:rPr lang="ro-RO" dirty="0"/>
              <a:t>Gateways</a:t>
            </a:r>
            <a:r>
              <a:rPr lang="en-US" dirty="0"/>
              <a:t> - manage the process </a:t>
            </a:r>
            <a:r>
              <a:rPr lang="en-US" b="1" dirty="0"/>
              <a:t>flow and logic</a:t>
            </a:r>
            <a:r>
              <a:rPr lang="en-US" dirty="0"/>
              <a:t>.</a:t>
            </a:r>
          </a:p>
          <a:p>
            <a:endParaRPr lang="en-US" dirty="0"/>
          </a:p>
        </p:txBody>
      </p:sp>
      <p:sp>
        <p:nvSpPr>
          <p:cNvPr id="2" name="Slide Number Placeholder 1">
            <a:extLst>
              <a:ext uri="{FF2B5EF4-FFF2-40B4-BE49-F238E27FC236}">
                <a16:creationId xmlns:a16="http://schemas.microsoft.com/office/drawing/2014/main" id="{6D01F9AC-E1EC-DAEB-FFEF-3607BB9813EB}"/>
              </a:ext>
            </a:extLst>
          </p:cNvPr>
          <p:cNvSpPr>
            <a:spLocks noGrp="1"/>
          </p:cNvSpPr>
          <p:nvPr>
            <p:ph type="sldNum" sz="quarter" idx="4294967295"/>
          </p:nvPr>
        </p:nvSpPr>
        <p:spPr>
          <a:xfrm>
            <a:off x="9026525" y="4867275"/>
            <a:ext cx="117475" cy="115888"/>
          </a:xfrm>
          <a:prstGeom prst="rect">
            <a:avLst/>
          </a:prstGeom>
        </p:spPr>
        <p:txBody>
          <a:bodyPr/>
          <a:lstStyle/>
          <a:p>
            <a:pPr defTabSz="342797" hangingPunct="0"/>
            <a:fld id="{86CB4B4D-7CA3-9044-876B-883B54F8677D}" type="slidenum">
              <a:rPr lang="en-US" kern="0" smtClean="0">
                <a:solidFill>
                  <a:srgbClr val="434648">
                    <a:hueOff val="-839560"/>
                    <a:satOff val="19935"/>
                    <a:lumOff val="-15534"/>
                  </a:srgbClr>
                </a:solidFill>
                <a:latin typeface="Arial"/>
                <a:cs typeface="Arial"/>
                <a:sym typeface="Arial"/>
              </a:rPr>
              <a:pPr defTabSz="342797" hangingPunct="0"/>
              <a:t>7</a:t>
            </a:fld>
            <a:endParaRPr lang="en-US" kern="0" dirty="0">
              <a:solidFill>
                <a:srgbClr val="434648">
                  <a:hueOff val="-839560"/>
                  <a:satOff val="19935"/>
                  <a:lumOff val="-15534"/>
                </a:srgbClr>
              </a:solidFill>
              <a:latin typeface="Arial"/>
              <a:cs typeface="Arial"/>
              <a:sym typeface="Arial"/>
            </a:endParaRPr>
          </a:p>
        </p:txBody>
      </p:sp>
      <p:pic>
        <p:nvPicPr>
          <p:cNvPr id="7" name="Picture 6">
            <a:extLst>
              <a:ext uri="{FF2B5EF4-FFF2-40B4-BE49-F238E27FC236}">
                <a16:creationId xmlns:a16="http://schemas.microsoft.com/office/drawing/2014/main" id="{3D87F663-318F-25F1-CB9D-CEB716A2DA6F}"/>
              </a:ext>
            </a:extLst>
          </p:cNvPr>
          <p:cNvPicPr>
            <a:picLocks noChangeAspect="1"/>
          </p:cNvPicPr>
          <p:nvPr/>
        </p:nvPicPr>
        <p:blipFill>
          <a:blip r:embed="rId2"/>
          <a:stretch>
            <a:fillRect/>
          </a:stretch>
        </p:blipFill>
        <p:spPr>
          <a:xfrm>
            <a:off x="328254" y="3022516"/>
            <a:ext cx="1771897" cy="1571844"/>
          </a:xfrm>
          <a:prstGeom prst="rect">
            <a:avLst/>
          </a:prstGeom>
        </p:spPr>
      </p:pic>
      <p:pic>
        <p:nvPicPr>
          <p:cNvPr id="9" name="Picture 8">
            <a:extLst>
              <a:ext uri="{FF2B5EF4-FFF2-40B4-BE49-F238E27FC236}">
                <a16:creationId xmlns:a16="http://schemas.microsoft.com/office/drawing/2014/main" id="{54C43FAE-BE43-4489-66EB-320FBAEF1C44}"/>
              </a:ext>
            </a:extLst>
          </p:cNvPr>
          <p:cNvPicPr>
            <a:picLocks noChangeAspect="1"/>
          </p:cNvPicPr>
          <p:nvPr/>
        </p:nvPicPr>
        <p:blipFill>
          <a:blip r:embed="rId3"/>
          <a:srcRect t="8749" b="8750"/>
          <a:stretch>
            <a:fillRect/>
          </a:stretch>
        </p:blipFill>
        <p:spPr>
          <a:xfrm>
            <a:off x="3404205" y="3022516"/>
            <a:ext cx="1895740" cy="1571844"/>
          </a:xfrm>
          <a:prstGeom prst="rect">
            <a:avLst/>
          </a:prstGeom>
        </p:spPr>
      </p:pic>
      <p:pic>
        <p:nvPicPr>
          <p:cNvPr id="11" name="Picture 10">
            <a:extLst>
              <a:ext uri="{FF2B5EF4-FFF2-40B4-BE49-F238E27FC236}">
                <a16:creationId xmlns:a16="http://schemas.microsoft.com/office/drawing/2014/main" id="{0FE77E44-9C66-A289-D389-7BBEBE0AA3C3}"/>
              </a:ext>
            </a:extLst>
          </p:cNvPr>
          <p:cNvPicPr>
            <a:picLocks noChangeAspect="1"/>
          </p:cNvPicPr>
          <p:nvPr/>
        </p:nvPicPr>
        <p:blipFill>
          <a:blip r:embed="rId4"/>
          <a:srcRect l="231" t="2660" r="1810" b="-2660"/>
          <a:stretch>
            <a:fillRect/>
          </a:stretch>
        </p:blipFill>
        <p:spPr>
          <a:xfrm>
            <a:off x="6410616" y="3039880"/>
            <a:ext cx="2062192" cy="1554480"/>
          </a:xfrm>
          <a:prstGeom prst="rect">
            <a:avLst/>
          </a:prstGeom>
        </p:spPr>
      </p:pic>
    </p:spTree>
    <p:extLst>
      <p:ext uri="{BB962C8B-B14F-4D97-AF65-F5344CB8AC3E}">
        <p14:creationId xmlns:p14="http://schemas.microsoft.com/office/powerpoint/2010/main" val="38509552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6C345C6-0ADE-BF8E-ACA0-D06335861063}"/>
              </a:ext>
            </a:extLst>
          </p:cNvPr>
          <p:cNvSpPr/>
          <p:nvPr/>
        </p:nvSpPr>
        <p:spPr>
          <a:xfrm>
            <a:off x="4763" y="4380186"/>
            <a:ext cx="9153000" cy="300082"/>
          </a:xfrm>
          <a:prstGeom prst="rect">
            <a:avLst/>
          </a:prstGeom>
          <a:solidFill>
            <a:srgbClr val="1E6482"/>
          </a:solidFill>
          <a:ln w="9525" cap="flat" cmpd="sng" algn="ctr">
            <a:noFill/>
            <a:prstDash val="solid"/>
          </a:ln>
          <a:effectLst/>
        </p:spPr>
        <p:txBody>
          <a:bodyPr lIns="68580" tIns="68580" rIns="68580" bIns="68580" rtlCol="0" anchor="ctr" anchorCtr="0">
            <a:spAutoFit/>
          </a:bodyPr>
          <a:lstStyle/>
          <a:p>
            <a:pPr>
              <a:defRPr/>
            </a:pPr>
            <a:endParaRPr lang="en-US" sz="1050" kern="0" dirty="0">
              <a:solidFill>
                <a:srgbClr val="000000"/>
              </a:solidFill>
              <a:latin typeface="Arial"/>
              <a:ea typeface="Calibri"/>
              <a:cs typeface="Arial"/>
              <a:sym typeface="Arial"/>
            </a:endParaRPr>
          </a:p>
        </p:txBody>
      </p:sp>
      <p:sp>
        <p:nvSpPr>
          <p:cNvPr id="29" name="Title 3">
            <a:extLst>
              <a:ext uri="{FF2B5EF4-FFF2-40B4-BE49-F238E27FC236}">
                <a16:creationId xmlns:a16="http://schemas.microsoft.com/office/drawing/2014/main" id="{27B33A15-7483-70D0-BBF5-2509FF00E373}"/>
              </a:ext>
            </a:extLst>
          </p:cNvPr>
          <p:cNvSpPr txBox="1">
            <a:spLocks/>
          </p:cNvSpPr>
          <p:nvPr/>
        </p:nvSpPr>
        <p:spPr>
          <a:xfrm>
            <a:off x="290291" y="268292"/>
            <a:ext cx="5982944" cy="643569"/>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ea typeface="Calibri"/>
                <a:sym typeface="Arial"/>
              </a:rPr>
              <a:t>Events</a:t>
            </a:r>
            <a:br>
              <a:rPr lang="en-US" sz="2099" dirty="0">
                <a:solidFill>
                  <a:srgbClr val="000000"/>
                </a:solidFill>
                <a:ea typeface="Calibri"/>
                <a:sym typeface="Arial"/>
              </a:rPr>
            </a:br>
            <a:r>
              <a:rPr lang="en-US" sz="2099" b="0" dirty="0">
                <a:solidFill>
                  <a:srgbClr val="000000"/>
                </a:solidFill>
                <a:ea typeface="Calibri"/>
                <a:sym typeface="Arial"/>
              </a:rPr>
              <a:t>Things that </a:t>
            </a:r>
            <a:r>
              <a:rPr lang="en-US" sz="2099" b="0" i="1" dirty="0">
                <a:solidFill>
                  <a:srgbClr val="000000"/>
                </a:solidFill>
                <a:ea typeface="Calibri"/>
                <a:sym typeface="Arial"/>
              </a:rPr>
              <a:t>happen </a:t>
            </a:r>
            <a:r>
              <a:rPr lang="en-US" sz="2099" b="0" dirty="0">
                <a:solidFill>
                  <a:srgbClr val="000000"/>
                </a:solidFill>
                <a:ea typeface="Calibri"/>
                <a:sym typeface="Arial"/>
              </a:rPr>
              <a:t>during the process</a:t>
            </a:r>
            <a:endParaRPr lang="en-US" sz="2099" b="0" i="1" dirty="0">
              <a:solidFill>
                <a:srgbClr val="000000"/>
              </a:solidFill>
              <a:ea typeface="Calibri"/>
              <a:sym typeface="Arial"/>
            </a:endParaRPr>
          </a:p>
        </p:txBody>
      </p:sp>
      <p:graphicFrame>
        <p:nvGraphicFramePr>
          <p:cNvPr id="30" name="Table 29">
            <a:extLst>
              <a:ext uri="{FF2B5EF4-FFF2-40B4-BE49-F238E27FC236}">
                <a16:creationId xmlns:a16="http://schemas.microsoft.com/office/drawing/2014/main" id="{2F934AF6-E7E2-D16E-3E01-C5A904C1C71B}"/>
              </a:ext>
            </a:extLst>
          </p:cNvPr>
          <p:cNvGraphicFramePr>
            <a:graphicFrameLocks noGrp="1"/>
          </p:cNvGraphicFramePr>
          <p:nvPr/>
        </p:nvGraphicFramePr>
        <p:xfrm>
          <a:off x="290290" y="1014442"/>
          <a:ext cx="8563419" cy="2674350"/>
        </p:xfrm>
        <a:graphic>
          <a:graphicData uri="http://schemas.openxmlformats.org/drawingml/2006/table">
            <a:tbl>
              <a:tblPr firstRow="1" bandRow="1"/>
              <a:tblGrid>
                <a:gridCol w="951491">
                  <a:extLst>
                    <a:ext uri="{9D8B030D-6E8A-4147-A177-3AD203B41FA5}">
                      <a16:colId xmlns:a16="http://schemas.microsoft.com/office/drawing/2014/main" val="1254681778"/>
                    </a:ext>
                  </a:extLst>
                </a:gridCol>
                <a:gridCol w="951491">
                  <a:extLst>
                    <a:ext uri="{9D8B030D-6E8A-4147-A177-3AD203B41FA5}">
                      <a16:colId xmlns:a16="http://schemas.microsoft.com/office/drawing/2014/main" val="3908882088"/>
                    </a:ext>
                  </a:extLst>
                </a:gridCol>
                <a:gridCol w="951491">
                  <a:extLst>
                    <a:ext uri="{9D8B030D-6E8A-4147-A177-3AD203B41FA5}">
                      <a16:colId xmlns:a16="http://schemas.microsoft.com/office/drawing/2014/main" val="637675345"/>
                    </a:ext>
                  </a:extLst>
                </a:gridCol>
                <a:gridCol w="951491">
                  <a:extLst>
                    <a:ext uri="{9D8B030D-6E8A-4147-A177-3AD203B41FA5}">
                      <a16:colId xmlns:a16="http://schemas.microsoft.com/office/drawing/2014/main" val="650311861"/>
                    </a:ext>
                  </a:extLst>
                </a:gridCol>
                <a:gridCol w="951491">
                  <a:extLst>
                    <a:ext uri="{9D8B030D-6E8A-4147-A177-3AD203B41FA5}">
                      <a16:colId xmlns:a16="http://schemas.microsoft.com/office/drawing/2014/main" val="3589012985"/>
                    </a:ext>
                  </a:extLst>
                </a:gridCol>
                <a:gridCol w="951491">
                  <a:extLst>
                    <a:ext uri="{9D8B030D-6E8A-4147-A177-3AD203B41FA5}">
                      <a16:colId xmlns:a16="http://schemas.microsoft.com/office/drawing/2014/main" val="2860688882"/>
                    </a:ext>
                  </a:extLst>
                </a:gridCol>
                <a:gridCol w="951491">
                  <a:extLst>
                    <a:ext uri="{9D8B030D-6E8A-4147-A177-3AD203B41FA5}">
                      <a16:colId xmlns:a16="http://schemas.microsoft.com/office/drawing/2014/main" val="1007325880"/>
                    </a:ext>
                  </a:extLst>
                </a:gridCol>
                <a:gridCol w="951491">
                  <a:extLst>
                    <a:ext uri="{9D8B030D-6E8A-4147-A177-3AD203B41FA5}">
                      <a16:colId xmlns:a16="http://schemas.microsoft.com/office/drawing/2014/main" val="821359075"/>
                    </a:ext>
                  </a:extLst>
                </a:gridCol>
                <a:gridCol w="951491">
                  <a:extLst>
                    <a:ext uri="{9D8B030D-6E8A-4147-A177-3AD203B41FA5}">
                      <a16:colId xmlns:a16="http://schemas.microsoft.com/office/drawing/2014/main" val="2276142307"/>
                    </a:ext>
                  </a:extLst>
                </a:gridCol>
              </a:tblGrid>
              <a:tr h="205686">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gridSpan="3">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Start</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4">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Intermediate</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End</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402508186"/>
                  </a:ext>
                </a:extLst>
              </a:tr>
              <a:tr h="342846">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Standard</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Subprocess interrupting</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Subprocess non-interrupting</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Catching</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Boundary</a:t>
                      </a:r>
                    </a:p>
                    <a:p>
                      <a:pPr algn="ctr"/>
                      <a:r>
                        <a:rPr lang="en-US" sz="900" dirty="0">
                          <a:solidFill>
                            <a:srgbClr val="000000"/>
                          </a:solidFill>
                        </a:rPr>
                        <a:t>interrupting</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Boundary non-interrupting</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Throwing</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ctr"/>
                      <a:r>
                        <a:rPr lang="en-US" sz="900" dirty="0">
                          <a:solidFill>
                            <a:srgbClr val="000000"/>
                          </a:solidFill>
                        </a:rPr>
                        <a:t>Standard</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171355642"/>
                  </a:ext>
                </a:extLst>
              </a:tr>
              <a:tr h="891486">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Plain</a:t>
                      </a:r>
                      <a:r>
                        <a:rPr lang="en-US" sz="900">
                          <a:solidFill>
                            <a:srgbClr val="000000"/>
                          </a:solidFill>
                        </a:rPr>
                        <a:t>: </a:t>
                      </a:r>
                      <a:br>
                        <a:rPr lang="en-US" sz="900">
                          <a:solidFill>
                            <a:srgbClr val="000000"/>
                          </a:solidFill>
                        </a:rPr>
                      </a:br>
                      <a:r>
                        <a:rPr lang="en-US" sz="900">
                          <a:solidFill>
                            <a:srgbClr val="000000"/>
                          </a:solidFill>
                        </a:rPr>
                        <a:t>Generic </a:t>
                      </a:r>
                      <a:r>
                        <a:rPr lang="en-US" sz="900" dirty="0">
                          <a:solidFill>
                            <a:srgbClr val="000000"/>
                          </a:solidFill>
                        </a:rPr>
                        <a:t>event with no visual indicators; used for start, end, or milestones.</a:t>
                      </a: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215961902"/>
                  </a:ext>
                </a:extLst>
              </a:tr>
              <a:tr h="617166">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Message</a:t>
                      </a:r>
                      <a:r>
                        <a:rPr lang="en-US" sz="900" dirty="0">
                          <a:solidFill>
                            <a:srgbClr val="000000"/>
                          </a:solidFill>
                        </a:rPr>
                        <a:t>: Represents external communication</a:t>
                      </a: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7697279"/>
                  </a:ext>
                </a:extLst>
              </a:tr>
              <a:tr h="617166">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Timer</a:t>
                      </a:r>
                      <a:r>
                        <a:rPr lang="en-US" sz="900" dirty="0">
                          <a:solidFill>
                            <a:srgbClr val="000000"/>
                          </a:solidFill>
                        </a:rPr>
                        <a:t>: Indicates a specific time or duration delay.</a:t>
                      </a: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solidFill>
                          <a:schemeClr val="tx1"/>
                        </a:solidFill>
                      </a:endParaRPr>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120984127"/>
                  </a:ext>
                </a:extLst>
              </a:tr>
            </a:tbl>
          </a:graphicData>
        </a:graphic>
      </p:graphicFrame>
      <p:pic>
        <p:nvPicPr>
          <p:cNvPr id="31" name="Picture 30">
            <a:extLst>
              <a:ext uri="{FF2B5EF4-FFF2-40B4-BE49-F238E27FC236}">
                <a16:creationId xmlns:a16="http://schemas.microsoft.com/office/drawing/2014/main" id="{E912D1E6-3710-AA8A-51D8-B235E20E200C}"/>
              </a:ext>
            </a:extLst>
          </p:cNvPr>
          <p:cNvPicPr>
            <a:picLocks noChangeAspect="1"/>
          </p:cNvPicPr>
          <p:nvPr/>
        </p:nvPicPr>
        <p:blipFill>
          <a:blip r:embed="rId3"/>
          <a:stretch>
            <a:fillRect/>
          </a:stretch>
        </p:blipFill>
        <p:spPr>
          <a:xfrm>
            <a:off x="1530909" y="3138592"/>
            <a:ext cx="466361" cy="418772"/>
          </a:xfrm>
          <a:prstGeom prst="rect">
            <a:avLst/>
          </a:prstGeom>
        </p:spPr>
      </p:pic>
      <p:pic>
        <p:nvPicPr>
          <p:cNvPr id="32" name="Picture 31">
            <a:extLst>
              <a:ext uri="{FF2B5EF4-FFF2-40B4-BE49-F238E27FC236}">
                <a16:creationId xmlns:a16="http://schemas.microsoft.com/office/drawing/2014/main" id="{F1C6C1E5-DCE9-65EA-8679-4ED2F7F4FD69}"/>
              </a:ext>
            </a:extLst>
          </p:cNvPr>
          <p:cNvPicPr>
            <a:picLocks noChangeAspect="1"/>
          </p:cNvPicPr>
          <p:nvPr/>
        </p:nvPicPr>
        <p:blipFill>
          <a:blip r:embed="rId4"/>
          <a:stretch>
            <a:fillRect/>
          </a:stretch>
        </p:blipFill>
        <p:spPr>
          <a:xfrm>
            <a:off x="1530909" y="2508123"/>
            <a:ext cx="466361" cy="418772"/>
          </a:xfrm>
          <a:prstGeom prst="rect">
            <a:avLst/>
          </a:prstGeom>
        </p:spPr>
      </p:pic>
      <p:pic>
        <p:nvPicPr>
          <p:cNvPr id="33" name="Picture 32">
            <a:extLst>
              <a:ext uri="{FF2B5EF4-FFF2-40B4-BE49-F238E27FC236}">
                <a16:creationId xmlns:a16="http://schemas.microsoft.com/office/drawing/2014/main" id="{11B2CDDF-F70B-FCBE-E8D7-B812B859E8B9}"/>
              </a:ext>
            </a:extLst>
          </p:cNvPr>
          <p:cNvPicPr>
            <a:picLocks noChangeAspect="1"/>
          </p:cNvPicPr>
          <p:nvPr/>
        </p:nvPicPr>
        <p:blipFill>
          <a:blip r:embed="rId5"/>
          <a:stretch>
            <a:fillRect/>
          </a:stretch>
        </p:blipFill>
        <p:spPr>
          <a:xfrm>
            <a:off x="4397319" y="2512302"/>
            <a:ext cx="466361" cy="418772"/>
          </a:xfrm>
          <a:prstGeom prst="rect">
            <a:avLst/>
          </a:prstGeom>
        </p:spPr>
      </p:pic>
      <p:pic>
        <p:nvPicPr>
          <p:cNvPr id="34" name="Picture 33">
            <a:extLst>
              <a:ext uri="{FF2B5EF4-FFF2-40B4-BE49-F238E27FC236}">
                <a16:creationId xmlns:a16="http://schemas.microsoft.com/office/drawing/2014/main" id="{F644CFB4-CB33-0A47-E779-516BC1D59473}"/>
              </a:ext>
            </a:extLst>
          </p:cNvPr>
          <p:cNvPicPr>
            <a:picLocks noChangeAspect="1"/>
          </p:cNvPicPr>
          <p:nvPr/>
        </p:nvPicPr>
        <p:blipFill>
          <a:blip r:embed="rId6"/>
          <a:stretch>
            <a:fillRect/>
          </a:stretch>
        </p:blipFill>
        <p:spPr>
          <a:xfrm>
            <a:off x="3440659" y="2512302"/>
            <a:ext cx="466361" cy="418772"/>
          </a:xfrm>
          <a:prstGeom prst="rect">
            <a:avLst/>
          </a:prstGeom>
        </p:spPr>
      </p:pic>
      <p:pic>
        <p:nvPicPr>
          <p:cNvPr id="35" name="Picture 34">
            <a:extLst>
              <a:ext uri="{FF2B5EF4-FFF2-40B4-BE49-F238E27FC236}">
                <a16:creationId xmlns:a16="http://schemas.microsoft.com/office/drawing/2014/main" id="{38E9FEF2-D5A9-CA68-931F-A6AF5BDF0F65}"/>
              </a:ext>
            </a:extLst>
          </p:cNvPr>
          <p:cNvPicPr>
            <a:picLocks noChangeAspect="1"/>
          </p:cNvPicPr>
          <p:nvPr/>
        </p:nvPicPr>
        <p:blipFill>
          <a:blip r:embed="rId7"/>
          <a:stretch>
            <a:fillRect/>
          </a:stretch>
        </p:blipFill>
        <p:spPr>
          <a:xfrm>
            <a:off x="7251396" y="2508123"/>
            <a:ext cx="466361" cy="418772"/>
          </a:xfrm>
          <a:prstGeom prst="rect">
            <a:avLst/>
          </a:prstGeom>
        </p:spPr>
      </p:pic>
      <p:pic>
        <p:nvPicPr>
          <p:cNvPr id="36" name="Picture 35">
            <a:extLst>
              <a:ext uri="{FF2B5EF4-FFF2-40B4-BE49-F238E27FC236}">
                <a16:creationId xmlns:a16="http://schemas.microsoft.com/office/drawing/2014/main" id="{BF559165-11CA-07E2-2EC6-064078C092F3}"/>
              </a:ext>
            </a:extLst>
          </p:cNvPr>
          <p:cNvPicPr>
            <a:picLocks noChangeAspect="1"/>
          </p:cNvPicPr>
          <p:nvPr/>
        </p:nvPicPr>
        <p:blipFill>
          <a:blip r:embed="rId8"/>
          <a:stretch>
            <a:fillRect/>
          </a:stretch>
        </p:blipFill>
        <p:spPr>
          <a:xfrm>
            <a:off x="8174627" y="2508123"/>
            <a:ext cx="466361" cy="418772"/>
          </a:xfrm>
          <a:prstGeom prst="rect">
            <a:avLst/>
          </a:prstGeom>
        </p:spPr>
      </p:pic>
      <p:pic>
        <p:nvPicPr>
          <p:cNvPr id="37" name="Picture 36">
            <a:extLst>
              <a:ext uri="{FF2B5EF4-FFF2-40B4-BE49-F238E27FC236}">
                <a16:creationId xmlns:a16="http://schemas.microsoft.com/office/drawing/2014/main" id="{4A8FFF23-7CBA-4B8C-B81B-F871B222EC6D}"/>
              </a:ext>
            </a:extLst>
          </p:cNvPr>
          <p:cNvPicPr>
            <a:picLocks noChangeAspect="1"/>
          </p:cNvPicPr>
          <p:nvPr/>
        </p:nvPicPr>
        <p:blipFill>
          <a:blip r:embed="rId5"/>
          <a:stretch>
            <a:fillRect/>
          </a:stretch>
        </p:blipFill>
        <p:spPr>
          <a:xfrm>
            <a:off x="5320550" y="2508123"/>
            <a:ext cx="466361" cy="418772"/>
          </a:xfrm>
          <a:prstGeom prst="rect">
            <a:avLst/>
          </a:prstGeom>
        </p:spPr>
      </p:pic>
      <p:pic>
        <p:nvPicPr>
          <p:cNvPr id="38" name="Picture 37">
            <a:extLst>
              <a:ext uri="{FF2B5EF4-FFF2-40B4-BE49-F238E27FC236}">
                <a16:creationId xmlns:a16="http://schemas.microsoft.com/office/drawing/2014/main" id="{0F6F98A1-D78D-4907-44A8-836F9F010757}"/>
              </a:ext>
            </a:extLst>
          </p:cNvPr>
          <p:cNvPicPr>
            <a:picLocks noChangeAspect="1"/>
          </p:cNvPicPr>
          <p:nvPr/>
        </p:nvPicPr>
        <p:blipFill>
          <a:blip r:embed="rId9"/>
          <a:stretch>
            <a:fillRect/>
          </a:stretch>
        </p:blipFill>
        <p:spPr>
          <a:xfrm>
            <a:off x="1530909" y="1766636"/>
            <a:ext cx="466361" cy="418772"/>
          </a:xfrm>
          <a:prstGeom prst="rect">
            <a:avLst/>
          </a:prstGeom>
        </p:spPr>
      </p:pic>
      <p:pic>
        <p:nvPicPr>
          <p:cNvPr id="39" name="Picture 38">
            <a:extLst>
              <a:ext uri="{FF2B5EF4-FFF2-40B4-BE49-F238E27FC236}">
                <a16:creationId xmlns:a16="http://schemas.microsoft.com/office/drawing/2014/main" id="{CFCAAABA-C024-B801-294B-766A8F0BE56F}"/>
              </a:ext>
            </a:extLst>
          </p:cNvPr>
          <p:cNvPicPr>
            <a:picLocks noChangeAspect="1"/>
          </p:cNvPicPr>
          <p:nvPr/>
        </p:nvPicPr>
        <p:blipFill>
          <a:blip r:embed="rId4"/>
          <a:stretch>
            <a:fillRect/>
          </a:stretch>
        </p:blipFill>
        <p:spPr>
          <a:xfrm>
            <a:off x="2475235" y="2508123"/>
            <a:ext cx="466361" cy="418772"/>
          </a:xfrm>
          <a:prstGeom prst="rect">
            <a:avLst/>
          </a:prstGeom>
        </p:spPr>
      </p:pic>
      <p:pic>
        <p:nvPicPr>
          <p:cNvPr id="40" name="Picture 39">
            <a:extLst>
              <a:ext uri="{FF2B5EF4-FFF2-40B4-BE49-F238E27FC236}">
                <a16:creationId xmlns:a16="http://schemas.microsoft.com/office/drawing/2014/main" id="{3BC47BDE-D346-CA86-BDB3-0314483B9104}"/>
              </a:ext>
            </a:extLst>
          </p:cNvPr>
          <p:cNvPicPr>
            <a:picLocks noChangeAspect="1"/>
          </p:cNvPicPr>
          <p:nvPr/>
        </p:nvPicPr>
        <p:blipFill>
          <a:blip r:embed="rId3"/>
          <a:stretch>
            <a:fillRect/>
          </a:stretch>
        </p:blipFill>
        <p:spPr>
          <a:xfrm>
            <a:off x="2475235" y="3133489"/>
            <a:ext cx="466361" cy="418772"/>
          </a:xfrm>
          <a:prstGeom prst="rect">
            <a:avLst/>
          </a:prstGeom>
        </p:spPr>
      </p:pic>
      <p:pic>
        <p:nvPicPr>
          <p:cNvPr id="41" name="Picture 40">
            <a:extLst>
              <a:ext uri="{FF2B5EF4-FFF2-40B4-BE49-F238E27FC236}">
                <a16:creationId xmlns:a16="http://schemas.microsoft.com/office/drawing/2014/main" id="{47AA8E7D-9C3C-3B11-AF48-A63E767831E7}"/>
              </a:ext>
            </a:extLst>
          </p:cNvPr>
          <p:cNvPicPr>
            <a:picLocks noChangeAspect="1"/>
          </p:cNvPicPr>
          <p:nvPr/>
        </p:nvPicPr>
        <p:blipFill>
          <a:blip r:embed="rId10"/>
          <a:stretch>
            <a:fillRect/>
          </a:stretch>
        </p:blipFill>
        <p:spPr>
          <a:xfrm>
            <a:off x="3440659" y="3148531"/>
            <a:ext cx="466361" cy="418772"/>
          </a:xfrm>
          <a:prstGeom prst="rect">
            <a:avLst/>
          </a:prstGeom>
        </p:spPr>
      </p:pic>
      <p:pic>
        <p:nvPicPr>
          <p:cNvPr id="42" name="Picture 41">
            <a:extLst>
              <a:ext uri="{FF2B5EF4-FFF2-40B4-BE49-F238E27FC236}">
                <a16:creationId xmlns:a16="http://schemas.microsoft.com/office/drawing/2014/main" id="{410EBB40-FD61-8C8B-2D26-9855036D189C}"/>
              </a:ext>
            </a:extLst>
          </p:cNvPr>
          <p:cNvPicPr>
            <a:picLocks noChangeAspect="1"/>
          </p:cNvPicPr>
          <p:nvPr/>
        </p:nvPicPr>
        <p:blipFill>
          <a:blip r:embed="rId11"/>
          <a:stretch>
            <a:fillRect/>
          </a:stretch>
        </p:blipFill>
        <p:spPr>
          <a:xfrm>
            <a:off x="7255372" y="1766636"/>
            <a:ext cx="466361" cy="418772"/>
          </a:xfrm>
          <a:prstGeom prst="rect">
            <a:avLst/>
          </a:prstGeom>
        </p:spPr>
      </p:pic>
      <p:pic>
        <p:nvPicPr>
          <p:cNvPr id="43" name="Picture 42">
            <a:extLst>
              <a:ext uri="{FF2B5EF4-FFF2-40B4-BE49-F238E27FC236}">
                <a16:creationId xmlns:a16="http://schemas.microsoft.com/office/drawing/2014/main" id="{889F9EDE-B698-EB1D-F6DB-9B0756EF2AD4}"/>
              </a:ext>
            </a:extLst>
          </p:cNvPr>
          <p:cNvPicPr>
            <a:picLocks noChangeAspect="1"/>
          </p:cNvPicPr>
          <p:nvPr/>
        </p:nvPicPr>
        <p:blipFill>
          <a:blip r:embed="rId12"/>
          <a:stretch>
            <a:fillRect/>
          </a:stretch>
        </p:blipFill>
        <p:spPr>
          <a:xfrm>
            <a:off x="8178603" y="1774159"/>
            <a:ext cx="466361" cy="418772"/>
          </a:xfrm>
          <a:prstGeom prst="rect">
            <a:avLst/>
          </a:prstGeom>
        </p:spPr>
      </p:pic>
      <p:pic>
        <p:nvPicPr>
          <p:cNvPr id="44" name="Picture 43">
            <a:extLst>
              <a:ext uri="{FF2B5EF4-FFF2-40B4-BE49-F238E27FC236}">
                <a16:creationId xmlns:a16="http://schemas.microsoft.com/office/drawing/2014/main" id="{73E11552-0456-D3F9-9D64-591283D8E96D}"/>
              </a:ext>
            </a:extLst>
          </p:cNvPr>
          <p:cNvPicPr>
            <a:picLocks noChangeAspect="1"/>
          </p:cNvPicPr>
          <p:nvPr/>
        </p:nvPicPr>
        <p:blipFill>
          <a:blip r:embed="rId13"/>
          <a:stretch>
            <a:fillRect/>
          </a:stretch>
        </p:blipFill>
        <p:spPr>
          <a:xfrm>
            <a:off x="6277211" y="2520100"/>
            <a:ext cx="466361" cy="418772"/>
          </a:xfrm>
          <a:prstGeom prst="rect">
            <a:avLst/>
          </a:prstGeom>
        </p:spPr>
      </p:pic>
      <p:pic>
        <p:nvPicPr>
          <p:cNvPr id="45" name="Picture 44">
            <a:extLst>
              <a:ext uri="{FF2B5EF4-FFF2-40B4-BE49-F238E27FC236}">
                <a16:creationId xmlns:a16="http://schemas.microsoft.com/office/drawing/2014/main" id="{02D94571-FC68-FD7B-6C64-8A17CD5C288B}"/>
              </a:ext>
            </a:extLst>
          </p:cNvPr>
          <p:cNvPicPr>
            <a:picLocks noChangeAspect="1"/>
          </p:cNvPicPr>
          <p:nvPr/>
        </p:nvPicPr>
        <p:blipFill>
          <a:blip r:embed="rId14"/>
          <a:stretch>
            <a:fillRect/>
          </a:stretch>
        </p:blipFill>
        <p:spPr>
          <a:xfrm>
            <a:off x="6364656" y="2674544"/>
            <a:ext cx="175312" cy="175312"/>
          </a:xfrm>
          <a:prstGeom prst="rect">
            <a:avLst/>
          </a:prstGeom>
        </p:spPr>
      </p:pic>
      <p:pic>
        <p:nvPicPr>
          <p:cNvPr id="46" name="Picture 45">
            <a:extLst>
              <a:ext uri="{FF2B5EF4-FFF2-40B4-BE49-F238E27FC236}">
                <a16:creationId xmlns:a16="http://schemas.microsoft.com/office/drawing/2014/main" id="{FA536FEB-E9BB-ADC1-9C7F-C2B23EB6807D}"/>
              </a:ext>
            </a:extLst>
          </p:cNvPr>
          <p:cNvPicPr>
            <a:picLocks noChangeAspect="1"/>
          </p:cNvPicPr>
          <p:nvPr/>
        </p:nvPicPr>
        <p:blipFill>
          <a:blip r:embed="rId11"/>
          <a:stretch>
            <a:fillRect/>
          </a:stretch>
        </p:blipFill>
        <p:spPr>
          <a:xfrm>
            <a:off x="4397319" y="3146192"/>
            <a:ext cx="466361" cy="418772"/>
          </a:xfrm>
          <a:prstGeom prst="rect">
            <a:avLst/>
          </a:prstGeom>
        </p:spPr>
      </p:pic>
      <p:pic>
        <p:nvPicPr>
          <p:cNvPr id="47" name="Picture 46">
            <a:extLst>
              <a:ext uri="{FF2B5EF4-FFF2-40B4-BE49-F238E27FC236}">
                <a16:creationId xmlns:a16="http://schemas.microsoft.com/office/drawing/2014/main" id="{CCFA95B9-28AB-AB21-9DFD-F28168577BE4}"/>
              </a:ext>
            </a:extLst>
          </p:cNvPr>
          <p:cNvPicPr>
            <a:picLocks noChangeAspect="1"/>
          </p:cNvPicPr>
          <p:nvPr/>
        </p:nvPicPr>
        <p:blipFill>
          <a:blip r:embed="rId13"/>
          <a:stretch>
            <a:fillRect/>
          </a:stretch>
        </p:blipFill>
        <p:spPr>
          <a:xfrm>
            <a:off x="6277211" y="3146192"/>
            <a:ext cx="466361" cy="418772"/>
          </a:xfrm>
          <a:prstGeom prst="rect">
            <a:avLst/>
          </a:prstGeom>
        </p:spPr>
      </p:pic>
      <p:pic>
        <p:nvPicPr>
          <p:cNvPr id="48" name="Picture 47">
            <a:extLst>
              <a:ext uri="{FF2B5EF4-FFF2-40B4-BE49-F238E27FC236}">
                <a16:creationId xmlns:a16="http://schemas.microsoft.com/office/drawing/2014/main" id="{800B057E-CD07-DC43-BF74-B3E7B8438AB1}"/>
              </a:ext>
            </a:extLst>
          </p:cNvPr>
          <p:cNvPicPr>
            <a:picLocks noChangeAspect="1"/>
          </p:cNvPicPr>
          <p:nvPr/>
        </p:nvPicPr>
        <p:blipFill>
          <a:blip r:embed="rId15"/>
          <a:stretch>
            <a:fillRect/>
          </a:stretch>
        </p:blipFill>
        <p:spPr>
          <a:xfrm>
            <a:off x="4480843" y="3308142"/>
            <a:ext cx="182317" cy="182317"/>
          </a:xfrm>
          <a:prstGeom prst="rect">
            <a:avLst/>
          </a:prstGeom>
        </p:spPr>
      </p:pic>
      <p:pic>
        <p:nvPicPr>
          <p:cNvPr id="49" name="Picture 48">
            <a:extLst>
              <a:ext uri="{FF2B5EF4-FFF2-40B4-BE49-F238E27FC236}">
                <a16:creationId xmlns:a16="http://schemas.microsoft.com/office/drawing/2014/main" id="{3FC79CE9-5AC2-2B11-D93B-269EA678C7CA}"/>
              </a:ext>
            </a:extLst>
          </p:cNvPr>
          <p:cNvPicPr>
            <a:picLocks noChangeAspect="1"/>
          </p:cNvPicPr>
          <p:nvPr/>
        </p:nvPicPr>
        <p:blipFill>
          <a:blip r:embed="rId15"/>
          <a:stretch>
            <a:fillRect/>
          </a:stretch>
        </p:blipFill>
        <p:spPr>
          <a:xfrm>
            <a:off x="6353448" y="3303893"/>
            <a:ext cx="182317" cy="182317"/>
          </a:xfrm>
          <a:prstGeom prst="rect">
            <a:avLst/>
          </a:prstGeom>
        </p:spPr>
      </p:pic>
      <p:pic>
        <p:nvPicPr>
          <p:cNvPr id="50" name="Picture 49">
            <a:extLst>
              <a:ext uri="{FF2B5EF4-FFF2-40B4-BE49-F238E27FC236}">
                <a16:creationId xmlns:a16="http://schemas.microsoft.com/office/drawing/2014/main" id="{7DC514BA-C707-CEED-C053-07672834685F}"/>
              </a:ext>
            </a:extLst>
          </p:cNvPr>
          <p:cNvPicPr>
            <a:picLocks noChangeAspect="1"/>
          </p:cNvPicPr>
          <p:nvPr/>
        </p:nvPicPr>
        <p:blipFill>
          <a:blip r:embed="rId11"/>
          <a:stretch>
            <a:fillRect/>
          </a:stretch>
        </p:blipFill>
        <p:spPr>
          <a:xfrm>
            <a:off x="5321821" y="3141943"/>
            <a:ext cx="466361" cy="418772"/>
          </a:xfrm>
          <a:prstGeom prst="rect">
            <a:avLst/>
          </a:prstGeom>
        </p:spPr>
      </p:pic>
      <p:pic>
        <p:nvPicPr>
          <p:cNvPr id="51" name="Picture 50">
            <a:extLst>
              <a:ext uri="{FF2B5EF4-FFF2-40B4-BE49-F238E27FC236}">
                <a16:creationId xmlns:a16="http://schemas.microsoft.com/office/drawing/2014/main" id="{295B40F7-ABD9-5910-7859-FE11076741C9}"/>
              </a:ext>
            </a:extLst>
          </p:cNvPr>
          <p:cNvPicPr>
            <a:picLocks noChangeAspect="1"/>
          </p:cNvPicPr>
          <p:nvPr/>
        </p:nvPicPr>
        <p:blipFill>
          <a:blip r:embed="rId15"/>
          <a:stretch>
            <a:fillRect/>
          </a:stretch>
        </p:blipFill>
        <p:spPr>
          <a:xfrm>
            <a:off x="5405345" y="3303893"/>
            <a:ext cx="182317" cy="182317"/>
          </a:xfrm>
          <a:prstGeom prst="rect">
            <a:avLst/>
          </a:prstGeom>
        </p:spPr>
      </p:pic>
      <p:sp>
        <p:nvSpPr>
          <p:cNvPr id="52" name="TextBox 51">
            <a:extLst>
              <a:ext uri="{FF2B5EF4-FFF2-40B4-BE49-F238E27FC236}">
                <a16:creationId xmlns:a16="http://schemas.microsoft.com/office/drawing/2014/main" id="{772920B2-E14A-E0C0-5EDD-2E2441855B2B}"/>
              </a:ext>
            </a:extLst>
          </p:cNvPr>
          <p:cNvSpPr txBox="1"/>
          <p:nvPr/>
        </p:nvSpPr>
        <p:spPr>
          <a:xfrm>
            <a:off x="1011243" y="3998516"/>
            <a:ext cx="8127995" cy="1004121"/>
          </a:xfrm>
          <a:prstGeom prst="rect">
            <a:avLst/>
          </a:prstGeom>
          <a:noFill/>
        </p:spPr>
        <p:txBody>
          <a:bodyPr wrap="square" lIns="68580" tIns="68580" rIns="68580" bIns="68580" rtlCol="0">
            <a:spAutoFit/>
          </a:bodyPr>
          <a:lstStyle/>
          <a:p>
            <a:pPr marL="128588" indent="-128588">
              <a:buFont typeface="Courier New" panose="02070309020205020404" pitchFamily="49" charset="0"/>
              <a:buChar char="o"/>
              <a:defRPr/>
            </a:pPr>
            <a:r>
              <a:rPr lang="en-US" sz="1125" kern="0" dirty="0">
                <a:solidFill>
                  <a:srgbClr val="FFFFFF"/>
                </a:solidFill>
                <a:latin typeface="Arial"/>
                <a:cs typeface="Arial"/>
                <a:sym typeface="Arial"/>
              </a:rPr>
              <a:t>Use an </a:t>
            </a:r>
            <a:r>
              <a:rPr lang="en-US" sz="1125" b="1" kern="0" dirty="0">
                <a:solidFill>
                  <a:srgbClr val="FFFFFF"/>
                </a:solidFill>
                <a:latin typeface="Arial"/>
                <a:cs typeface="Arial"/>
                <a:sym typeface="Arial"/>
              </a:rPr>
              <a:t>event</a:t>
            </a:r>
            <a:r>
              <a:rPr lang="en-US" sz="1125" kern="0" dirty="0">
                <a:solidFill>
                  <a:srgbClr val="FFFFFF"/>
                </a:solidFill>
                <a:latin typeface="Arial"/>
                <a:cs typeface="Arial"/>
                <a:sym typeface="Arial"/>
              </a:rPr>
              <a:t> to show something that happens in the process.</a:t>
            </a:r>
          </a:p>
          <a:p>
            <a:pPr marL="128588" indent="-128588">
              <a:buFont typeface="Courier New" panose="02070309020205020404" pitchFamily="49" charset="0"/>
              <a:buChar char="o"/>
              <a:defRPr/>
            </a:pPr>
            <a:r>
              <a:rPr lang="en-US" sz="1125" kern="0" dirty="0">
                <a:solidFill>
                  <a:srgbClr val="FFFFFF"/>
                </a:solidFill>
                <a:latin typeface="Arial"/>
                <a:cs typeface="Arial"/>
                <a:sym typeface="Arial"/>
              </a:rPr>
              <a:t>Start with a </a:t>
            </a:r>
            <a:r>
              <a:rPr lang="en-US" sz="1125" b="1" kern="0" dirty="0">
                <a:solidFill>
                  <a:srgbClr val="FFFFFF"/>
                </a:solidFill>
                <a:latin typeface="Arial"/>
                <a:cs typeface="Arial"/>
                <a:sym typeface="Arial"/>
              </a:rPr>
              <a:t>start event</a:t>
            </a:r>
            <a:r>
              <a:rPr lang="en-US" sz="1125" kern="0" dirty="0">
                <a:solidFill>
                  <a:srgbClr val="FFFFFF"/>
                </a:solidFill>
                <a:latin typeface="Arial"/>
                <a:cs typeface="Arial"/>
                <a:sym typeface="Arial"/>
              </a:rPr>
              <a:t>, like when a customer submits an online order. </a:t>
            </a:r>
          </a:p>
          <a:p>
            <a:pPr marL="128588" indent="-128588">
              <a:buFont typeface="Courier New" panose="02070309020205020404" pitchFamily="49" charset="0"/>
              <a:buChar char="o"/>
              <a:defRPr/>
            </a:pPr>
            <a:r>
              <a:rPr lang="en-US" sz="1125" kern="0" dirty="0">
                <a:solidFill>
                  <a:srgbClr val="FFFFFF"/>
                </a:solidFill>
                <a:latin typeface="Arial"/>
                <a:cs typeface="Arial"/>
                <a:sym typeface="Arial"/>
              </a:rPr>
              <a:t>Add an </a:t>
            </a:r>
            <a:r>
              <a:rPr lang="en-US" sz="1125" b="1" kern="0" dirty="0">
                <a:solidFill>
                  <a:srgbClr val="FFFFFF"/>
                </a:solidFill>
                <a:latin typeface="Arial"/>
                <a:cs typeface="Arial"/>
                <a:sym typeface="Arial"/>
              </a:rPr>
              <a:t>intermediate event </a:t>
            </a:r>
            <a:r>
              <a:rPr lang="en-US" sz="1125" kern="0" dirty="0">
                <a:solidFill>
                  <a:srgbClr val="FFFFFF"/>
                </a:solidFill>
                <a:latin typeface="Arial"/>
                <a:cs typeface="Arial"/>
                <a:sym typeface="Arial"/>
              </a:rPr>
              <a:t>if something needs to wait or respond, like pausing for 3 days before sending a reminder email. </a:t>
            </a:r>
          </a:p>
          <a:p>
            <a:pPr marL="128588" indent="-128588">
              <a:buFont typeface="Courier New" panose="02070309020205020404" pitchFamily="49" charset="0"/>
              <a:buChar char="o"/>
              <a:defRPr/>
            </a:pPr>
            <a:r>
              <a:rPr lang="en-US" sz="1125" kern="0" dirty="0">
                <a:solidFill>
                  <a:srgbClr val="FFFFFF"/>
                </a:solidFill>
                <a:latin typeface="Arial"/>
                <a:cs typeface="Arial"/>
                <a:sym typeface="Arial"/>
              </a:rPr>
              <a:t>End with an </a:t>
            </a:r>
            <a:r>
              <a:rPr lang="en-US" sz="1125" b="1" kern="0" dirty="0">
                <a:solidFill>
                  <a:srgbClr val="FFFFFF"/>
                </a:solidFill>
                <a:latin typeface="Arial"/>
                <a:cs typeface="Arial"/>
                <a:sym typeface="Arial"/>
              </a:rPr>
              <a:t>end event</a:t>
            </a:r>
            <a:r>
              <a:rPr lang="en-US" sz="1125" kern="0" dirty="0">
                <a:solidFill>
                  <a:srgbClr val="FFFFFF"/>
                </a:solidFill>
                <a:latin typeface="Arial"/>
                <a:cs typeface="Arial"/>
                <a:sym typeface="Arial"/>
              </a:rPr>
              <a:t>, like sending an order confirmation to the customer. </a:t>
            </a:r>
          </a:p>
          <a:p>
            <a:pPr marL="128588" indent="-128588">
              <a:buFont typeface="Courier New" panose="02070309020205020404" pitchFamily="49" charset="0"/>
              <a:buChar char="o"/>
              <a:defRPr/>
            </a:pPr>
            <a:r>
              <a:rPr lang="en-US" sz="1125" kern="0" dirty="0">
                <a:solidFill>
                  <a:srgbClr val="FFFFFF"/>
                </a:solidFill>
                <a:latin typeface="Arial"/>
                <a:cs typeface="Arial"/>
                <a:sym typeface="Arial"/>
              </a:rPr>
              <a:t>Events help you mark the beginning, waiting points, and end of a process.</a:t>
            </a:r>
          </a:p>
        </p:txBody>
      </p:sp>
      <p:pic>
        <p:nvPicPr>
          <p:cNvPr id="53" name="Graphic 827" descr="Graphic 827">
            <a:extLst>
              <a:ext uri="{FF2B5EF4-FFF2-40B4-BE49-F238E27FC236}">
                <a16:creationId xmlns:a16="http://schemas.microsoft.com/office/drawing/2014/main" id="{8B8FF868-6BAF-C1A4-0895-DE90B92B6FC7}"/>
              </a:ext>
            </a:extLst>
          </p:cNvPr>
          <p:cNvPicPr>
            <a:picLocks noChangeAspect="1"/>
          </p:cNvPicPr>
          <p:nvPr/>
        </p:nvPicPr>
        <p:blipFill>
          <a:blip r:embed="rId16"/>
          <a:stretch>
            <a:fillRect/>
          </a:stretch>
        </p:blipFill>
        <p:spPr>
          <a:xfrm>
            <a:off x="70799" y="4000801"/>
            <a:ext cx="874407" cy="874407"/>
          </a:xfrm>
          <a:prstGeom prst="rect">
            <a:avLst/>
          </a:prstGeom>
          <a:ln w="12700">
            <a:miter lim="400000"/>
          </a:ln>
        </p:spPr>
      </p:pic>
      <p:sp>
        <p:nvSpPr>
          <p:cNvPr id="2" name="Title 1">
            <a:extLst>
              <a:ext uri="{FF2B5EF4-FFF2-40B4-BE49-F238E27FC236}">
                <a16:creationId xmlns:a16="http://schemas.microsoft.com/office/drawing/2014/main" id="{78310440-9ADC-FB64-3918-F9067C3B60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630DBB-D419-0536-EC78-85350D4B1CB7}"/>
              </a:ext>
            </a:extLst>
          </p:cNvPr>
          <p:cNvSpPr>
            <a:spLocks noGrp="1"/>
          </p:cNvSpPr>
          <p:nvPr>
            <p:ph idx="1"/>
          </p:nvPr>
        </p:nvSpPr>
        <p:spPr/>
        <p:txBody>
          <a:bodyPr/>
          <a:lstStyle/>
          <a:p>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C41D6-0AD0-C42C-2CCB-6D5D6A9F9A04}"/>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960FB2B-84B4-3CD1-0056-190BD2670708}"/>
              </a:ext>
            </a:extLst>
          </p:cNvPr>
          <p:cNvSpPr/>
          <p:nvPr/>
        </p:nvSpPr>
        <p:spPr>
          <a:xfrm>
            <a:off x="5398644" y="2756928"/>
            <a:ext cx="3743963" cy="300082"/>
          </a:xfrm>
          <a:prstGeom prst="rect">
            <a:avLst/>
          </a:prstGeom>
          <a:solidFill>
            <a:srgbClr val="1E6482"/>
          </a:solidFill>
          <a:ln w="9525" cap="flat" cmpd="sng" algn="ctr">
            <a:noFill/>
            <a:prstDash val="solid"/>
          </a:ln>
          <a:effectLst/>
        </p:spPr>
        <p:txBody>
          <a:bodyPr wrap="square" lIns="68580" tIns="68580" rIns="68580" bIns="68580" rtlCol="0" anchor="ctr" anchorCtr="0">
            <a:spAutoFit/>
          </a:bodyPr>
          <a:lstStyle/>
          <a:p>
            <a:pPr>
              <a:defRPr/>
            </a:pPr>
            <a:endParaRPr lang="en-US" sz="1050" kern="0" dirty="0">
              <a:solidFill>
                <a:srgbClr val="000000"/>
              </a:solidFill>
              <a:latin typeface="Arial"/>
              <a:cs typeface="Arial"/>
            </a:endParaRPr>
          </a:p>
        </p:txBody>
      </p:sp>
      <p:sp>
        <p:nvSpPr>
          <p:cNvPr id="17" name="Title 3">
            <a:extLst>
              <a:ext uri="{FF2B5EF4-FFF2-40B4-BE49-F238E27FC236}">
                <a16:creationId xmlns:a16="http://schemas.microsoft.com/office/drawing/2014/main" id="{41F58678-27B9-205E-7F92-C57911ABF278}"/>
              </a:ext>
            </a:extLst>
          </p:cNvPr>
          <p:cNvSpPr txBox="1">
            <a:spLocks/>
          </p:cNvSpPr>
          <p:nvPr/>
        </p:nvSpPr>
        <p:spPr>
          <a:xfrm>
            <a:off x="290291" y="350476"/>
            <a:ext cx="8505631" cy="615452"/>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rPr>
              <a:t>Activities</a:t>
            </a:r>
            <a:br>
              <a:rPr lang="en-US" sz="2099" dirty="0">
                <a:solidFill>
                  <a:srgbClr val="000000"/>
                </a:solidFill>
              </a:rPr>
            </a:br>
            <a:r>
              <a:rPr lang="en-US" sz="2099" b="0" dirty="0">
                <a:solidFill>
                  <a:srgbClr val="000000"/>
                </a:solidFill>
              </a:rPr>
              <a:t>Work that is </a:t>
            </a:r>
            <a:r>
              <a:rPr lang="en-US" sz="2099" b="0" i="1" dirty="0">
                <a:solidFill>
                  <a:srgbClr val="000000"/>
                </a:solidFill>
              </a:rPr>
              <a:t>performed</a:t>
            </a:r>
            <a:r>
              <a:rPr lang="en-US" sz="2099" b="0" dirty="0">
                <a:solidFill>
                  <a:srgbClr val="000000"/>
                </a:solidFill>
              </a:rPr>
              <a:t> in the process</a:t>
            </a:r>
            <a:endParaRPr lang="en-US" sz="2099" b="0" i="1" dirty="0">
              <a:solidFill>
                <a:srgbClr val="000000"/>
              </a:solidFill>
            </a:endParaRPr>
          </a:p>
        </p:txBody>
      </p:sp>
      <p:graphicFrame>
        <p:nvGraphicFramePr>
          <p:cNvPr id="18" name="Table 17">
            <a:extLst>
              <a:ext uri="{FF2B5EF4-FFF2-40B4-BE49-F238E27FC236}">
                <a16:creationId xmlns:a16="http://schemas.microsoft.com/office/drawing/2014/main" id="{F0DD04A6-AB61-C704-256D-D7BB24C191DF}"/>
              </a:ext>
            </a:extLst>
          </p:cNvPr>
          <p:cNvGraphicFramePr>
            <a:graphicFrameLocks noGrp="1"/>
          </p:cNvGraphicFramePr>
          <p:nvPr/>
        </p:nvGraphicFramePr>
        <p:xfrm>
          <a:off x="290289" y="1734890"/>
          <a:ext cx="4819874" cy="2217489"/>
        </p:xfrm>
        <a:graphic>
          <a:graphicData uri="http://schemas.openxmlformats.org/drawingml/2006/table">
            <a:tbl>
              <a:tblPr firstRow="1" bandRow="1"/>
              <a:tblGrid>
                <a:gridCol w="2409937">
                  <a:extLst>
                    <a:ext uri="{9D8B030D-6E8A-4147-A177-3AD203B41FA5}">
                      <a16:colId xmlns:a16="http://schemas.microsoft.com/office/drawing/2014/main" val="132893286"/>
                    </a:ext>
                  </a:extLst>
                </a:gridCol>
                <a:gridCol w="2409937">
                  <a:extLst>
                    <a:ext uri="{9D8B030D-6E8A-4147-A177-3AD203B41FA5}">
                      <a16:colId xmlns:a16="http://schemas.microsoft.com/office/drawing/2014/main" val="3873278578"/>
                    </a:ext>
                  </a:extLst>
                </a:gridCol>
              </a:tblGrid>
              <a:tr h="604769">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Task</a:t>
                      </a:r>
                      <a:r>
                        <a:rPr lang="en-US" sz="900" dirty="0">
                          <a:solidFill>
                            <a:srgbClr val="000000"/>
                          </a:solidFill>
                        </a:rPr>
                        <a:t>: </a:t>
                      </a:r>
                      <a:r>
                        <a:rPr lang="en-US" sz="900" b="0" dirty="0">
                          <a:solidFill>
                            <a:srgbClr val="000000"/>
                          </a:solidFill>
                        </a:rPr>
                        <a:t>An action performed by a person or software within a process.</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28111926"/>
                  </a:ext>
                </a:extLst>
              </a:tr>
              <a:tr h="739163">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marL="0" marR="0" lvl="0" indent="0" algn="l" defTabSz="456834" rtl="0" eaLnBrk="1" fontAlgn="auto" latinLnBrk="0" hangingPunct="1">
                        <a:lnSpc>
                          <a:spcPct val="100000"/>
                        </a:lnSpc>
                        <a:spcBef>
                          <a:spcPts val="0"/>
                        </a:spcBef>
                        <a:spcAft>
                          <a:spcPts val="0"/>
                        </a:spcAft>
                        <a:buClrTx/>
                        <a:buSzTx/>
                        <a:buFontTx/>
                        <a:buNone/>
                        <a:tabLst/>
                        <a:defRPr/>
                      </a:pPr>
                      <a:r>
                        <a:rPr lang="en-US" sz="900" b="1" dirty="0">
                          <a:solidFill>
                            <a:srgbClr val="000000"/>
                          </a:solidFill>
                        </a:rPr>
                        <a:t>Subprocess: </a:t>
                      </a:r>
                      <a:r>
                        <a:rPr lang="en-US" sz="900" dirty="0">
                          <a:solidFill>
                            <a:srgbClr val="000000"/>
                          </a:solidFill>
                        </a:rPr>
                        <a:t>A group of related tasks bundled together into a single activity to make the main process easier to read.</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77245496"/>
                  </a:ext>
                </a:extLst>
              </a:tr>
              <a:tr h="873557">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Call activity</a:t>
                      </a:r>
                      <a:r>
                        <a:rPr lang="en-US" sz="900" dirty="0">
                          <a:solidFill>
                            <a:srgbClr val="000000"/>
                          </a:solidFill>
                        </a:rPr>
                        <a:t>: </a:t>
                      </a:r>
                      <a:r>
                        <a:rPr lang="en-US" sz="900" b="0" i="0" u="none" strike="noStrike" cap="none" spc="0" baseline="0" dirty="0">
                          <a:solidFill>
                            <a:srgbClr val="000000"/>
                          </a:solidFill>
                          <a:effectLst/>
                          <a:uFillTx/>
                          <a:latin typeface="Arial"/>
                          <a:ea typeface="+mn-ea"/>
                          <a:cs typeface="+mn-cs"/>
                          <a:sym typeface="Arial"/>
                        </a:rPr>
                        <a:t>A wrapper that invokes another BPMN process (or global task) stored outside the current diagram.</a:t>
                      </a:r>
                      <a:endParaRPr lang="en-US" sz="900" b="0" dirty="0">
                        <a:solidFill>
                          <a:srgbClr val="000000"/>
                        </a:solidFill>
                      </a:endParaRPr>
                    </a:p>
                  </a:txBody>
                  <a:tcPr marL="68527" marR="68527" marT="34263" marB="34263"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ap="flat" cmpd="sng" algn="ctr">
                      <a:solidFill>
                        <a:srgbClr val="000000"/>
                      </a:solidFill>
                      <a:prstDash val="solid"/>
                      <a:round/>
                      <a:headEnd type="none" w="med" len="med"/>
                      <a:tailEnd type="none" w="med" len="med"/>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781215039"/>
                  </a:ext>
                </a:extLst>
              </a:tr>
            </a:tbl>
          </a:graphicData>
        </a:graphic>
      </p:graphicFrame>
      <p:pic>
        <p:nvPicPr>
          <p:cNvPr id="19" name="Picture 18">
            <a:extLst>
              <a:ext uri="{FF2B5EF4-FFF2-40B4-BE49-F238E27FC236}">
                <a16:creationId xmlns:a16="http://schemas.microsoft.com/office/drawing/2014/main" id="{DCFED9F7-4856-34C8-E98A-DA5C8D24150C}"/>
              </a:ext>
            </a:extLst>
          </p:cNvPr>
          <p:cNvPicPr>
            <a:picLocks noChangeAspect="1"/>
          </p:cNvPicPr>
          <p:nvPr/>
        </p:nvPicPr>
        <p:blipFill>
          <a:blip r:embed="rId2"/>
          <a:stretch>
            <a:fillRect/>
          </a:stretch>
        </p:blipFill>
        <p:spPr>
          <a:xfrm>
            <a:off x="3524977" y="3258151"/>
            <a:ext cx="650566" cy="441062"/>
          </a:xfrm>
          <a:prstGeom prst="rect">
            <a:avLst/>
          </a:prstGeom>
        </p:spPr>
      </p:pic>
      <p:pic>
        <p:nvPicPr>
          <p:cNvPr id="20" name="Picture 19" descr="A black text on a white background&#10;&#10;AI-generated content may be incorrect.">
            <a:extLst>
              <a:ext uri="{FF2B5EF4-FFF2-40B4-BE49-F238E27FC236}">
                <a16:creationId xmlns:a16="http://schemas.microsoft.com/office/drawing/2014/main" id="{55A10895-21C9-70DD-67CF-EB1898582EC3}"/>
              </a:ext>
            </a:extLst>
          </p:cNvPr>
          <p:cNvPicPr>
            <a:picLocks noChangeAspect="1"/>
          </p:cNvPicPr>
          <p:nvPr/>
        </p:nvPicPr>
        <p:blipFill>
          <a:blip r:embed="rId3"/>
          <a:stretch>
            <a:fillRect/>
          </a:stretch>
        </p:blipFill>
        <p:spPr>
          <a:xfrm>
            <a:off x="3524976" y="1839748"/>
            <a:ext cx="689277" cy="414473"/>
          </a:xfrm>
          <a:prstGeom prst="rect">
            <a:avLst/>
          </a:prstGeom>
          <a:effectLst>
            <a:outerShdw blurRad="50800" dist="38100" dir="2700000" algn="tl" rotWithShape="0">
              <a:prstClr val="black">
                <a:alpha val="40000"/>
              </a:prstClr>
            </a:outerShdw>
          </a:effectLst>
        </p:spPr>
      </p:pic>
      <p:sp>
        <p:nvSpPr>
          <p:cNvPr id="25" name="TextBox 24">
            <a:extLst>
              <a:ext uri="{FF2B5EF4-FFF2-40B4-BE49-F238E27FC236}">
                <a16:creationId xmlns:a16="http://schemas.microsoft.com/office/drawing/2014/main" id="{FE3000DA-F8A1-9EC9-331A-E3E58CFC7B21}"/>
              </a:ext>
            </a:extLst>
          </p:cNvPr>
          <p:cNvSpPr txBox="1"/>
          <p:nvPr/>
        </p:nvSpPr>
        <p:spPr>
          <a:xfrm>
            <a:off x="5547406" y="2482291"/>
            <a:ext cx="3161090" cy="2042867"/>
          </a:xfrm>
          <a:prstGeom prst="rect">
            <a:avLst/>
          </a:prstGeom>
          <a:noFill/>
        </p:spPr>
        <p:txBody>
          <a:bodyPr wrap="square" lIns="68580" tIns="68580" rIns="68580" bIns="68580" rtlCol="0">
            <a:spAutoFit/>
          </a:bodyPr>
          <a:lstStyle/>
          <a:p>
            <a:pPr marL="214313" indent="-214313">
              <a:buFont typeface="Courier New" panose="02070309020205020404" pitchFamily="49" charset="0"/>
              <a:buChar char="o"/>
              <a:defRPr/>
            </a:pPr>
            <a:r>
              <a:rPr lang="en-US" sz="1125" kern="0" dirty="0">
                <a:solidFill>
                  <a:srgbClr val="FFFFFF"/>
                </a:solidFill>
              </a:rPr>
              <a:t>Use activities when something (whether it’s an AI Agent, Robot, or Person) performs work. For example, packing items into a box is considered a task</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Or when an agent handles the entire payment process, which includes multiple steps like validating the card and processing the payment. This is called a </a:t>
            </a:r>
            <a:r>
              <a:rPr lang="en-US" sz="1125" b="1" kern="0" dirty="0">
                <a:solidFill>
                  <a:srgbClr val="FFFFFF"/>
                </a:solidFill>
              </a:rPr>
              <a:t>Subprocess. </a:t>
            </a:r>
            <a:r>
              <a:rPr lang="en-US" sz="1125" kern="0" dirty="0">
                <a:solidFill>
                  <a:srgbClr val="FFFFFF"/>
                </a:solidFill>
              </a:rPr>
              <a:t>Use </a:t>
            </a:r>
            <a:r>
              <a:rPr lang="en-US" sz="1125" b="1" kern="0" dirty="0">
                <a:solidFill>
                  <a:srgbClr val="FFFFFF"/>
                </a:solidFill>
              </a:rPr>
              <a:t>Subprocesses</a:t>
            </a:r>
            <a:r>
              <a:rPr lang="en-US" sz="1125" kern="0" dirty="0">
                <a:solidFill>
                  <a:srgbClr val="FFFFFF"/>
                </a:solidFill>
              </a:rPr>
              <a:t> when your process model starts to feel crowded</a:t>
            </a:r>
          </a:p>
        </p:txBody>
      </p:sp>
      <p:pic>
        <p:nvPicPr>
          <p:cNvPr id="26" name="Picture 25">
            <a:extLst>
              <a:ext uri="{FF2B5EF4-FFF2-40B4-BE49-F238E27FC236}">
                <a16:creationId xmlns:a16="http://schemas.microsoft.com/office/drawing/2014/main" id="{B2A98C2F-222D-C66A-0B4A-0A0259ACA42F}"/>
              </a:ext>
            </a:extLst>
          </p:cNvPr>
          <p:cNvPicPr>
            <a:picLocks noChangeAspect="1"/>
          </p:cNvPicPr>
          <p:nvPr/>
        </p:nvPicPr>
        <p:blipFill>
          <a:blip r:embed="rId4"/>
          <a:stretch>
            <a:fillRect/>
          </a:stretch>
        </p:blipFill>
        <p:spPr>
          <a:xfrm>
            <a:off x="3396045" y="2465307"/>
            <a:ext cx="818208" cy="536530"/>
          </a:xfrm>
          <a:prstGeom prst="rect">
            <a:avLst/>
          </a:prstGeom>
        </p:spPr>
      </p:pic>
      <p:sp>
        <p:nvSpPr>
          <p:cNvPr id="27" name="Rectangle 26">
            <a:extLst>
              <a:ext uri="{FF2B5EF4-FFF2-40B4-BE49-F238E27FC236}">
                <a16:creationId xmlns:a16="http://schemas.microsoft.com/office/drawing/2014/main" id="{30568E61-60E5-C041-CB8C-F318869C34F0}"/>
              </a:ext>
            </a:extLst>
          </p:cNvPr>
          <p:cNvSpPr/>
          <p:nvPr/>
        </p:nvSpPr>
        <p:spPr>
          <a:xfrm>
            <a:off x="3602614" y="2621362"/>
            <a:ext cx="556601" cy="219056"/>
          </a:xfrm>
          <a:prstGeom prst="rect">
            <a:avLst/>
          </a:prstGeom>
          <a:solidFill>
            <a:srgbClr val="FFFFFF"/>
          </a:solidFill>
          <a:ln w="9525" cap="flat" cmpd="sng" algn="ctr">
            <a:noFill/>
            <a:prstDash val="solid"/>
          </a:ln>
          <a:effectLst/>
        </p:spPr>
        <p:txBody>
          <a:bodyPr wrap="square" lIns="68527" tIns="68527" rIns="68527" bIns="68527" rtlCol="0" anchor="ctr" anchorCtr="0">
            <a:spAutoFit/>
          </a:bodyPr>
          <a:lstStyle/>
          <a:p>
            <a:pPr algn="ctr" defTabSz="342626">
              <a:defRPr/>
            </a:pPr>
            <a:r>
              <a:rPr lang="en-US" sz="524" dirty="0">
                <a:solidFill>
                  <a:srgbClr val="000000"/>
                </a:solidFill>
                <a:latin typeface="Arial"/>
                <a:cs typeface="Arial"/>
              </a:rPr>
              <a:t>Subprocess</a:t>
            </a:r>
          </a:p>
        </p:txBody>
      </p:sp>
      <p:pic>
        <p:nvPicPr>
          <p:cNvPr id="28" name="Picture 27">
            <a:extLst>
              <a:ext uri="{FF2B5EF4-FFF2-40B4-BE49-F238E27FC236}">
                <a16:creationId xmlns:a16="http://schemas.microsoft.com/office/drawing/2014/main" id="{E0F9C983-E89B-F7B4-3F8B-27FC81974735}"/>
              </a:ext>
            </a:extLst>
          </p:cNvPr>
          <p:cNvPicPr>
            <a:picLocks noChangeAspect="1"/>
          </p:cNvPicPr>
          <p:nvPr/>
        </p:nvPicPr>
        <p:blipFill>
          <a:blip r:embed="rId5"/>
          <a:stretch>
            <a:fillRect/>
          </a:stretch>
        </p:blipFill>
        <p:spPr>
          <a:xfrm>
            <a:off x="3833289" y="2838032"/>
            <a:ext cx="95250" cy="95250"/>
          </a:xfrm>
          <a:prstGeom prst="rect">
            <a:avLst/>
          </a:prstGeom>
        </p:spPr>
      </p:pic>
      <p:pic>
        <p:nvPicPr>
          <p:cNvPr id="29" name="Graphic 827" descr="Graphic 827">
            <a:extLst>
              <a:ext uri="{FF2B5EF4-FFF2-40B4-BE49-F238E27FC236}">
                <a16:creationId xmlns:a16="http://schemas.microsoft.com/office/drawing/2014/main" id="{0B62B379-32D2-01A4-7B68-82CCB25CA5CD}"/>
              </a:ext>
            </a:extLst>
          </p:cNvPr>
          <p:cNvPicPr>
            <a:picLocks noChangeAspect="1"/>
          </p:cNvPicPr>
          <p:nvPr/>
        </p:nvPicPr>
        <p:blipFill>
          <a:blip r:embed="rId6"/>
          <a:stretch>
            <a:fillRect/>
          </a:stretch>
        </p:blipFill>
        <p:spPr>
          <a:xfrm>
            <a:off x="5547407" y="1443587"/>
            <a:ext cx="874407" cy="874407"/>
          </a:xfrm>
          <a:prstGeom prst="rect">
            <a:avLst/>
          </a:prstGeom>
          <a:ln w="12700">
            <a:miter lim="400000"/>
          </a:ln>
        </p:spPr>
      </p:pic>
      <p:sp>
        <p:nvSpPr>
          <p:cNvPr id="4" name="Title 3">
            <a:extLst>
              <a:ext uri="{FF2B5EF4-FFF2-40B4-BE49-F238E27FC236}">
                <a16:creationId xmlns:a16="http://schemas.microsoft.com/office/drawing/2014/main" id="{6E440F8D-ECB8-53E4-0562-88C6C260102A}"/>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903CE4EA-010B-A533-E810-0CC76668B16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8936553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15D32-A86C-531D-5446-DD925363DDE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D4FD409-A9D8-7CBA-6335-D1E83B8DD415}"/>
              </a:ext>
            </a:extLst>
          </p:cNvPr>
          <p:cNvSpPr/>
          <p:nvPr/>
        </p:nvSpPr>
        <p:spPr>
          <a:xfrm>
            <a:off x="0" y="2599940"/>
            <a:ext cx="4410572" cy="300082"/>
          </a:xfrm>
          <a:prstGeom prst="rect">
            <a:avLst/>
          </a:prstGeom>
          <a:solidFill>
            <a:srgbClr val="1E6482"/>
          </a:solidFill>
          <a:ln w="9525" cap="flat" cmpd="sng" algn="ctr">
            <a:noFill/>
            <a:prstDash val="solid"/>
          </a:ln>
          <a:effectLst/>
        </p:spPr>
        <p:txBody>
          <a:bodyPr wrap="square" lIns="68580" tIns="68580" rIns="68580" bIns="68580" rtlCol="0" anchor="ctr" anchorCtr="0">
            <a:spAutoFit/>
          </a:bodyPr>
          <a:lstStyle/>
          <a:p>
            <a:pPr>
              <a:defRPr/>
            </a:pPr>
            <a:endParaRPr lang="en-US" sz="1050" kern="0" dirty="0">
              <a:solidFill>
                <a:srgbClr val="000000"/>
              </a:solidFill>
              <a:latin typeface="Arial"/>
              <a:cs typeface="Arial"/>
            </a:endParaRPr>
          </a:p>
        </p:txBody>
      </p:sp>
      <p:sp>
        <p:nvSpPr>
          <p:cNvPr id="15" name="Title 3">
            <a:extLst>
              <a:ext uri="{FF2B5EF4-FFF2-40B4-BE49-F238E27FC236}">
                <a16:creationId xmlns:a16="http://schemas.microsoft.com/office/drawing/2014/main" id="{DEB6F543-E3D0-7AFA-EE27-FC9D0E2DBA6A}"/>
              </a:ext>
            </a:extLst>
          </p:cNvPr>
          <p:cNvSpPr txBox="1">
            <a:spLocks/>
          </p:cNvSpPr>
          <p:nvPr/>
        </p:nvSpPr>
        <p:spPr>
          <a:xfrm>
            <a:off x="290291" y="268293"/>
            <a:ext cx="4952832" cy="517522"/>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rPr>
              <a:t>Task types</a:t>
            </a:r>
            <a:br>
              <a:rPr lang="en-US" sz="2099" dirty="0">
                <a:solidFill>
                  <a:srgbClr val="000000"/>
                </a:solidFill>
              </a:rPr>
            </a:br>
            <a:r>
              <a:rPr lang="en-US" sz="2099" b="0" dirty="0">
                <a:solidFill>
                  <a:srgbClr val="000000"/>
                </a:solidFill>
              </a:rPr>
              <a:t>Keep processes </a:t>
            </a:r>
            <a:r>
              <a:rPr lang="en-US" sz="2099" b="0" i="1" dirty="0">
                <a:solidFill>
                  <a:srgbClr val="000000"/>
                </a:solidFill>
              </a:rPr>
              <a:t>clear and executable</a:t>
            </a:r>
          </a:p>
        </p:txBody>
      </p:sp>
      <p:graphicFrame>
        <p:nvGraphicFramePr>
          <p:cNvPr id="16" name="Table 15">
            <a:extLst>
              <a:ext uri="{FF2B5EF4-FFF2-40B4-BE49-F238E27FC236}">
                <a16:creationId xmlns:a16="http://schemas.microsoft.com/office/drawing/2014/main" id="{E4A5803F-A34F-2C80-AF99-CE2863273B7E}"/>
              </a:ext>
            </a:extLst>
          </p:cNvPr>
          <p:cNvGraphicFramePr>
            <a:graphicFrameLocks noGrp="1"/>
          </p:cNvGraphicFramePr>
          <p:nvPr/>
        </p:nvGraphicFramePr>
        <p:xfrm>
          <a:off x="4768099" y="978321"/>
          <a:ext cx="4105050" cy="3981537"/>
        </p:xfrm>
        <a:graphic>
          <a:graphicData uri="http://schemas.openxmlformats.org/drawingml/2006/table">
            <a:tbl>
              <a:tblPr firstRow="1" bandRow="1"/>
              <a:tblGrid>
                <a:gridCol w="2795204">
                  <a:extLst>
                    <a:ext uri="{9D8B030D-6E8A-4147-A177-3AD203B41FA5}">
                      <a16:colId xmlns:a16="http://schemas.microsoft.com/office/drawing/2014/main" val="3268405476"/>
                    </a:ext>
                  </a:extLst>
                </a:gridCol>
                <a:gridCol w="1309846">
                  <a:extLst>
                    <a:ext uri="{9D8B030D-6E8A-4147-A177-3AD203B41FA5}">
                      <a16:colId xmlns:a16="http://schemas.microsoft.com/office/drawing/2014/main" val="1057285444"/>
                    </a:ext>
                  </a:extLst>
                </a:gridCol>
              </a:tblGrid>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buNone/>
                      </a:pPr>
                      <a:r>
                        <a:rPr lang="en-US" sz="900" b="1" dirty="0">
                          <a:solidFill>
                            <a:srgbClr val="000000"/>
                          </a:solidFill>
                        </a:rPr>
                        <a:t>Send task</a:t>
                      </a:r>
                      <a:endParaRPr lang="en-US" sz="900" dirty="0">
                        <a:solidFill>
                          <a:srgbClr val="000000"/>
                        </a:solidFill>
                      </a:endParaRPr>
                    </a:p>
                    <a:p>
                      <a:pPr algn="l">
                        <a:buNone/>
                      </a:pPr>
                      <a:r>
                        <a:rPr lang="en-US" sz="900" dirty="0">
                          <a:solidFill>
                            <a:srgbClr val="000000"/>
                          </a:solidFill>
                        </a:rPr>
                        <a:t>Sends a message to an external entity.</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489923311"/>
                  </a:ext>
                </a:extLst>
              </a:tr>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buNone/>
                      </a:pPr>
                      <a:r>
                        <a:rPr lang="en-US" sz="900" b="1" dirty="0">
                          <a:solidFill>
                            <a:srgbClr val="000000"/>
                          </a:solidFill>
                        </a:rPr>
                        <a:t>Receive task</a:t>
                      </a:r>
                    </a:p>
                    <a:p>
                      <a:pPr algn="l">
                        <a:buNone/>
                      </a:pPr>
                      <a:r>
                        <a:rPr lang="en-US" sz="900" dirty="0">
                          <a:solidFill>
                            <a:srgbClr val="000000"/>
                          </a:solidFill>
                        </a:rPr>
                        <a:t>Waits for a message from an external entity.</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77390803"/>
                  </a:ext>
                </a:extLst>
              </a:tr>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buNone/>
                      </a:pPr>
                      <a:r>
                        <a:rPr lang="en-US" sz="900" b="1" dirty="0">
                          <a:solidFill>
                            <a:srgbClr val="000000"/>
                          </a:solidFill>
                        </a:rPr>
                        <a:t>User task</a:t>
                      </a:r>
                    </a:p>
                    <a:p>
                      <a:pPr algn="l">
                        <a:buNone/>
                      </a:pPr>
                      <a:r>
                        <a:rPr lang="en-US" sz="900" dirty="0">
                          <a:solidFill>
                            <a:srgbClr val="000000"/>
                          </a:solidFill>
                        </a:rPr>
                        <a:t>Performed by a person with software interaction.</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144087342"/>
                  </a:ext>
                </a:extLst>
              </a:tr>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buNone/>
                      </a:pPr>
                      <a:r>
                        <a:rPr lang="en-US" sz="900" b="1" dirty="0">
                          <a:solidFill>
                            <a:srgbClr val="000000"/>
                          </a:solidFill>
                        </a:rPr>
                        <a:t>Manual task</a:t>
                      </a:r>
                    </a:p>
                    <a:p>
                      <a:pPr algn="l">
                        <a:buNone/>
                      </a:pPr>
                      <a:r>
                        <a:rPr lang="en-US" sz="900" dirty="0">
                          <a:solidFill>
                            <a:srgbClr val="000000"/>
                          </a:solidFill>
                        </a:rPr>
                        <a:t>Performed by a person without software.</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22941723"/>
                  </a:ext>
                </a:extLst>
              </a:tr>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buNone/>
                      </a:pPr>
                      <a:r>
                        <a:rPr lang="en-US" sz="900" b="1" dirty="0">
                          <a:solidFill>
                            <a:srgbClr val="000000"/>
                          </a:solidFill>
                        </a:rPr>
                        <a:t>Business rule task</a:t>
                      </a:r>
                    </a:p>
                    <a:p>
                      <a:pPr algn="l">
                        <a:buNone/>
                      </a:pPr>
                      <a:r>
                        <a:rPr lang="en-US" sz="900" dirty="0">
                          <a:solidFill>
                            <a:srgbClr val="000000"/>
                          </a:solidFill>
                        </a:rPr>
                        <a:t>Executes logic via a business rules engine (DMN).</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152887166"/>
                  </a:ext>
                </a:extLst>
              </a:tr>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buNone/>
                      </a:pPr>
                      <a:r>
                        <a:rPr lang="en-US" sz="900" b="1" dirty="0">
                          <a:solidFill>
                            <a:srgbClr val="000000"/>
                          </a:solidFill>
                        </a:rPr>
                        <a:t>Service task</a:t>
                      </a:r>
                    </a:p>
                    <a:p>
                      <a:pPr algn="l">
                        <a:buNone/>
                      </a:pPr>
                      <a:r>
                        <a:rPr lang="en-US" sz="900" dirty="0">
                          <a:solidFill>
                            <a:srgbClr val="000000"/>
                          </a:solidFill>
                        </a:rPr>
                        <a:t>Fully automated activity.</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25636037"/>
                  </a:ext>
                </a:extLst>
              </a:tr>
              <a:tr h="56879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b="1" dirty="0">
                          <a:solidFill>
                            <a:srgbClr val="000000"/>
                          </a:solidFill>
                        </a:rPr>
                        <a:t>Script task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srgbClr val="000000"/>
                          </a:solidFill>
                        </a:rPr>
                        <a:t>Runs a script automatically when triggered.</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853402114"/>
                  </a:ext>
                </a:extLst>
              </a:tr>
            </a:tbl>
          </a:graphicData>
        </a:graphic>
      </p:graphicFrame>
      <p:pic>
        <p:nvPicPr>
          <p:cNvPr id="17" name="Picture 16">
            <a:extLst>
              <a:ext uri="{FF2B5EF4-FFF2-40B4-BE49-F238E27FC236}">
                <a16:creationId xmlns:a16="http://schemas.microsoft.com/office/drawing/2014/main" id="{2FEE0D08-B53F-5556-CB09-C9BECFFDE268}"/>
              </a:ext>
            </a:extLst>
          </p:cNvPr>
          <p:cNvPicPr>
            <a:picLocks noChangeAspect="1"/>
          </p:cNvPicPr>
          <p:nvPr/>
        </p:nvPicPr>
        <p:blipFill>
          <a:blip r:embed="rId3"/>
          <a:stretch>
            <a:fillRect/>
          </a:stretch>
        </p:blipFill>
        <p:spPr>
          <a:xfrm>
            <a:off x="7877446" y="3892930"/>
            <a:ext cx="669155" cy="425826"/>
          </a:xfrm>
          <a:prstGeom prst="rect">
            <a:avLst/>
          </a:prstGeom>
        </p:spPr>
      </p:pic>
      <p:pic>
        <p:nvPicPr>
          <p:cNvPr id="18" name="Picture 17">
            <a:extLst>
              <a:ext uri="{FF2B5EF4-FFF2-40B4-BE49-F238E27FC236}">
                <a16:creationId xmlns:a16="http://schemas.microsoft.com/office/drawing/2014/main" id="{0A2C24F2-EBB9-C8C0-08EA-B479752C4A35}"/>
              </a:ext>
            </a:extLst>
          </p:cNvPr>
          <p:cNvPicPr>
            <a:picLocks noChangeAspect="1"/>
          </p:cNvPicPr>
          <p:nvPr/>
        </p:nvPicPr>
        <p:blipFill>
          <a:blip r:embed="rId4"/>
          <a:stretch>
            <a:fillRect/>
          </a:stretch>
        </p:blipFill>
        <p:spPr>
          <a:xfrm>
            <a:off x="7877446" y="2189957"/>
            <a:ext cx="669155" cy="425826"/>
          </a:xfrm>
          <a:prstGeom prst="rect">
            <a:avLst/>
          </a:prstGeom>
        </p:spPr>
      </p:pic>
      <p:pic>
        <p:nvPicPr>
          <p:cNvPr id="19" name="Picture 18">
            <a:extLst>
              <a:ext uri="{FF2B5EF4-FFF2-40B4-BE49-F238E27FC236}">
                <a16:creationId xmlns:a16="http://schemas.microsoft.com/office/drawing/2014/main" id="{524CCDE6-7860-38BB-FB73-2059087D68AE}"/>
              </a:ext>
            </a:extLst>
          </p:cNvPr>
          <p:cNvPicPr>
            <a:picLocks noChangeAspect="1"/>
          </p:cNvPicPr>
          <p:nvPr/>
        </p:nvPicPr>
        <p:blipFill>
          <a:blip r:embed="rId5"/>
          <a:stretch>
            <a:fillRect/>
          </a:stretch>
        </p:blipFill>
        <p:spPr>
          <a:xfrm>
            <a:off x="7877446" y="1622299"/>
            <a:ext cx="669155" cy="425826"/>
          </a:xfrm>
          <a:prstGeom prst="rect">
            <a:avLst/>
          </a:prstGeom>
        </p:spPr>
      </p:pic>
      <p:pic>
        <p:nvPicPr>
          <p:cNvPr id="20" name="Picture 19">
            <a:extLst>
              <a:ext uri="{FF2B5EF4-FFF2-40B4-BE49-F238E27FC236}">
                <a16:creationId xmlns:a16="http://schemas.microsoft.com/office/drawing/2014/main" id="{8C88906A-DFBD-80E9-5FE4-AA98E327A76C}"/>
              </a:ext>
            </a:extLst>
          </p:cNvPr>
          <p:cNvPicPr>
            <a:picLocks noChangeAspect="1"/>
          </p:cNvPicPr>
          <p:nvPr/>
        </p:nvPicPr>
        <p:blipFill>
          <a:blip r:embed="rId6"/>
          <a:stretch>
            <a:fillRect/>
          </a:stretch>
        </p:blipFill>
        <p:spPr>
          <a:xfrm>
            <a:off x="7877446" y="1054641"/>
            <a:ext cx="669155" cy="425826"/>
          </a:xfrm>
          <a:prstGeom prst="rect">
            <a:avLst/>
          </a:prstGeom>
        </p:spPr>
      </p:pic>
      <p:pic>
        <p:nvPicPr>
          <p:cNvPr id="21" name="Picture 20">
            <a:extLst>
              <a:ext uri="{FF2B5EF4-FFF2-40B4-BE49-F238E27FC236}">
                <a16:creationId xmlns:a16="http://schemas.microsoft.com/office/drawing/2014/main" id="{FD20A87F-7BA1-7F76-D7DC-CAF72D6E92CD}"/>
              </a:ext>
            </a:extLst>
          </p:cNvPr>
          <p:cNvPicPr>
            <a:picLocks noChangeAspect="1"/>
          </p:cNvPicPr>
          <p:nvPr/>
        </p:nvPicPr>
        <p:blipFill>
          <a:blip r:embed="rId7"/>
          <a:stretch>
            <a:fillRect/>
          </a:stretch>
        </p:blipFill>
        <p:spPr>
          <a:xfrm>
            <a:off x="7877446" y="3325272"/>
            <a:ext cx="669155" cy="425826"/>
          </a:xfrm>
          <a:prstGeom prst="rect">
            <a:avLst/>
          </a:prstGeom>
        </p:spPr>
      </p:pic>
      <p:pic>
        <p:nvPicPr>
          <p:cNvPr id="22" name="Picture 21">
            <a:extLst>
              <a:ext uri="{FF2B5EF4-FFF2-40B4-BE49-F238E27FC236}">
                <a16:creationId xmlns:a16="http://schemas.microsoft.com/office/drawing/2014/main" id="{5B59DE67-D16E-D0DC-1819-96B3FF2A51BE}"/>
              </a:ext>
            </a:extLst>
          </p:cNvPr>
          <p:cNvPicPr>
            <a:picLocks noChangeAspect="1"/>
          </p:cNvPicPr>
          <p:nvPr/>
        </p:nvPicPr>
        <p:blipFill>
          <a:blip r:embed="rId8"/>
          <a:stretch>
            <a:fillRect/>
          </a:stretch>
        </p:blipFill>
        <p:spPr>
          <a:xfrm>
            <a:off x="7877446" y="2757614"/>
            <a:ext cx="669155" cy="425826"/>
          </a:xfrm>
          <a:prstGeom prst="rect">
            <a:avLst/>
          </a:prstGeom>
        </p:spPr>
      </p:pic>
      <p:pic>
        <p:nvPicPr>
          <p:cNvPr id="23" name="Picture 22">
            <a:extLst>
              <a:ext uri="{FF2B5EF4-FFF2-40B4-BE49-F238E27FC236}">
                <a16:creationId xmlns:a16="http://schemas.microsoft.com/office/drawing/2014/main" id="{0D291E21-0589-837E-26C1-BA53A97F5C86}"/>
              </a:ext>
            </a:extLst>
          </p:cNvPr>
          <p:cNvPicPr>
            <a:picLocks noChangeAspect="1"/>
          </p:cNvPicPr>
          <p:nvPr/>
        </p:nvPicPr>
        <p:blipFill>
          <a:blip r:embed="rId9"/>
          <a:stretch>
            <a:fillRect/>
          </a:stretch>
        </p:blipFill>
        <p:spPr>
          <a:xfrm>
            <a:off x="7877446" y="4460588"/>
            <a:ext cx="669155" cy="425826"/>
          </a:xfrm>
          <a:prstGeom prst="rect">
            <a:avLst/>
          </a:prstGeom>
        </p:spPr>
      </p:pic>
      <p:pic>
        <p:nvPicPr>
          <p:cNvPr id="24" name="Graphic 827" descr="Graphic 827">
            <a:extLst>
              <a:ext uri="{FF2B5EF4-FFF2-40B4-BE49-F238E27FC236}">
                <a16:creationId xmlns:a16="http://schemas.microsoft.com/office/drawing/2014/main" id="{0275053F-5A2A-5E30-4B6B-F6EB7BD1CC2C}"/>
              </a:ext>
            </a:extLst>
          </p:cNvPr>
          <p:cNvPicPr>
            <a:picLocks noChangeAspect="1"/>
          </p:cNvPicPr>
          <p:nvPr/>
        </p:nvPicPr>
        <p:blipFill>
          <a:blip r:embed="rId10"/>
          <a:stretch>
            <a:fillRect/>
          </a:stretch>
        </p:blipFill>
        <p:spPr>
          <a:xfrm>
            <a:off x="238807" y="1338498"/>
            <a:ext cx="874407" cy="874407"/>
          </a:xfrm>
          <a:prstGeom prst="rect">
            <a:avLst/>
          </a:prstGeom>
          <a:ln w="12700">
            <a:miter lim="400000"/>
          </a:ln>
        </p:spPr>
      </p:pic>
      <p:sp>
        <p:nvSpPr>
          <p:cNvPr id="25" name="TextBox 24">
            <a:extLst>
              <a:ext uri="{FF2B5EF4-FFF2-40B4-BE49-F238E27FC236}">
                <a16:creationId xmlns:a16="http://schemas.microsoft.com/office/drawing/2014/main" id="{E662D49F-0FE4-0591-7AFD-AD50803534E9}"/>
              </a:ext>
            </a:extLst>
          </p:cNvPr>
          <p:cNvSpPr txBox="1"/>
          <p:nvPr/>
        </p:nvSpPr>
        <p:spPr>
          <a:xfrm>
            <a:off x="238807" y="2303258"/>
            <a:ext cx="3807737" cy="1823576"/>
          </a:xfrm>
          <a:prstGeom prst="rect">
            <a:avLst/>
          </a:prstGeom>
          <a:noFill/>
        </p:spPr>
        <p:txBody>
          <a:bodyPr wrap="square">
            <a:spAutoFit/>
          </a:bodyPr>
          <a:lstStyle/>
          <a:p>
            <a:pPr marL="257175" indent="-257175">
              <a:buFont typeface="Courier New" panose="02070309020205020404" pitchFamily="49" charset="0"/>
              <a:buChar char="o"/>
              <a:defRPr/>
            </a:pPr>
            <a:r>
              <a:rPr lang="en-US" sz="1125" kern="0" dirty="0">
                <a:solidFill>
                  <a:srgbClr val="FFFFFF"/>
                </a:solidFill>
              </a:rPr>
              <a:t>Use task types to clearly show what kind of work is being done. This helps everyone quickly understand who or what is responsible. For example:</a:t>
            </a:r>
          </a:p>
          <a:p>
            <a:pPr marL="600075" lvl="1" indent="-257175">
              <a:buFont typeface="Courier New" panose="02070309020205020404" pitchFamily="49" charset="0"/>
              <a:buChar char="o"/>
              <a:defRPr/>
            </a:pPr>
            <a:r>
              <a:rPr lang="en-US" sz="1125" kern="0" dirty="0">
                <a:solidFill>
                  <a:srgbClr val="FFFFFF"/>
                </a:solidFill>
              </a:rPr>
              <a:t>use a </a:t>
            </a:r>
            <a:r>
              <a:rPr lang="en-US" sz="1125" b="1" kern="0" dirty="0">
                <a:solidFill>
                  <a:srgbClr val="FFFFFF"/>
                </a:solidFill>
              </a:rPr>
              <a:t>User Task </a:t>
            </a:r>
            <a:r>
              <a:rPr lang="en-US" sz="1125" kern="0" dirty="0">
                <a:solidFill>
                  <a:srgbClr val="FFFFFF"/>
                </a:solidFill>
              </a:rPr>
              <a:t>when a person needs to do something (like review an application).</a:t>
            </a:r>
          </a:p>
          <a:p>
            <a:pPr marL="600075" lvl="1" indent="-257175">
              <a:buFont typeface="Courier New" panose="02070309020205020404" pitchFamily="49" charset="0"/>
              <a:buChar char="o"/>
              <a:defRPr/>
            </a:pPr>
            <a:r>
              <a:rPr lang="en-US" sz="1125" dirty="0">
                <a:solidFill>
                  <a:srgbClr val="FFFFFF"/>
                </a:solidFill>
              </a:rPr>
              <a:t>use a</a:t>
            </a:r>
            <a:r>
              <a:rPr lang="en-US" sz="1125" kern="0" dirty="0">
                <a:solidFill>
                  <a:srgbClr val="FFFFFF"/>
                </a:solidFill>
              </a:rPr>
              <a:t> </a:t>
            </a:r>
            <a:r>
              <a:rPr lang="en-US" sz="1125" b="1" kern="0" dirty="0">
                <a:solidFill>
                  <a:srgbClr val="FFFFFF"/>
                </a:solidFill>
              </a:rPr>
              <a:t>Service Task </a:t>
            </a:r>
            <a:r>
              <a:rPr lang="en-US" sz="1125" kern="0" dirty="0">
                <a:solidFill>
                  <a:srgbClr val="FFFFFF"/>
                </a:solidFill>
              </a:rPr>
              <a:t>when a system performs an automated action (like running an Agent or a Robot)</a:t>
            </a:r>
          </a:p>
          <a:p>
            <a:pPr marL="600075" lvl="1" indent="-257175">
              <a:buFont typeface="Courier New" panose="02070309020205020404" pitchFamily="49" charset="0"/>
              <a:buChar char="o"/>
              <a:defRPr/>
            </a:pPr>
            <a:r>
              <a:rPr lang="en-US" sz="1125" dirty="0">
                <a:solidFill>
                  <a:srgbClr val="FFFFFF"/>
                </a:solidFill>
              </a:rPr>
              <a:t>use a </a:t>
            </a:r>
            <a:r>
              <a:rPr lang="en-US" sz="1125" b="1" kern="0" dirty="0">
                <a:solidFill>
                  <a:srgbClr val="FFFFFF"/>
                </a:solidFill>
              </a:rPr>
              <a:t>Script Task </a:t>
            </a:r>
            <a:r>
              <a:rPr lang="en-US" sz="1125" kern="0" dirty="0">
                <a:solidFill>
                  <a:srgbClr val="FFFFFF"/>
                </a:solidFill>
              </a:rPr>
              <a:t>when the system runs a script without human input</a:t>
            </a:r>
          </a:p>
        </p:txBody>
      </p:sp>
      <p:sp>
        <p:nvSpPr>
          <p:cNvPr id="2" name="Title 1">
            <a:extLst>
              <a:ext uri="{FF2B5EF4-FFF2-40B4-BE49-F238E27FC236}">
                <a16:creationId xmlns:a16="http://schemas.microsoft.com/office/drawing/2014/main" id="{08A7C6BE-5984-1554-852E-51CCF5E214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F251D0-7590-8A89-3D71-08A11938C76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919627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D49E3-303A-A3AF-F8B1-391F3F209D7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160A5F2-5B8E-7A7C-468A-149D5C95A38D}"/>
              </a:ext>
            </a:extLst>
          </p:cNvPr>
          <p:cNvSpPr/>
          <p:nvPr/>
        </p:nvSpPr>
        <p:spPr>
          <a:xfrm>
            <a:off x="5317856" y="2963900"/>
            <a:ext cx="3821383" cy="300082"/>
          </a:xfrm>
          <a:prstGeom prst="rect">
            <a:avLst/>
          </a:prstGeom>
          <a:solidFill>
            <a:srgbClr val="1E6482"/>
          </a:solidFill>
          <a:ln w="9525" cap="flat" cmpd="sng" algn="ctr">
            <a:noFill/>
            <a:prstDash val="solid"/>
          </a:ln>
          <a:effectLst/>
        </p:spPr>
        <p:txBody>
          <a:bodyPr wrap="square" lIns="68580" tIns="68580" rIns="68580" bIns="68580" rtlCol="0" anchor="ctr" anchorCtr="0">
            <a:spAutoFit/>
          </a:bodyPr>
          <a:lstStyle/>
          <a:p>
            <a:pPr>
              <a:defRPr/>
            </a:pPr>
            <a:endParaRPr lang="en-US" sz="1050" kern="0" dirty="0">
              <a:solidFill>
                <a:srgbClr val="000000"/>
              </a:solidFill>
              <a:latin typeface="Arial"/>
              <a:cs typeface="Arial"/>
            </a:endParaRPr>
          </a:p>
        </p:txBody>
      </p:sp>
      <p:sp>
        <p:nvSpPr>
          <p:cNvPr id="13" name="Title 3">
            <a:extLst>
              <a:ext uri="{FF2B5EF4-FFF2-40B4-BE49-F238E27FC236}">
                <a16:creationId xmlns:a16="http://schemas.microsoft.com/office/drawing/2014/main" id="{1431E37E-216D-9CA0-AB14-EF8DBB69B228}"/>
              </a:ext>
            </a:extLst>
          </p:cNvPr>
          <p:cNvSpPr txBox="1">
            <a:spLocks/>
          </p:cNvSpPr>
          <p:nvPr/>
        </p:nvSpPr>
        <p:spPr>
          <a:xfrm>
            <a:off x="290291" y="350477"/>
            <a:ext cx="8505631" cy="809457"/>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rPr>
              <a:t>Gateways</a:t>
            </a:r>
          </a:p>
          <a:p>
            <a:pPr>
              <a:defRPr/>
            </a:pPr>
            <a:r>
              <a:rPr lang="en-US" sz="2099" b="0" dirty="0">
                <a:solidFill>
                  <a:srgbClr val="000000"/>
                </a:solidFill>
              </a:rPr>
              <a:t>Decision points that </a:t>
            </a:r>
            <a:r>
              <a:rPr lang="en-US" sz="2099" b="0" i="1" dirty="0">
                <a:solidFill>
                  <a:srgbClr val="000000"/>
                </a:solidFill>
              </a:rPr>
              <a:t>govern and control</a:t>
            </a:r>
            <a:r>
              <a:rPr lang="en-US" sz="2099" b="0" dirty="0">
                <a:solidFill>
                  <a:srgbClr val="000000"/>
                </a:solidFill>
              </a:rPr>
              <a:t> the process flow</a:t>
            </a:r>
            <a:endParaRPr lang="en-US" sz="2099" b="0" i="1" dirty="0">
              <a:solidFill>
                <a:srgbClr val="000000"/>
              </a:solidFill>
            </a:endParaRPr>
          </a:p>
        </p:txBody>
      </p:sp>
      <p:graphicFrame>
        <p:nvGraphicFramePr>
          <p:cNvPr id="14" name="Table 13">
            <a:extLst>
              <a:ext uri="{FF2B5EF4-FFF2-40B4-BE49-F238E27FC236}">
                <a16:creationId xmlns:a16="http://schemas.microsoft.com/office/drawing/2014/main" id="{0152106E-DEF2-1C1C-6C0F-6E75A6DF7C3B}"/>
              </a:ext>
            </a:extLst>
          </p:cNvPr>
          <p:cNvGraphicFramePr>
            <a:graphicFrameLocks noGrp="1"/>
          </p:cNvGraphicFramePr>
          <p:nvPr/>
        </p:nvGraphicFramePr>
        <p:xfrm>
          <a:off x="290290" y="1104256"/>
          <a:ext cx="4691519" cy="3766090"/>
        </p:xfrm>
        <a:graphic>
          <a:graphicData uri="http://schemas.openxmlformats.org/drawingml/2006/table">
            <a:tbl>
              <a:tblPr firstRow="1" bandRow="1"/>
              <a:tblGrid>
                <a:gridCol w="3417680">
                  <a:extLst>
                    <a:ext uri="{9D8B030D-6E8A-4147-A177-3AD203B41FA5}">
                      <a16:colId xmlns:a16="http://schemas.microsoft.com/office/drawing/2014/main" val="132893286"/>
                    </a:ext>
                  </a:extLst>
                </a:gridCol>
                <a:gridCol w="1273839">
                  <a:extLst>
                    <a:ext uri="{9D8B030D-6E8A-4147-A177-3AD203B41FA5}">
                      <a16:colId xmlns:a16="http://schemas.microsoft.com/office/drawing/2014/main" val="3873278578"/>
                    </a:ext>
                  </a:extLst>
                </a:gridCol>
              </a:tblGrid>
              <a:tr h="75321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Exclusive gateway (XOR)</a:t>
                      </a:r>
                      <a:r>
                        <a:rPr lang="en-US" sz="900" dirty="0">
                          <a:solidFill>
                            <a:srgbClr val="000000"/>
                          </a:solidFill>
                        </a:rPr>
                        <a:t>: The classic ‘fork in the road’. </a:t>
                      </a:r>
                      <a:r>
                        <a:rPr lang="en-US" sz="900" b="0" dirty="0">
                          <a:solidFill>
                            <a:srgbClr val="000000"/>
                          </a:solidFill>
                        </a:rPr>
                        <a:t>Choose one path based on a decision.</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28111926"/>
                  </a:ext>
                </a:extLst>
              </a:tr>
              <a:tr h="75321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Parallel gateway (AND)</a:t>
                      </a:r>
                      <a:r>
                        <a:rPr lang="en-US" sz="900" dirty="0">
                          <a:solidFill>
                            <a:srgbClr val="000000"/>
                          </a:solidFill>
                        </a:rPr>
                        <a:t>: Do </a:t>
                      </a:r>
                      <a:r>
                        <a:rPr lang="en-US" sz="900" b="0" dirty="0">
                          <a:solidFill>
                            <a:srgbClr val="000000"/>
                          </a:solidFill>
                        </a:rPr>
                        <a:t>all</a:t>
                      </a:r>
                      <a:r>
                        <a:rPr lang="en-US" sz="900" dirty="0">
                          <a:solidFill>
                            <a:srgbClr val="000000"/>
                          </a:solidFill>
                        </a:rPr>
                        <a:t> paths at the same time.</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77245496"/>
                  </a:ext>
                </a:extLst>
              </a:tr>
              <a:tr h="75321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Inclusive gateway (OR)</a:t>
                      </a:r>
                      <a:r>
                        <a:rPr lang="en-US" sz="900" dirty="0">
                          <a:solidFill>
                            <a:srgbClr val="000000"/>
                          </a:solidFill>
                        </a:rPr>
                        <a:t>: Do </a:t>
                      </a:r>
                      <a:r>
                        <a:rPr lang="en-US" sz="900" b="0" dirty="0">
                          <a:solidFill>
                            <a:srgbClr val="000000"/>
                          </a:solidFill>
                        </a:rPr>
                        <a:t>one or more </a:t>
                      </a:r>
                      <a:r>
                        <a:rPr lang="en-US" sz="900" dirty="0">
                          <a:solidFill>
                            <a:srgbClr val="000000"/>
                          </a:solidFill>
                        </a:rPr>
                        <a:t>paths, depending on conditions.</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535353006"/>
                  </a:ext>
                </a:extLst>
              </a:tr>
              <a:tr h="75321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Event-based gateway</a:t>
                      </a:r>
                      <a:r>
                        <a:rPr lang="en-US" sz="900" dirty="0">
                          <a:solidFill>
                            <a:srgbClr val="000000"/>
                          </a:solidFill>
                        </a:rPr>
                        <a:t>: Wait for </a:t>
                      </a:r>
                      <a:r>
                        <a:rPr lang="en-US" sz="900" b="0" dirty="0">
                          <a:solidFill>
                            <a:srgbClr val="000000"/>
                          </a:solidFill>
                        </a:rPr>
                        <a:t>one event to happen, </a:t>
                      </a:r>
                      <a:r>
                        <a:rPr lang="en-US" sz="900" dirty="0">
                          <a:solidFill>
                            <a:srgbClr val="000000"/>
                          </a:solidFill>
                        </a:rPr>
                        <a:t>then follow the path linked to that event.</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781215039"/>
                  </a:ext>
                </a:extLst>
              </a:tr>
              <a:tr h="75321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Complex gateway: </a:t>
                      </a:r>
                      <a:r>
                        <a:rPr lang="en-US" sz="900" b="0" dirty="0">
                          <a:solidFill>
                            <a:srgbClr val="000000"/>
                          </a:solidFill>
                        </a:rPr>
                        <a:t>When the standard gateways above can’t be used, you can use custom logic </a:t>
                      </a:r>
                      <a:r>
                        <a:rPr lang="en-US" sz="900" dirty="0">
                          <a:solidFill>
                            <a:srgbClr val="000000"/>
                          </a:solidFill>
                        </a:rPr>
                        <a:t>to decide what happens next.</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693267310"/>
                  </a:ext>
                </a:extLst>
              </a:tr>
            </a:tbl>
          </a:graphicData>
        </a:graphic>
      </p:graphicFrame>
      <p:pic>
        <p:nvPicPr>
          <p:cNvPr id="15" name="Picture 14">
            <a:extLst>
              <a:ext uri="{FF2B5EF4-FFF2-40B4-BE49-F238E27FC236}">
                <a16:creationId xmlns:a16="http://schemas.microsoft.com/office/drawing/2014/main" id="{081BB380-496D-9633-6DBB-0A2236E9A72F}"/>
              </a:ext>
            </a:extLst>
          </p:cNvPr>
          <p:cNvPicPr>
            <a:picLocks noChangeAspect="1"/>
          </p:cNvPicPr>
          <p:nvPr/>
        </p:nvPicPr>
        <p:blipFill>
          <a:blip r:embed="rId3"/>
          <a:stretch>
            <a:fillRect/>
          </a:stretch>
        </p:blipFill>
        <p:spPr>
          <a:xfrm>
            <a:off x="4003910" y="1367992"/>
            <a:ext cx="651933" cy="296333"/>
          </a:xfrm>
          <a:prstGeom prst="rect">
            <a:avLst/>
          </a:prstGeom>
        </p:spPr>
      </p:pic>
      <p:pic>
        <p:nvPicPr>
          <p:cNvPr id="16" name="Picture 15">
            <a:extLst>
              <a:ext uri="{FF2B5EF4-FFF2-40B4-BE49-F238E27FC236}">
                <a16:creationId xmlns:a16="http://schemas.microsoft.com/office/drawing/2014/main" id="{3AFE17E3-F096-67D0-8039-031C9D2F6A2D}"/>
              </a:ext>
            </a:extLst>
          </p:cNvPr>
          <p:cNvPicPr>
            <a:picLocks noChangeAspect="1"/>
          </p:cNvPicPr>
          <p:nvPr/>
        </p:nvPicPr>
        <p:blipFill>
          <a:blip r:embed="rId4"/>
          <a:stretch>
            <a:fillRect/>
          </a:stretch>
        </p:blipFill>
        <p:spPr>
          <a:xfrm>
            <a:off x="4166641" y="3587302"/>
            <a:ext cx="331307" cy="331307"/>
          </a:xfrm>
          <a:prstGeom prst="rect">
            <a:avLst/>
          </a:prstGeom>
        </p:spPr>
      </p:pic>
      <p:pic>
        <p:nvPicPr>
          <p:cNvPr id="17" name="Picture 16">
            <a:extLst>
              <a:ext uri="{FF2B5EF4-FFF2-40B4-BE49-F238E27FC236}">
                <a16:creationId xmlns:a16="http://schemas.microsoft.com/office/drawing/2014/main" id="{6CB5A148-2ECC-B1A5-C998-872BA3837FC3}"/>
              </a:ext>
            </a:extLst>
          </p:cNvPr>
          <p:cNvPicPr>
            <a:picLocks noChangeAspect="1"/>
          </p:cNvPicPr>
          <p:nvPr/>
        </p:nvPicPr>
        <p:blipFill>
          <a:blip r:embed="rId5"/>
          <a:stretch>
            <a:fillRect/>
          </a:stretch>
        </p:blipFill>
        <p:spPr>
          <a:xfrm>
            <a:off x="4166641" y="2088320"/>
            <a:ext cx="331307" cy="331307"/>
          </a:xfrm>
          <a:prstGeom prst="rect">
            <a:avLst/>
          </a:prstGeom>
        </p:spPr>
      </p:pic>
      <p:pic>
        <p:nvPicPr>
          <p:cNvPr id="18" name="Picture 17">
            <a:extLst>
              <a:ext uri="{FF2B5EF4-FFF2-40B4-BE49-F238E27FC236}">
                <a16:creationId xmlns:a16="http://schemas.microsoft.com/office/drawing/2014/main" id="{05DDB277-7B0F-632A-F140-1E9780FD7979}"/>
              </a:ext>
            </a:extLst>
          </p:cNvPr>
          <p:cNvPicPr>
            <a:picLocks noChangeAspect="1"/>
          </p:cNvPicPr>
          <p:nvPr/>
        </p:nvPicPr>
        <p:blipFill>
          <a:blip r:embed="rId6"/>
          <a:stretch>
            <a:fillRect/>
          </a:stretch>
        </p:blipFill>
        <p:spPr>
          <a:xfrm>
            <a:off x="4166641" y="2837811"/>
            <a:ext cx="331307" cy="331307"/>
          </a:xfrm>
          <a:prstGeom prst="rect">
            <a:avLst/>
          </a:prstGeom>
        </p:spPr>
      </p:pic>
      <p:pic>
        <p:nvPicPr>
          <p:cNvPr id="19" name="Picture 18">
            <a:extLst>
              <a:ext uri="{FF2B5EF4-FFF2-40B4-BE49-F238E27FC236}">
                <a16:creationId xmlns:a16="http://schemas.microsoft.com/office/drawing/2014/main" id="{9E1C1991-6639-B998-8130-96A7AF40E0AB}"/>
              </a:ext>
            </a:extLst>
          </p:cNvPr>
          <p:cNvPicPr>
            <a:picLocks noChangeAspect="1"/>
          </p:cNvPicPr>
          <p:nvPr/>
        </p:nvPicPr>
        <p:blipFill>
          <a:blip r:embed="rId7"/>
          <a:stretch>
            <a:fillRect/>
          </a:stretch>
        </p:blipFill>
        <p:spPr>
          <a:xfrm>
            <a:off x="4166642" y="4336792"/>
            <a:ext cx="331307" cy="331307"/>
          </a:xfrm>
          <a:prstGeom prst="rect">
            <a:avLst/>
          </a:prstGeom>
        </p:spPr>
      </p:pic>
      <p:sp>
        <p:nvSpPr>
          <p:cNvPr id="20" name="TextBox 19">
            <a:extLst>
              <a:ext uri="{FF2B5EF4-FFF2-40B4-BE49-F238E27FC236}">
                <a16:creationId xmlns:a16="http://schemas.microsoft.com/office/drawing/2014/main" id="{533161F0-52A1-5BD2-7B98-A3398AA5A294}"/>
              </a:ext>
            </a:extLst>
          </p:cNvPr>
          <p:cNvSpPr txBox="1"/>
          <p:nvPr/>
        </p:nvSpPr>
        <p:spPr>
          <a:xfrm>
            <a:off x="5547409" y="2194583"/>
            <a:ext cx="3372755" cy="2908489"/>
          </a:xfrm>
          <a:prstGeom prst="rect">
            <a:avLst/>
          </a:prstGeom>
          <a:noFill/>
        </p:spPr>
        <p:txBody>
          <a:bodyPr wrap="square" lIns="68580" tIns="68580" rIns="68580" bIns="68580" rtlCol="0">
            <a:spAutoFit/>
          </a:bodyPr>
          <a:lstStyle/>
          <a:p>
            <a:pPr marL="214313" indent="-214313">
              <a:buFont typeface="Courier New" panose="02070309020205020404" pitchFamily="49" charset="0"/>
              <a:buChar char="o"/>
              <a:defRPr/>
            </a:pPr>
            <a:r>
              <a:rPr lang="en-US" sz="1125" kern="0" dirty="0">
                <a:solidFill>
                  <a:srgbClr val="FFFFFF"/>
                </a:solidFill>
              </a:rPr>
              <a:t>You can use a gateway when the process needs to make a decision or split into multiple paths.</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For example, you might check whether payment was successful to decide what happens next. This is an exclusive gateway.</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You might also need to do two things at the same time, like preparing an invoice and updating inventory. This is a parallel gateway.</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Or you might check which delivery options the customer selected and follow one or more paths based on their choices. This would be an inclusive gateway.</a:t>
            </a:r>
          </a:p>
        </p:txBody>
      </p:sp>
      <p:pic>
        <p:nvPicPr>
          <p:cNvPr id="21" name="Graphic 827" descr="Graphic 827">
            <a:extLst>
              <a:ext uri="{FF2B5EF4-FFF2-40B4-BE49-F238E27FC236}">
                <a16:creationId xmlns:a16="http://schemas.microsoft.com/office/drawing/2014/main" id="{1254FC6C-5960-C974-4DB3-8B6E7D6B4F7F}"/>
              </a:ext>
            </a:extLst>
          </p:cNvPr>
          <p:cNvPicPr>
            <a:picLocks noChangeAspect="1"/>
          </p:cNvPicPr>
          <p:nvPr/>
        </p:nvPicPr>
        <p:blipFill>
          <a:blip r:embed="rId8"/>
          <a:stretch>
            <a:fillRect/>
          </a:stretch>
        </p:blipFill>
        <p:spPr>
          <a:xfrm>
            <a:off x="5547407" y="1338498"/>
            <a:ext cx="874407" cy="874407"/>
          </a:xfrm>
          <a:prstGeom prst="rect">
            <a:avLst/>
          </a:prstGeom>
          <a:ln w="12700">
            <a:miter lim="400000"/>
          </a:ln>
        </p:spPr>
      </p:pic>
      <p:sp>
        <p:nvSpPr>
          <p:cNvPr id="2" name="Title 1">
            <a:extLst>
              <a:ext uri="{FF2B5EF4-FFF2-40B4-BE49-F238E27FC236}">
                <a16:creationId xmlns:a16="http://schemas.microsoft.com/office/drawing/2014/main" id="{3F35FF10-C62C-88B8-C0C8-3C3689E568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6EEBF1-0EF9-2F7E-8D44-CA538916D97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9273153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6BAE-B501-9CC8-30AC-8B5A1D7A5F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A56B58-832C-3829-E6E5-0ED15A5360CC}"/>
              </a:ext>
            </a:extLst>
          </p:cNvPr>
          <p:cNvSpPr>
            <a:spLocks noGrp="1"/>
          </p:cNvSpPr>
          <p:nvPr>
            <p:ph type="title"/>
          </p:nvPr>
        </p:nvSpPr>
        <p:spPr>
          <a:xfrm>
            <a:off x="227183" y="260701"/>
            <a:ext cx="7089416" cy="576209"/>
          </a:xfrm>
        </p:spPr>
        <p:txBody>
          <a:bodyPr/>
          <a:lstStyle/>
          <a:p>
            <a:r>
              <a:rPr lang="ro-RO" dirty="0"/>
              <a:t>Gateways</a:t>
            </a:r>
            <a:endParaRPr lang="en-US" dirty="0"/>
          </a:p>
        </p:txBody>
      </p:sp>
      <p:sp>
        <p:nvSpPr>
          <p:cNvPr id="2" name="Rectangle 2">
            <a:extLst>
              <a:ext uri="{FF2B5EF4-FFF2-40B4-BE49-F238E27FC236}">
                <a16:creationId xmlns:a16="http://schemas.microsoft.com/office/drawing/2014/main" id="{07518734-FB3A-50F3-6DD2-3680D5501C55}"/>
              </a:ext>
            </a:extLst>
          </p:cNvPr>
          <p:cNvSpPr>
            <a:spLocks noChangeArrowheads="1"/>
          </p:cNvSpPr>
          <p:nvPr/>
        </p:nvSpPr>
        <p:spPr bwMode="auto">
          <a:xfrm>
            <a:off x="300465" y="584291"/>
            <a:ext cx="2085392"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4290" rIns="0" bIns="34290" numCol="1" anchor="ctr" anchorCtr="0" compatLnSpc="1">
            <a:prstTxWarp prst="textNoShape">
              <a:avLst/>
            </a:prstTxWarp>
            <a:spAutoFit/>
          </a:bodyPr>
          <a:lstStyle/>
          <a:p>
            <a:pPr eaLnBrk="0" fontAlgn="base" hangingPunct="0">
              <a:spcBef>
                <a:spcPct val="0"/>
              </a:spcBef>
              <a:spcAft>
                <a:spcPct val="0"/>
              </a:spcAft>
            </a:pPr>
            <a:r>
              <a:rPr lang="LID4096" altLang="LID4096" b="1">
                <a:solidFill>
                  <a:srgbClr val="172024"/>
                </a:solidFill>
                <a:latin typeface="Arial" panose="020B0604020202020204" pitchFamily="34" charset="0"/>
                <a:ea typeface="Times New Roman" panose="02020603050405020304" pitchFamily="18" charset="0"/>
                <a:cs typeface="Calibri"/>
              </a:rPr>
              <a:t>Exclusive Gateway</a:t>
            </a:r>
          </a:p>
        </p:txBody>
      </p:sp>
      <p:pic>
        <p:nvPicPr>
          <p:cNvPr id="4097" name="Picture 36">
            <a:extLst>
              <a:ext uri="{FF2B5EF4-FFF2-40B4-BE49-F238E27FC236}">
                <a16:creationId xmlns:a16="http://schemas.microsoft.com/office/drawing/2014/main" id="{8890139D-BBF1-AFB2-9535-A7E1B66B95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95" r="4795"/>
          <a:stretch/>
        </p:blipFill>
        <p:spPr bwMode="auto">
          <a:xfrm>
            <a:off x="286441" y="868448"/>
            <a:ext cx="3206732" cy="205639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8">
            <a:extLst>
              <a:ext uri="{FF2B5EF4-FFF2-40B4-BE49-F238E27FC236}">
                <a16:creationId xmlns:a16="http://schemas.microsoft.com/office/drawing/2014/main" id="{E6BCE694-36CE-ED48-BB5E-B1862E667C93}"/>
              </a:ext>
            </a:extLst>
          </p:cNvPr>
          <p:cNvSpPr>
            <a:spLocks noChangeArrowheads="1"/>
          </p:cNvSpPr>
          <p:nvPr/>
        </p:nvSpPr>
        <p:spPr bwMode="auto">
          <a:xfrm>
            <a:off x="4457198" y="435064"/>
            <a:ext cx="1633488" cy="62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4290" rIns="0" bIns="34290" numCol="1" anchor="ctr" anchorCtr="0" compatLnSpc="1">
            <a:prstTxWarp prst="textNoShape">
              <a:avLst/>
            </a:prstTxWarp>
            <a:spAutoFit/>
          </a:bodyPr>
          <a:lstStyle/>
          <a:p>
            <a:pPr eaLnBrk="0" fontAlgn="base" hangingPunct="0">
              <a:spcBef>
                <a:spcPct val="0"/>
              </a:spcBef>
              <a:spcAft>
                <a:spcPct val="0"/>
              </a:spcAft>
            </a:pPr>
            <a:r>
              <a:rPr lang="LID4096" altLang="LID4096" b="1">
                <a:solidFill>
                  <a:srgbClr val="172024"/>
                </a:solidFill>
                <a:latin typeface="Arial" panose="020B0604020202020204" pitchFamily="34" charset="0"/>
                <a:ea typeface="Times New Roman" panose="02020603050405020304" pitchFamily="18" charset="0"/>
                <a:cs typeface="Calibri"/>
              </a:rPr>
              <a:t>Inclusive Gateway</a:t>
            </a:r>
          </a:p>
        </p:txBody>
      </p:sp>
      <p:pic>
        <p:nvPicPr>
          <p:cNvPr id="4103" name="Picture 37">
            <a:extLst>
              <a:ext uri="{FF2B5EF4-FFF2-40B4-BE49-F238E27FC236}">
                <a16:creationId xmlns:a16="http://schemas.microsoft.com/office/drawing/2014/main" id="{3E47DFF0-DF77-F9E5-4FCE-A4BCF9A61F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33" r="4224"/>
          <a:stretch/>
        </p:blipFill>
        <p:spPr bwMode="auto">
          <a:xfrm>
            <a:off x="4457200" y="899173"/>
            <a:ext cx="3443000" cy="200719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9">
            <a:extLst>
              <a:ext uri="{FF2B5EF4-FFF2-40B4-BE49-F238E27FC236}">
                <a16:creationId xmlns:a16="http://schemas.microsoft.com/office/drawing/2014/main" id="{2C85233B-F587-95B9-3622-A91D7ECC0954}"/>
              </a:ext>
            </a:extLst>
          </p:cNvPr>
          <p:cNvSpPr>
            <a:spLocks noChangeArrowheads="1"/>
          </p:cNvSpPr>
          <p:nvPr/>
        </p:nvSpPr>
        <p:spPr bwMode="auto">
          <a:xfrm>
            <a:off x="1382097" y="4657460"/>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342900"/>
            <a:endParaRPr lang="en-US" dirty="0">
              <a:solidFill>
                <a:srgbClr val="172024"/>
              </a:solidFill>
              <a:latin typeface="Calibri"/>
              <a:ea typeface="Calibri"/>
              <a:cs typeface="Calibri"/>
            </a:endParaRPr>
          </a:p>
        </p:txBody>
      </p:sp>
      <p:sp>
        <p:nvSpPr>
          <p:cNvPr id="9" name="Rectangle 11">
            <a:extLst>
              <a:ext uri="{FF2B5EF4-FFF2-40B4-BE49-F238E27FC236}">
                <a16:creationId xmlns:a16="http://schemas.microsoft.com/office/drawing/2014/main" id="{5FE68C2E-131B-38F1-40B6-1C2F2D140922}"/>
              </a:ext>
            </a:extLst>
          </p:cNvPr>
          <p:cNvSpPr>
            <a:spLocks noChangeArrowheads="1"/>
          </p:cNvSpPr>
          <p:nvPr/>
        </p:nvSpPr>
        <p:spPr bwMode="auto">
          <a:xfrm>
            <a:off x="313477" y="2980310"/>
            <a:ext cx="230859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4290" rIns="0" bIns="34290" numCol="1" anchor="ctr" anchorCtr="0" compatLnSpc="1">
            <a:prstTxWarp prst="textNoShape">
              <a:avLst/>
            </a:prstTxWarp>
            <a:spAutoFit/>
          </a:bodyPr>
          <a:lstStyle/>
          <a:p>
            <a:pPr eaLnBrk="0" fontAlgn="base" hangingPunct="0">
              <a:spcBef>
                <a:spcPct val="0"/>
              </a:spcBef>
              <a:spcAft>
                <a:spcPct val="0"/>
              </a:spcAft>
            </a:pPr>
            <a:r>
              <a:rPr lang="LID4096" altLang="LID4096" b="1">
                <a:solidFill>
                  <a:srgbClr val="172024"/>
                </a:solidFill>
                <a:latin typeface="Arial" panose="020B0604020202020204" pitchFamily="34" charset="0"/>
                <a:ea typeface="Times New Roman" panose="02020603050405020304" pitchFamily="18" charset="0"/>
                <a:cs typeface="Calibri"/>
              </a:rPr>
              <a:t>Parallel Gateway</a:t>
            </a:r>
          </a:p>
        </p:txBody>
      </p:sp>
      <p:pic>
        <p:nvPicPr>
          <p:cNvPr id="4106" name="Picture 38">
            <a:extLst>
              <a:ext uri="{FF2B5EF4-FFF2-40B4-BE49-F238E27FC236}">
                <a16:creationId xmlns:a16="http://schemas.microsoft.com/office/drawing/2014/main" id="{8334EC48-20E1-7768-40D5-3CC992A7696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208"/>
          <a:stretch/>
        </p:blipFill>
        <p:spPr bwMode="auto">
          <a:xfrm>
            <a:off x="300464" y="3427972"/>
            <a:ext cx="3789756" cy="107920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2">
            <a:extLst>
              <a:ext uri="{FF2B5EF4-FFF2-40B4-BE49-F238E27FC236}">
                <a16:creationId xmlns:a16="http://schemas.microsoft.com/office/drawing/2014/main" id="{B4FC4AB8-AB3F-8262-9E52-B28FABB2ECDE}"/>
              </a:ext>
            </a:extLst>
          </p:cNvPr>
          <p:cNvSpPr>
            <a:spLocks noChangeArrowheads="1"/>
          </p:cNvSpPr>
          <p:nvPr/>
        </p:nvSpPr>
        <p:spPr bwMode="auto">
          <a:xfrm>
            <a:off x="1078878" y="4584662"/>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342900"/>
            <a:endParaRPr lang="en-US" dirty="0">
              <a:solidFill>
                <a:srgbClr val="172024"/>
              </a:solidFill>
              <a:latin typeface="Calibri"/>
              <a:ea typeface="Calibri"/>
              <a:cs typeface="Calibri"/>
            </a:endParaRPr>
          </a:p>
        </p:txBody>
      </p:sp>
      <p:sp>
        <p:nvSpPr>
          <p:cNvPr id="14" name="Rectangle 17">
            <a:extLst>
              <a:ext uri="{FF2B5EF4-FFF2-40B4-BE49-F238E27FC236}">
                <a16:creationId xmlns:a16="http://schemas.microsoft.com/office/drawing/2014/main" id="{D474ED93-F088-4995-BCD9-591A60F436A0}"/>
              </a:ext>
            </a:extLst>
          </p:cNvPr>
          <p:cNvSpPr>
            <a:spLocks noChangeArrowheads="1"/>
          </p:cNvSpPr>
          <p:nvPr/>
        </p:nvSpPr>
        <p:spPr bwMode="auto">
          <a:xfrm>
            <a:off x="4457198" y="2985097"/>
            <a:ext cx="267805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4290" rIns="0" bIns="34290" numCol="1" anchor="ctr" anchorCtr="0" compatLnSpc="1">
            <a:prstTxWarp prst="textNoShape">
              <a:avLst/>
            </a:prstTxWarp>
            <a:spAutoFit/>
          </a:bodyPr>
          <a:lstStyle/>
          <a:p>
            <a:pPr eaLnBrk="0" fontAlgn="base" hangingPunct="0">
              <a:spcBef>
                <a:spcPct val="0"/>
              </a:spcBef>
              <a:spcAft>
                <a:spcPct val="0"/>
              </a:spcAft>
            </a:pPr>
            <a:r>
              <a:rPr lang="LID4096" altLang="LID4096" b="1">
                <a:solidFill>
                  <a:srgbClr val="172024"/>
                </a:solidFill>
                <a:latin typeface="Arial" panose="020B0604020202020204" pitchFamily="34" charset="0"/>
                <a:ea typeface="Times New Roman" panose="02020603050405020304" pitchFamily="18" charset="0"/>
                <a:cs typeface="Calibri"/>
              </a:rPr>
              <a:t>Event Based Gateway</a:t>
            </a:r>
          </a:p>
        </p:txBody>
      </p:sp>
      <p:pic>
        <p:nvPicPr>
          <p:cNvPr id="4112" name="Picture 39">
            <a:extLst>
              <a:ext uri="{FF2B5EF4-FFF2-40B4-BE49-F238E27FC236}">
                <a16:creationId xmlns:a16="http://schemas.microsoft.com/office/drawing/2014/main" id="{E446019C-2811-395F-02F6-B0C8197527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0167" y="3294261"/>
            <a:ext cx="3878327" cy="1299682"/>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8">
            <a:extLst>
              <a:ext uri="{FF2B5EF4-FFF2-40B4-BE49-F238E27FC236}">
                <a16:creationId xmlns:a16="http://schemas.microsoft.com/office/drawing/2014/main" id="{6AB62EE7-244F-CE56-E1F4-1D727A3E86D5}"/>
              </a:ext>
            </a:extLst>
          </p:cNvPr>
          <p:cNvSpPr>
            <a:spLocks noChangeArrowheads="1"/>
          </p:cNvSpPr>
          <p:nvPr/>
        </p:nvSpPr>
        <p:spPr bwMode="auto">
          <a:xfrm>
            <a:off x="3701655" y="4448623"/>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342900"/>
            <a:endParaRPr lang="en-US" dirty="0">
              <a:solidFill>
                <a:srgbClr val="172024"/>
              </a:solidFill>
              <a:latin typeface="Calibri"/>
              <a:ea typeface="Calibri"/>
              <a:cs typeface="Calibri"/>
            </a:endParaRPr>
          </a:p>
        </p:txBody>
      </p:sp>
    </p:spTree>
    <p:extLst>
      <p:ext uri="{BB962C8B-B14F-4D97-AF65-F5344CB8AC3E}">
        <p14:creationId xmlns:p14="http://schemas.microsoft.com/office/powerpoint/2010/main" val="1338091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30E91E-9270-C9D7-91AB-98F9162CC50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B2A4AF-F5A0-7897-18AA-56F06FC407E1}"/>
              </a:ext>
            </a:extLst>
          </p:cNvPr>
          <p:cNvSpPr>
            <a:spLocks noGrp="1"/>
          </p:cNvSpPr>
          <p:nvPr>
            <p:ph type="title"/>
          </p:nvPr>
        </p:nvSpPr>
        <p:spPr/>
        <p:txBody>
          <a:bodyPr/>
          <a:lstStyle/>
          <a:p>
            <a:r>
              <a:rPr lang="en-US" dirty="0"/>
              <a:t>BPMN Example with Gateways</a:t>
            </a:r>
          </a:p>
        </p:txBody>
      </p:sp>
      <p:sp>
        <p:nvSpPr>
          <p:cNvPr id="7" name="Content Placeholder 6">
            <a:extLst>
              <a:ext uri="{FF2B5EF4-FFF2-40B4-BE49-F238E27FC236}">
                <a16:creationId xmlns:a16="http://schemas.microsoft.com/office/drawing/2014/main" id="{0FBC5625-4219-F1A5-1926-C0EC158F8563}"/>
              </a:ext>
            </a:extLst>
          </p:cNvPr>
          <p:cNvSpPr>
            <a:spLocks noGrp="1"/>
          </p:cNvSpPr>
          <p:nvPr>
            <p:ph idx="1"/>
          </p:nvPr>
        </p:nvSpPr>
        <p:spPr/>
        <p:txBody>
          <a:bodyPr/>
          <a:lstStyle/>
          <a:p>
            <a:endParaRPr lang="en-US"/>
          </a:p>
        </p:txBody>
      </p:sp>
      <p:sp>
        <p:nvSpPr>
          <p:cNvPr id="2" name="Slide Number Placeholder 1">
            <a:extLst>
              <a:ext uri="{FF2B5EF4-FFF2-40B4-BE49-F238E27FC236}">
                <a16:creationId xmlns:a16="http://schemas.microsoft.com/office/drawing/2014/main" id="{9E2CB0AD-3FCA-8BB5-B690-E3D4AFC04B72}"/>
              </a:ext>
            </a:extLst>
          </p:cNvPr>
          <p:cNvSpPr>
            <a:spLocks noGrp="1"/>
          </p:cNvSpPr>
          <p:nvPr>
            <p:ph type="sldNum" sz="quarter" idx="4294967295"/>
          </p:nvPr>
        </p:nvSpPr>
        <p:spPr>
          <a:xfrm>
            <a:off x="9026525" y="4867275"/>
            <a:ext cx="117475" cy="115888"/>
          </a:xfrm>
          <a:prstGeom prst="rect">
            <a:avLst/>
          </a:prstGeom>
        </p:spPr>
        <p:txBody>
          <a:bodyPr/>
          <a:lstStyle/>
          <a:p>
            <a:pPr defTabSz="342797" hangingPunct="0"/>
            <a:fld id="{86CB4B4D-7CA3-9044-876B-883B54F8677D}" type="slidenum">
              <a:rPr lang="en-US" kern="0" smtClean="0">
                <a:solidFill>
                  <a:srgbClr val="434648">
                    <a:hueOff val="-839560"/>
                    <a:satOff val="19935"/>
                    <a:lumOff val="-15534"/>
                  </a:srgbClr>
                </a:solidFill>
                <a:latin typeface="Arial"/>
                <a:cs typeface="Arial"/>
                <a:sym typeface="Arial"/>
              </a:rPr>
              <a:pPr defTabSz="342797" hangingPunct="0"/>
              <a:t>13</a:t>
            </a:fld>
            <a:endParaRPr lang="en-US" kern="0" dirty="0">
              <a:solidFill>
                <a:srgbClr val="434648">
                  <a:hueOff val="-839560"/>
                  <a:satOff val="19935"/>
                  <a:lumOff val="-15534"/>
                </a:srgbClr>
              </a:solidFill>
              <a:latin typeface="Arial"/>
              <a:cs typeface="Arial"/>
              <a:sym typeface="Arial"/>
            </a:endParaRPr>
          </a:p>
        </p:txBody>
      </p:sp>
      <p:pic>
        <p:nvPicPr>
          <p:cNvPr id="5" name="Picture 4">
            <a:extLst>
              <a:ext uri="{FF2B5EF4-FFF2-40B4-BE49-F238E27FC236}">
                <a16:creationId xmlns:a16="http://schemas.microsoft.com/office/drawing/2014/main" id="{FBE44D01-45F4-80B1-95F7-FBA251BF4F65}"/>
              </a:ext>
            </a:extLst>
          </p:cNvPr>
          <p:cNvPicPr>
            <a:picLocks noChangeAspect="1"/>
          </p:cNvPicPr>
          <p:nvPr/>
        </p:nvPicPr>
        <p:blipFill>
          <a:blip r:embed="rId2"/>
          <a:stretch>
            <a:fillRect/>
          </a:stretch>
        </p:blipFill>
        <p:spPr>
          <a:xfrm>
            <a:off x="0" y="944243"/>
            <a:ext cx="9144000" cy="4289334"/>
          </a:xfrm>
          <a:prstGeom prst="rect">
            <a:avLst/>
          </a:prstGeom>
        </p:spPr>
      </p:pic>
    </p:spTree>
    <p:extLst>
      <p:ext uri="{BB962C8B-B14F-4D97-AF65-F5344CB8AC3E}">
        <p14:creationId xmlns:p14="http://schemas.microsoft.com/office/powerpoint/2010/main" val="312547963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C3E96-1348-CD63-8BB2-976536FA6736}"/>
              </a:ext>
            </a:extLst>
          </p:cNvPr>
          <p:cNvSpPr>
            <a:spLocks noGrp="1"/>
          </p:cNvSpPr>
          <p:nvPr>
            <p:ph type="title"/>
          </p:nvPr>
        </p:nvSpPr>
        <p:spPr/>
        <p:txBody>
          <a:bodyPr/>
          <a:lstStyle/>
          <a:p>
            <a:r>
              <a:rPr lang="en-US" dirty="0"/>
              <a:t>Parallel Gateways</a:t>
            </a:r>
          </a:p>
        </p:txBody>
      </p:sp>
      <p:sp>
        <p:nvSpPr>
          <p:cNvPr id="3" name="Content Placeholder 2">
            <a:extLst>
              <a:ext uri="{FF2B5EF4-FFF2-40B4-BE49-F238E27FC236}">
                <a16:creationId xmlns:a16="http://schemas.microsoft.com/office/drawing/2014/main" id="{82B7C94C-3629-7D23-93B1-C513CF973FE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9A8DFCC-734C-B468-6E71-18866901E59D}"/>
              </a:ext>
            </a:extLst>
          </p:cNvPr>
          <p:cNvPicPr>
            <a:picLocks noChangeAspect="1"/>
          </p:cNvPicPr>
          <p:nvPr/>
        </p:nvPicPr>
        <p:blipFill>
          <a:blip r:embed="rId2"/>
          <a:stretch>
            <a:fillRect/>
          </a:stretch>
        </p:blipFill>
        <p:spPr>
          <a:xfrm>
            <a:off x="7815" y="1081341"/>
            <a:ext cx="9144000" cy="3656123"/>
          </a:xfrm>
          <a:prstGeom prst="rect">
            <a:avLst/>
          </a:prstGeom>
        </p:spPr>
      </p:pic>
    </p:spTree>
    <p:extLst>
      <p:ext uri="{BB962C8B-B14F-4D97-AF65-F5344CB8AC3E}">
        <p14:creationId xmlns:p14="http://schemas.microsoft.com/office/powerpoint/2010/main" val="14471351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1DEE-C85B-79A1-08DF-CE356F1C95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EC6461-7AFE-B080-F26D-707B40BCC81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F2B94BF-EB79-1B23-5D08-E54021EB1E0B}"/>
              </a:ext>
            </a:extLst>
          </p:cNvPr>
          <p:cNvPicPr>
            <a:picLocks noChangeAspect="1"/>
          </p:cNvPicPr>
          <p:nvPr/>
        </p:nvPicPr>
        <p:blipFill>
          <a:blip r:embed="rId2"/>
          <a:stretch>
            <a:fillRect/>
          </a:stretch>
        </p:blipFill>
        <p:spPr>
          <a:xfrm>
            <a:off x="469445" y="590702"/>
            <a:ext cx="7992590" cy="4210638"/>
          </a:xfrm>
          <a:prstGeom prst="rect">
            <a:avLst/>
          </a:prstGeom>
        </p:spPr>
      </p:pic>
    </p:spTree>
    <p:extLst>
      <p:ext uri="{BB962C8B-B14F-4D97-AF65-F5344CB8AC3E}">
        <p14:creationId xmlns:p14="http://schemas.microsoft.com/office/powerpoint/2010/main" val="11321607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1A984-5446-772C-255E-A13253510C9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83782BA-A926-30ED-2690-CF0D14DBD4C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4382827-38A1-62E4-9A13-680B2D8D5143}"/>
              </a:ext>
            </a:extLst>
          </p:cNvPr>
          <p:cNvPicPr>
            <a:picLocks noChangeAspect="1"/>
          </p:cNvPicPr>
          <p:nvPr/>
        </p:nvPicPr>
        <p:blipFill>
          <a:blip r:embed="rId2"/>
          <a:stretch>
            <a:fillRect/>
          </a:stretch>
        </p:blipFill>
        <p:spPr>
          <a:xfrm>
            <a:off x="2366277" y="0"/>
            <a:ext cx="6777723" cy="5143500"/>
          </a:xfrm>
          <a:prstGeom prst="rect">
            <a:avLst/>
          </a:prstGeom>
        </p:spPr>
      </p:pic>
    </p:spTree>
    <p:extLst>
      <p:ext uri="{BB962C8B-B14F-4D97-AF65-F5344CB8AC3E}">
        <p14:creationId xmlns:p14="http://schemas.microsoft.com/office/powerpoint/2010/main" val="170200301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BEDB1-9B05-560F-E057-A595AE7D4CB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140F4CC-E987-613E-9680-13FE9DD1AC1B}"/>
              </a:ext>
            </a:extLst>
          </p:cNvPr>
          <p:cNvSpPr/>
          <p:nvPr/>
        </p:nvSpPr>
        <p:spPr>
          <a:xfrm>
            <a:off x="0" y="2571749"/>
            <a:ext cx="4452937" cy="300082"/>
          </a:xfrm>
          <a:prstGeom prst="rect">
            <a:avLst/>
          </a:prstGeom>
          <a:solidFill>
            <a:srgbClr val="1E6482"/>
          </a:solidFill>
          <a:ln w="9525" cap="flat" cmpd="sng" algn="ctr">
            <a:noFill/>
            <a:prstDash val="solid"/>
          </a:ln>
          <a:effectLst/>
        </p:spPr>
        <p:txBody>
          <a:bodyPr wrap="square" lIns="68580" tIns="68580" rIns="68580" bIns="68580" rtlCol="0" anchor="ctr" anchorCtr="0">
            <a:spAutoFit/>
          </a:bodyPr>
          <a:lstStyle/>
          <a:p>
            <a:pPr>
              <a:defRPr/>
            </a:pPr>
            <a:endParaRPr lang="en-US" sz="1050" kern="0" dirty="0">
              <a:solidFill>
                <a:srgbClr val="000000"/>
              </a:solidFill>
              <a:latin typeface="Arial"/>
              <a:cs typeface="Arial"/>
            </a:endParaRPr>
          </a:p>
        </p:txBody>
      </p:sp>
      <p:sp>
        <p:nvSpPr>
          <p:cNvPr id="12" name="Title 3">
            <a:extLst>
              <a:ext uri="{FF2B5EF4-FFF2-40B4-BE49-F238E27FC236}">
                <a16:creationId xmlns:a16="http://schemas.microsoft.com/office/drawing/2014/main" id="{BE6E9743-97DA-EE08-5010-8F2A87A2555A}"/>
              </a:ext>
            </a:extLst>
          </p:cNvPr>
          <p:cNvSpPr txBox="1">
            <a:spLocks/>
          </p:cNvSpPr>
          <p:nvPr/>
        </p:nvSpPr>
        <p:spPr>
          <a:xfrm>
            <a:off x="290291" y="350476"/>
            <a:ext cx="8505631" cy="852557"/>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rPr>
              <a:t>Markers </a:t>
            </a:r>
          </a:p>
          <a:p>
            <a:pPr>
              <a:defRPr/>
            </a:pPr>
            <a:r>
              <a:rPr lang="en-US" sz="2099" b="0" dirty="0">
                <a:solidFill>
                  <a:srgbClr val="000000"/>
                </a:solidFill>
              </a:rPr>
              <a:t>Used to specify </a:t>
            </a:r>
            <a:r>
              <a:rPr lang="en-US" sz="2099" b="0" i="1" dirty="0">
                <a:solidFill>
                  <a:srgbClr val="000000"/>
                </a:solidFill>
              </a:rPr>
              <a:t>behavior</a:t>
            </a:r>
            <a:r>
              <a:rPr lang="en-US" sz="2099" b="0" dirty="0">
                <a:solidFill>
                  <a:srgbClr val="000000"/>
                </a:solidFill>
              </a:rPr>
              <a:t> of objects</a:t>
            </a:r>
          </a:p>
        </p:txBody>
      </p:sp>
      <p:graphicFrame>
        <p:nvGraphicFramePr>
          <p:cNvPr id="13" name="Table 12">
            <a:extLst>
              <a:ext uri="{FF2B5EF4-FFF2-40B4-BE49-F238E27FC236}">
                <a16:creationId xmlns:a16="http://schemas.microsoft.com/office/drawing/2014/main" id="{77C2167C-BAA8-8D37-6D7D-CE3966A688B0}"/>
              </a:ext>
            </a:extLst>
          </p:cNvPr>
          <p:cNvGraphicFramePr>
            <a:graphicFrameLocks noGrp="1"/>
          </p:cNvGraphicFramePr>
          <p:nvPr/>
        </p:nvGraphicFramePr>
        <p:xfrm>
          <a:off x="4876154" y="1216364"/>
          <a:ext cx="3919768" cy="2720130"/>
        </p:xfrm>
        <a:graphic>
          <a:graphicData uri="http://schemas.openxmlformats.org/drawingml/2006/table">
            <a:tbl>
              <a:tblPr firstRow="1" bandRow="1"/>
              <a:tblGrid>
                <a:gridCol w="1959884">
                  <a:extLst>
                    <a:ext uri="{9D8B030D-6E8A-4147-A177-3AD203B41FA5}">
                      <a16:colId xmlns:a16="http://schemas.microsoft.com/office/drawing/2014/main" val="132893286"/>
                    </a:ext>
                  </a:extLst>
                </a:gridCol>
                <a:gridCol w="1959884">
                  <a:extLst>
                    <a:ext uri="{9D8B030D-6E8A-4147-A177-3AD203B41FA5}">
                      <a16:colId xmlns:a16="http://schemas.microsoft.com/office/drawing/2014/main" val="3873278578"/>
                    </a:ext>
                  </a:extLst>
                </a:gridCol>
              </a:tblGrid>
              <a:tr h="1224059">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Multi instance parallel marker: </a:t>
                      </a:r>
                      <a:r>
                        <a:rPr lang="en-US" sz="900" b="0" dirty="0">
                          <a:solidFill>
                            <a:srgbClr val="000000"/>
                          </a:solidFill>
                        </a:rPr>
                        <a:t>Runs the task multiple times in parallel.</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28111926"/>
                  </a:ext>
                </a:extLst>
              </a:tr>
              <a:tr h="149607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Multi-instance sequential marker</a:t>
                      </a:r>
                      <a:r>
                        <a:rPr lang="en-US" sz="900" dirty="0">
                          <a:solidFill>
                            <a:srgbClr val="000000"/>
                          </a:solidFill>
                        </a:rPr>
                        <a:t>: Runs the task multiple times in sequence.</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77245496"/>
                  </a:ext>
                </a:extLst>
              </a:tr>
            </a:tbl>
          </a:graphicData>
        </a:graphic>
      </p:graphicFrame>
      <p:pic>
        <p:nvPicPr>
          <p:cNvPr id="14" name="Picture 13">
            <a:extLst>
              <a:ext uri="{FF2B5EF4-FFF2-40B4-BE49-F238E27FC236}">
                <a16:creationId xmlns:a16="http://schemas.microsoft.com/office/drawing/2014/main" id="{8F9650FF-BF95-34BE-5B2D-C49D997EBF0C}"/>
              </a:ext>
            </a:extLst>
          </p:cNvPr>
          <p:cNvPicPr>
            <a:picLocks noChangeAspect="1"/>
          </p:cNvPicPr>
          <p:nvPr/>
        </p:nvPicPr>
        <p:blipFill>
          <a:blip r:embed="rId2"/>
          <a:stretch>
            <a:fillRect/>
          </a:stretch>
        </p:blipFill>
        <p:spPr>
          <a:xfrm>
            <a:off x="7462581" y="1561922"/>
            <a:ext cx="527680" cy="527680"/>
          </a:xfrm>
          <a:prstGeom prst="rect">
            <a:avLst/>
          </a:prstGeom>
        </p:spPr>
      </p:pic>
      <p:pic>
        <p:nvPicPr>
          <p:cNvPr id="15" name="Picture 14">
            <a:extLst>
              <a:ext uri="{FF2B5EF4-FFF2-40B4-BE49-F238E27FC236}">
                <a16:creationId xmlns:a16="http://schemas.microsoft.com/office/drawing/2014/main" id="{B39CEACE-7B69-7E4F-2B60-773BA9AE9B2B}"/>
              </a:ext>
            </a:extLst>
          </p:cNvPr>
          <p:cNvPicPr>
            <a:picLocks noChangeAspect="1"/>
          </p:cNvPicPr>
          <p:nvPr/>
        </p:nvPicPr>
        <p:blipFill>
          <a:blip r:embed="rId3"/>
          <a:stretch>
            <a:fillRect/>
          </a:stretch>
        </p:blipFill>
        <p:spPr>
          <a:xfrm>
            <a:off x="7462581" y="2898910"/>
            <a:ext cx="527680" cy="527680"/>
          </a:xfrm>
          <a:prstGeom prst="rect">
            <a:avLst/>
          </a:prstGeom>
        </p:spPr>
      </p:pic>
      <p:sp>
        <p:nvSpPr>
          <p:cNvPr id="18" name="TextBox 17">
            <a:extLst>
              <a:ext uri="{FF2B5EF4-FFF2-40B4-BE49-F238E27FC236}">
                <a16:creationId xmlns:a16="http://schemas.microsoft.com/office/drawing/2014/main" id="{5B607765-977F-FB0D-114A-0D055341F477}"/>
              </a:ext>
            </a:extLst>
          </p:cNvPr>
          <p:cNvSpPr txBox="1"/>
          <p:nvPr/>
        </p:nvSpPr>
        <p:spPr>
          <a:xfrm>
            <a:off x="147719" y="2187055"/>
            <a:ext cx="4087370" cy="1650452"/>
          </a:xfrm>
          <a:prstGeom prst="rect">
            <a:avLst/>
          </a:prstGeom>
          <a:noFill/>
        </p:spPr>
        <p:txBody>
          <a:bodyPr wrap="square">
            <a:spAutoFit/>
          </a:bodyPr>
          <a:lstStyle/>
          <a:p>
            <a:pPr marL="214313" indent="-214313">
              <a:buFont typeface="Courier New" panose="02070309020205020404" pitchFamily="49" charset="0"/>
              <a:buChar char="o"/>
              <a:defRPr/>
            </a:pPr>
            <a:r>
              <a:rPr lang="en-US" sz="1125" kern="0" dirty="0">
                <a:solidFill>
                  <a:srgbClr val="FFFFFF"/>
                </a:solidFill>
              </a:rPr>
              <a:t>You can use markers when you want to show how an activity behaves.</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For example, if a robot needs to send the same email to 100 customers, you can use a multi-instance sequential marker to show that the task repeats for each customer.</a:t>
            </a:r>
          </a:p>
          <a:p>
            <a:pPr>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Markers help clarify </a:t>
            </a:r>
            <a:r>
              <a:rPr lang="en-US" sz="1125" i="1" kern="0" dirty="0">
                <a:solidFill>
                  <a:srgbClr val="FFFFFF"/>
                </a:solidFill>
              </a:rPr>
              <a:t>how</a:t>
            </a:r>
            <a:r>
              <a:rPr lang="en-US" sz="1125" kern="0" dirty="0">
                <a:solidFill>
                  <a:srgbClr val="FFFFFF"/>
                </a:solidFill>
              </a:rPr>
              <a:t> the work happens, not just </a:t>
            </a:r>
            <a:r>
              <a:rPr lang="en-US" sz="1125" i="1" kern="0" dirty="0">
                <a:solidFill>
                  <a:srgbClr val="FFFFFF"/>
                </a:solidFill>
              </a:rPr>
              <a:t>what</a:t>
            </a:r>
            <a:r>
              <a:rPr lang="en-US" sz="1125" kern="0" dirty="0">
                <a:solidFill>
                  <a:srgbClr val="FFFFFF"/>
                </a:solidFill>
              </a:rPr>
              <a:t> the work is.</a:t>
            </a:r>
          </a:p>
        </p:txBody>
      </p:sp>
      <p:pic>
        <p:nvPicPr>
          <p:cNvPr id="19" name="Graphic 827" descr="Graphic 827">
            <a:extLst>
              <a:ext uri="{FF2B5EF4-FFF2-40B4-BE49-F238E27FC236}">
                <a16:creationId xmlns:a16="http://schemas.microsoft.com/office/drawing/2014/main" id="{D759CF22-472C-F210-741A-8C8FD3EF649F}"/>
              </a:ext>
            </a:extLst>
          </p:cNvPr>
          <p:cNvPicPr>
            <a:picLocks noChangeAspect="1"/>
          </p:cNvPicPr>
          <p:nvPr/>
        </p:nvPicPr>
        <p:blipFill>
          <a:blip r:embed="rId4"/>
          <a:stretch>
            <a:fillRect/>
          </a:stretch>
        </p:blipFill>
        <p:spPr>
          <a:xfrm>
            <a:off x="286261" y="1312647"/>
            <a:ext cx="874407" cy="874407"/>
          </a:xfrm>
          <a:prstGeom prst="rect">
            <a:avLst/>
          </a:prstGeom>
          <a:ln w="12700">
            <a:miter lim="400000"/>
          </a:ln>
        </p:spPr>
      </p:pic>
      <p:sp>
        <p:nvSpPr>
          <p:cNvPr id="2" name="Title 1">
            <a:extLst>
              <a:ext uri="{FF2B5EF4-FFF2-40B4-BE49-F238E27FC236}">
                <a16:creationId xmlns:a16="http://schemas.microsoft.com/office/drawing/2014/main" id="{8F0E4E73-0789-F832-3317-C3867167CD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91187A-DC9C-8F93-73E7-621E059BF5F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539400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75BDC-C2D2-C162-2865-19D6262399F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56BFE9B-21B3-CADF-4029-5C9A54542C43}"/>
              </a:ext>
            </a:extLst>
          </p:cNvPr>
          <p:cNvSpPr/>
          <p:nvPr/>
        </p:nvSpPr>
        <p:spPr>
          <a:xfrm>
            <a:off x="4382146" y="2808392"/>
            <a:ext cx="4761854" cy="300082"/>
          </a:xfrm>
          <a:prstGeom prst="rect">
            <a:avLst/>
          </a:prstGeom>
          <a:solidFill>
            <a:srgbClr val="1E6482"/>
          </a:solidFill>
          <a:ln w="9525" cap="flat" cmpd="sng" algn="ctr">
            <a:noFill/>
            <a:prstDash val="solid"/>
          </a:ln>
          <a:effectLst/>
        </p:spPr>
        <p:txBody>
          <a:bodyPr wrap="square" lIns="68580" tIns="68580" rIns="68580" bIns="68580" rtlCol="0" anchor="ctr" anchorCtr="0">
            <a:spAutoFit/>
          </a:bodyPr>
          <a:lstStyle/>
          <a:p>
            <a:pPr>
              <a:defRPr/>
            </a:pPr>
            <a:endParaRPr lang="en-US" sz="1050" kern="0" dirty="0">
              <a:solidFill>
                <a:srgbClr val="000000"/>
              </a:solidFill>
              <a:latin typeface="Arial"/>
              <a:cs typeface="Arial"/>
            </a:endParaRPr>
          </a:p>
        </p:txBody>
      </p:sp>
      <p:sp>
        <p:nvSpPr>
          <p:cNvPr id="11" name="Title 3">
            <a:extLst>
              <a:ext uri="{FF2B5EF4-FFF2-40B4-BE49-F238E27FC236}">
                <a16:creationId xmlns:a16="http://schemas.microsoft.com/office/drawing/2014/main" id="{7D8E8DA9-8E20-C676-C999-2498C6B53C5B}"/>
              </a:ext>
            </a:extLst>
          </p:cNvPr>
          <p:cNvSpPr txBox="1">
            <a:spLocks/>
          </p:cNvSpPr>
          <p:nvPr/>
        </p:nvSpPr>
        <p:spPr>
          <a:xfrm>
            <a:off x="290291" y="268293"/>
            <a:ext cx="4952832" cy="517522"/>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rPr>
              <a:t>Flows</a:t>
            </a:r>
            <a:br>
              <a:rPr lang="en-US" sz="2099" dirty="0">
                <a:solidFill>
                  <a:srgbClr val="000000"/>
                </a:solidFill>
              </a:rPr>
            </a:br>
            <a:r>
              <a:rPr lang="en-US" sz="2099" b="0" dirty="0">
                <a:solidFill>
                  <a:srgbClr val="000000"/>
                </a:solidFill>
              </a:rPr>
              <a:t>Keep processes </a:t>
            </a:r>
            <a:r>
              <a:rPr lang="en-US" sz="2099" b="0" i="1" dirty="0">
                <a:solidFill>
                  <a:srgbClr val="000000"/>
                </a:solidFill>
              </a:rPr>
              <a:t>connected</a:t>
            </a:r>
          </a:p>
        </p:txBody>
      </p:sp>
      <p:graphicFrame>
        <p:nvGraphicFramePr>
          <p:cNvPr id="12" name="Table 11">
            <a:extLst>
              <a:ext uri="{FF2B5EF4-FFF2-40B4-BE49-F238E27FC236}">
                <a16:creationId xmlns:a16="http://schemas.microsoft.com/office/drawing/2014/main" id="{DA6F1061-DF93-115A-9159-A93CEEDC858C}"/>
              </a:ext>
            </a:extLst>
          </p:cNvPr>
          <p:cNvGraphicFramePr>
            <a:graphicFrameLocks noGrp="1"/>
          </p:cNvGraphicFramePr>
          <p:nvPr/>
        </p:nvGraphicFramePr>
        <p:xfrm>
          <a:off x="290291" y="1248145"/>
          <a:ext cx="3853614" cy="3072827"/>
        </p:xfrm>
        <a:graphic>
          <a:graphicData uri="http://schemas.openxmlformats.org/drawingml/2006/table">
            <a:tbl>
              <a:tblPr firstRow="1" bandRow="1"/>
              <a:tblGrid>
                <a:gridCol w="1926807">
                  <a:extLst>
                    <a:ext uri="{9D8B030D-6E8A-4147-A177-3AD203B41FA5}">
                      <a16:colId xmlns:a16="http://schemas.microsoft.com/office/drawing/2014/main" val="132893286"/>
                    </a:ext>
                  </a:extLst>
                </a:gridCol>
                <a:gridCol w="1926807">
                  <a:extLst>
                    <a:ext uri="{9D8B030D-6E8A-4147-A177-3AD203B41FA5}">
                      <a16:colId xmlns:a16="http://schemas.microsoft.com/office/drawing/2014/main" val="3873278578"/>
                    </a:ext>
                  </a:extLst>
                </a:gridCol>
              </a:tblGrid>
              <a:tr h="892111">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Sequence flows: </a:t>
                      </a:r>
                      <a:r>
                        <a:rPr lang="en-US" sz="900" b="0" dirty="0">
                          <a:solidFill>
                            <a:srgbClr val="000000"/>
                          </a:solidFill>
                        </a:rPr>
                        <a:t>Shows the order of steps in a process.</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28111926"/>
                  </a:ext>
                </a:extLst>
              </a:tr>
              <a:tr h="109035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Message flows: </a:t>
                      </a:r>
                      <a:r>
                        <a:rPr lang="en-US" sz="900" dirty="0">
                          <a:solidFill>
                            <a:srgbClr val="000000"/>
                          </a:solidFill>
                        </a:rPr>
                        <a:t>Shows </a:t>
                      </a:r>
                      <a:r>
                        <a:rPr lang="en-US" sz="900" b="0" dirty="0">
                          <a:solidFill>
                            <a:srgbClr val="000000"/>
                          </a:solidFill>
                        </a:rPr>
                        <a:t>communication</a:t>
                      </a:r>
                      <a:r>
                        <a:rPr lang="en-US" sz="900" dirty="0">
                          <a:solidFill>
                            <a:srgbClr val="000000"/>
                          </a:solidFill>
                        </a:rPr>
                        <a:t> between different people, systems, or roles.</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77245496"/>
                  </a:ext>
                </a:extLst>
              </a:tr>
              <a:tr h="1090358">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Association: </a:t>
                      </a:r>
                      <a:r>
                        <a:rPr lang="en-US" sz="900" dirty="0">
                          <a:solidFill>
                            <a:srgbClr val="000000"/>
                          </a:solidFill>
                        </a:rPr>
                        <a:t>Links extra information, like </a:t>
                      </a:r>
                      <a:r>
                        <a:rPr lang="en-US" sz="900" b="0" dirty="0">
                          <a:solidFill>
                            <a:srgbClr val="000000"/>
                          </a:solidFill>
                        </a:rPr>
                        <a:t>data or notes</a:t>
                      </a:r>
                      <a:r>
                        <a:rPr lang="en-US" sz="900" dirty="0">
                          <a:solidFill>
                            <a:srgbClr val="000000"/>
                          </a:solidFill>
                        </a:rPr>
                        <a:t>, to a task or event.</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535353006"/>
                  </a:ext>
                </a:extLst>
              </a:tr>
            </a:tbl>
          </a:graphicData>
        </a:graphic>
      </p:graphicFrame>
      <p:pic>
        <p:nvPicPr>
          <p:cNvPr id="13" name="Picture 12">
            <a:extLst>
              <a:ext uri="{FF2B5EF4-FFF2-40B4-BE49-F238E27FC236}">
                <a16:creationId xmlns:a16="http://schemas.microsoft.com/office/drawing/2014/main" id="{2E75B6F0-61C7-2FC4-2632-CA96CB75A016}"/>
              </a:ext>
            </a:extLst>
          </p:cNvPr>
          <p:cNvPicPr>
            <a:picLocks noChangeAspect="1"/>
          </p:cNvPicPr>
          <p:nvPr/>
        </p:nvPicPr>
        <p:blipFill>
          <a:blip r:embed="rId2"/>
          <a:stretch>
            <a:fillRect/>
          </a:stretch>
        </p:blipFill>
        <p:spPr>
          <a:xfrm>
            <a:off x="2950547" y="1476879"/>
            <a:ext cx="468087" cy="468087"/>
          </a:xfrm>
          <a:prstGeom prst="rect">
            <a:avLst/>
          </a:prstGeom>
        </p:spPr>
      </p:pic>
      <p:pic>
        <p:nvPicPr>
          <p:cNvPr id="14" name="Picture 13">
            <a:extLst>
              <a:ext uri="{FF2B5EF4-FFF2-40B4-BE49-F238E27FC236}">
                <a16:creationId xmlns:a16="http://schemas.microsoft.com/office/drawing/2014/main" id="{FFA22898-9A0B-D832-4D3B-425B45533300}"/>
              </a:ext>
            </a:extLst>
          </p:cNvPr>
          <p:cNvPicPr>
            <a:picLocks noChangeAspect="1"/>
          </p:cNvPicPr>
          <p:nvPr/>
        </p:nvPicPr>
        <p:blipFill>
          <a:blip r:embed="rId3"/>
          <a:stretch>
            <a:fillRect/>
          </a:stretch>
        </p:blipFill>
        <p:spPr>
          <a:xfrm>
            <a:off x="2984752" y="2512879"/>
            <a:ext cx="399677" cy="399677"/>
          </a:xfrm>
          <a:prstGeom prst="rect">
            <a:avLst/>
          </a:prstGeom>
        </p:spPr>
      </p:pic>
      <p:pic>
        <p:nvPicPr>
          <p:cNvPr id="15" name="Picture 14">
            <a:extLst>
              <a:ext uri="{FF2B5EF4-FFF2-40B4-BE49-F238E27FC236}">
                <a16:creationId xmlns:a16="http://schemas.microsoft.com/office/drawing/2014/main" id="{A15F1F3E-0621-9A94-4AA4-E1CAD19C56D6}"/>
              </a:ext>
            </a:extLst>
          </p:cNvPr>
          <p:cNvPicPr>
            <a:picLocks noChangeAspect="1"/>
          </p:cNvPicPr>
          <p:nvPr/>
        </p:nvPicPr>
        <p:blipFill>
          <a:blip r:embed="rId3"/>
          <a:stretch>
            <a:fillRect/>
          </a:stretch>
        </p:blipFill>
        <p:spPr>
          <a:xfrm>
            <a:off x="2984752" y="3534718"/>
            <a:ext cx="399677" cy="399677"/>
          </a:xfrm>
          <a:prstGeom prst="rect">
            <a:avLst/>
          </a:prstGeom>
        </p:spPr>
      </p:pic>
      <p:sp>
        <p:nvSpPr>
          <p:cNvPr id="16" name="TextBox 15">
            <a:extLst>
              <a:ext uri="{FF2B5EF4-FFF2-40B4-BE49-F238E27FC236}">
                <a16:creationId xmlns:a16="http://schemas.microsoft.com/office/drawing/2014/main" id="{DFFBD5F0-BFD5-3A85-4CF3-B3B055EA2E3D}"/>
              </a:ext>
            </a:extLst>
          </p:cNvPr>
          <p:cNvSpPr txBox="1"/>
          <p:nvPr/>
        </p:nvSpPr>
        <p:spPr>
          <a:xfrm>
            <a:off x="4520278" y="2147081"/>
            <a:ext cx="4567766" cy="2516073"/>
          </a:xfrm>
          <a:prstGeom prst="rect">
            <a:avLst/>
          </a:prstGeom>
          <a:noFill/>
        </p:spPr>
        <p:txBody>
          <a:bodyPr wrap="square">
            <a:spAutoFit/>
          </a:bodyPr>
          <a:lstStyle/>
          <a:p>
            <a:pPr marL="214313" indent="-214313">
              <a:buFont typeface="Courier New" panose="02070309020205020404" pitchFamily="49" charset="0"/>
              <a:buChar char="o"/>
              <a:defRPr/>
            </a:pPr>
            <a:r>
              <a:rPr lang="en-US" sz="1125" kern="0" dirty="0">
                <a:solidFill>
                  <a:srgbClr val="FFFFFF"/>
                </a:solidFill>
              </a:rPr>
              <a:t>Use flows to show how different parts of your process connect and move forward.</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For example, if a customer places an order, and then the system checks inventory, you would use a sequence flow to connect those two steps.</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If the system sends a confirmation message to the customer, you would use a message flow to show that communication between the system and the customer.</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And if you want to link a note or a document to a task, like attaching shipping instructions to “Pack the order,” you’d use an association.</a:t>
            </a:r>
          </a:p>
        </p:txBody>
      </p:sp>
      <p:pic>
        <p:nvPicPr>
          <p:cNvPr id="17" name="Graphic 827" descr="Graphic 827">
            <a:extLst>
              <a:ext uri="{FF2B5EF4-FFF2-40B4-BE49-F238E27FC236}">
                <a16:creationId xmlns:a16="http://schemas.microsoft.com/office/drawing/2014/main" id="{7D944D34-49AD-6EA5-0C7E-7FC55FE5CE77}"/>
              </a:ext>
            </a:extLst>
          </p:cNvPr>
          <p:cNvPicPr>
            <a:picLocks noChangeAspect="1"/>
          </p:cNvPicPr>
          <p:nvPr/>
        </p:nvPicPr>
        <p:blipFill>
          <a:blip r:embed="rId4"/>
          <a:stretch>
            <a:fillRect/>
          </a:stretch>
        </p:blipFill>
        <p:spPr>
          <a:xfrm>
            <a:off x="4520278" y="1307903"/>
            <a:ext cx="874407" cy="874407"/>
          </a:xfrm>
          <a:prstGeom prst="rect">
            <a:avLst/>
          </a:prstGeom>
          <a:ln w="12700">
            <a:miter lim="400000"/>
          </a:ln>
        </p:spPr>
      </p:pic>
      <p:sp>
        <p:nvSpPr>
          <p:cNvPr id="2" name="Title 1">
            <a:extLst>
              <a:ext uri="{FF2B5EF4-FFF2-40B4-BE49-F238E27FC236}">
                <a16:creationId xmlns:a16="http://schemas.microsoft.com/office/drawing/2014/main" id="{C7467C40-2CCD-75DD-3A15-FF16CDF94E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E21298-60E0-BAC9-45C9-47F61BCFFE7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2728235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4A3B-49E2-2E22-604B-88BC9F01A26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7BA4C97-6FD7-3BDB-C81A-18BD3D6E674E}"/>
              </a:ext>
            </a:extLst>
          </p:cNvPr>
          <p:cNvSpPr/>
          <p:nvPr/>
        </p:nvSpPr>
        <p:spPr>
          <a:xfrm>
            <a:off x="4763" y="2433323"/>
            <a:ext cx="4567238" cy="300082"/>
          </a:xfrm>
          <a:prstGeom prst="rect">
            <a:avLst/>
          </a:prstGeom>
          <a:solidFill>
            <a:srgbClr val="1E6482"/>
          </a:solidFill>
          <a:ln w="9525" cap="flat" cmpd="sng" algn="ctr">
            <a:noFill/>
            <a:prstDash val="solid"/>
          </a:ln>
          <a:effectLst/>
        </p:spPr>
        <p:txBody>
          <a:bodyPr wrap="square" lIns="68580" tIns="68580" rIns="68580" bIns="68580" rtlCol="0" anchor="ctr" anchorCtr="0">
            <a:spAutoFit/>
          </a:bodyPr>
          <a:lstStyle/>
          <a:p>
            <a:pPr>
              <a:defRPr/>
            </a:pPr>
            <a:endParaRPr lang="en-US" sz="1050" kern="0" dirty="0">
              <a:solidFill>
                <a:srgbClr val="000000"/>
              </a:solidFill>
              <a:latin typeface="Arial"/>
              <a:cs typeface="Arial"/>
            </a:endParaRPr>
          </a:p>
        </p:txBody>
      </p:sp>
      <p:sp>
        <p:nvSpPr>
          <p:cNvPr id="10" name="Title 3">
            <a:extLst>
              <a:ext uri="{FF2B5EF4-FFF2-40B4-BE49-F238E27FC236}">
                <a16:creationId xmlns:a16="http://schemas.microsoft.com/office/drawing/2014/main" id="{25EEE696-D25E-7259-1240-5AC08D034CFA}"/>
              </a:ext>
            </a:extLst>
          </p:cNvPr>
          <p:cNvSpPr txBox="1">
            <a:spLocks/>
          </p:cNvSpPr>
          <p:nvPr/>
        </p:nvSpPr>
        <p:spPr>
          <a:xfrm>
            <a:off x="290291" y="350476"/>
            <a:ext cx="8505631" cy="852557"/>
          </a:xfrm>
          <a:prstGeom prst="rect">
            <a:avLst/>
          </a:prstGeom>
        </p:spPr>
        <p:txBody>
          <a:bodyPr vert="horz" lIns="0" tIns="0" rIns="0" bIns="0" rtlCol="0" anchor="t" anchorCtr="0">
            <a:noAutofit/>
          </a:bodyPr>
          <a:lstStyle>
            <a:lvl1pPr algn="l" defTabSz="456834" rtl="0" eaLnBrk="1" latinLnBrk="0" hangingPunct="1">
              <a:lnSpc>
                <a:spcPct val="85000"/>
              </a:lnSpc>
              <a:spcBef>
                <a:spcPct val="0"/>
              </a:spcBef>
              <a:buNone/>
              <a:tabLst>
                <a:tab pos="2225481" algn="l"/>
              </a:tabLst>
              <a:defRPr sz="2798" b="1" i="0" kern="1200" spc="-50" baseline="0">
                <a:solidFill>
                  <a:schemeClr val="tx1"/>
                </a:solidFill>
                <a:latin typeface="Arial" panose="020B0604020202020204" pitchFamily="34" charset="0"/>
                <a:ea typeface="+mj-ea"/>
                <a:cs typeface="Arial"/>
              </a:defRPr>
            </a:lvl1pPr>
          </a:lstStyle>
          <a:p>
            <a:pPr>
              <a:defRPr/>
            </a:pPr>
            <a:r>
              <a:rPr lang="en-US" sz="2099" dirty="0">
                <a:solidFill>
                  <a:srgbClr val="000000"/>
                </a:solidFill>
              </a:rPr>
              <a:t>Data</a:t>
            </a:r>
          </a:p>
          <a:p>
            <a:pPr>
              <a:defRPr/>
            </a:pPr>
            <a:r>
              <a:rPr lang="en-US" sz="2099" b="0" dirty="0">
                <a:solidFill>
                  <a:srgbClr val="000000"/>
                </a:solidFill>
              </a:rPr>
              <a:t>Shows the </a:t>
            </a:r>
            <a:r>
              <a:rPr lang="en-US" sz="2099" b="0" i="1" dirty="0">
                <a:solidFill>
                  <a:srgbClr val="000000"/>
                </a:solidFill>
              </a:rPr>
              <a:t>information used or produced </a:t>
            </a:r>
            <a:r>
              <a:rPr lang="en-US" sz="2099" b="0" dirty="0">
                <a:solidFill>
                  <a:srgbClr val="000000"/>
                </a:solidFill>
              </a:rPr>
              <a:t>during a process.</a:t>
            </a:r>
          </a:p>
        </p:txBody>
      </p:sp>
      <p:sp>
        <p:nvSpPr>
          <p:cNvPr id="11" name="TextBox 10">
            <a:extLst>
              <a:ext uri="{FF2B5EF4-FFF2-40B4-BE49-F238E27FC236}">
                <a16:creationId xmlns:a16="http://schemas.microsoft.com/office/drawing/2014/main" id="{9571B1A6-6396-C910-10DF-465F3B0CCB41}"/>
              </a:ext>
            </a:extLst>
          </p:cNvPr>
          <p:cNvSpPr txBox="1"/>
          <p:nvPr/>
        </p:nvSpPr>
        <p:spPr>
          <a:xfrm>
            <a:off x="161435" y="2329814"/>
            <a:ext cx="4087370" cy="1304203"/>
          </a:xfrm>
          <a:prstGeom prst="rect">
            <a:avLst/>
          </a:prstGeom>
          <a:noFill/>
        </p:spPr>
        <p:txBody>
          <a:bodyPr wrap="square">
            <a:spAutoFit/>
          </a:bodyPr>
          <a:lstStyle/>
          <a:p>
            <a:pPr marL="214313" indent="-214313">
              <a:buFont typeface="Courier New" panose="02070309020205020404" pitchFamily="49" charset="0"/>
              <a:buChar char="o"/>
              <a:defRPr/>
            </a:pPr>
            <a:r>
              <a:rPr lang="en-US" sz="1125" kern="0" dirty="0">
                <a:solidFill>
                  <a:srgbClr val="FFFFFF"/>
                </a:solidFill>
              </a:rPr>
              <a:t>In a hiring process, when a candidate applies, the system creates a “Job Application” data object. This application is then reviewed in the next step.</a:t>
            </a:r>
          </a:p>
          <a:p>
            <a:pPr marL="214313" indent="-214313">
              <a:buFont typeface="Courier New" panose="02070309020205020404" pitchFamily="49" charset="0"/>
              <a:buChar char="o"/>
              <a:defRPr/>
            </a:pPr>
            <a:endParaRPr lang="en-US" sz="1125" kern="0" dirty="0">
              <a:solidFill>
                <a:srgbClr val="FFFFFF"/>
              </a:solidFill>
            </a:endParaRPr>
          </a:p>
          <a:p>
            <a:pPr marL="214313" indent="-214313">
              <a:buFont typeface="Courier New" panose="02070309020205020404" pitchFamily="49" charset="0"/>
              <a:buChar char="o"/>
              <a:defRPr/>
            </a:pPr>
            <a:r>
              <a:rPr lang="en-US" sz="1125" kern="0" dirty="0">
                <a:solidFill>
                  <a:srgbClr val="FFFFFF"/>
                </a:solidFill>
              </a:rPr>
              <a:t>All past job applications are saved in a “Candidate Database” data store. This lets the HR team search and reuse data across different hiring processes.</a:t>
            </a:r>
          </a:p>
        </p:txBody>
      </p:sp>
      <p:pic>
        <p:nvPicPr>
          <p:cNvPr id="12" name="Graphic 827" descr="Graphic 827">
            <a:extLst>
              <a:ext uri="{FF2B5EF4-FFF2-40B4-BE49-F238E27FC236}">
                <a16:creationId xmlns:a16="http://schemas.microsoft.com/office/drawing/2014/main" id="{EB063F0F-C880-06CC-50A5-14D94A687D89}"/>
              </a:ext>
            </a:extLst>
          </p:cNvPr>
          <p:cNvPicPr>
            <a:picLocks noChangeAspect="1"/>
          </p:cNvPicPr>
          <p:nvPr/>
        </p:nvPicPr>
        <p:blipFill>
          <a:blip r:embed="rId2"/>
          <a:stretch>
            <a:fillRect/>
          </a:stretch>
        </p:blipFill>
        <p:spPr>
          <a:xfrm>
            <a:off x="299977" y="1455407"/>
            <a:ext cx="874407" cy="874407"/>
          </a:xfrm>
          <a:prstGeom prst="rect">
            <a:avLst/>
          </a:prstGeom>
          <a:ln w="12700">
            <a:miter lim="400000"/>
          </a:ln>
        </p:spPr>
      </p:pic>
      <p:graphicFrame>
        <p:nvGraphicFramePr>
          <p:cNvPr id="13" name="Table 12">
            <a:extLst>
              <a:ext uri="{FF2B5EF4-FFF2-40B4-BE49-F238E27FC236}">
                <a16:creationId xmlns:a16="http://schemas.microsoft.com/office/drawing/2014/main" id="{4ABEBAD0-7207-1A9D-09C3-9EE3E1E4D31A}"/>
              </a:ext>
            </a:extLst>
          </p:cNvPr>
          <p:cNvGraphicFramePr>
            <a:graphicFrameLocks noGrp="1"/>
          </p:cNvGraphicFramePr>
          <p:nvPr/>
        </p:nvGraphicFramePr>
        <p:xfrm>
          <a:off x="5175694" y="1214853"/>
          <a:ext cx="3168398" cy="2694208"/>
        </p:xfrm>
        <a:graphic>
          <a:graphicData uri="http://schemas.openxmlformats.org/drawingml/2006/table">
            <a:tbl>
              <a:tblPr firstRow="1" bandRow="1"/>
              <a:tblGrid>
                <a:gridCol w="1584199">
                  <a:extLst>
                    <a:ext uri="{9D8B030D-6E8A-4147-A177-3AD203B41FA5}">
                      <a16:colId xmlns:a16="http://schemas.microsoft.com/office/drawing/2014/main" val="132893286"/>
                    </a:ext>
                  </a:extLst>
                </a:gridCol>
                <a:gridCol w="1584199">
                  <a:extLst>
                    <a:ext uri="{9D8B030D-6E8A-4147-A177-3AD203B41FA5}">
                      <a16:colId xmlns:a16="http://schemas.microsoft.com/office/drawing/2014/main" val="3873278578"/>
                    </a:ext>
                  </a:extLst>
                </a:gridCol>
              </a:tblGrid>
              <a:tr h="1212394">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Data object</a:t>
                      </a:r>
                      <a:r>
                        <a:rPr lang="en-US" sz="900" dirty="0">
                          <a:solidFill>
                            <a:srgbClr val="000000"/>
                          </a:solidFill>
                        </a:rPr>
                        <a:t>: A piece of information used or created during a process</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28111926"/>
                  </a:ext>
                </a:extLst>
              </a:tr>
              <a:tr h="1481814">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pPr algn="l"/>
                      <a:r>
                        <a:rPr lang="en-US" sz="900" b="1" dirty="0">
                          <a:solidFill>
                            <a:srgbClr val="000000"/>
                          </a:solidFill>
                        </a:rPr>
                        <a:t>Data store</a:t>
                      </a:r>
                      <a:r>
                        <a:rPr lang="en-US" sz="900" dirty="0">
                          <a:solidFill>
                            <a:srgbClr val="000000"/>
                          </a:solidFill>
                        </a:rPr>
                        <a:t>: A place where data is saved and can be accessed across processes</a:t>
                      </a:r>
                    </a:p>
                  </a:txBody>
                  <a:tcPr marL="68527" marR="68527" marT="34263" marB="34263"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Arial"/>
                          <a:sym typeface="Arial"/>
                        </a:defRPr>
                      </a:lvl9pPr>
                    </a:lstStyle>
                    <a:p>
                      <a:endParaRPr lang="en-US" sz="900" dirty="0"/>
                    </a:p>
                  </a:txBody>
                  <a:tcPr marL="68527" marR="68527" marT="34263" marB="3426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77245496"/>
                  </a:ext>
                </a:extLst>
              </a:tr>
            </a:tbl>
          </a:graphicData>
        </a:graphic>
      </p:graphicFrame>
      <p:pic>
        <p:nvPicPr>
          <p:cNvPr id="14" name="Picture 13">
            <a:extLst>
              <a:ext uri="{FF2B5EF4-FFF2-40B4-BE49-F238E27FC236}">
                <a16:creationId xmlns:a16="http://schemas.microsoft.com/office/drawing/2014/main" id="{644DD29D-D667-3253-3DD2-9FB5F5B32D2B}"/>
              </a:ext>
            </a:extLst>
          </p:cNvPr>
          <p:cNvPicPr>
            <a:picLocks noChangeAspect="1"/>
          </p:cNvPicPr>
          <p:nvPr/>
        </p:nvPicPr>
        <p:blipFill>
          <a:blip r:embed="rId3"/>
          <a:stretch>
            <a:fillRect/>
          </a:stretch>
        </p:blipFill>
        <p:spPr>
          <a:xfrm>
            <a:off x="7378735" y="1705894"/>
            <a:ext cx="325967" cy="325967"/>
          </a:xfrm>
          <a:prstGeom prst="rect">
            <a:avLst/>
          </a:prstGeom>
        </p:spPr>
      </p:pic>
      <p:pic>
        <p:nvPicPr>
          <p:cNvPr id="15" name="Picture 14">
            <a:extLst>
              <a:ext uri="{FF2B5EF4-FFF2-40B4-BE49-F238E27FC236}">
                <a16:creationId xmlns:a16="http://schemas.microsoft.com/office/drawing/2014/main" id="{4616EE86-3293-F586-D709-1C7C01D1B9CB}"/>
              </a:ext>
            </a:extLst>
          </p:cNvPr>
          <p:cNvPicPr>
            <a:picLocks noChangeAspect="1"/>
          </p:cNvPicPr>
          <p:nvPr/>
        </p:nvPicPr>
        <p:blipFill>
          <a:blip r:embed="rId4"/>
          <a:stretch>
            <a:fillRect/>
          </a:stretch>
        </p:blipFill>
        <p:spPr>
          <a:xfrm>
            <a:off x="7378734" y="2933840"/>
            <a:ext cx="355601" cy="355601"/>
          </a:xfrm>
          <a:prstGeom prst="rect">
            <a:avLst/>
          </a:prstGeom>
        </p:spPr>
      </p:pic>
      <p:sp>
        <p:nvSpPr>
          <p:cNvPr id="2" name="Title 1">
            <a:extLst>
              <a:ext uri="{FF2B5EF4-FFF2-40B4-BE49-F238E27FC236}">
                <a16:creationId xmlns:a16="http://schemas.microsoft.com/office/drawing/2014/main" id="{A8345D71-F5AF-CF6C-5ABE-E9B27BE8DF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0D3DE4-4A27-4958-DF53-AD9100290A0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452650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C8662-7E2A-A811-D38B-C4C79400EB05}"/>
              </a:ext>
            </a:extLst>
          </p:cNvPr>
          <p:cNvSpPr>
            <a:spLocks noGrp="1"/>
          </p:cNvSpPr>
          <p:nvPr>
            <p:ph type="title"/>
          </p:nvPr>
        </p:nvSpPr>
        <p:spPr/>
        <p:txBody>
          <a:bodyPr/>
          <a:lstStyle/>
          <a:p>
            <a:r>
              <a:rPr lang="en-US" dirty="0"/>
              <a:t>Best Practices</a:t>
            </a:r>
          </a:p>
        </p:txBody>
      </p:sp>
      <p:sp>
        <p:nvSpPr>
          <p:cNvPr id="3" name="Content Placeholder 2">
            <a:extLst>
              <a:ext uri="{FF2B5EF4-FFF2-40B4-BE49-F238E27FC236}">
                <a16:creationId xmlns:a16="http://schemas.microsoft.com/office/drawing/2014/main" id="{EACA54A5-B42B-C010-6FCF-A2B272A9796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BE8C23F-DFA8-DF50-A60D-2DC2348E2C66}"/>
              </a:ext>
            </a:extLst>
          </p:cNvPr>
          <p:cNvSpPr>
            <a:spLocks noGrp="1"/>
          </p:cNvSpPr>
          <p:nvPr>
            <p:ph type="ftr" sz="quarter" idx="4294967295"/>
          </p:nvPr>
        </p:nvSpPr>
        <p:spPr>
          <a:xfrm>
            <a:off x="0" y="0"/>
            <a:ext cx="0" cy="0"/>
          </a:xfrm>
        </p:spPr>
        <p:txBody>
          <a:bodyPr/>
          <a:lstStyle/>
          <a:p>
            <a:pPr defTabSz="342900"/>
            <a:r>
              <a:rPr lang="en-US" dirty="0">
                <a:solidFill>
                  <a:srgbClr val="172024"/>
                </a:solidFill>
                <a:latin typeface="Calibri"/>
                <a:ea typeface="Calibri"/>
                <a:cs typeface="Calibri"/>
              </a:rPr>
              <a:t> </a:t>
            </a:r>
          </a:p>
        </p:txBody>
      </p:sp>
      <p:sp>
        <p:nvSpPr>
          <p:cNvPr id="7" name="Content Placeholder 2">
            <a:extLst>
              <a:ext uri="{FF2B5EF4-FFF2-40B4-BE49-F238E27FC236}">
                <a16:creationId xmlns:a16="http://schemas.microsoft.com/office/drawing/2014/main" id="{884621FA-41B0-6068-A790-4A463AE5258E}"/>
              </a:ext>
            </a:extLst>
          </p:cNvPr>
          <p:cNvSpPr txBox="1">
            <a:spLocks/>
          </p:cNvSpPr>
          <p:nvPr/>
        </p:nvSpPr>
        <p:spPr>
          <a:xfrm>
            <a:off x="674608" y="957757"/>
            <a:ext cx="7378240" cy="3821634"/>
          </a:xfrm>
        </p:spPr>
        <p:txBody>
          <a:bodyPr>
            <a:normAutofit/>
          </a:bodyPr>
          <a:lst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a:lstStyle>
          <a:p>
            <a:pPr defTabSz="342900" fontAlgn="auto">
              <a:spcBef>
                <a:spcPts val="375"/>
              </a:spcBef>
              <a:defRPr/>
            </a:pPr>
            <a:r>
              <a:rPr lang="en-US" sz="1350" b="1" kern="0" dirty="0">
                <a:solidFill>
                  <a:srgbClr val="172024"/>
                </a:solidFill>
              </a:rPr>
              <a:t>Process Scope</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Define </a:t>
            </a:r>
            <a:r>
              <a:rPr lang="en-US" sz="1350" b="1" kern="0" dirty="0">
                <a:solidFill>
                  <a:srgbClr val="172024"/>
                </a:solidFill>
              </a:rPr>
              <a:t>Who, What, When, Where, and Why</a:t>
            </a:r>
            <a:r>
              <a:rPr lang="en-US" sz="1350" kern="0" dirty="0">
                <a:solidFill>
                  <a:srgbClr val="172024"/>
                </a:solidFill>
              </a:rPr>
              <a:t> of the process (the </a:t>
            </a:r>
            <a:r>
              <a:rPr lang="en-US" sz="1350" b="1" kern="0" dirty="0">
                <a:solidFill>
                  <a:srgbClr val="172024"/>
                </a:solidFill>
              </a:rPr>
              <a:t>How</a:t>
            </a:r>
            <a:r>
              <a:rPr lang="en-US" sz="1350" kern="0" dirty="0">
                <a:solidFill>
                  <a:srgbClr val="172024"/>
                </a:solidFill>
              </a:rPr>
              <a:t> is the process itself).</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Determine </a:t>
            </a:r>
            <a:r>
              <a:rPr lang="en-US" sz="1350" b="1" kern="0" dirty="0">
                <a:solidFill>
                  <a:srgbClr val="172024"/>
                </a:solidFill>
              </a:rPr>
              <a:t>Start Events</a:t>
            </a:r>
            <a:r>
              <a:rPr lang="en-US" sz="1350" kern="0" dirty="0">
                <a:solidFill>
                  <a:srgbClr val="172024"/>
                </a:solidFill>
              </a:rPr>
              <a:t> (ways to trigger the process).</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Define </a:t>
            </a:r>
            <a:r>
              <a:rPr lang="en-US" sz="1350" b="1" kern="0" dirty="0">
                <a:solidFill>
                  <a:srgbClr val="172024"/>
                </a:solidFill>
              </a:rPr>
              <a:t>End Events</a:t>
            </a:r>
            <a:r>
              <a:rPr lang="en-US" sz="1350" kern="0" dirty="0">
                <a:solidFill>
                  <a:srgbClr val="172024"/>
                </a:solidFill>
              </a:rPr>
              <a:t> (possible outcomes of process instances).</a:t>
            </a:r>
          </a:p>
          <a:p>
            <a:pPr marL="214313" indent="-214313" defTabSz="342900" fontAlgn="auto">
              <a:spcBef>
                <a:spcPts val="375"/>
              </a:spcBef>
              <a:buFont typeface="Arial" panose="020B0604020202020204" pitchFamily="34" charset="0"/>
              <a:buChar char="•"/>
              <a:defRPr/>
            </a:pPr>
            <a:endParaRPr lang="en-US" sz="1350" kern="0" dirty="0">
              <a:solidFill>
                <a:srgbClr val="172024"/>
              </a:solidFill>
            </a:endParaRPr>
          </a:p>
          <a:p>
            <a:pPr defTabSz="342900" fontAlgn="auto">
              <a:spcBef>
                <a:spcPts val="375"/>
              </a:spcBef>
              <a:defRPr/>
            </a:pPr>
            <a:r>
              <a:rPr lang="en-US" sz="1350" b="1" kern="0" dirty="0">
                <a:solidFill>
                  <a:srgbClr val="172024"/>
                </a:solidFill>
              </a:rPr>
              <a:t>Diagram Layouts</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Fit </a:t>
            </a:r>
            <a:r>
              <a:rPr lang="en-US" sz="1350" b="1" kern="0" dirty="0">
                <a:solidFill>
                  <a:srgbClr val="172024"/>
                </a:solidFill>
              </a:rPr>
              <a:t>BPMN diagrams</a:t>
            </a:r>
            <a:r>
              <a:rPr lang="en-US" sz="1350" kern="0" dirty="0">
                <a:solidFill>
                  <a:srgbClr val="172024"/>
                </a:solidFill>
              </a:rPr>
              <a:t> on one page with a </a:t>
            </a:r>
            <a:r>
              <a:rPr lang="en-US" sz="1350" b="1" kern="0" dirty="0">
                <a:solidFill>
                  <a:srgbClr val="172024"/>
                </a:solidFill>
              </a:rPr>
              <a:t>clear primary (“Happy”) path</a:t>
            </a:r>
            <a:r>
              <a:rPr lang="en-US" sz="1350" kern="0" dirty="0">
                <a:solidFill>
                  <a:srgbClr val="172024"/>
                </a:solidFill>
              </a:rPr>
              <a:t>.</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Use </a:t>
            </a:r>
            <a:r>
              <a:rPr lang="en-US" sz="1350" b="1" kern="0" dirty="0">
                <a:solidFill>
                  <a:srgbClr val="172024"/>
                </a:solidFill>
              </a:rPr>
              <a:t>horizontal Sequence Flows</a:t>
            </a:r>
            <a:r>
              <a:rPr lang="en-US" sz="1350" kern="0" dirty="0">
                <a:solidFill>
                  <a:srgbClr val="172024"/>
                </a:solidFill>
              </a:rPr>
              <a:t> and </a:t>
            </a:r>
            <a:r>
              <a:rPr lang="en-US" sz="1350" b="1" kern="0" dirty="0">
                <a:solidFill>
                  <a:srgbClr val="172024"/>
                </a:solidFill>
              </a:rPr>
              <a:t>vertical Data Associations</a:t>
            </a:r>
            <a:r>
              <a:rPr lang="en-US" sz="1350" kern="0" dirty="0">
                <a:solidFill>
                  <a:srgbClr val="172024"/>
                </a:solidFill>
              </a:rPr>
              <a:t> to enhance readability.</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Avoid zigzag layouts and excessive flow crossing.</a:t>
            </a:r>
          </a:p>
          <a:p>
            <a:pPr marL="557213" lvl="1" indent="-214313"/>
            <a:endParaRPr lang="en-US" sz="1350" kern="0" dirty="0">
              <a:solidFill>
                <a:srgbClr val="172024"/>
              </a:solidFill>
            </a:endParaRPr>
          </a:p>
          <a:p>
            <a:pPr defTabSz="342900" fontAlgn="auto">
              <a:spcBef>
                <a:spcPts val="375"/>
              </a:spcBef>
              <a:defRPr/>
            </a:pPr>
            <a:r>
              <a:rPr lang="en-US" sz="1350" b="1" kern="0" dirty="0">
                <a:solidFill>
                  <a:srgbClr val="172024"/>
                </a:solidFill>
              </a:rPr>
              <a:t>Process Partitioning &amp; Structure</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Use a </a:t>
            </a:r>
            <a:r>
              <a:rPr lang="en-US" sz="1350" b="1" kern="0" dirty="0">
                <a:solidFill>
                  <a:srgbClr val="172024"/>
                </a:solidFill>
              </a:rPr>
              <a:t>hierarchical multi-layer approach</a:t>
            </a:r>
            <a:r>
              <a:rPr lang="en-US" sz="1350" kern="0" dirty="0">
                <a:solidFill>
                  <a:srgbClr val="172024"/>
                </a:solidFill>
              </a:rPr>
              <a:t>.</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Split processes into </a:t>
            </a:r>
            <a:r>
              <a:rPr lang="en-US" sz="1350" b="1" kern="0" dirty="0">
                <a:solidFill>
                  <a:srgbClr val="172024"/>
                </a:solidFill>
              </a:rPr>
              <a:t>phases</a:t>
            </a:r>
            <a:r>
              <a:rPr lang="en-US" sz="1350" kern="0" dirty="0">
                <a:solidFill>
                  <a:srgbClr val="172024"/>
                </a:solidFill>
              </a:rPr>
              <a:t> using </a:t>
            </a:r>
            <a:r>
              <a:rPr lang="en-US" sz="1350" b="1" kern="0" dirty="0">
                <a:solidFill>
                  <a:srgbClr val="172024"/>
                </a:solidFill>
              </a:rPr>
              <a:t>Sub-Processes</a:t>
            </a:r>
            <a:r>
              <a:rPr lang="en-US" sz="1350" kern="0" dirty="0">
                <a:solidFill>
                  <a:srgbClr val="172024"/>
                </a:solidFill>
              </a:rPr>
              <a:t>.</a:t>
            </a:r>
          </a:p>
          <a:p>
            <a:pPr marL="214313" indent="-214313" defTabSz="342900" fontAlgn="auto">
              <a:spcBef>
                <a:spcPts val="375"/>
              </a:spcBef>
              <a:buFont typeface="Arial" panose="020B0604020202020204" pitchFamily="34" charset="0"/>
              <a:buChar char="•"/>
              <a:defRPr/>
            </a:pPr>
            <a:r>
              <a:rPr lang="en-US" sz="1350" kern="0" dirty="0">
                <a:solidFill>
                  <a:srgbClr val="172024"/>
                </a:solidFill>
              </a:rPr>
              <a:t>Reuse other processes with </a:t>
            </a:r>
            <a:r>
              <a:rPr lang="en-US" sz="1350" b="1" kern="0" dirty="0">
                <a:solidFill>
                  <a:srgbClr val="172024"/>
                </a:solidFill>
              </a:rPr>
              <a:t>Call Activities</a:t>
            </a:r>
            <a:r>
              <a:rPr lang="en-US" sz="1350" kern="0" dirty="0">
                <a:solidFill>
                  <a:srgbClr val="172024"/>
                </a:solidFill>
              </a:rPr>
              <a:t>.</a:t>
            </a:r>
          </a:p>
          <a:p>
            <a:pPr defTabSz="342900" fontAlgn="auto">
              <a:spcBef>
                <a:spcPts val="375"/>
              </a:spcBef>
              <a:defRPr/>
            </a:pPr>
            <a:endParaRPr lang="en-US" sz="1350" kern="0" dirty="0">
              <a:solidFill>
                <a:srgbClr val="172024"/>
              </a:solidFill>
            </a:endParaRPr>
          </a:p>
        </p:txBody>
      </p:sp>
    </p:spTree>
    <p:extLst>
      <p:ext uri="{BB962C8B-B14F-4D97-AF65-F5344CB8AC3E}">
        <p14:creationId xmlns:p14="http://schemas.microsoft.com/office/powerpoint/2010/main" val="396775953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F016F-8D60-0C4D-5E50-7971E9921ACA}"/>
              </a:ext>
            </a:extLst>
          </p:cNvPr>
          <p:cNvSpPr>
            <a:spLocks noGrp="1"/>
          </p:cNvSpPr>
          <p:nvPr>
            <p:ph type="sldNum" sz="quarter" idx="2"/>
          </p:nvPr>
        </p:nvSpPr>
        <p:spPr/>
        <p:txBody>
          <a:bodyPr/>
          <a:lstStyle/>
          <a:p>
            <a:fld id="{86CB4B4D-7CA3-9044-876B-883B54F8677D}" type="slidenum">
              <a:rPr lang="en-US" smtClean="0"/>
              <a:t>21</a:t>
            </a:fld>
            <a:endParaRPr lang="en-US"/>
          </a:p>
        </p:txBody>
      </p:sp>
      <p:pic>
        <p:nvPicPr>
          <p:cNvPr id="4" name="Picture 3">
            <a:extLst>
              <a:ext uri="{FF2B5EF4-FFF2-40B4-BE49-F238E27FC236}">
                <a16:creationId xmlns:a16="http://schemas.microsoft.com/office/drawing/2014/main" id="{530CAD22-8B85-236B-8A58-25C5182C7CD5}"/>
              </a:ext>
            </a:extLst>
          </p:cNvPr>
          <p:cNvPicPr>
            <a:picLocks noChangeAspect="1"/>
          </p:cNvPicPr>
          <p:nvPr/>
        </p:nvPicPr>
        <p:blipFill>
          <a:blip r:embed="rId3"/>
          <a:stretch>
            <a:fillRect/>
          </a:stretch>
        </p:blipFill>
        <p:spPr>
          <a:xfrm>
            <a:off x="0" y="0"/>
            <a:ext cx="9144000" cy="3422316"/>
          </a:xfrm>
          <a:prstGeom prst="rect">
            <a:avLst/>
          </a:prstGeom>
        </p:spPr>
      </p:pic>
      <p:cxnSp>
        <p:nvCxnSpPr>
          <p:cNvPr id="6" name="Straight Arrow Connector 5">
            <a:extLst>
              <a:ext uri="{FF2B5EF4-FFF2-40B4-BE49-F238E27FC236}">
                <a16:creationId xmlns:a16="http://schemas.microsoft.com/office/drawing/2014/main" id="{A5B44DFB-1DDE-D3F0-0CFF-E9A9BAD38974}"/>
              </a:ext>
            </a:extLst>
          </p:cNvPr>
          <p:cNvCxnSpPr>
            <a:cxnSpLocks/>
            <a:stCxn id="18" idx="0"/>
          </p:cNvCxnSpPr>
          <p:nvPr/>
        </p:nvCxnSpPr>
        <p:spPr>
          <a:xfrm flipH="1" flipV="1">
            <a:off x="2349961" y="265318"/>
            <a:ext cx="111338" cy="39640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BC31247-5D67-6526-09FA-5F2D8CDCC4C4}"/>
              </a:ext>
            </a:extLst>
          </p:cNvPr>
          <p:cNvCxnSpPr>
            <a:cxnSpLocks/>
            <a:stCxn id="17" idx="0"/>
          </p:cNvCxnSpPr>
          <p:nvPr/>
        </p:nvCxnSpPr>
        <p:spPr>
          <a:xfrm flipH="1" flipV="1">
            <a:off x="3250147" y="1711158"/>
            <a:ext cx="1941493" cy="18178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1210642-4DFE-E5BE-A37A-FBCD4D847BC1}"/>
              </a:ext>
            </a:extLst>
          </p:cNvPr>
          <p:cNvCxnSpPr>
            <a:cxnSpLocks/>
            <a:stCxn id="18" idx="0"/>
          </p:cNvCxnSpPr>
          <p:nvPr/>
        </p:nvCxnSpPr>
        <p:spPr>
          <a:xfrm flipH="1" flipV="1">
            <a:off x="1269737" y="724887"/>
            <a:ext cx="1191562" cy="35044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BA803929-7571-553F-DC77-B0305A1B9F9F}"/>
              </a:ext>
            </a:extLst>
          </p:cNvPr>
          <p:cNvSpPr/>
          <p:nvPr/>
        </p:nvSpPr>
        <p:spPr>
          <a:xfrm>
            <a:off x="0" y="33165"/>
            <a:ext cx="222677" cy="232153"/>
          </a:xfrm>
          <a:prstGeom prst="rect">
            <a:avLst/>
          </a:prstGeom>
          <a:noFill/>
          <a:ln w="28575">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0035DB-8AB8-D718-160D-603119D1987D}"/>
              </a:ext>
            </a:extLst>
          </p:cNvPr>
          <p:cNvCxnSpPr/>
          <p:nvPr/>
        </p:nvCxnSpPr>
        <p:spPr>
          <a:xfrm flipH="1" flipV="1">
            <a:off x="3141177" y="180037"/>
            <a:ext cx="1236572" cy="383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047F08B-2C17-F8AA-75D7-3D6FE64BC298}"/>
              </a:ext>
            </a:extLst>
          </p:cNvPr>
          <p:cNvCxnSpPr/>
          <p:nvPr/>
        </p:nvCxnSpPr>
        <p:spPr>
          <a:xfrm flipH="1">
            <a:off x="4159809" y="563801"/>
            <a:ext cx="217940" cy="582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22FE214-C87D-E678-41A5-C5DB1BBEEF53}"/>
              </a:ext>
            </a:extLst>
          </p:cNvPr>
          <p:cNvSpPr txBox="1"/>
          <p:nvPr/>
        </p:nvSpPr>
        <p:spPr>
          <a:xfrm>
            <a:off x="4467768" y="371919"/>
            <a:ext cx="2560445" cy="369332"/>
          </a:xfrm>
          <a:prstGeom prst="rect">
            <a:avLst/>
          </a:prstGeom>
          <a:solidFill>
            <a:schemeClr val="tx2"/>
          </a:solidFill>
        </p:spPr>
        <p:txBody>
          <a:bodyPr wrap="none" rtlCol="0">
            <a:spAutoFit/>
          </a:bodyPr>
          <a:lstStyle/>
          <a:p>
            <a:r>
              <a:rPr lang="en-US" dirty="0">
                <a:solidFill>
                  <a:schemeClr val="accent1"/>
                </a:solidFill>
                <a:latin typeface="+mn-lt"/>
              </a:rPr>
              <a:t>RPA Workflow (Studio)</a:t>
            </a:r>
          </a:p>
        </p:txBody>
      </p:sp>
      <p:sp>
        <p:nvSpPr>
          <p:cNvPr id="17" name="TextBox 16">
            <a:extLst>
              <a:ext uri="{FF2B5EF4-FFF2-40B4-BE49-F238E27FC236}">
                <a16:creationId xmlns:a16="http://schemas.microsoft.com/office/drawing/2014/main" id="{6B68B3F8-2C9F-6300-5686-8D92E87C83B1}"/>
              </a:ext>
            </a:extLst>
          </p:cNvPr>
          <p:cNvSpPr txBox="1"/>
          <p:nvPr/>
        </p:nvSpPr>
        <p:spPr>
          <a:xfrm>
            <a:off x="3523587" y="3529026"/>
            <a:ext cx="3336106" cy="369332"/>
          </a:xfrm>
          <a:prstGeom prst="rect">
            <a:avLst/>
          </a:prstGeom>
          <a:solidFill>
            <a:schemeClr val="tx2"/>
          </a:solidFill>
        </p:spPr>
        <p:txBody>
          <a:bodyPr wrap="none" rtlCol="0">
            <a:spAutoFit/>
          </a:bodyPr>
          <a:lstStyle/>
          <a:p>
            <a:r>
              <a:rPr lang="en-US" dirty="0">
                <a:solidFill>
                  <a:schemeClr val="accent1"/>
                </a:solidFill>
                <a:latin typeface="+mn-lt"/>
              </a:rPr>
              <a:t>Triggers to start the workflow</a:t>
            </a:r>
          </a:p>
        </p:txBody>
      </p:sp>
      <p:sp>
        <p:nvSpPr>
          <p:cNvPr id="18" name="TextBox 17">
            <a:extLst>
              <a:ext uri="{FF2B5EF4-FFF2-40B4-BE49-F238E27FC236}">
                <a16:creationId xmlns:a16="http://schemas.microsoft.com/office/drawing/2014/main" id="{49B5F88E-27D5-21EF-D9D7-5E09EA3E8E39}"/>
              </a:ext>
            </a:extLst>
          </p:cNvPr>
          <p:cNvSpPr txBox="1"/>
          <p:nvPr/>
        </p:nvSpPr>
        <p:spPr>
          <a:xfrm>
            <a:off x="716783" y="4229378"/>
            <a:ext cx="3489032" cy="369332"/>
          </a:xfrm>
          <a:prstGeom prst="rect">
            <a:avLst/>
          </a:prstGeom>
          <a:solidFill>
            <a:schemeClr val="tx2"/>
          </a:solidFill>
        </p:spPr>
        <p:txBody>
          <a:bodyPr wrap="none" rtlCol="0">
            <a:spAutoFit/>
          </a:bodyPr>
          <a:lstStyle/>
          <a:p>
            <a:r>
              <a:rPr lang="en-US" dirty="0">
                <a:solidFill>
                  <a:schemeClr val="accent1"/>
                </a:solidFill>
                <a:latin typeface="+mn-lt"/>
              </a:rPr>
              <a:t>Currently active view (Maestro)</a:t>
            </a:r>
          </a:p>
        </p:txBody>
      </p:sp>
      <p:cxnSp>
        <p:nvCxnSpPr>
          <p:cNvPr id="23" name="Straight Arrow Connector 22">
            <a:extLst>
              <a:ext uri="{FF2B5EF4-FFF2-40B4-BE49-F238E27FC236}">
                <a16:creationId xmlns:a16="http://schemas.microsoft.com/office/drawing/2014/main" id="{F5B20F22-AED2-E8EB-B1EF-E6F7327A3343}"/>
              </a:ext>
            </a:extLst>
          </p:cNvPr>
          <p:cNvCxnSpPr/>
          <p:nvPr/>
        </p:nvCxnSpPr>
        <p:spPr>
          <a:xfrm flipH="1" flipV="1">
            <a:off x="222677" y="265318"/>
            <a:ext cx="454832" cy="1828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F5E16A9-2182-4E4C-DA22-2D25BDB790DA}"/>
              </a:ext>
            </a:extLst>
          </p:cNvPr>
          <p:cNvSpPr txBox="1"/>
          <p:nvPr/>
        </p:nvSpPr>
        <p:spPr>
          <a:xfrm>
            <a:off x="0" y="2094118"/>
            <a:ext cx="1652825" cy="338554"/>
          </a:xfrm>
          <a:prstGeom prst="rect">
            <a:avLst/>
          </a:prstGeom>
          <a:solidFill>
            <a:schemeClr val="tx2"/>
          </a:solidFill>
        </p:spPr>
        <p:txBody>
          <a:bodyPr wrap="none" rtlCol="0">
            <a:spAutoFit/>
          </a:bodyPr>
          <a:lstStyle/>
          <a:p>
            <a:r>
              <a:rPr lang="en-US" sz="1600" dirty="0">
                <a:solidFill>
                  <a:schemeClr val="accent1"/>
                </a:solidFill>
                <a:latin typeface="+mn-lt"/>
              </a:rPr>
              <a:t>Active overview</a:t>
            </a:r>
          </a:p>
        </p:txBody>
      </p:sp>
    </p:spTree>
    <p:extLst>
      <p:ext uri="{BB962C8B-B14F-4D97-AF65-F5344CB8AC3E}">
        <p14:creationId xmlns:p14="http://schemas.microsoft.com/office/powerpoint/2010/main" val="89881671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987C25-A3BB-F703-817A-5074DDD77181}"/>
              </a:ext>
            </a:extLst>
          </p:cNvPr>
          <p:cNvSpPr>
            <a:spLocks noGrp="1"/>
          </p:cNvSpPr>
          <p:nvPr>
            <p:ph type="sldNum" sz="quarter" idx="2"/>
          </p:nvPr>
        </p:nvSpPr>
        <p:spPr/>
        <p:txBody>
          <a:bodyPr/>
          <a:lstStyle/>
          <a:p>
            <a:fld id="{86CB4B4D-7CA3-9044-876B-883B54F8677D}" type="slidenum">
              <a:rPr lang="en-US" smtClean="0"/>
              <a:t>22</a:t>
            </a:fld>
            <a:endParaRPr lang="en-US"/>
          </a:p>
        </p:txBody>
      </p:sp>
      <p:pic>
        <p:nvPicPr>
          <p:cNvPr id="4" name="Picture 3">
            <a:extLst>
              <a:ext uri="{FF2B5EF4-FFF2-40B4-BE49-F238E27FC236}">
                <a16:creationId xmlns:a16="http://schemas.microsoft.com/office/drawing/2014/main" id="{154AF8AA-C364-24E3-A004-80CC139922AF}"/>
              </a:ext>
            </a:extLst>
          </p:cNvPr>
          <p:cNvPicPr>
            <a:picLocks noChangeAspect="1"/>
          </p:cNvPicPr>
          <p:nvPr/>
        </p:nvPicPr>
        <p:blipFill>
          <a:blip r:embed="rId3"/>
          <a:stretch>
            <a:fillRect/>
          </a:stretch>
        </p:blipFill>
        <p:spPr>
          <a:xfrm>
            <a:off x="0" y="0"/>
            <a:ext cx="9144000" cy="2562242"/>
          </a:xfrm>
          <a:prstGeom prst="rect">
            <a:avLst/>
          </a:prstGeom>
        </p:spPr>
      </p:pic>
      <p:cxnSp>
        <p:nvCxnSpPr>
          <p:cNvPr id="5" name="Straight Arrow Connector 4">
            <a:extLst>
              <a:ext uri="{FF2B5EF4-FFF2-40B4-BE49-F238E27FC236}">
                <a16:creationId xmlns:a16="http://schemas.microsoft.com/office/drawing/2014/main" id="{25C88967-CD10-7D2D-2D02-E447190BE0A8}"/>
              </a:ext>
            </a:extLst>
          </p:cNvPr>
          <p:cNvCxnSpPr>
            <a:cxnSpLocks/>
            <a:stCxn id="10" idx="0"/>
          </p:cNvCxnSpPr>
          <p:nvPr/>
        </p:nvCxnSpPr>
        <p:spPr>
          <a:xfrm flipV="1">
            <a:off x="2550528" y="165823"/>
            <a:ext cx="382186" cy="437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05DC2727-C267-A350-F1E8-EC2487F78F82}"/>
              </a:ext>
            </a:extLst>
          </p:cNvPr>
          <p:cNvCxnSpPr>
            <a:cxnSpLocks/>
            <a:stCxn id="10" idx="0"/>
          </p:cNvCxnSpPr>
          <p:nvPr/>
        </p:nvCxnSpPr>
        <p:spPr>
          <a:xfrm flipH="1" flipV="1">
            <a:off x="1459250" y="1032845"/>
            <a:ext cx="1091278" cy="35044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2C4E86B-890B-7726-BBB6-8CC93FC4E34B}"/>
              </a:ext>
            </a:extLst>
          </p:cNvPr>
          <p:cNvCxnSpPr>
            <a:cxnSpLocks/>
          </p:cNvCxnSpPr>
          <p:nvPr/>
        </p:nvCxnSpPr>
        <p:spPr>
          <a:xfrm flipH="1" flipV="1">
            <a:off x="4420390" y="810168"/>
            <a:ext cx="814905" cy="4145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A479EAF-14D0-9316-0D34-7ABC38FFB387}"/>
              </a:ext>
            </a:extLst>
          </p:cNvPr>
          <p:cNvSpPr txBox="1"/>
          <p:nvPr/>
        </p:nvSpPr>
        <p:spPr>
          <a:xfrm>
            <a:off x="5325314" y="1032845"/>
            <a:ext cx="2560445" cy="369332"/>
          </a:xfrm>
          <a:prstGeom prst="rect">
            <a:avLst/>
          </a:prstGeom>
          <a:solidFill>
            <a:schemeClr val="tx2"/>
          </a:solidFill>
        </p:spPr>
        <p:txBody>
          <a:bodyPr wrap="none" rtlCol="0">
            <a:spAutoFit/>
          </a:bodyPr>
          <a:lstStyle/>
          <a:p>
            <a:r>
              <a:rPr lang="en-US" dirty="0">
                <a:solidFill>
                  <a:schemeClr val="accent1"/>
                </a:solidFill>
                <a:latin typeface="+mn-lt"/>
              </a:rPr>
              <a:t>RPA Workflow (Studio)</a:t>
            </a:r>
          </a:p>
        </p:txBody>
      </p:sp>
      <p:sp>
        <p:nvSpPr>
          <p:cNvPr id="10" name="TextBox 9">
            <a:extLst>
              <a:ext uri="{FF2B5EF4-FFF2-40B4-BE49-F238E27FC236}">
                <a16:creationId xmlns:a16="http://schemas.microsoft.com/office/drawing/2014/main" id="{5DDEB810-551A-736D-ACC8-A3FB24516F7E}"/>
              </a:ext>
            </a:extLst>
          </p:cNvPr>
          <p:cNvSpPr txBox="1"/>
          <p:nvPr/>
        </p:nvSpPr>
        <p:spPr>
          <a:xfrm>
            <a:off x="906296" y="4537336"/>
            <a:ext cx="3288464" cy="369332"/>
          </a:xfrm>
          <a:prstGeom prst="rect">
            <a:avLst/>
          </a:prstGeom>
          <a:solidFill>
            <a:schemeClr val="tx2"/>
          </a:solidFill>
        </p:spPr>
        <p:txBody>
          <a:bodyPr wrap="none" rtlCol="0">
            <a:spAutoFit/>
          </a:bodyPr>
          <a:lstStyle/>
          <a:p>
            <a:r>
              <a:rPr lang="en-US" dirty="0">
                <a:solidFill>
                  <a:schemeClr val="accent1"/>
                </a:solidFill>
                <a:latin typeface="+mn-lt"/>
              </a:rPr>
              <a:t>Currently active view (Studio)</a:t>
            </a:r>
          </a:p>
        </p:txBody>
      </p:sp>
    </p:spTree>
    <p:extLst>
      <p:ext uri="{BB962C8B-B14F-4D97-AF65-F5344CB8AC3E}">
        <p14:creationId xmlns:p14="http://schemas.microsoft.com/office/powerpoint/2010/main" val="104865884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6EBAFF-8714-B420-E834-0A728A9DF618}"/>
              </a:ext>
            </a:extLst>
          </p:cNvPr>
          <p:cNvSpPr>
            <a:spLocks noGrp="1"/>
          </p:cNvSpPr>
          <p:nvPr>
            <p:ph type="sldNum" sz="quarter" idx="2"/>
          </p:nvPr>
        </p:nvSpPr>
        <p:spPr/>
        <p:txBody>
          <a:bodyPr/>
          <a:lstStyle/>
          <a:p>
            <a:fld id="{86CB4B4D-7CA3-9044-876B-883B54F8677D}" type="slidenum">
              <a:rPr lang="en-US" smtClean="0"/>
              <a:t>23</a:t>
            </a:fld>
            <a:endParaRPr lang="en-US"/>
          </a:p>
        </p:txBody>
      </p:sp>
      <p:pic>
        <p:nvPicPr>
          <p:cNvPr id="4" name="Picture 3">
            <a:extLst>
              <a:ext uri="{FF2B5EF4-FFF2-40B4-BE49-F238E27FC236}">
                <a16:creationId xmlns:a16="http://schemas.microsoft.com/office/drawing/2014/main" id="{55067B6E-93AA-F8E2-2FC7-CCFC33D05C38}"/>
              </a:ext>
            </a:extLst>
          </p:cNvPr>
          <p:cNvPicPr>
            <a:picLocks noChangeAspect="1"/>
          </p:cNvPicPr>
          <p:nvPr/>
        </p:nvPicPr>
        <p:blipFill>
          <a:blip r:embed="rId3"/>
          <a:stretch>
            <a:fillRect/>
          </a:stretch>
        </p:blipFill>
        <p:spPr>
          <a:xfrm>
            <a:off x="0" y="0"/>
            <a:ext cx="9144000" cy="3624968"/>
          </a:xfrm>
          <a:prstGeom prst="rect">
            <a:avLst/>
          </a:prstGeom>
        </p:spPr>
      </p:pic>
      <p:sp>
        <p:nvSpPr>
          <p:cNvPr id="5" name="Rectangle 4">
            <a:extLst>
              <a:ext uri="{FF2B5EF4-FFF2-40B4-BE49-F238E27FC236}">
                <a16:creationId xmlns:a16="http://schemas.microsoft.com/office/drawing/2014/main" id="{2556A145-3D31-6D88-6D02-CC9816EBFE90}"/>
              </a:ext>
            </a:extLst>
          </p:cNvPr>
          <p:cNvSpPr/>
          <p:nvPr/>
        </p:nvSpPr>
        <p:spPr>
          <a:xfrm>
            <a:off x="7689488" y="2037265"/>
            <a:ext cx="824381" cy="232153"/>
          </a:xfrm>
          <a:prstGeom prst="rect">
            <a:avLst/>
          </a:prstGeom>
          <a:noFill/>
          <a:ln w="28575">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6BAC357-06BC-63A6-636E-574F259480D1}"/>
              </a:ext>
            </a:extLst>
          </p:cNvPr>
          <p:cNvCxnSpPr/>
          <p:nvPr/>
        </p:nvCxnSpPr>
        <p:spPr>
          <a:xfrm flipV="1">
            <a:off x="5590632" y="2326272"/>
            <a:ext cx="2402077" cy="24399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335188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597587-BC82-780E-4E29-6F4FF6225224}"/>
              </a:ext>
            </a:extLst>
          </p:cNvPr>
          <p:cNvSpPr>
            <a:spLocks noGrp="1"/>
          </p:cNvSpPr>
          <p:nvPr>
            <p:ph type="sldNum" sz="quarter" idx="2"/>
          </p:nvPr>
        </p:nvSpPr>
        <p:spPr/>
        <p:txBody>
          <a:bodyPr/>
          <a:lstStyle/>
          <a:p>
            <a:fld id="{86CB4B4D-7CA3-9044-876B-883B54F8677D}" type="slidenum">
              <a:rPr lang="en-US" smtClean="0"/>
              <a:t>24</a:t>
            </a:fld>
            <a:endParaRPr lang="en-US" dirty="0"/>
          </a:p>
        </p:txBody>
      </p:sp>
      <p:pic>
        <p:nvPicPr>
          <p:cNvPr id="4" name="Picture 3">
            <a:extLst>
              <a:ext uri="{FF2B5EF4-FFF2-40B4-BE49-F238E27FC236}">
                <a16:creationId xmlns:a16="http://schemas.microsoft.com/office/drawing/2014/main" id="{9F0D6934-0C66-5F38-26A4-1ECB27AC31A2}"/>
              </a:ext>
            </a:extLst>
          </p:cNvPr>
          <p:cNvPicPr>
            <a:picLocks noChangeAspect="1"/>
          </p:cNvPicPr>
          <p:nvPr/>
        </p:nvPicPr>
        <p:blipFill>
          <a:blip r:embed="rId3"/>
          <a:stretch>
            <a:fillRect/>
          </a:stretch>
        </p:blipFill>
        <p:spPr>
          <a:xfrm>
            <a:off x="0" y="0"/>
            <a:ext cx="9144000" cy="3737810"/>
          </a:xfrm>
          <a:prstGeom prst="rect">
            <a:avLst/>
          </a:prstGeom>
        </p:spPr>
      </p:pic>
      <p:cxnSp>
        <p:nvCxnSpPr>
          <p:cNvPr id="6" name="Straight Arrow Connector 5">
            <a:extLst>
              <a:ext uri="{FF2B5EF4-FFF2-40B4-BE49-F238E27FC236}">
                <a16:creationId xmlns:a16="http://schemas.microsoft.com/office/drawing/2014/main" id="{2FC7330D-BB57-9040-13F6-5B7DEBE69323}"/>
              </a:ext>
            </a:extLst>
          </p:cNvPr>
          <p:cNvCxnSpPr/>
          <p:nvPr/>
        </p:nvCxnSpPr>
        <p:spPr>
          <a:xfrm flipV="1">
            <a:off x="1345542" y="1146553"/>
            <a:ext cx="2108332" cy="30322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7F8C7C7-6609-C51B-1F0A-406A63F3C80F}"/>
              </a:ext>
            </a:extLst>
          </p:cNvPr>
          <p:cNvSpPr/>
          <p:nvPr/>
        </p:nvSpPr>
        <p:spPr>
          <a:xfrm>
            <a:off x="3520205" y="994943"/>
            <a:ext cx="3468087" cy="2179399"/>
          </a:xfrm>
          <a:prstGeom prst="rect">
            <a:avLst/>
          </a:prstGeom>
          <a:noFill/>
          <a:ln w="57150">
            <a:solidFill>
              <a:srgbClr val="C09F2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06B2ABF-E457-C3B1-F429-F34920B57B0F}"/>
              </a:ext>
            </a:extLst>
          </p:cNvPr>
          <p:cNvSpPr/>
          <p:nvPr/>
        </p:nvSpPr>
        <p:spPr>
          <a:xfrm>
            <a:off x="3496516" y="3325953"/>
            <a:ext cx="3539154" cy="293745"/>
          </a:xfrm>
          <a:prstGeom prst="rect">
            <a:avLst/>
          </a:prstGeom>
          <a:noFill/>
          <a:ln w="19050">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206E804-B6CE-CCD1-FD57-BDEA4AD71FFB}"/>
              </a:ext>
            </a:extLst>
          </p:cNvPr>
          <p:cNvSpPr txBox="1"/>
          <p:nvPr/>
        </p:nvSpPr>
        <p:spPr>
          <a:xfrm>
            <a:off x="0" y="4136229"/>
            <a:ext cx="6415731" cy="369332"/>
          </a:xfrm>
          <a:prstGeom prst="rect">
            <a:avLst/>
          </a:prstGeom>
          <a:solidFill>
            <a:schemeClr val="tx2"/>
          </a:solidFill>
        </p:spPr>
        <p:txBody>
          <a:bodyPr wrap="none" rtlCol="0">
            <a:spAutoFit/>
          </a:bodyPr>
          <a:lstStyle/>
          <a:p>
            <a:r>
              <a:rPr lang="en-US" dirty="0">
                <a:solidFill>
                  <a:schemeClr val="accent1"/>
                </a:solidFill>
                <a:latin typeface="+mn-lt"/>
              </a:rPr>
              <a:t>The loop – all activities inside the boundary are in the loop</a:t>
            </a:r>
          </a:p>
        </p:txBody>
      </p:sp>
      <p:cxnSp>
        <p:nvCxnSpPr>
          <p:cNvPr id="11" name="Straight Arrow Connector 10">
            <a:extLst>
              <a:ext uri="{FF2B5EF4-FFF2-40B4-BE49-F238E27FC236}">
                <a16:creationId xmlns:a16="http://schemas.microsoft.com/office/drawing/2014/main" id="{70C64ED8-BBE5-3FE5-BEBD-9E753F9C0E7E}"/>
              </a:ext>
            </a:extLst>
          </p:cNvPr>
          <p:cNvCxnSpPr/>
          <p:nvPr/>
        </p:nvCxnSpPr>
        <p:spPr>
          <a:xfrm flipH="1">
            <a:off x="7097260" y="2728987"/>
            <a:ext cx="473782" cy="705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F7BA86B-EE7F-070B-12D6-2B680CCC8069}"/>
              </a:ext>
            </a:extLst>
          </p:cNvPr>
          <p:cNvSpPr txBox="1"/>
          <p:nvPr/>
        </p:nvSpPr>
        <p:spPr>
          <a:xfrm>
            <a:off x="7168779" y="2359655"/>
            <a:ext cx="1975221" cy="369332"/>
          </a:xfrm>
          <a:prstGeom prst="rect">
            <a:avLst/>
          </a:prstGeom>
          <a:solidFill>
            <a:schemeClr val="tx2"/>
          </a:solidFill>
        </p:spPr>
        <p:txBody>
          <a:bodyPr wrap="none" rtlCol="0">
            <a:spAutoFit/>
          </a:bodyPr>
          <a:lstStyle/>
          <a:p>
            <a:r>
              <a:rPr lang="en-US" dirty="0">
                <a:solidFill>
                  <a:schemeClr val="accent1"/>
                </a:solidFill>
                <a:latin typeface="+mn-lt"/>
              </a:rPr>
              <a:t>Outside the loop</a:t>
            </a:r>
          </a:p>
        </p:txBody>
      </p:sp>
    </p:spTree>
    <p:extLst>
      <p:ext uri="{BB962C8B-B14F-4D97-AF65-F5344CB8AC3E}">
        <p14:creationId xmlns:p14="http://schemas.microsoft.com/office/powerpoint/2010/main" val="109569370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DD38C3-3008-5CC5-998D-B3499FA5BA4E}"/>
              </a:ext>
            </a:extLst>
          </p:cNvPr>
          <p:cNvSpPr>
            <a:spLocks noGrp="1"/>
          </p:cNvSpPr>
          <p:nvPr>
            <p:ph type="sldNum" sz="quarter" idx="2"/>
          </p:nvPr>
        </p:nvSpPr>
        <p:spPr/>
        <p:txBody>
          <a:bodyPr/>
          <a:lstStyle/>
          <a:p>
            <a:fld id="{86CB4B4D-7CA3-9044-876B-883B54F8677D}" type="slidenum">
              <a:rPr lang="en-US" smtClean="0"/>
              <a:t>25</a:t>
            </a:fld>
            <a:endParaRPr lang="en-US"/>
          </a:p>
        </p:txBody>
      </p:sp>
      <p:pic>
        <p:nvPicPr>
          <p:cNvPr id="4" name="Picture 3">
            <a:extLst>
              <a:ext uri="{FF2B5EF4-FFF2-40B4-BE49-F238E27FC236}">
                <a16:creationId xmlns:a16="http://schemas.microsoft.com/office/drawing/2014/main" id="{1E05A52B-9534-5A0F-4286-A3C2B2DB9B8E}"/>
              </a:ext>
            </a:extLst>
          </p:cNvPr>
          <p:cNvPicPr>
            <a:picLocks noChangeAspect="1"/>
          </p:cNvPicPr>
          <p:nvPr/>
        </p:nvPicPr>
        <p:blipFill>
          <a:blip r:embed="rId3"/>
          <a:stretch>
            <a:fillRect/>
          </a:stretch>
        </p:blipFill>
        <p:spPr>
          <a:xfrm>
            <a:off x="149212" y="0"/>
            <a:ext cx="8845575" cy="5143500"/>
          </a:xfrm>
          <a:prstGeom prst="rect">
            <a:avLst/>
          </a:prstGeom>
        </p:spPr>
      </p:pic>
      <p:cxnSp>
        <p:nvCxnSpPr>
          <p:cNvPr id="5" name="Straight Arrow Connector 4">
            <a:extLst>
              <a:ext uri="{FF2B5EF4-FFF2-40B4-BE49-F238E27FC236}">
                <a16:creationId xmlns:a16="http://schemas.microsoft.com/office/drawing/2014/main" id="{C43B5CFE-320E-6294-8AF9-E9BE41C83CEC}"/>
              </a:ext>
            </a:extLst>
          </p:cNvPr>
          <p:cNvCxnSpPr>
            <a:cxnSpLocks/>
            <a:stCxn id="6" idx="0"/>
          </p:cNvCxnSpPr>
          <p:nvPr/>
        </p:nvCxnSpPr>
        <p:spPr>
          <a:xfrm flipV="1">
            <a:off x="7588168" y="366243"/>
            <a:ext cx="1244877" cy="3304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4A53167-92EE-3609-362D-8497D9A1B659}"/>
              </a:ext>
            </a:extLst>
          </p:cNvPr>
          <p:cNvSpPr txBox="1"/>
          <p:nvPr/>
        </p:nvSpPr>
        <p:spPr>
          <a:xfrm>
            <a:off x="6343290" y="3670811"/>
            <a:ext cx="2489755" cy="646331"/>
          </a:xfrm>
          <a:prstGeom prst="rect">
            <a:avLst/>
          </a:prstGeom>
          <a:solidFill>
            <a:schemeClr val="tx2"/>
          </a:solidFill>
        </p:spPr>
        <p:txBody>
          <a:bodyPr wrap="square" rtlCol="0">
            <a:spAutoFit/>
          </a:bodyPr>
          <a:lstStyle/>
          <a:p>
            <a:r>
              <a:rPr lang="en-US" dirty="0">
                <a:solidFill>
                  <a:schemeClr val="accent1"/>
                </a:solidFill>
                <a:latin typeface="+mn-lt"/>
              </a:rPr>
              <a:t>Data manager (studio view)</a:t>
            </a:r>
          </a:p>
        </p:txBody>
      </p:sp>
      <p:cxnSp>
        <p:nvCxnSpPr>
          <p:cNvPr id="11" name="Straight Arrow Connector 10">
            <a:extLst>
              <a:ext uri="{FF2B5EF4-FFF2-40B4-BE49-F238E27FC236}">
                <a16:creationId xmlns:a16="http://schemas.microsoft.com/office/drawing/2014/main" id="{DC18AD96-6E73-E804-0689-28EFC6E4AEF2}"/>
              </a:ext>
            </a:extLst>
          </p:cNvPr>
          <p:cNvCxnSpPr/>
          <p:nvPr/>
        </p:nvCxnSpPr>
        <p:spPr>
          <a:xfrm>
            <a:off x="1738781" y="3340166"/>
            <a:ext cx="1004419" cy="11181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E546A2AC-4345-4732-3C22-439C20E6B5EF}"/>
              </a:ext>
            </a:extLst>
          </p:cNvPr>
          <p:cNvSpPr txBox="1"/>
          <p:nvPr/>
        </p:nvSpPr>
        <p:spPr>
          <a:xfrm>
            <a:off x="635320" y="2918719"/>
            <a:ext cx="1778051" cy="369332"/>
          </a:xfrm>
          <a:prstGeom prst="rect">
            <a:avLst/>
          </a:prstGeom>
          <a:solidFill>
            <a:schemeClr val="tx2"/>
          </a:solidFill>
        </p:spPr>
        <p:txBody>
          <a:bodyPr wrap="none" rtlCol="0">
            <a:spAutoFit/>
          </a:bodyPr>
          <a:lstStyle/>
          <a:p>
            <a:r>
              <a:rPr lang="en-US" dirty="0">
                <a:solidFill>
                  <a:schemeClr val="accent1"/>
                </a:solidFill>
                <a:latin typeface="+mn-lt"/>
              </a:rPr>
              <a:t>Inside the loop</a:t>
            </a:r>
          </a:p>
        </p:txBody>
      </p:sp>
    </p:spTree>
    <p:extLst>
      <p:ext uri="{BB962C8B-B14F-4D97-AF65-F5344CB8AC3E}">
        <p14:creationId xmlns:p14="http://schemas.microsoft.com/office/powerpoint/2010/main" val="376080670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4884EC-1785-0222-5F81-48907E9C68A7}"/>
              </a:ext>
            </a:extLst>
          </p:cNvPr>
          <p:cNvSpPr>
            <a:spLocks noGrp="1"/>
          </p:cNvSpPr>
          <p:nvPr>
            <p:ph type="sldNum" sz="quarter" idx="2"/>
          </p:nvPr>
        </p:nvSpPr>
        <p:spPr/>
        <p:txBody>
          <a:bodyPr/>
          <a:lstStyle/>
          <a:p>
            <a:fld id="{86CB4B4D-7CA3-9044-876B-883B54F8677D}" type="slidenum">
              <a:rPr lang="en-US" smtClean="0"/>
              <a:t>26</a:t>
            </a:fld>
            <a:endParaRPr lang="en-US"/>
          </a:p>
        </p:txBody>
      </p:sp>
      <p:pic>
        <p:nvPicPr>
          <p:cNvPr id="4" name="Picture 3">
            <a:extLst>
              <a:ext uri="{FF2B5EF4-FFF2-40B4-BE49-F238E27FC236}">
                <a16:creationId xmlns:a16="http://schemas.microsoft.com/office/drawing/2014/main" id="{E703F21F-8E16-5397-C44C-EEA18E494663}"/>
              </a:ext>
            </a:extLst>
          </p:cNvPr>
          <p:cNvPicPr>
            <a:picLocks noChangeAspect="1"/>
          </p:cNvPicPr>
          <p:nvPr/>
        </p:nvPicPr>
        <p:blipFill>
          <a:blip r:embed="rId3"/>
          <a:stretch>
            <a:fillRect/>
          </a:stretch>
        </p:blipFill>
        <p:spPr>
          <a:xfrm>
            <a:off x="41470" y="0"/>
            <a:ext cx="9061060" cy="5143500"/>
          </a:xfrm>
          <a:prstGeom prst="rect">
            <a:avLst/>
          </a:prstGeom>
        </p:spPr>
      </p:pic>
      <p:cxnSp>
        <p:nvCxnSpPr>
          <p:cNvPr id="5" name="Straight Arrow Connector 4">
            <a:extLst>
              <a:ext uri="{FF2B5EF4-FFF2-40B4-BE49-F238E27FC236}">
                <a16:creationId xmlns:a16="http://schemas.microsoft.com/office/drawing/2014/main" id="{B58ADFE0-FE54-2150-0482-2AB867CF2D44}"/>
              </a:ext>
            </a:extLst>
          </p:cNvPr>
          <p:cNvCxnSpPr>
            <a:cxnSpLocks/>
          </p:cNvCxnSpPr>
          <p:nvPr/>
        </p:nvCxnSpPr>
        <p:spPr>
          <a:xfrm flipH="1">
            <a:off x="5789621" y="4576738"/>
            <a:ext cx="823154" cy="402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8B2B159-7271-F098-4D18-93B4FD5A3827}"/>
              </a:ext>
            </a:extLst>
          </p:cNvPr>
          <p:cNvSpPr txBox="1"/>
          <p:nvPr/>
        </p:nvSpPr>
        <p:spPr>
          <a:xfrm>
            <a:off x="6612775" y="4353058"/>
            <a:ext cx="2489755" cy="369332"/>
          </a:xfrm>
          <a:prstGeom prst="rect">
            <a:avLst/>
          </a:prstGeom>
          <a:solidFill>
            <a:schemeClr val="tx2"/>
          </a:solidFill>
        </p:spPr>
        <p:txBody>
          <a:bodyPr wrap="square" rtlCol="0">
            <a:spAutoFit/>
          </a:bodyPr>
          <a:lstStyle/>
          <a:p>
            <a:r>
              <a:rPr lang="en-US" dirty="0">
                <a:solidFill>
                  <a:schemeClr val="accent1"/>
                </a:solidFill>
                <a:latin typeface="+mn-lt"/>
              </a:rPr>
              <a:t>Expression editor</a:t>
            </a:r>
          </a:p>
        </p:txBody>
      </p:sp>
      <p:cxnSp>
        <p:nvCxnSpPr>
          <p:cNvPr id="10" name="Straight Arrow Connector 9">
            <a:extLst>
              <a:ext uri="{FF2B5EF4-FFF2-40B4-BE49-F238E27FC236}">
                <a16:creationId xmlns:a16="http://schemas.microsoft.com/office/drawing/2014/main" id="{2994CCE5-8BD7-A93C-8BEF-7E0DA6351837}"/>
              </a:ext>
            </a:extLst>
          </p:cNvPr>
          <p:cNvCxnSpPr>
            <a:stCxn id="6" idx="1"/>
          </p:cNvCxnSpPr>
          <p:nvPr/>
        </p:nvCxnSpPr>
        <p:spPr>
          <a:xfrm flipH="1" flipV="1">
            <a:off x="4813629" y="2946926"/>
            <a:ext cx="1799146" cy="1590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58602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289BA-E658-215C-3105-48BB53A88CED}"/>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1575A4FC-7AFB-F8C2-67AA-5285BC30FEB4}"/>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9D4BEE59-968E-2E1D-712A-F694F831BC2A}"/>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85190B12-270D-2311-EB96-1866F68D3703}"/>
              </a:ext>
            </a:extLst>
          </p:cNvPr>
          <p:cNvSpPr>
            <a:spLocks noGrp="1"/>
          </p:cNvSpPr>
          <p:nvPr>
            <p:ph type="body" sz="quarter" idx="13"/>
          </p:nvPr>
        </p:nvSpPr>
        <p:spPr/>
        <p:txBody>
          <a:bodyPr/>
          <a:lstStyle/>
          <a:p>
            <a:pPr marL="285750" indent="-285750">
              <a:buFont typeface="Arial" panose="020B0604020202020204" pitchFamily="34" charset="0"/>
              <a:buChar char="•"/>
            </a:pPr>
            <a:r>
              <a:rPr lang="en-US" b="1" dirty="0">
                <a:solidFill>
                  <a:schemeClr val="tx1">
                    <a:lumMod val="50000"/>
                    <a:lumOff val="50000"/>
                  </a:schemeClr>
                </a:solidFill>
              </a:rPr>
              <a:t>Review of workflows</a:t>
            </a:r>
          </a:p>
          <a:p>
            <a:pPr marL="285750" indent="-285750">
              <a:buFont typeface="Arial" panose="020B0604020202020204" pitchFamily="34" charset="0"/>
              <a:buChar char="•"/>
            </a:pPr>
            <a:r>
              <a:rPr lang="en-US" b="1" dirty="0">
                <a:solidFill>
                  <a:schemeClr val="tx2"/>
                </a:solidFill>
              </a:rPr>
              <a:t>Submission overview: </a:t>
            </a:r>
          </a:p>
          <a:p>
            <a:pPr marL="801688" lvl="1" indent="-285750"/>
            <a:r>
              <a:rPr lang="en-US" b="1" dirty="0">
                <a:solidFill>
                  <a:schemeClr val="tx2"/>
                </a:solidFill>
              </a:rPr>
              <a:t>Download your UiPath cloud file (.</a:t>
            </a:r>
            <a:r>
              <a:rPr lang="en-US" b="1" dirty="0" err="1">
                <a:solidFill>
                  <a:schemeClr val="tx2"/>
                </a:solidFill>
              </a:rPr>
              <a:t>uip</a:t>
            </a:r>
            <a:r>
              <a:rPr lang="en-US" b="1" dirty="0">
                <a:solidFill>
                  <a:schemeClr val="tx2"/>
                </a:solidFill>
              </a:rPr>
              <a:t> or .</a:t>
            </a:r>
            <a:r>
              <a:rPr lang="en-US" b="1" dirty="0" err="1">
                <a:solidFill>
                  <a:schemeClr val="tx2"/>
                </a:solidFill>
              </a:rPr>
              <a:t>uis</a:t>
            </a:r>
            <a:r>
              <a:rPr lang="en-US" b="1" dirty="0">
                <a:solidFill>
                  <a:schemeClr val="tx2"/>
                </a:solidFill>
              </a:rPr>
              <a:t>)</a:t>
            </a:r>
          </a:p>
          <a:p>
            <a:pPr marL="801688" lvl="1" indent="-285750"/>
            <a:r>
              <a:rPr lang="en-US" b="1" dirty="0">
                <a:solidFill>
                  <a:schemeClr val="tx2"/>
                </a:solidFill>
              </a:rPr>
              <a:t>Submit to canvas and add commentary about the bot.</a:t>
            </a:r>
          </a:p>
          <a:p>
            <a:pPr marL="285750" indent="-285750">
              <a:buFont typeface="Arial" panose="020B0604020202020204" pitchFamily="34" charset="0"/>
              <a:buChar char="•"/>
            </a:pPr>
            <a:r>
              <a:rPr lang="en-US" dirty="0"/>
              <a:t>Workshop time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10591756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1478A8-DEAB-DF27-7DBA-862B620EE04A}"/>
              </a:ext>
            </a:extLst>
          </p:cNvPr>
          <p:cNvSpPr>
            <a:spLocks noGrp="1"/>
          </p:cNvSpPr>
          <p:nvPr>
            <p:ph type="sldNum" sz="quarter" idx="2"/>
          </p:nvPr>
        </p:nvSpPr>
        <p:spPr/>
        <p:txBody>
          <a:bodyPr/>
          <a:lstStyle/>
          <a:p>
            <a:fld id="{86CB4B4D-7CA3-9044-876B-883B54F8677D}" type="slidenum">
              <a:rPr lang="en-US" smtClean="0"/>
              <a:t>28</a:t>
            </a:fld>
            <a:endParaRPr lang="en-US"/>
          </a:p>
        </p:txBody>
      </p:sp>
      <p:pic>
        <p:nvPicPr>
          <p:cNvPr id="4" name="Picture 3">
            <a:extLst>
              <a:ext uri="{FF2B5EF4-FFF2-40B4-BE49-F238E27FC236}">
                <a16:creationId xmlns:a16="http://schemas.microsoft.com/office/drawing/2014/main" id="{BC32388C-7A9A-DDFF-AA55-DFCC9D59F3BE}"/>
              </a:ext>
            </a:extLst>
          </p:cNvPr>
          <p:cNvPicPr>
            <a:picLocks noChangeAspect="1"/>
          </p:cNvPicPr>
          <p:nvPr/>
        </p:nvPicPr>
        <p:blipFill>
          <a:blip r:embed="rId3"/>
          <a:stretch>
            <a:fillRect/>
          </a:stretch>
        </p:blipFill>
        <p:spPr>
          <a:xfrm>
            <a:off x="0" y="2196303"/>
            <a:ext cx="9144000" cy="2947197"/>
          </a:xfrm>
          <a:prstGeom prst="rect">
            <a:avLst/>
          </a:prstGeom>
        </p:spPr>
      </p:pic>
      <p:sp>
        <p:nvSpPr>
          <p:cNvPr id="5" name="Title 2">
            <a:extLst>
              <a:ext uri="{FF2B5EF4-FFF2-40B4-BE49-F238E27FC236}">
                <a16:creationId xmlns:a16="http://schemas.microsoft.com/office/drawing/2014/main" id="{078BA403-1FCE-B286-CEBD-87B93BAB50AE}"/>
              </a:ext>
            </a:extLst>
          </p:cNvPr>
          <p:cNvSpPr txBox="1">
            <a:spLocks/>
          </p:cNvSpPr>
          <p:nvPr/>
        </p:nvSpPr>
        <p:spPr>
          <a:xfrm>
            <a:off x="417330" y="249687"/>
            <a:ext cx="6518844" cy="369332"/>
          </a:xfrm>
          <a:prstGeom prst="rect">
            <a:avLst/>
          </a:prstGeom>
        </p:spPr>
        <p:txBody>
          <a:bodyPr/>
          <a:lstStyle>
            <a:lvl1pPr algn="l" defTabSz="457200" rtl="0" eaLnBrk="1" fontAlgn="base" hangingPunct="1">
              <a:spcBef>
                <a:spcPct val="0"/>
              </a:spcBef>
              <a:spcAft>
                <a:spcPct val="0"/>
              </a:spcAft>
              <a:defRPr sz="2400" b="1" i="0" kern="1200">
                <a:solidFill>
                  <a:schemeClr val="tx2"/>
                </a:solidFill>
                <a:latin typeface="Encode Sans Normal ExtraBold" panose="02000000000000000000" pitchFamily="2" charset="77"/>
                <a:ea typeface="+mj-ea"/>
                <a:cs typeface="Arial" panose="020B0604020202020204" pitchFamily="34" charset="0"/>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a:lstStyle>
          <a:p>
            <a:r>
              <a:rPr lang="en-US" dirty="0"/>
              <a:t>Saving the file for submission</a:t>
            </a:r>
          </a:p>
        </p:txBody>
      </p:sp>
      <p:sp>
        <p:nvSpPr>
          <p:cNvPr id="9" name="TextBox 8">
            <a:extLst>
              <a:ext uri="{FF2B5EF4-FFF2-40B4-BE49-F238E27FC236}">
                <a16:creationId xmlns:a16="http://schemas.microsoft.com/office/drawing/2014/main" id="{7E1320C0-AB70-A401-55BE-A28D83E8117A}"/>
              </a:ext>
            </a:extLst>
          </p:cNvPr>
          <p:cNvSpPr txBox="1"/>
          <p:nvPr/>
        </p:nvSpPr>
        <p:spPr>
          <a:xfrm>
            <a:off x="3158902" y="862991"/>
            <a:ext cx="2489755" cy="646331"/>
          </a:xfrm>
          <a:prstGeom prst="rect">
            <a:avLst/>
          </a:prstGeom>
          <a:solidFill>
            <a:schemeClr val="tx2"/>
          </a:solidFill>
        </p:spPr>
        <p:txBody>
          <a:bodyPr wrap="square" rtlCol="0">
            <a:spAutoFit/>
          </a:bodyPr>
          <a:lstStyle/>
          <a:p>
            <a:r>
              <a:rPr lang="en-US" dirty="0">
                <a:solidFill>
                  <a:schemeClr val="accent1"/>
                </a:solidFill>
                <a:latin typeface="+mn-lt"/>
              </a:rPr>
              <a:t>1. Projects manager / Web Studio file menu</a:t>
            </a:r>
          </a:p>
        </p:txBody>
      </p:sp>
      <p:cxnSp>
        <p:nvCxnSpPr>
          <p:cNvPr id="11" name="Straight Arrow Connector 10">
            <a:extLst>
              <a:ext uri="{FF2B5EF4-FFF2-40B4-BE49-F238E27FC236}">
                <a16:creationId xmlns:a16="http://schemas.microsoft.com/office/drawing/2014/main" id="{37244927-0813-6F89-DBDB-294116F29C56}"/>
              </a:ext>
            </a:extLst>
          </p:cNvPr>
          <p:cNvCxnSpPr>
            <a:cxnSpLocks/>
            <a:stCxn id="9" idx="3"/>
          </p:cNvCxnSpPr>
          <p:nvPr/>
        </p:nvCxnSpPr>
        <p:spPr>
          <a:xfrm>
            <a:off x="5648657" y="1186157"/>
            <a:ext cx="2270615" cy="230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1943028-C094-C941-5874-031066C1D300}"/>
              </a:ext>
            </a:extLst>
          </p:cNvPr>
          <p:cNvSpPr/>
          <p:nvPr/>
        </p:nvSpPr>
        <p:spPr>
          <a:xfrm>
            <a:off x="7864788" y="4567262"/>
            <a:ext cx="947564" cy="241629"/>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DC8AAD-0893-E017-24ED-72115152EE83}"/>
              </a:ext>
            </a:extLst>
          </p:cNvPr>
          <p:cNvSpPr/>
          <p:nvPr/>
        </p:nvSpPr>
        <p:spPr>
          <a:xfrm>
            <a:off x="7817409" y="3491776"/>
            <a:ext cx="203727" cy="180037"/>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32FDCB9-938F-8050-EF23-C68177B4D7B3}"/>
              </a:ext>
            </a:extLst>
          </p:cNvPr>
          <p:cNvSpPr txBox="1"/>
          <p:nvPr/>
        </p:nvSpPr>
        <p:spPr>
          <a:xfrm>
            <a:off x="3327122" y="1549972"/>
            <a:ext cx="2489755" cy="923330"/>
          </a:xfrm>
          <a:prstGeom prst="rect">
            <a:avLst/>
          </a:prstGeom>
          <a:solidFill>
            <a:schemeClr val="tx2"/>
          </a:solidFill>
        </p:spPr>
        <p:txBody>
          <a:bodyPr wrap="square" rtlCol="0">
            <a:spAutoFit/>
          </a:bodyPr>
          <a:lstStyle/>
          <a:p>
            <a:r>
              <a:rPr lang="en-US" dirty="0">
                <a:solidFill>
                  <a:schemeClr val="accent1"/>
                </a:solidFill>
                <a:latin typeface="+mn-lt"/>
              </a:rPr>
              <a:t>2. Download solution (look for a *.</a:t>
            </a:r>
            <a:r>
              <a:rPr lang="en-US" dirty="0" err="1">
                <a:solidFill>
                  <a:schemeClr val="accent1"/>
                </a:solidFill>
                <a:latin typeface="+mn-lt"/>
              </a:rPr>
              <a:t>uip</a:t>
            </a:r>
            <a:r>
              <a:rPr lang="en-US" dirty="0">
                <a:solidFill>
                  <a:schemeClr val="accent1"/>
                </a:solidFill>
                <a:latin typeface="+mn-lt"/>
              </a:rPr>
              <a:t> or *.</a:t>
            </a:r>
            <a:r>
              <a:rPr lang="en-US" dirty="0" err="1">
                <a:solidFill>
                  <a:schemeClr val="accent1"/>
                </a:solidFill>
                <a:latin typeface="+mn-lt"/>
              </a:rPr>
              <a:t>uis</a:t>
            </a:r>
            <a:r>
              <a:rPr lang="en-US" dirty="0">
                <a:solidFill>
                  <a:schemeClr val="accent1"/>
                </a:solidFill>
                <a:latin typeface="+mn-lt"/>
              </a:rPr>
              <a:t> file)</a:t>
            </a:r>
          </a:p>
        </p:txBody>
      </p:sp>
      <p:cxnSp>
        <p:nvCxnSpPr>
          <p:cNvPr id="19" name="Straight Arrow Connector 18">
            <a:extLst>
              <a:ext uri="{FF2B5EF4-FFF2-40B4-BE49-F238E27FC236}">
                <a16:creationId xmlns:a16="http://schemas.microsoft.com/office/drawing/2014/main" id="{8E018603-1D30-50FD-8FB4-E95CCE9BDEB2}"/>
              </a:ext>
            </a:extLst>
          </p:cNvPr>
          <p:cNvCxnSpPr>
            <a:cxnSpLocks/>
            <a:stCxn id="18" idx="3"/>
          </p:cNvCxnSpPr>
          <p:nvPr/>
        </p:nvCxnSpPr>
        <p:spPr>
          <a:xfrm>
            <a:off x="5816877" y="2011637"/>
            <a:ext cx="2047911" cy="2555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496994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6027-2056-B900-EA26-C6CAA0AFBA50}"/>
              </a:ext>
            </a:extLst>
          </p:cNvPr>
          <p:cNvSpPr>
            <a:spLocks noGrp="1"/>
          </p:cNvSpPr>
          <p:nvPr>
            <p:ph type="title"/>
          </p:nvPr>
        </p:nvSpPr>
        <p:spPr/>
        <p:txBody>
          <a:bodyPr/>
          <a:lstStyle/>
          <a:p>
            <a:r>
              <a:rPr lang="en-US" dirty="0"/>
              <a:t>Submission overview: Canvas</a:t>
            </a:r>
          </a:p>
        </p:txBody>
      </p:sp>
      <p:sp>
        <p:nvSpPr>
          <p:cNvPr id="3" name="Content Placeholder 2">
            <a:extLst>
              <a:ext uri="{FF2B5EF4-FFF2-40B4-BE49-F238E27FC236}">
                <a16:creationId xmlns:a16="http://schemas.microsoft.com/office/drawing/2014/main" id="{41F42813-3B62-9673-17CA-482F8B02813F}"/>
              </a:ext>
            </a:extLst>
          </p:cNvPr>
          <p:cNvSpPr>
            <a:spLocks noGrp="1"/>
          </p:cNvSpPr>
          <p:nvPr>
            <p:ph idx="1"/>
          </p:nvPr>
        </p:nvSpPr>
        <p:spPr>
          <a:xfrm>
            <a:off x="469445" y="1083527"/>
            <a:ext cx="7911765" cy="2084481"/>
          </a:xfrm>
        </p:spPr>
        <p:txBody>
          <a:bodyPr/>
          <a:lstStyle/>
          <a:p>
            <a:pPr marL="285750" indent="-285750">
              <a:buFont typeface="Arial" panose="020B0604020202020204" pitchFamily="34" charset="0"/>
              <a:buChar char="•"/>
            </a:pPr>
            <a:r>
              <a:rPr lang="en-US" dirty="0"/>
              <a:t>Please submit a check-in copy of your RPA bot you have been working on in class (it is expected to be incomplete). </a:t>
            </a:r>
          </a:p>
          <a:p>
            <a:pPr marL="285750" indent="-285750">
              <a:buFont typeface="Arial" panose="020B0604020202020204" pitchFamily="34" charset="0"/>
              <a:buChar char="•"/>
            </a:pPr>
            <a:r>
              <a:rPr lang="en-US" dirty="0"/>
              <a:t>In the text field, </a:t>
            </a:r>
            <a:r>
              <a:rPr lang="en-US" b="1" i="1" dirty="0">
                <a:solidFill>
                  <a:schemeClr val="tx2"/>
                </a:solidFill>
              </a:rPr>
              <a:t>please outline where you are hoping to get the bot to and what is working/not working at this point</a:t>
            </a:r>
            <a:r>
              <a:rPr lang="en-US" dirty="0"/>
              <a:t>. If the bot is not working yet, that is fine. This is a check-in, not a final grade on this project. You are not required at this point to provide all the details on the RPA individual project, there is no need to discuss efficiency and effectiveness. </a:t>
            </a:r>
          </a:p>
          <a:p>
            <a:pPr marL="285750" indent="-285750">
              <a:buFont typeface="Arial" panose="020B0604020202020204" pitchFamily="34" charset="0"/>
              <a:buChar char="•"/>
            </a:pPr>
            <a:r>
              <a:rPr lang="en-US" dirty="0"/>
              <a:t>Feedback will include some comments on feasibility and where the bot will rank based on prior Individual RPA challenges and the work submitted by the class this year.</a:t>
            </a:r>
          </a:p>
          <a:p>
            <a:pPr marL="285750" indent="-285750">
              <a:buFont typeface="Arial" panose="020B0604020202020204" pitchFamily="34" charset="0"/>
              <a:buChar char="•"/>
            </a:pPr>
            <a:r>
              <a:rPr lang="en-US" b="1" dirty="0"/>
              <a:t>www.github.com/ashercurtis/robots.io</a:t>
            </a:r>
            <a:r>
              <a:rPr lang="en-US" dirty="0"/>
              <a:t>   </a:t>
            </a:r>
          </a:p>
        </p:txBody>
      </p:sp>
    </p:spTree>
    <p:extLst>
      <p:ext uri="{BB962C8B-B14F-4D97-AF65-F5344CB8AC3E}">
        <p14:creationId xmlns:p14="http://schemas.microsoft.com/office/powerpoint/2010/main" val="39145750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46BB1-618E-78B2-8D0D-C9B35BE6A79E}"/>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C09629B2-25BF-46B1-6ABC-C8BCADDE6BA9}"/>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F14A84FF-4E27-DDE1-822A-CD34BFE8CCC6}"/>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E9C47549-623C-33D3-022C-B76FEEF4F7F2}"/>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solidFill>
                  <a:schemeClr val="tx1">
                    <a:lumMod val="50000"/>
                    <a:lumOff val="50000"/>
                  </a:schemeClr>
                </a:solidFill>
              </a:rPr>
              <a:t>Review of workflows</a:t>
            </a:r>
          </a:p>
          <a:p>
            <a:pPr marL="285750" indent="-285750">
              <a:buFont typeface="Arial" panose="020B0604020202020204" pitchFamily="34" charset="0"/>
              <a:buChar char="•"/>
            </a:pPr>
            <a:r>
              <a:rPr lang="en-US" dirty="0">
                <a:solidFill>
                  <a:schemeClr val="tx1">
                    <a:lumMod val="50000"/>
                    <a:lumOff val="50000"/>
                  </a:schemeClr>
                </a:solidFill>
              </a:rPr>
              <a:t>Submission overview: </a:t>
            </a:r>
          </a:p>
          <a:p>
            <a:pPr marL="801688" lvl="1" indent="-285750"/>
            <a:r>
              <a:rPr lang="en-US" dirty="0">
                <a:solidFill>
                  <a:schemeClr val="tx1">
                    <a:lumMod val="50000"/>
                    <a:lumOff val="50000"/>
                  </a:schemeClr>
                </a:solidFill>
              </a:rPr>
              <a:t>Download your UiPath cloud file (.</a:t>
            </a:r>
            <a:r>
              <a:rPr lang="en-US" dirty="0" err="1">
                <a:solidFill>
                  <a:schemeClr val="tx1">
                    <a:lumMod val="50000"/>
                    <a:lumOff val="50000"/>
                  </a:schemeClr>
                </a:solidFill>
              </a:rPr>
              <a:t>uip</a:t>
            </a:r>
            <a:r>
              <a:rPr lang="en-US" dirty="0">
                <a:solidFill>
                  <a:schemeClr val="tx1">
                    <a:lumMod val="50000"/>
                    <a:lumOff val="50000"/>
                  </a:schemeClr>
                </a:solidFill>
              </a:rPr>
              <a:t> or .</a:t>
            </a:r>
            <a:r>
              <a:rPr lang="en-US" dirty="0" err="1">
                <a:solidFill>
                  <a:schemeClr val="tx1">
                    <a:lumMod val="50000"/>
                    <a:lumOff val="50000"/>
                  </a:schemeClr>
                </a:solidFill>
              </a:rPr>
              <a:t>uis</a:t>
            </a:r>
            <a:r>
              <a:rPr lang="en-US" dirty="0">
                <a:solidFill>
                  <a:schemeClr val="tx1">
                    <a:lumMod val="50000"/>
                    <a:lumOff val="50000"/>
                  </a:schemeClr>
                </a:solidFill>
              </a:rPr>
              <a:t>)</a:t>
            </a:r>
          </a:p>
          <a:p>
            <a:pPr marL="801688" lvl="1" indent="-285750"/>
            <a:r>
              <a:rPr lang="en-US" dirty="0">
                <a:solidFill>
                  <a:schemeClr val="tx1">
                    <a:lumMod val="50000"/>
                    <a:lumOff val="50000"/>
                  </a:schemeClr>
                </a:solidFill>
              </a:rPr>
              <a:t>Submit to canvas and add commentary about the bot.</a:t>
            </a:r>
          </a:p>
          <a:p>
            <a:pPr marL="285750" indent="-285750">
              <a:buFont typeface="Arial" panose="020B0604020202020204" pitchFamily="34" charset="0"/>
              <a:buChar char="•"/>
            </a:pPr>
            <a:r>
              <a:rPr lang="en-US" b="1" dirty="0">
                <a:solidFill>
                  <a:schemeClr val="tx2"/>
                </a:solidFill>
              </a:rPr>
              <a:t>Workshop time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1158778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AD66-8656-6826-2F17-CFCA9448B6D7}"/>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E0B0E000-C945-5856-EA03-0B5E710268B7}"/>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E8F78156-D477-B26B-2AF9-C75E647F4863}"/>
              </a:ext>
            </a:extLst>
          </p:cNvPr>
          <p:cNvSpPr>
            <a:spLocks noGrp="1"/>
          </p:cNvSpPr>
          <p:nvPr>
            <p:ph type="title"/>
          </p:nvPr>
        </p:nvSpPr>
        <p:spPr/>
        <p:txBody>
          <a:bodyPr/>
          <a:lstStyle/>
          <a:p>
            <a:r>
              <a:rPr lang="en-US" dirty="0"/>
              <a:t>Where we will go next</a:t>
            </a:r>
          </a:p>
        </p:txBody>
      </p:sp>
      <p:sp>
        <p:nvSpPr>
          <p:cNvPr id="4" name="Text Placeholder 3">
            <a:extLst>
              <a:ext uri="{FF2B5EF4-FFF2-40B4-BE49-F238E27FC236}">
                <a16:creationId xmlns:a16="http://schemas.microsoft.com/office/drawing/2014/main" id="{E5ADBF5A-2DEF-0724-6E31-E0E924DC6537}"/>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solidFill>
                  <a:schemeClr val="tx1">
                    <a:lumMod val="50000"/>
                    <a:lumOff val="50000"/>
                  </a:schemeClr>
                </a:solidFill>
              </a:rPr>
              <a:t>Spreadsheets</a:t>
            </a:r>
          </a:p>
          <a:p>
            <a:pPr marL="285750" indent="-285750">
              <a:buFont typeface="Arial" panose="020B0604020202020204" pitchFamily="34" charset="0"/>
              <a:buChar char="•"/>
            </a:pPr>
            <a:r>
              <a:rPr lang="en-US" dirty="0"/>
              <a:t>BPMN revision and extension</a:t>
            </a:r>
          </a:p>
          <a:p>
            <a:pPr marL="285750" indent="-285750">
              <a:buFont typeface="Arial" panose="020B0604020202020204" pitchFamily="34" charset="0"/>
              <a:buChar char="•"/>
            </a:pPr>
            <a:r>
              <a:rPr lang="en-US" dirty="0"/>
              <a:t>Triggers</a:t>
            </a:r>
          </a:p>
          <a:p>
            <a:pPr marL="285750" indent="-285750">
              <a:buFont typeface="Arial" panose="020B0604020202020204" pitchFamily="34" charset="0"/>
              <a:buChar char="•"/>
            </a:pPr>
            <a:r>
              <a:rPr lang="en-US" dirty="0"/>
              <a:t>Controls</a:t>
            </a:r>
          </a:p>
          <a:p>
            <a:pPr marL="285750" indent="-285750">
              <a:buFont typeface="Arial" panose="020B0604020202020204" pitchFamily="34" charset="0"/>
              <a:buChar char="•"/>
            </a:pPr>
            <a:r>
              <a:rPr lang="en-US" dirty="0"/>
              <a:t>Costs and benefits of RPA</a:t>
            </a:r>
          </a:p>
          <a:p>
            <a:pPr marL="285750" indent="-285750">
              <a:buFont typeface="Arial" panose="020B0604020202020204" pitchFamily="34" charset="0"/>
              <a:buChar char="•"/>
            </a:pPr>
            <a:r>
              <a:rPr lang="en-US" dirty="0"/>
              <a:t>Selection of Tasks for RPA versus Agent</a:t>
            </a:r>
          </a:p>
          <a:p>
            <a:pPr marL="285750" indent="-285750">
              <a:buFont typeface="Arial" panose="020B0604020202020204" pitchFamily="34" charset="0"/>
              <a:buChar char="•"/>
            </a:pPr>
            <a:r>
              <a:rPr lang="en-US" dirty="0"/>
              <a:t>Manipulation of files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9240633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2D327B-3D25-3436-3BD4-5A597C6A49EC}"/>
              </a:ext>
            </a:extLst>
          </p:cNvPr>
          <p:cNvSpPr txBox="1">
            <a:spLocks/>
          </p:cNvSpPr>
          <p:nvPr/>
        </p:nvSpPr>
        <p:spPr>
          <a:xfrm>
            <a:off x="528972" y="1643081"/>
            <a:ext cx="8086056" cy="1215717"/>
          </a:xfrm>
          <a:prstGeom prst="rect">
            <a:avLst/>
          </a:prstGeom>
          <a:noFill/>
        </p:spPr>
        <p:txBody>
          <a:bodyPr wrap="square" lIns="0" tIns="45720" rIns="0" bIns="45720" rtlCol="0" anchor="t">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endParaRPr kumimoji="0" lang="en-US" sz="2800" b="1" i="0" u="none" strike="noStrike" kern="1200" cap="none" spc="0" normalizeH="0" baseline="0" noProof="0" dirty="0">
              <a:ln>
                <a:noFill/>
              </a:ln>
              <a:solidFill>
                <a:prstClr val="white"/>
              </a:solidFill>
              <a:effectLst/>
              <a:uLnTx/>
              <a:uFillTx/>
              <a:latin typeface="+mj-lt"/>
              <a:ea typeface="+mn-ea"/>
              <a:cs typeface="+mn-cs"/>
            </a:endParaRPr>
          </a:p>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4000" b="1" i="0" u="none" strike="noStrike" kern="1200" cap="none" spc="0" normalizeH="0" baseline="0" noProof="0" dirty="0">
                <a:ln>
                  <a:noFill/>
                </a:ln>
                <a:solidFill>
                  <a:prstClr val="white"/>
                </a:solidFill>
                <a:effectLst/>
                <a:uLnTx/>
                <a:uFillTx/>
                <a:latin typeface="+mj-lt"/>
                <a:ea typeface="+mn-ea"/>
                <a:cs typeface="+mn-cs"/>
              </a:rPr>
              <a:t>Thank you</a:t>
            </a:r>
          </a:p>
        </p:txBody>
      </p:sp>
    </p:spTree>
    <p:extLst>
      <p:ext uri="{BB962C8B-B14F-4D97-AF65-F5344CB8AC3E}">
        <p14:creationId xmlns:p14="http://schemas.microsoft.com/office/powerpoint/2010/main" val="3980653683"/>
      </p:ext>
    </p:extLst>
  </p:cSld>
  <p:clrMapOvr>
    <a:masterClrMapping/>
  </p:clrMapOvr>
  <p:transition>
    <p:fade/>
  </p:transition>
</p:sld>
</file>

<file path=ppt/theme/theme1.xml><?xml version="1.0" encoding="utf-8"?>
<a:theme xmlns:a="http://schemas.openxmlformats.org/drawingml/2006/main" name="2025 Foster Template">
  <a:themeElements>
    <a:clrScheme name="2025 Foster">
      <a:dk1>
        <a:srgbClr val="000000"/>
      </a:dk1>
      <a:lt1>
        <a:srgbClr val="FFFFFF"/>
      </a:lt1>
      <a:dk2>
        <a:srgbClr val="32006E"/>
      </a:dk2>
      <a:lt2>
        <a:srgbClr val="FFFFFF"/>
      </a:lt2>
      <a:accent1>
        <a:srgbClr val="B7A579"/>
      </a:accent1>
      <a:accent2>
        <a:srgbClr val="8C51FF"/>
      </a:accent2>
      <a:accent3>
        <a:srgbClr val="917B4C"/>
      </a:accent3>
      <a:accent4>
        <a:srgbClr val="000000"/>
      </a:accent4>
      <a:accent5>
        <a:srgbClr val="D6D5E6"/>
      </a:accent5>
      <a:accent6>
        <a:srgbClr val="C1BAEB"/>
      </a:accent6>
      <a:hlink>
        <a:srgbClr val="6A44AC"/>
      </a:hlink>
      <a:folHlink>
        <a:srgbClr val="6A45AB"/>
      </a:folHlink>
    </a:clrScheme>
    <a:fontScheme name="Custom 1">
      <a:majorFont>
        <a:latin typeface="Encode Sans Normal"/>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extLst>
    <a:ext uri="{05A4C25C-085E-4340-85A3-A5531E510DB2}">
      <thm15:themeFamily xmlns:thm15="http://schemas.microsoft.com/office/thememl/2012/main" name="Presentation1" id="{C83D68AC-D092-DE4D-91CD-78B5B2F14BB7}" vid="{76B0F23E-65E1-BF4F-AD56-3242312FE2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e08c221-0eca-4d51-ae15-1dc733eb7f09">
      <Terms xmlns="http://schemas.microsoft.com/office/infopath/2007/PartnerControls"/>
    </lcf76f155ced4ddcb4097134ff3c332f>
    <TaxCatchAll xmlns="ab06a5aa-8e31-4bdb-9b13-38c58a92ec8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02147D869F5D4A8DCDB203BDC4D329" ma:contentTypeVersion="15" ma:contentTypeDescription="Create a new document." ma:contentTypeScope="" ma:versionID="f17a597da68fab695020270d6a7086cb">
  <xsd:schema xmlns:xsd="http://www.w3.org/2001/XMLSchema" xmlns:xs="http://www.w3.org/2001/XMLSchema" xmlns:p="http://schemas.microsoft.com/office/2006/metadata/properties" xmlns:ns2="3e08c221-0eca-4d51-ae15-1dc733eb7f09" xmlns:ns3="59ca73c7-24b6-45ce-ba44-a049ea6a0300" xmlns:ns4="ab06a5aa-8e31-4bdb-9b13-38c58a92ec8a" targetNamespace="http://schemas.microsoft.com/office/2006/metadata/properties" ma:root="true" ma:fieldsID="50ee8e58bc979c30809c6ae6bdc56957" ns2:_="" ns3:_="" ns4:_="">
    <xsd:import namespace="3e08c221-0eca-4d51-ae15-1dc733eb7f09"/>
    <xsd:import namespace="59ca73c7-24b6-45ce-ba44-a049ea6a0300"/>
    <xsd:import namespace="ab06a5aa-8e31-4bdb-9b13-38c58a92ec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8c221-0eca-4d51-ae15-1dc733eb7f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20148b9-20a4-48a0-acba-ba52d68a37a3"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ca73c7-24b6-45ce-ba44-a049ea6a030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06a5aa-8e31-4bdb-9b13-38c58a92ec8a"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06e45dac-407b-4abe-b599-ada99fe8f0c3}" ma:internalName="TaxCatchAll" ma:showField="CatchAllData" ma:web="59ca73c7-24b6-45ce-ba44-a049ea6a03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FAB5FD-9BA7-405C-859C-9F45E41B0168}">
  <ds:schemaRefs>
    <ds:schemaRef ds:uri="http://schemas.microsoft.com/sharepoint/v3/contenttype/forms"/>
  </ds:schemaRefs>
</ds:datastoreItem>
</file>

<file path=customXml/itemProps2.xml><?xml version="1.0" encoding="utf-8"?>
<ds:datastoreItem xmlns:ds="http://schemas.openxmlformats.org/officeDocument/2006/customXml" ds:itemID="{D5E56C4E-BE7C-4EF0-9A58-932F2D9A29D2}">
  <ds:schemaRefs>
    <ds:schemaRef ds:uri="http://purl.org/dc/elements/1.1/"/>
    <ds:schemaRef ds:uri="http://schemas.microsoft.com/office/infopath/2007/PartnerControls"/>
    <ds:schemaRef ds:uri="ab06a5aa-8e31-4bdb-9b13-38c58a92ec8a"/>
    <ds:schemaRef ds:uri="http://www.w3.org/XML/1998/namespace"/>
    <ds:schemaRef ds:uri="3e08c221-0eca-4d51-ae15-1dc733eb7f09"/>
    <ds:schemaRef ds:uri="http://schemas.microsoft.com/office/2006/documentManagement/types"/>
    <ds:schemaRef ds:uri="http://schemas.openxmlformats.org/package/2006/metadata/core-properties"/>
    <ds:schemaRef ds:uri="http://schemas.microsoft.com/office/2006/metadata/properties"/>
    <ds:schemaRef ds:uri="59ca73c7-24b6-45ce-ba44-a049ea6a0300"/>
    <ds:schemaRef ds:uri="http://purl.org/dc/dcmitype/"/>
    <ds:schemaRef ds:uri="http://purl.org/dc/terms/"/>
  </ds:schemaRefs>
</ds:datastoreItem>
</file>

<file path=customXml/itemProps3.xml><?xml version="1.0" encoding="utf-8"?>
<ds:datastoreItem xmlns:ds="http://schemas.openxmlformats.org/officeDocument/2006/customXml" ds:itemID="{8187960B-CFD5-4D75-AB4F-AC2F70658F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08c221-0eca-4d51-ae15-1dc733eb7f09"/>
    <ds:schemaRef ds:uri="59ca73c7-24b6-45ce-ba44-a049ea6a0300"/>
    <ds:schemaRef ds:uri="ab06a5aa-8e31-4bdb-9b13-38c58a92ec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
  <TotalTime>1915</TotalTime>
  <Words>2784</Words>
  <Application>Microsoft Office PowerPoint</Application>
  <PresentationFormat>On-screen Show (16:9)</PresentationFormat>
  <Paragraphs>308</Paragraphs>
  <Slides>32</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Times New Roman</vt:lpstr>
      <vt:lpstr>Uni Sans Regular</vt:lpstr>
      <vt:lpstr>HelveticaNeueLT Pro 55 Roman</vt:lpstr>
      <vt:lpstr>Calibri</vt:lpstr>
      <vt:lpstr>Open Sans Light</vt:lpstr>
      <vt:lpstr>Arial</vt:lpstr>
      <vt:lpstr>Encode Sans Normal ExtraBold</vt:lpstr>
      <vt:lpstr>Open Sans</vt:lpstr>
      <vt:lpstr>Encode Sans Normal Medium</vt:lpstr>
      <vt:lpstr>Courier New</vt:lpstr>
      <vt:lpstr>2025 Foster Template</vt:lpstr>
      <vt:lpstr>Individual RPA Workshop</vt:lpstr>
      <vt:lpstr>What will we do today?</vt:lpstr>
      <vt:lpstr>Course Diagram (high-level)</vt:lpstr>
      <vt:lpstr>PowerPoint Presentation</vt:lpstr>
      <vt:lpstr>What is BPMN?</vt:lpstr>
      <vt:lpstr>BPMN Example with Gateways</vt:lpstr>
      <vt:lpstr>BPMN main set-up</vt:lpstr>
      <vt:lpstr>PowerPoint Presentation</vt:lpstr>
      <vt:lpstr>PowerPoint Presentation</vt:lpstr>
      <vt:lpstr>PowerPoint Presentation</vt:lpstr>
      <vt:lpstr>PowerPoint Presentation</vt:lpstr>
      <vt:lpstr>Gateways</vt:lpstr>
      <vt:lpstr>BPMN Example with Gateways</vt:lpstr>
      <vt:lpstr>Parallel Gateways</vt:lpstr>
      <vt:lpstr>PowerPoint Presentation</vt:lpstr>
      <vt:lpstr>PowerPoint Presentation</vt:lpstr>
      <vt:lpstr>PowerPoint Presentation</vt:lpstr>
      <vt:lpstr>PowerPoint Presentation</vt:lpstr>
      <vt:lpstr>PowerPoint Presentation</vt:lpstr>
      <vt:lpstr>Best Practices</vt:lpstr>
      <vt:lpstr>PowerPoint Presentation</vt:lpstr>
      <vt:lpstr>PowerPoint Presentation</vt:lpstr>
      <vt:lpstr>PowerPoint Presentation</vt:lpstr>
      <vt:lpstr>PowerPoint Presentation</vt:lpstr>
      <vt:lpstr>PowerPoint Presentation</vt:lpstr>
      <vt:lpstr>PowerPoint Presentation</vt:lpstr>
      <vt:lpstr>What will we do today?</vt:lpstr>
      <vt:lpstr>PowerPoint Presentation</vt:lpstr>
      <vt:lpstr>Submission overview: Canvas</vt:lpstr>
      <vt:lpstr>What will we do today?</vt:lpstr>
      <vt:lpstr>Where we will go next</vt:lpstr>
      <vt:lpstr>PowerPoint Presentation</vt:lpstr>
    </vt:vector>
  </TitlesOfParts>
  <Manager/>
  <Company>UW Foster School of Business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Foster Template</dc:title>
  <dc:subject/>
  <dc:creator>Stephanie Hennessy</dc:creator>
  <cp:keywords>PowerPoint, Template</cp:keywords>
  <dc:description/>
  <cp:lastModifiedBy>Asher Curtis</cp:lastModifiedBy>
  <cp:revision>9</cp:revision>
  <cp:lastPrinted>2026-04-13T16:46:17Z</cp:lastPrinted>
  <dcterms:created xsi:type="dcterms:W3CDTF">2026-02-18T18:51:35Z</dcterms:created>
  <dcterms:modified xsi:type="dcterms:W3CDTF">2026-04-14T21:27:11Z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0x010100CC02147D869F5D4A8DCDB203BDC4D329</vt:lpwstr>
  </property>
  <property fmtid="{D5CDD505-2E9C-101B-9397-08002B2CF9AE}" pid="3" name="ImageCreateDate">
    <vt:lpwstr/>
  </property>
  <property fmtid="{D5CDD505-2E9C-101B-9397-08002B2CF9AE}" pid="4" name="Foster Site Scope">
    <vt:lpwstr>Intranet</vt:lpwstr>
  </property>
  <property fmtid="{D5CDD505-2E9C-101B-9397-08002B2CF9AE}" pid="5" name="Foster Permission Form">
    <vt:lpwstr/>
  </property>
  <property fmtid="{D5CDD505-2E9C-101B-9397-08002B2CF9AE}" pid="6" name="This needs to be set to identify the intended use of this image.  Examples would be &quot;Homepage&quot; or &quot;Program Cent">
    <vt:lpwstr/>
  </property>
  <property fmtid="{D5CDD505-2E9C-101B-9397-08002B2CF9AE}" pid="7" name="Page Location">
    <vt:lpwstr>Brand</vt:lpwstr>
  </property>
  <property fmtid="{D5CDD505-2E9C-101B-9397-08002B2CF9AE}" pid="8" name="Caption">
    <vt:lpwstr/>
  </property>
  <property fmtid="{D5CDD505-2E9C-101B-9397-08002B2CF9AE}" pid="9" name="Source Image">
    <vt:lpwstr/>
  </property>
  <property fmtid="{D5CDD505-2E9C-101B-9397-08002B2CF9AE}" pid="10" name="Comments">
    <vt:lpwstr/>
  </property>
  <property fmtid="{D5CDD505-2E9C-101B-9397-08002B2CF9AE}" pid="11" name="Order">
    <vt:r8>2700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MediaServiceImageTags">
    <vt:lpwstr/>
  </property>
</Properties>
</file>