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495" r:id="rId5"/>
    <p:sldId id="510" r:id="rId6"/>
    <p:sldId id="737" r:id="rId7"/>
    <p:sldId id="544" r:id="rId8"/>
    <p:sldId id="2017" r:id="rId9"/>
    <p:sldId id="881" r:id="rId10"/>
    <p:sldId id="2021" r:id="rId11"/>
    <p:sldId id="2009" r:id="rId12"/>
    <p:sldId id="2022" r:id="rId13"/>
    <p:sldId id="2023" r:id="rId14"/>
    <p:sldId id="2025" r:id="rId15"/>
    <p:sldId id="2027" r:id="rId16"/>
    <p:sldId id="2024" r:id="rId17"/>
    <p:sldId id="2028" r:id="rId18"/>
    <p:sldId id="809" r:id="rId19"/>
  </p:sldIdLst>
  <p:sldSz cx="9144000" cy="5143500" type="screen16x9"/>
  <p:notesSz cx="7315200" cy="96012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D555BDC-712A-D847-BE44-26DF3EC466F7}">
          <p14:sldIdLst>
            <p14:sldId id="495"/>
            <p14:sldId id="510"/>
            <p14:sldId id="737"/>
            <p14:sldId id="544"/>
            <p14:sldId id="2017"/>
            <p14:sldId id="881"/>
            <p14:sldId id="2021"/>
            <p14:sldId id="2009"/>
            <p14:sldId id="2022"/>
            <p14:sldId id="2023"/>
            <p14:sldId id="2025"/>
            <p14:sldId id="2027"/>
            <p14:sldId id="2024"/>
            <p14:sldId id="2028"/>
            <p14:sldId id="8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28">
          <p15:clr>
            <a:srgbClr val="A4A3A4"/>
          </p15:clr>
        </p15:guide>
        <p15:guide id="5" pos="28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2985"/>
    <a:srgbClr val="0000FF"/>
    <a:srgbClr val="C09F29"/>
    <a:srgbClr val="B9A077"/>
    <a:srgbClr val="361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F46CD5-8F23-4C1E-92B8-B1A7BDA86CE7}" v="1" dt="2025-11-18T20:51:14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3222" y="150"/>
      </p:cViewPr>
      <p:guideLst>
        <p:guide orient="horz" pos="2148"/>
        <p:guide pos="2880"/>
        <p:guide orient="horz" pos="1620"/>
        <p:guide pos="228"/>
        <p:guide pos="28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494c4f5b-6d11-415a-9d9e-829c1135aa91" providerId="ADAL" clId="{FDEDEEF3-7275-4161-A24C-7071BE30F9A7}"/>
    <pc:docChg chg="custSel modSld modNotesMaster modHandout">
      <pc:chgData name="Asher Curtis" userId="494c4f5b-6d11-415a-9d9e-829c1135aa91" providerId="ADAL" clId="{FDEDEEF3-7275-4161-A24C-7071BE30F9A7}" dt="2025-11-18T20:51:14.088" v="1"/>
      <pc:docMkLst>
        <pc:docMk/>
      </pc:docMkLst>
      <pc:sldChg chg="modSp mod">
        <pc:chgData name="Asher Curtis" userId="494c4f5b-6d11-415a-9d9e-829c1135aa91" providerId="ADAL" clId="{FDEDEEF3-7275-4161-A24C-7071BE30F9A7}" dt="2025-11-18T20:50:41.185" v="0" actId="313"/>
        <pc:sldMkLst>
          <pc:docMk/>
          <pc:sldMk cId="384289130" sldId="495"/>
        </pc:sldMkLst>
        <pc:spChg chg="mod">
          <ac:chgData name="Asher Curtis" userId="494c4f5b-6d11-415a-9d9e-829c1135aa91" providerId="ADAL" clId="{FDEDEEF3-7275-4161-A24C-7071BE30F9A7}" dt="2025-11-18T20:50:41.185" v="0" actId="313"/>
          <ac:spMkLst>
            <pc:docMk/>
            <pc:sldMk cId="384289130" sldId="495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B883A-14C1-4AD8-8C10-5BF617763380}" type="doc">
      <dgm:prSet loTypeId="urn:microsoft.com/office/officeart/2008/layout/IncreasingCircle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B31FCA5-D60D-492A-8182-A004FCFB8C16}">
      <dgm:prSet phldrT="[Text]" custT="1"/>
      <dgm:spPr/>
      <dgm:t>
        <a:bodyPr/>
        <a:lstStyle/>
        <a:p>
          <a:r>
            <a:rPr lang="en-US" sz="1100" dirty="0"/>
            <a:t>First Line of Defense</a:t>
          </a:r>
        </a:p>
      </dgm:t>
    </dgm:pt>
    <dgm:pt modelId="{084647FC-ACA8-4680-A623-74EBE03C1756}" type="parTrans" cxnId="{6D8159A3-8FA3-426E-BB5F-6113C0984EE9}">
      <dgm:prSet/>
      <dgm:spPr/>
      <dgm:t>
        <a:bodyPr/>
        <a:lstStyle/>
        <a:p>
          <a:endParaRPr lang="en-US"/>
        </a:p>
      </dgm:t>
    </dgm:pt>
    <dgm:pt modelId="{12DD95AB-B8B8-4BDE-887B-FBA8040B6DBF}" type="sibTrans" cxnId="{6D8159A3-8FA3-426E-BB5F-6113C0984EE9}">
      <dgm:prSet/>
      <dgm:spPr/>
      <dgm:t>
        <a:bodyPr/>
        <a:lstStyle/>
        <a:p>
          <a:endParaRPr lang="en-US"/>
        </a:p>
      </dgm:t>
    </dgm:pt>
    <dgm:pt modelId="{404A806A-05B5-44C6-8FD8-428B92177C09}">
      <dgm:prSet phldrT="[Text]" custT="1"/>
      <dgm:spPr/>
      <dgm:t>
        <a:bodyPr/>
        <a:lstStyle/>
        <a:p>
          <a:r>
            <a:rPr lang="en-US" sz="1100" dirty="0"/>
            <a:t>Second Line of Defense</a:t>
          </a:r>
        </a:p>
      </dgm:t>
    </dgm:pt>
    <dgm:pt modelId="{C86CF8F9-C3DC-4803-9102-E4CC7DACDFEA}" type="parTrans" cxnId="{CB41C78F-83F2-4110-9C9F-D3EA368188DD}">
      <dgm:prSet/>
      <dgm:spPr/>
      <dgm:t>
        <a:bodyPr/>
        <a:lstStyle/>
        <a:p>
          <a:endParaRPr lang="en-US"/>
        </a:p>
      </dgm:t>
    </dgm:pt>
    <dgm:pt modelId="{4BCFFDF2-A051-4DF3-B01C-2E98509E27AD}" type="sibTrans" cxnId="{CB41C78F-83F2-4110-9C9F-D3EA368188DD}">
      <dgm:prSet/>
      <dgm:spPr/>
      <dgm:t>
        <a:bodyPr/>
        <a:lstStyle/>
        <a:p>
          <a:endParaRPr lang="en-US"/>
        </a:p>
      </dgm:t>
    </dgm:pt>
    <dgm:pt modelId="{DD8C5602-9C61-4C5B-9CCA-B1CEA97233C5}">
      <dgm:prSet phldrT="[Text]" custT="1"/>
      <dgm:spPr/>
      <dgm:t>
        <a:bodyPr/>
        <a:lstStyle/>
        <a:p>
          <a:r>
            <a:rPr lang="en-US" sz="1100" dirty="0"/>
            <a:t>Third Line of Defense</a:t>
          </a:r>
        </a:p>
      </dgm:t>
    </dgm:pt>
    <dgm:pt modelId="{72361164-09EE-4412-B1CB-3EF8CC53E04E}" type="parTrans" cxnId="{5F7C7740-11EB-4546-8B95-6C9739EEBD09}">
      <dgm:prSet/>
      <dgm:spPr/>
      <dgm:t>
        <a:bodyPr/>
        <a:lstStyle/>
        <a:p>
          <a:endParaRPr lang="en-US"/>
        </a:p>
      </dgm:t>
    </dgm:pt>
    <dgm:pt modelId="{D7D89C23-B1E4-43D2-A45D-96CE31AADEA2}" type="sibTrans" cxnId="{5F7C7740-11EB-4546-8B95-6C9739EEBD09}">
      <dgm:prSet/>
      <dgm:spPr/>
      <dgm:t>
        <a:bodyPr/>
        <a:lstStyle/>
        <a:p>
          <a:endParaRPr lang="en-US"/>
        </a:p>
      </dgm:t>
    </dgm:pt>
    <dgm:pt modelId="{300AEBD2-DE8C-4172-AF0F-79DEF210F5C5}" type="pres">
      <dgm:prSet presAssocID="{95BB883A-14C1-4AD8-8C10-5BF617763380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041E182E-9544-42E7-8FC1-C0FF2E66957B}" type="pres">
      <dgm:prSet presAssocID="{4B31FCA5-D60D-492A-8182-A004FCFB8C16}" presName="composite" presStyleCnt="0"/>
      <dgm:spPr/>
    </dgm:pt>
    <dgm:pt modelId="{1E43CAB0-3352-4177-9513-B638365F12DD}" type="pres">
      <dgm:prSet presAssocID="{4B31FCA5-D60D-492A-8182-A004FCFB8C16}" presName="BackAccent" presStyleLbl="bgShp" presStyleIdx="0" presStyleCnt="3"/>
      <dgm:spPr/>
    </dgm:pt>
    <dgm:pt modelId="{4ED02604-E7CF-4A7D-BB12-8714823B771A}" type="pres">
      <dgm:prSet presAssocID="{4B31FCA5-D60D-492A-8182-A004FCFB8C16}" presName="Accent" presStyleLbl="alignNode1" presStyleIdx="0" presStyleCnt="3"/>
      <dgm:spPr/>
    </dgm:pt>
    <dgm:pt modelId="{3C6E81A2-2652-444B-B92C-6A7189C05A6A}" type="pres">
      <dgm:prSet presAssocID="{4B31FCA5-D60D-492A-8182-A004FCFB8C16}" presName="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BADBB54-D8DA-4C72-ADD2-14CB8E1041C3}" type="pres">
      <dgm:prSet presAssocID="{4B31FCA5-D60D-492A-8182-A004FCFB8C16}" presName="Parent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CE2B3516-6FEC-46C0-ADBE-C26765C115C4}" type="pres">
      <dgm:prSet presAssocID="{12DD95AB-B8B8-4BDE-887B-FBA8040B6DBF}" presName="sibTrans" presStyleCnt="0"/>
      <dgm:spPr/>
    </dgm:pt>
    <dgm:pt modelId="{3C1E0FED-BAF1-4526-A177-19AAED8176E6}" type="pres">
      <dgm:prSet presAssocID="{404A806A-05B5-44C6-8FD8-428B92177C09}" presName="composite" presStyleCnt="0"/>
      <dgm:spPr/>
    </dgm:pt>
    <dgm:pt modelId="{BBCEF65E-4C73-4CC0-BCCA-E3F2CB3109B4}" type="pres">
      <dgm:prSet presAssocID="{404A806A-05B5-44C6-8FD8-428B92177C09}" presName="BackAccent" presStyleLbl="bgShp" presStyleIdx="1" presStyleCnt="3"/>
      <dgm:spPr/>
    </dgm:pt>
    <dgm:pt modelId="{2C988AAD-8748-4FBA-9AD2-457CE5D60D63}" type="pres">
      <dgm:prSet presAssocID="{404A806A-05B5-44C6-8FD8-428B92177C09}" presName="Accent" presStyleLbl="alignNode1" presStyleIdx="1" presStyleCnt="3"/>
      <dgm:spPr/>
    </dgm:pt>
    <dgm:pt modelId="{23573ED9-9466-4C3B-9EEB-61FEC6D718B2}" type="pres">
      <dgm:prSet presAssocID="{404A806A-05B5-44C6-8FD8-428B92177C09}" presName="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BF964679-61D1-4643-9D22-EFBFC70B0346}" type="pres">
      <dgm:prSet presAssocID="{404A806A-05B5-44C6-8FD8-428B92177C09}" presName="Parent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16A8DE88-2A64-4B75-B795-CA433FD851B7}" type="pres">
      <dgm:prSet presAssocID="{4BCFFDF2-A051-4DF3-B01C-2E98509E27AD}" presName="sibTrans" presStyleCnt="0"/>
      <dgm:spPr/>
    </dgm:pt>
    <dgm:pt modelId="{83BCA711-1258-4586-919B-C5E1E51E99C0}" type="pres">
      <dgm:prSet presAssocID="{DD8C5602-9C61-4C5B-9CCA-B1CEA97233C5}" presName="composite" presStyleCnt="0"/>
      <dgm:spPr/>
    </dgm:pt>
    <dgm:pt modelId="{E41D31EC-B3E8-4F5B-8127-D578817FD1C6}" type="pres">
      <dgm:prSet presAssocID="{DD8C5602-9C61-4C5B-9CCA-B1CEA97233C5}" presName="BackAccent" presStyleLbl="bgShp" presStyleIdx="2" presStyleCnt="3"/>
      <dgm:spPr/>
    </dgm:pt>
    <dgm:pt modelId="{71076B0F-7384-4B14-9FA6-FD35430B3DBA}" type="pres">
      <dgm:prSet presAssocID="{DD8C5602-9C61-4C5B-9CCA-B1CEA97233C5}" presName="Accent" presStyleLbl="alignNode1" presStyleIdx="2" presStyleCnt="3" custLinFactNeighborX="1" custLinFactNeighborY="-1834"/>
      <dgm:spPr/>
    </dgm:pt>
    <dgm:pt modelId="{2FD88A77-1C6E-4411-AC57-BEB17F5E9AA1}" type="pres">
      <dgm:prSet presAssocID="{DD8C5602-9C61-4C5B-9CCA-B1CEA97233C5}" presName="Child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593F88C-86DF-4D0C-8A91-FAD4F6690274}" type="pres">
      <dgm:prSet presAssocID="{DD8C5602-9C61-4C5B-9CCA-B1CEA97233C5}" presName="Parent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D5F90638-12A4-4D36-B16A-19C38AD373DA}" type="presOf" srcId="{95BB883A-14C1-4AD8-8C10-5BF617763380}" destId="{300AEBD2-DE8C-4172-AF0F-79DEF210F5C5}" srcOrd="0" destOrd="0" presId="urn:microsoft.com/office/officeart/2008/layout/IncreasingCircleProcess"/>
    <dgm:cxn modelId="{5F7C7740-11EB-4546-8B95-6C9739EEBD09}" srcId="{95BB883A-14C1-4AD8-8C10-5BF617763380}" destId="{DD8C5602-9C61-4C5B-9CCA-B1CEA97233C5}" srcOrd="2" destOrd="0" parTransId="{72361164-09EE-4412-B1CB-3EF8CC53E04E}" sibTransId="{D7D89C23-B1E4-43D2-A45D-96CE31AADEA2}"/>
    <dgm:cxn modelId="{0DB17F61-6AC7-40A9-9481-A8F4E3234269}" type="presOf" srcId="{404A806A-05B5-44C6-8FD8-428B92177C09}" destId="{BF964679-61D1-4643-9D22-EFBFC70B0346}" srcOrd="0" destOrd="0" presId="urn:microsoft.com/office/officeart/2008/layout/IncreasingCircleProcess"/>
    <dgm:cxn modelId="{CB41C78F-83F2-4110-9C9F-D3EA368188DD}" srcId="{95BB883A-14C1-4AD8-8C10-5BF617763380}" destId="{404A806A-05B5-44C6-8FD8-428B92177C09}" srcOrd="1" destOrd="0" parTransId="{C86CF8F9-C3DC-4803-9102-E4CC7DACDFEA}" sibTransId="{4BCFFDF2-A051-4DF3-B01C-2E98509E27AD}"/>
    <dgm:cxn modelId="{6D8159A3-8FA3-426E-BB5F-6113C0984EE9}" srcId="{95BB883A-14C1-4AD8-8C10-5BF617763380}" destId="{4B31FCA5-D60D-492A-8182-A004FCFB8C16}" srcOrd="0" destOrd="0" parTransId="{084647FC-ACA8-4680-A623-74EBE03C1756}" sibTransId="{12DD95AB-B8B8-4BDE-887B-FBA8040B6DBF}"/>
    <dgm:cxn modelId="{409487C1-6A25-4A69-8CD6-A89AE0970DC8}" type="presOf" srcId="{DD8C5602-9C61-4C5B-9CCA-B1CEA97233C5}" destId="{C593F88C-86DF-4D0C-8A91-FAD4F6690274}" srcOrd="0" destOrd="0" presId="urn:microsoft.com/office/officeart/2008/layout/IncreasingCircleProcess"/>
    <dgm:cxn modelId="{B88819E0-3B5B-44B2-83E4-A3BF9168E0DB}" type="presOf" srcId="{4B31FCA5-D60D-492A-8182-A004FCFB8C16}" destId="{6BADBB54-D8DA-4C72-ADD2-14CB8E1041C3}" srcOrd="0" destOrd="0" presId="urn:microsoft.com/office/officeart/2008/layout/IncreasingCircleProcess"/>
    <dgm:cxn modelId="{248E5492-C1BF-4B69-B0A5-8C49EACD3E78}" type="presParOf" srcId="{300AEBD2-DE8C-4172-AF0F-79DEF210F5C5}" destId="{041E182E-9544-42E7-8FC1-C0FF2E66957B}" srcOrd="0" destOrd="0" presId="urn:microsoft.com/office/officeart/2008/layout/IncreasingCircleProcess"/>
    <dgm:cxn modelId="{B233A53B-4A0A-434F-B2B5-377830072B1E}" type="presParOf" srcId="{041E182E-9544-42E7-8FC1-C0FF2E66957B}" destId="{1E43CAB0-3352-4177-9513-B638365F12DD}" srcOrd="0" destOrd="0" presId="urn:microsoft.com/office/officeart/2008/layout/IncreasingCircleProcess"/>
    <dgm:cxn modelId="{48F992AD-8820-4058-8963-A1513AF71B14}" type="presParOf" srcId="{041E182E-9544-42E7-8FC1-C0FF2E66957B}" destId="{4ED02604-E7CF-4A7D-BB12-8714823B771A}" srcOrd="1" destOrd="0" presId="urn:microsoft.com/office/officeart/2008/layout/IncreasingCircleProcess"/>
    <dgm:cxn modelId="{2FDFF085-1472-43B1-82BF-394696167EB1}" type="presParOf" srcId="{041E182E-9544-42E7-8FC1-C0FF2E66957B}" destId="{3C6E81A2-2652-444B-B92C-6A7189C05A6A}" srcOrd="2" destOrd="0" presId="urn:microsoft.com/office/officeart/2008/layout/IncreasingCircleProcess"/>
    <dgm:cxn modelId="{826A9C52-89D6-4249-856E-2372A038FEEC}" type="presParOf" srcId="{041E182E-9544-42E7-8FC1-C0FF2E66957B}" destId="{6BADBB54-D8DA-4C72-ADD2-14CB8E1041C3}" srcOrd="3" destOrd="0" presId="urn:microsoft.com/office/officeart/2008/layout/IncreasingCircleProcess"/>
    <dgm:cxn modelId="{4E0A8080-BB00-436C-9709-F7EE412F8BCA}" type="presParOf" srcId="{300AEBD2-DE8C-4172-AF0F-79DEF210F5C5}" destId="{CE2B3516-6FEC-46C0-ADBE-C26765C115C4}" srcOrd="1" destOrd="0" presId="urn:microsoft.com/office/officeart/2008/layout/IncreasingCircleProcess"/>
    <dgm:cxn modelId="{70ABBF2E-6A36-4C23-970C-44F1E570816D}" type="presParOf" srcId="{300AEBD2-DE8C-4172-AF0F-79DEF210F5C5}" destId="{3C1E0FED-BAF1-4526-A177-19AAED8176E6}" srcOrd="2" destOrd="0" presId="urn:microsoft.com/office/officeart/2008/layout/IncreasingCircleProcess"/>
    <dgm:cxn modelId="{51C66EF3-6E7E-4906-8AEC-85F73DB607C1}" type="presParOf" srcId="{3C1E0FED-BAF1-4526-A177-19AAED8176E6}" destId="{BBCEF65E-4C73-4CC0-BCCA-E3F2CB3109B4}" srcOrd="0" destOrd="0" presId="urn:microsoft.com/office/officeart/2008/layout/IncreasingCircleProcess"/>
    <dgm:cxn modelId="{90E9D187-1564-4E45-AE1E-D08C83A43935}" type="presParOf" srcId="{3C1E0FED-BAF1-4526-A177-19AAED8176E6}" destId="{2C988AAD-8748-4FBA-9AD2-457CE5D60D63}" srcOrd="1" destOrd="0" presId="urn:microsoft.com/office/officeart/2008/layout/IncreasingCircleProcess"/>
    <dgm:cxn modelId="{EBF0D7D7-5388-43B7-96CA-95C47B9FD661}" type="presParOf" srcId="{3C1E0FED-BAF1-4526-A177-19AAED8176E6}" destId="{23573ED9-9466-4C3B-9EEB-61FEC6D718B2}" srcOrd="2" destOrd="0" presId="urn:microsoft.com/office/officeart/2008/layout/IncreasingCircleProcess"/>
    <dgm:cxn modelId="{0F6A7CCF-BB46-4F1F-BFA5-BE6B5D01C108}" type="presParOf" srcId="{3C1E0FED-BAF1-4526-A177-19AAED8176E6}" destId="{BF964679-61D1-4643-9D22-EFBFC70B0346}" srcOrd="3" destOrd="0" presId="urn:microsoft.com/office/officeart/2008/layout/IncreasingCircleProcess"/>
    <dgm:cxn modelId="{19242FF6-158D-4F6F-8616-7227AFBFC568}" type="presParOf" srcId="{300AEBD2-DE8C-4172-AF0F-79DEF210F5C5}" destId="{16A8DE88-2A64-4B75-B795-CA433FD851B7}" srcOrd="3" destOrd="0" presId="urn:microsoft.com/office/officeart/2008/layout/IncreasingCircleProcess"/>
    <dgm:cxn modelId="{2BF426A8-61D5-43D1-A1E9-ABEB262A04A3}" type="presParOf" srcId="{300AEBD2-DE8C-4172-AF0F-79DEF210F5C5}" destId="{83BCA711-1258-4586-919B-C5E1E51E99C0}" srcOrd="4" destOrd="0" presId="urn:microsoft.com/office/officeart/2008/layout/IncreasingCircleProcess"/>
    <dgm:cxn modelId="{0D2474B5-F18B-456F-BFBF-D085D0B9A2C5}" type="presParOf" srcId="{83BCA711-1258-4586-919B-C5E1E51E99C0}" destId="{E41D31EC-B3E8-4F5B-8127-D578817FD1C6}" srcOrd="0" destOrd="0" presId="urn:microsoft.com/office/officeart/2008/layout/IncreasingCircleProcess"/>
    <dgm:cxn modelId="{39E0239A-3A25-451F-B0E1-F8AC76471BD8}" type="presParOf" srcId="{83BCA711-1258-4586-919B-C5E1E51E99C0}" destId="{71076B0F-7384-4B14-9FA6-FD35430B3DBA}" srcOrd="1" destOrd="0" presId="urn:microsoft.com/office/officeart/2008/layout/IncreasingCircleProcess"/>
    <dgm:cxn modelId="{D1FDA9B3-AF61-414E-8AB3-A70ED46B5016}" type="presParOf" srcId="{83BCA711-1258-4586-919B-C5E1E51E99C0}" destId="{2FD88A77-1C6E-4411-AC57-BEB17F5E9AA1}" srcOrd="2" destOrd="0" presId="urn:microsoft.com/office/officeart/2008/layout/IncreasingCircleProcess"/>
    <dgm:cxn modelId="{BFE08DB3-3BB1-499C-A6FB-E1BC2E8DB68F}" type="presParOf" srcId="{83BCA711-1258-4586-919B-C5E1E51E99C0}" destId="{C593F88C-86DF-4D0C-8A91-FAD4F6690274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43CAB0-3352-4177-9513-B638365F12DD}">
      <dsp:nvSpPr>
        <dsp:cNvPr id="0" name=""/>
        <dsp:cNvSpPr/>
      </dsp:nvSpPr>
      <dsp:spPr>
        <a:xfrm>
          <a:off x="984" y="0"/>
          <a:ext cx="598232" cy="598232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D02604-E7CF-4A7D-BB12-8714823B771A}">
      <dsp:nvSpPr>
        <dsp:cNvPr id="0" name=""/>
        <dsp:cNvSpPr/>
      </dsp:nvSpPr>
      <dsp:spPr>
        <a:xfrm>
          <a:off x="60807" y="59823"/>
          <a:ext cx="478586" cy="478586"/>
        </a:xfrm>
        <a:prstGeom prst="chord">
          <a:avLst>
            <a:gd name="adj1" fmla="val 1168272"/>
            <a:gd name="adj2" fmla="val 9631728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DBB54-D8DA-4C72-ADD2-14CB8E1041C3}">
      <dsp:nvSpPr>
        <dsp:cNvPr id="0" name=""/>
        <dsp:cNvSpPr/>
      </dsp:nvSpPr>
      <dsp:spPr>
        <a:xfrm>
          <a:off x="723849" y="0"/>
          <a:ext cx="1769771" cy="598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First Line of Defense</a:t>
          </a:r>
        </a:p>
      </dsp:txBody>
      <dsp:txXfrm>
        <a:off x="723849" y="0"/>
        <a:ext cx="1769771" cy="598232"/>
      </dsp:txXfrm>
    </dsp:sp>
    <dsp:sp modelId="{BBCEF65E-4C73-4CC0-BCCA-E3F2CB3109B4}">
      <dsp:nvSpPr>
        <dsp:cNvPr id="0" name=""/>
        <dsp:cNvSpPr/>
      </dsp:nvSpPr>
      <dsp:spPr>
        <a:xfrm>
          <a:off x="2618252" y="0"/>
          <a:ext cx="598232" cy="598232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88AAD-8748-4FBA-9AD2-457CE5D60D63}">
      <dsp:nvSpPr>
        <dsp:cNvPr id="0" name=""/>
        <dsp:cNvSpPr/>
      </dsp:nvSpPr>
      <dsp:spPr>
        <a:xfrm>
          <a:off x="2678075" y="59823"/>
          <a:ext cx="478586" cy="478586"/>
        </a:xfrm>
        <a:prstGeom prst="chord">
          <a:avLst>
            <a:gd name="adj1" fmla="val 20431728"/>
            <a:gd name="adj2" fmla="val 11968272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64679-61D1-4643-9D22-EFBFC70B0346}">
      <dsp:nvSpPr>
        <dsp:cNvPr id="0" name=""/>
        <dsp:cNvSpPr/>
      </dsp:nvSpPr>
      <dsp:spPr>
        <a:xfrm>
          <a:off x="3341116" y="0"/>
          <a:ext cx="1769771" cy="598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Second Line of Defense</a:t>
          </a:r>
        </a:p>
      </dsp:txBody>
      <dsp:txXfrm>
        <a:off x="3341116" y="0"/>
        <a:ext cx="1769771" cy="598232"/>
      </dsp:txXfrm>
    </dsp:sp>
    <dsp:sp modelId="{E41D31EC-B3E8-4F5B-8127-D578817FD1C6}">
      <dsp:nvSpPr>
        <dsp:cNvPr id="0" name=""/>
        <dsp:cNvSpPr/>
      </dsp:nvSpPr>
      <dsp:spPr>
        <a:xfrm>
          <a:off x="5235520" y="0"/>
          <a:ext cx="598232" cy="598232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76B0F-7384-4B14-9FA6-FD35430B3DBA}">
      <dsp:nvSpPr>
        <dsp:cNvPr id="0" name=""/>
        <dsp:cNvSpPr/>
      </dsp:nvSpPr>
      <dsp:spPr>
        <a:xfrm>
          <a:off x="5295348" y="51045"/>
          <a:ext cx="478586" cy="478586"/>
        </a:xfrm>
        <a:prstGeom prst="chord">
          <a:avLst>
            <a:gd name="adj1" fmla="val 162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3F88C-86DF-4D0C-8A91-FAD4F6690274}">
      <dsp:nvSpPr>
        <dsp:cNvPr id="0" name=""/>
        <dsp:cNvSpPr/>
      </dsp:nvSpPr>
      <dsp:spPr>
        <a:xfrm>
          <a:off x="5958384" y="0"/>
          <a:ext cx="1769771" cy="5982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Third Line of Defense</a:t>
          </a:r>
        </a:p>
      </dsp:txBody>
      <dsp:txXfrm>
        <a:off x="5958384" y="0"/>
        <a:ext cx="1769771" cy="598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F87AE820-DFE1-4C3C-B564-108A438BD633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11/18/2025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9C84BD-FF2B-4119-9416-77652C2C47E2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175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7C0560D2-22A1-4522-9A61-5BC081CC233D}" type="datetimeFigureOut">
              <a:rPr lang="en-US" smtClean="0"/>
              <a:pPr>
                <a:defRPr/>
              </a:pPr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7" rIns="96653" bIns="48327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14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51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37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19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 – Course Overview (3 legged stool)</a:t>
            </a:r>
          </a:p>
          <a:p>
            <a:r>
              <a:rPr lang="en-US" dirty="0"/>
              <a:t>Christina – Refer to Syllabus and go into depth on professionalism piece</a:t>
            </a:r>
          </a:p>
          <a:p>
            <a:r>
              <a:rPr lang="en-US" dirty="0"/>
              <a:t>See if class has any questions on syllabus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8507">
              <a:defRPr/>
            </a:pPr>
            <a:fld id="{30DDAE6E-1341-4F33-A4D7-DC004C47BC06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48507">
                <a:defRPr/>
              </a:pPr>
              <a:t>4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73796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BEC6-F1AD-EB7F-A31C-DBF324D7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D0C5F-6F68-DF6F-37FB-DAC3A0AF6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8949B-617C-80F3-7819-35760FBDB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 – Course Overview (3 legged stool)</a:t>
            </a:r>
          </a:p>
          <a:p>
            <a:r>
              <a:rPr lang="en-US" dirty="0"/>
              <a:t>Christina – Refer to Syllabus and go into depth on professionalism piece</a:t>
            </a:r>
          </a:p>
          <a:p>
            <a:r>
              <a:rPr lang="en-US" dirty="0"/>
              <a:t>See if class has any questions on syllabus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A32D2-8084-68CD-3C77-3364BA32A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8507">
              <a:defRPr/>
            </a:pPr>
            <a:fld id="{30DDAE6E-1341-4F33-A4D7-DC004C47BC06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48507">
                <a:defRPr/>
              </a:pPr>
              <a:t>5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20818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88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58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69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1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12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83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49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19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70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51" y="3014332"/>
            <a:ext cx="7762875" cy="538609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900" b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1951" y="1419523"/>
            <a:ext cx="7743825" cy="1272143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600"/>
              </a:lnSpc>
              <a:spcBef>
                <a:spcPts val="0"/>
              </a:spcBef>
              <a:defRPr sz="4400" b="0" cap="all" spc="-30" baseline="0">
                <a:solidFill>
                  <a:schemeClr val="tx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reeform 12"/>
          <p:cNvSpPr>
            <a:spLocks/>
          </p:cNvSpPr>
          <p:nvPr userDrawn="1"/>
        </p:nvSpPr>
        <p:spPr bwMode="auto">
          <a:xfrm>
            <a:off x="7951304" y="384934"/>
            <a:ext cx="1192696" cy="799273"/>
          </a:xfrm>
          <a:custGeom>
            <a:avLst/>
            <a:gdLst>
              <a:gd name="T0" fmla="*/ 88 w 3456"/>
              <a:gd name="T1" fmla="*/ 0 h 2317"/>
              <a:gd name="T2" fmla="*/ 462 w 3456"/>
              <a:gd name="T3" fmla="*/ 0 h 2317"/>
              <a:gd name="T4" fmla="*/ 1159 w 3456"/>
              <a:gd name="T5" fmla="*/ 0 h 2317"/>
              <a:gd name="T6" fmla="*/ 1231 w 3456"/>
              <a:gd name="T7" fmla="*/ 419 h 2317"/>
              <a:gd name="T8" fmla="*/ 953 w 3456"/>
              <a:gd name="T9" fmla="*/ 419 h 2317"/>
              <a:gd name="T10" fmla="*/ 1239 w 3456"/>
              <a:gd name="T11" fmla="*/ 1591 h 2317"/>
              <a:gd name="T12" fmla="*/ 1298 w 3456"/>
              <a:gd name="T13" fmla="*/ 1374 h 2317"/>
              <a:gd name="T14" fmla="*/ 1387 w 3456"/>
              <a:gd name="T15" fmla="*/ 1044 h 2317"/>
              <a:gd name="T16" fmla="*/ 1487 w 3456"/>
              <a:gd name="T17" fmla="*/ 673 h 2317"/>
              <a:gd name="T18" fmla="*/ 1580 w 3456"/>
              <a:gd name="T19" fmla="*/ 328 h 2317"/>
              <a:gd name="T20" fmla="*/ 1646 w 3456"/>
              <a:gd name="T21" fmla="*/ 81 h 2317"/>
              <a:gd name="T22" fmla="*/ 1763 w 3456"/>
              <a:gd name="T23" fmla="*/ 0 h 2317"/>
              <a:gd name="T24" fmla="*/ 2093 w 3456"/>
              <a:gd name="T25" fmla="*/ 0 h 2317"/>
              <a:gd name="T26" fmla="*/ 2122 w 3456"/>
              <a:gd name="T27" fmla="*/ 113 h 2317"/>
              <a:gd name="T28" fmla="*/ 2189 w 3456"/>
              <a:gd name="T29" fmla="*/ 380 h 2317"/>
              <a:gd name="T30" fmla="*/ 2277 w 3456"/>
              <a:gd name="T31" fmla="*/ 734 h 2317"/>
              <a:gd name="T32" fmla="*/ 2369 w 3456"/>
              <a:gd name="T33" fmla="*/ 1105 h 2317"/>
              <a:gd name="T34" fmla="*/ 2447 w 3456"/>
              <a:gd name="T35" fmla="*/ 1420 h 2317"/>
              <a:gd name="T36" fmla="*/ 2496 w 3456"/>
              <a:gd name="T37" fmla="*/ 1611 h 2317"/>
              <a:gd name="T38" fmla="*/ 2634 w 3456"/>
              <a:gd name="T39" fmla="*/ 419 h 2317"/>
              <a:gd name="T40" fmla="*/ 2536 w 3456"/>
              <a:gd name="T41" fmla="*/ 281 h 2317"/>
              <a:gd name="T42" fmla="*/ 2536 w 3456"/>
              <a:gd name="T43" fmla="*/ 0 h 2317"/>
              <a:gd name="T44" fmla="*/ 3215 w 3456"/>
              <a:gd name="T45" fmla="*/ 419 h 2317"/>
              <a:gd name="T46" fmla="*/ 3178 w 3456"/>
              <a:gd name="T47" fmla="*/ 446 h 2317"/>
              <a:gd name="T48" fmla="*/ 3127 w 3456"/>
              <a:gd name="T49" fmla="*/ 640 h 2317"/>
              <a:gd name="T50" fmla="*/ 3041 w 3456"/>
              <a:gd name="T51" fmla="*/ 967 h 2317"/>
              <a:gd name="T52" fmla="*/ 2938 w 3456"/>
              <a:gd name="T53" fmla="*/ 1360 h 2317"/>
              <a:gd name="T54" fmla="*/ 2833 w 3456"/>
              <a:gd name="T55" fmla="*/ 1754 h 2317"/>
              <a:gd name="T56" fmla="*/ 2746 w 3456"/>
              <a:gd name="T57" fmla="*/ 2084 h 2317"/>
              <a:gd name="T58" fmla="*/ 2693 w 3456"/>
              <a:gd name="T59" fmla="*/ 2286 h 2317"/>
              <a:gd name="T60" fmla="*/ 2525 w 3456"/>
              <a:gd name="T61" fmla="*/ 2317 h 2317"/>
              <a:gd name="T62" fmla="*/ 2242 w 3456"/>
              <a:gd name="T63" fmla="*/ 2317 h 2317"/>
              <a:gd name="T64" fmla="*/ 2020 w 3456"/>
              <a:gd name="T65" fmla="*/ 2301 h 2317"/>
              <a:gd name="T66" fmla="*/ 1977 w 3456"/>
              <a:gd name="T67" fmla="*/ 2131 h 2317"/>
              <a:gd name="T68" fmla="*/ 1906 w 3456"/>
              <a:gd name="T69" fmla="*/ 1845 h 2317"/>
              <a:gd name="T70" fmla="*/ 1825 w 3456"/>
              <a:gd name="T71" fmla="*/ 1527 h 2317"/>
              <a:gd name="T72" fmla="*/ 1758 w 3456"/>
              <a:gd name="T73" fmla="*/ 1258 h 2317"/>
              <a:gd name="T74" fmla="*/ 1725 w 3456"/>
              <a:gd name="T75" fmla="*/ 1126 h 2317"/>
              <a:gd name="T76" fmla="*/ 1705 w 3456"/>
              <a:gd name="T77" fmla="*/ 1195 h 2317"/>
              <a:gd name="T78" fmla="*/ 1644 w 3456"/>
              <a:gd name="T79" fmla="*/ 1428 h 2317"/>
              <a:gd name="T80" fmla="*/ 1561 w 3456"/>
              <a:gd name="T81" fmla="*/ 1739 h 2317"/>
              <a:gd name="T82" fmla="*/ 1481 w 3456"/>
              <a:gd name="T83" fmla="*/ 2045 h 2317"/>
              <a:gd name="T84" fmla="*/ 1423 w 3456"/>
              <a:gd name="T85" fmla="*/ 2263 h 2317"/>
              <a:gd name="T86" fmla="*/ 1272 w 3456"/>
              <a:gd name="T87" fmla="*/ 2317 h 2317"/>
              <a:gd name="T88" fmla="*/ 1012 w 3456"/>
              <a:gd name="T89" fmla="*/ 2317 h 2317"/>
              <a:gd name="T90" fmla="*/ 748 w 3456"/>
              <a:gd name="T91" fmla="*/ 2313 h 2317"/>
              <a:gd name="T92" fmla="*/ 711 w 3456"/>
              <a:gd name="T93" fmla="*/ 2169 h 2317"/>
              <a:gd name="T94" fmla="*/ 638 w 3456"/>
              <a:gd name="T95" fmla="*/ 1874 h 2317"/>
              <a:gd name="T96" fmla="*/ 542 w 3456"/>
              <a:gd name="T97" fmla="*/ 1494 h 2317"/>
              <a:gd name="T98" fmla="*/ 442 w 3456"/>
              <a:gd name="T99" fmla="*/ 1093 h 2317"/>
              <a:gd name="T100" fmla="*/ 353 w 3456"/>
              <a:gd name="T101" fmla="*/ 738 h 2317"/>
              <a:gd name="T102" fmla="*/ 291 w 3456"/>
              <a:gd name="T103" fmla="*/ 492 h 2317"/>
              <a:gd name="T104" fmla="*/ 118 w 3456"/>
              <a:gd name="T105" fmla="*/ 419 h 2317"/>
              <a:gd name="T106" fmla="*/ 0 w 3456"/>
              <a:gd name="T107" fmla="*/ 419 h 2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456" h="2317">
                <a:moveTo>
                  <a:pt x="0" y="0"/>
                </a:moveTo>
                <a:lnTo>
                  <a:pt x="15" y="0"/>
                </a:lnTo>
                <a:lnTo>
                  <a:pt x="22" y="0"/>
                </a:lnTo>
                <a:lnTo>
                  <a:pt x="43" y="0"/>
                </a:lnTo>
                <a:lnTo>
                  <a:pt x="71" y="0"/>
                </a:lnTo>
                <a:lnTo>
                  <a:pt x="88" y="0"/>
                </a:lnTo>
                <a:lnTo>
                  <a:pt x="189" y="0"/>
                </a:lnTo>
                <a:lnTo>
                  <a:pt x="237" y="0"/>
                </a:lnTo>
                <a:lnTo>
                  <a:pt x="289" y="0"/>
                </a:lnTo>
                <a:lnTo>
                  <a:pt x="345" y="0"/>
                </a:lnTo>
                <a:lnTo>
                  <a:pt x="402" y="0"/>
                </a:lnTo>
                <a:lnTo>
                  <a:pt x="462" y="0"/>
                </a:lnTo>
                <a:lnTo>
                  <a:pt x="941" y="0"/>
                </a:lnTo>
                <a:lnTo>
                  <a:pt x="993" y="0"/>
                </a:lnTo>
                <a:lnTo>
                  <a:pt x="1042" y="0"/>
                </a:lnTo>
                <a:lnTo>
                  <a:pt x="1106" y="0"/>
                </a:lnTo>
                <a:lnTo>
                  <a:pt x="1125" y="0"/>
                </a:lnTo>
                <a:lnTo>
                  <a:pt x="1159" y="0"/>
                </a:lnTo>
                <a:lnTo>
                  <a:pt x="1188" y="0"/>
                </a:lnTo>
                <a:lnTo>
                  <a:pt x="1231" y="0"/>
                </a:lnTo>
                <a:lnTo>
                  <a:pt x="1231" y="372"/>
                </a:lnTo>
                <a:lnTo>
                  <a:pt x="1231" y="394"/>
                </a:lnTo>
                <a:lnTo>
                  <a:pt x="1231" y="410"/>
                </a:lnTo>
                <a:lnTo>
                  <a:pt x="1231" y="419"/>
                </a:lnTo>
                <a:lnTo>
                  <a:pt x="1082" y="419"/>
                </a:lnTo>
                <a:lnTo>
                  <a:pt x="1053" y="419"/>
                </a:lnTo>
                <a:lnTo>
                  <a:pt x="1024" y="419"/>
                </a:lnTo>
                <a:lnTo>
                  <a:pt x="997" y="419"/>
                </a:lnTo>
                <a:lnTo>
                  <a:pt x="973" y="419"/>
                </a:lnTo>
                <a:lnTo>
                  <a:pt x="953" y="419"/>
                </a:lnTo>
                <a:lnTo>
                  <a:pt x="924" y="419"/>
                </a:lnTo>
                <a:lnTo>
                  <a:pt x="1226" y="1638"/>
                </a:lnTo>
                <a:lnTo>
                  <a:pt x="1227" y="1635"/>
                </a:lnTo>
                <a:lnTo>
                  <a:pt x="1229" y="1627"/>
                </a:lnTo>
                <a:lnTo>
                  <a:pt x="1234" y="1611"/>
                </a:lnTo>
                <a:lnTo>
                  <a:pt x="1239" y="1591"/>
                </a:lnTo>
                <a:lnTo>
                  <a:pt x="1246" y="1566"/>
                </a:lnTo>
                <a:lnTo>
                  <a:pt x="1255" y="1536"/>
                </a:lnTo>
                <a:lnTo>
                  <a:pt x="1264" y="1502"/>
                </a:lnTo>
                <a:lnTo>
                  <a:pt x="1275" y="1463"/>
                </a:lnTo>
                <a:lnTo>
                  <a:pt x="1286" y="1420"/>
                </a:lnTo>
                <a:lnTo>
                  <a:pt x="1298" y="1374"/>
                </a:lnTo>
                <a:lnTo>
                  <a:pt x="1311" y="1325"/>
                </a:lnTo>
                <a:lnTo>
                  <a:pt x="1325" y="1273"/>
                </a:lnTo>
                <a:lnTo>
                  <a:pt x="1339" y="1219"/>
                </a:lnTo>
                <a:lnTo>
                  <a:pt x="1355" y="1162"/>
                </a:lnTo>
                <a:lnTo>
                  <a:pt x="1371" y="1104"/>
                </a:lnTo>
                <a:lnTo>
                  <a:pt x="1387" y="1044"/>
                </a:lnTo>
                <a:lnTo>
                  <a:pt x="1403" y="984"/>
                </a:lnTo>
                <a:lnTo>
                  <a:pt x="1420" y="922"/>
                </a:lnTo>
                <a:lnTo>
                  <a:pt x="1437" y="860"/>
                </a:lnTo>
                <a:lnTo>
                  <a:pt x="1454" y="797"/>
                </a:lnTo>
                <a:lnTo>
                  <a:pt x="1470" y="734"/>
                </a:lnTo>
                <a:lnTo>
                  <a:pt x="1487" y="673"/>
                </a:lnTo>
                <a:lnTo>
                  <a:pt x="1504" y="611"/>
                </a:lnTo>
                <a:lnTo>
                  <a:pt x="1520" y="551"/>
                </a:lnTo>
                <a:lnTo>
                  <a:pt x="1535" y="492"/>
                </a:lnTo>
                <a:lnTo>
                  <a:pt x="1551" y="436"/>
                </a:lnTo>
                <a:lnTo>
                  <a:pt x="1566" y="380"/>
                </a:lnTo>
                <a:lnTo>
                  <a:pt x="1580" y="328"/>
                </a:lnTo>
                <a:lnTo>
                  <a:pt x="1593" y="278"/>
                </a:lnTo>
                <a:lnTo>
                  <a:pt x="1605" y="231"/>
                </a:lnTo>
                <a:lnTo>
                  <a:pt x="1618" y="188"/>
                </a:lnTo>
                <a:lnTo>
                  <a:pt x="1629" y="149"/>
                </a:lnTo>
                <a:lnTo>
                  <a:pt x="1638" y="112"/>
                </a:lnTo>
                <a:lnTo>
                  <a:pt x="1646" y="81"/>
                </a:lnTo>
                <a:lnTo>
                  <a:pt x="1654" y="55"/>
                </a:lnTo>
                <a:lnTo>
                  <a:pt x="1660" y="33"/>
                </a:lnTo>
                <a:lnTo>
                  <a:pt x="1664" y="16"/>
                </a:lnTo>
                <a:lnTo>
                  <a:pt x="1667" y="6"/>
                </a:lnTo>
                <a:lnTo>
                  <a:pt x="1668" y="0"/>
                </a:lnTo>
                <a:lnTo>
                  <a:pt x="1763" y="0"/>
                </a:lnTo>
                <a:lnTo>
                  <a:pt x="1794" y="0"/>
                </a:lnTo>
                <a:lnTo>
                  <a:pt x="1811" y="0"/>
                </a:lnTo>
                <a:lnTo>
                  <a:pt x="1968" y="0"/>
                </a:lnTo>
                <a:lnTo>
                  <a:pt x="1999" y="0"/>
                </a:lnTo>
                <a:lnTo>
                  <a:pt x="2028" y="0"/>
                </a:lnTo>
                <a:lnTo>
                  <a:pt x="2093" y="0"/>
                </a:lnTo>
                <a:lnTo>
                  <a:pt x="2095" y="6"/>
                </a:lnTo>
                <a:lnTo>
                  <a:pt x="2098" y="16"/>
                </a:lnTo>
                <a:lnTo>
                  <a:pt x="2102" y="33"/>
                </a:lnTo>
                <a:lnTo>
                  <a:pt x="2107" y="55"/>
                </a:lnTo>
                <a:lnTo>
                  <a:pt x="2113" y="81"/>
                </a:lnTo>
                <a:lnTo>
                  <a:pt x="2122" y="113"/>
                </a:lnTo>
                <a:lnTo>
                  <a:pt x="2130" y="149"/>
                </a:lnTo>
                <a:lnTo>
                  <a:pt x="2141" y="188"/>
                </a:lnTo>
                <a:lnTo>
                  <a:pt x="2151" y="231"/>
                </a:lnTo>
                <a:lnTo>
                  <a:pt x="2163" y="278"/>
                </a:lnTo>
                <a:lnTo>
                  <a:pt x="2175" y="328"/>
                </a:lnTo>
                <a:lnTo>
                  <a:pt x="2189" y="380"/>
                </a:lnTo>
                <a:lnTo>
                  <a:pt x="2202" y="436"/>
                </a:lnTo>
                <a:lnTo>
                  <a:pt x="2216" y="492"/>
                </a:lnTo>
                <a:lnTo>
                  <a:pt x="2231" y="552"/>
                </a:lnTo>
                <a:lnTo>
                  <a:pt x="2246" y="611"/>
                </a:lnTo>
                <a:lnTo>
                  <a:pt x="2261" y="673"/>
                </a:lnTo>
                <a:lnTo>
                  <a:pt x="2277" y="734"/>
                </a:lnTo>
                <a:lnTo>
                  <a:pt x="2292" y="797"/>
                </a:lnTo>
                <a:lnTo>
                  <a:pt x="2308" y="860"/>
                </a:lnTo>
                <a:lnTo>
                  <a:pt x="2323" y="922"/>
                </a:lnTo>
                <a:lnTo>
                  <a:pt x="2339" y="984"/>
                </a:lnTo>
                <a:lnTo>
                  <a:pt x="2354" y="1044"/>
                </a:lnTo>
                <a:lnTo>
                  <a:pt x="2369" y="1105"/>
                </a:lnTo>
                <a:lnTo>
                  <a:pt x="2384" y="1162"/>
                </a:lnTo>
                <a:lnTo>
                  <a:pt x="2397" y="1219"/>
                </a:lnTo>
                <a:lnTo>
                  <a:pt x="2411" y="1273"/>
                </a:lnTo>
                <a:lnTo>
                  <a:pt x="2423" y="1325"/>
                </a:lnTo>
                <a:lnTo>
                  <a:pt x="2436" y="1374"/>
                </a:lnTo>
                <a:lnTo>
                  <a:pt x="2447" y="1420"/>
                </a:lnTo>
                <a:lnTo>
                  <a:pt x="2458" y="1463"/>
                </a:lnTo>
                <a:lnTo>
                  <a:pt x="2467" y="1502"/>
                </a:lnTo>
                <a:lnTo>
                  <a:pt x="2477" y="1536"/>
                </a:lnTo>
                <a:lnTo>
                  <a:pt x="2484" y="1565"/>
                </a:lnTo>
                <a:lnTo>
                  <a:pt x="2490" y="1591"/>
                </a:lnTo>
                <a:lnTo>
                  <a:pt x="2496" y="1611"/>
                </a:lnTo>
                <a:lnTo>
                  <a:pt x="2499" y="1627"/>
                </a:lnTo>
                <a:lnTo>
                  <a:pt x="2501" y="1635"/>
                </a:lnTo>
                <a:lnTo>
                  <a:pt x="2502" y="1638"/>
                </a:lnTo>
                <a:lnTo>
                  <a:pt x="2831" y="419"/>
                </a:lnTo>
                <a:lnTo>
                  <a:pt x="2663" y="419"/>
                </a:lnTo>
                <a:lnTo>
                  <a:pt x="2634" y="419"/>
                </a:lnTo>
                <a:lnTo>
                  <a:pt x="2607" y="419"/>
                </a:lnTo>
                <a:lnTo>
                  <a:pt x="2582" y="419"/>
                </a:lnTo>
                <a:lnTo>
                  <a:pt x="2562" y="419"/>
                </a:lnTo>
                <a:lnTo>
                  <a:pt x="2546" y="419"/>
                </a:lnTo>
                <a:lnTo>
                  <a:pt x="2536" y="419"/>
                </a:lnTo>
                <a:lnTo>
                  <a:pt x="2536" y="281"/>
                </a:lnTo>
                <a:lnTo>
                  <a:pt x="2536" y="246"/>
                </a:lnTo>
                <a:lnTo>
                  <a:pt x="2536" y="209"/>
                </a:lnTo>
                <a:lnTo>
                  <a:pt x="2536" y="47"/>
                </a:lnTo>
                <a:lnTo>
                  <a:pt x="2536" y="26"/>
                </a:lnTo>
                <a:lnTo>
                  <a:pt x="2536" y="10"/>
                </a:lnTo>
                <a:lnTo>
                  <a:pt x="2536" y="0"/>
                </a:lnTo>
                <a:lnTo>
                  <a:pt x="3456" y="0"/>
                </a:lnTo>
                <a:lnTo>
                  <a:pt x="3456" y="419"/>
                </a:lnTo>
                <a:lnTo>
                  <a:pt x="3283" y="419"/>
                </a:lnTo>
                <a:lnTo>
                  <a:pt x="3258" y="419"/>
                </a:lnTo>
                <a:lnTo>
                  <a:pt x="3234" y="419"/>
                </a:lnTo>
                <a:lnTo>
                  <a:pt x="3215" y="419"/>
                </a:lnTo>
                <a:lnTo>
                  <a:pt x="3199" y="419"/>
                </a:lnTo>
                <a:lnTo>
                  <a:pt x="3189" y="419"/>
                </a:lnTo>
                <a:lnTo>
                  <a:pt x="3186" y="419"/>
                </a:lnTo>
                <a:lnTo>
                  <a:pt x="3185" y="422"/>
                </a:lnTo>
                <a:lnTo>
                  <a:pt x="3183" y="431"/>
                </a:lnTo>
                <a:lnTo>
                  <a:pt x="3178" y="446"/>
                </a:lnTo>
                <a:lnTo>
                  <a:pt x="3173" y="466"/>
                </a:lnTo>
                <a:lnTo>
                  <a:pt x="3166" y="492"/>
                </a:lnTo>
                <a:lnTo>
                  <a:pt x="3159" y="522"/>
                </a:lnTo>
                <a:lnTo>
                  <a:pt x="3149" y="558"/>
                </a:lnTo>
                <a:lnTo>
                  <a:pt x="3139" y="597"/>
                </a:lnTo>
                <a:lnTo>
                  <a:pt x="3127" y="640"/>
                </a:lnTo>
                <a:lnTo>
                  <a:pt x="3115" y="687"/>
                </a:lnTo>
                <a:lnTo>
                  <a:pt x="3101" y="738"/>
                </a:lnTo>
                <a:lnTo>
                  <a:pt x="3087" y="791"/>
                </a:lnTo>
                <a:lnTo>
                  <a:pt x="3073" y="847"/>
                </a:lnTo>
                <a:lnTo>
                  <a:pt x="3057" y="906"/>
                </a:lnTo>
                <a:lnTo>
                  <a:pt x="3041" y="967"/>
                </a:lnTo>
                <a:lnTo>
                  <a:pt x="3025" y="1029"/>
                </a:lnTo>
                <a:lnTo>
                  <a:pt x="3008" y="1093"/>
                </a:lnTo>
                <a:lnTo>
                  <a:pt x="2990" y="1159"/>
                </a:lnTo>
                <a:lnTo>
                  <a:pt x="2973" y="1225"/>
                </a:lnTo>
                <a:lnTo>
                  <a:pt x="2955" y="1292"/>
                </a:lnTo>
                <a:lnTo>
                  <a:pt x="2938" y="1360"/>
                </a:lnTo>
                <a:lnTo>
                  <a:pt x="2920" y="1427"/>
                </a:lnTo>
                <a:lnTo>
                  <a:pt x="2902" y="1494"/>
                </a:lnTo>
                <a:lnTo>
                  <a:pt x="2884" y="1560"/>
                </a:lnTo>
                <a:lnTo>
                  <a:pt x="2867" y="1626"/>
                </a:lnTo>
                <a:lnTo>
                  <a:pt x="2850" y="1691"/>
                </a:lnTo>
                <a:lnTo>
                  <a:pt x="2833" y="1754"/>
                </a:lnTo>
                <a:lnTo>
                  <a:pt x="2817" y="1815"/>
                </a:lnTo>
                <a:lnTo>
                  <a:pt x="2801" y="1874"/>
                </a:lnTo>
                <a:lnTo>
                  <a:pt x="2787" y="1931"/>
                </a:lnTo>
                <a:lnTo>
                  <a:pt x="2772" y="1985"/>
                </a:lnTo>
                <a:lnTo>
                  <a:pt x="2759" y="2036"/>
                </a:lnTo>
                <a:lnTo>
                  <a:pt x="2746" y="2084"/>
                </a:lnTo>
                <a:lnTo>
                  <a:pt x="2734" y="2128"/>
                </a:lnTo>
                <a:lnTo>
                  <a:pt x="2724" y="2169"/>
                </a:lnTo>
                <a:lnTo>
                  <a:pt x="2715" y="2205"/>
                </a:lnTo>
                <a:lnTo>
                  <a:pt x="2706" y="2237"/>
                </a:lnTo>
                <a:lnTo>
                  <a:pt x="2699" y="2264"/>
                </a:lnTo>
                <a:lnTo>
                  <a:pt x="2693" y="2286"/>
                </a:lnTo>
                <a:lnTo>
                  <a:pt x="2688" y="2302"/>
                </a:lnTo>
                <a:lnTo>
                  <a:pt x="2686" y="2313"/>
                </a:lnTo>
                <a:lnTo>
                  <a:pt x="2684" y="2317"/>
                </a:lnTo>
                <a:lnTo>
                  <a:pt x="2584" y="2317"/>
                </a:lnTo>
                <a:lnTo>
                  <a:pt x="2548" y="2317"/>
                </a:lnTo>
                <a:lnTo>
                  <a:pt x="2525" y="2317"/>
                </a:lnTo>
                <a:lnTo>
                  <a:pt x="2490" y="2317"/>
                </a:lnTo>
                <a:lnTo>
                  <a:pt x="2466" y="2317"/>
                </a:lnTo>
                <a:lnTo>
                  <a:pt x="2422" y="2317"/>
                </a:lnTo>
                <a:lnTo>
                  <a:pt x="2312" y="2317"/>
                </a:lnTo>
                <a:lnTo>
                  <a:pt x="2286" y="2317"/>
                </a:lnTo>
                <a:lnTo>
                  <a:pt x="2242" y="2317"/>
                </a:lnTo>
                <a:lnTo>
                  <a:pt x="2058" y="2317"/>
                </a:lnTo>
                <a:lnTo>
                  <a:pt x="2045" y="2317"/>
                </a:lnTo>
                <a:lnTo>
                  <a:pt x="2032" y="2317"/>
                </a:lnTo>
                <a:lnTo>
                  <a:pt x="2024" y="2317"/>
                </a:lnTo>
                <a:lnTo>
                  <a:pt x="2023" y="2312"/>
                </a:lnTo>
                <a:lnTo>
                  <a:pt x="2020" y="2301"/>
                </a:lnTo>
                <a:lnTo>
                  <a:pt x="2016" y="2285"/>
                </a:lnTo>
                <a:lnTo>
                  <a:pt x="2011" y="2263"/>
                </a:lnTo>
                <a:lnTo>
                  <a:pt x="2003" y="2236"/>
                </a:lnTo>
                <a:lnTo>
                  <a:pt x="1996" y="2205"/>
                </a:lnTo>
                <a:lnTo>
                  <a:pt x="1988" y="2170"/>
                </a:lnTo>
                <a:lnTo>
                  <a:pt x="1977" y="2131"/>
                </a:lnTo>
                <a:lnTo>
                  <a:pt x="1967" y="2089"/>
                </a:lnTo>
                <a:lnTo>
                  <a:pt x="1956" y="2045"/>
                </a:lnTo>
                <a:lnTo>
                  <a:pt x="1944" y="1998"/>
                </a:lnTo>
                <a:lnTo>
                  <a:pt x="1931" y="1948"/>
                </a:lnTo>
                <a:lnTo>
                  <a:pt x="1919" y="1897"/>
                </a:lnTo>
                <a:lnTo>
                  <a:pt x="1906" y="1845"/>
                </a:lnTo>
                <a:lnTo>
                  <a:pt x="1892" y="1792"/>
                </a:lnTo>
                <a:lnTo>
                  <a:pt x="1879" y="1739"/>
                </a:lnTo>
                <a:lnTo>
                  <a:pt x="1865" y="1684"/>
                </a:lnTo>
                <a:lnTo>
                  <a:pt x="1852" y="1631"/>
                </a:lnTo>
                <a:lnTo>
                  <a:pt x="1839" y="1578"/>
                </a:lnTo>
                <a:lnTo>
                  <a:pt x="1825" y="1527"/>
                </a:lnTo>
                <a:lnTo>
                  <a:pt x="1813" y="1476"/>
                </a:lnTo>
                <a:lnTo>
                  <a:pt x="1801" y="1428"/>
                </a:lnTo>
                <a:lnTo>
                  <a:pt x="1790" y="1381"/>
                </a:lnTo>
                <a:lnTo>
                  <a:pt x="1778" y="1337"/>
                </a:lnTo>
                <a:lnTo>
                  <a:pt x="1768" y="1296"/>
                </a:lnTo>
                <a:lnTo>
                  <a:pt x="1758" y="1258"/>
                </a:lnTo>
                <a:lnTo>
                  <a:pt x="1750" y="1225"/>
                </a:lnTo>
                <a:lnTo>
                  <a:pt x="1743" y="1195"/>
                </a:lnTo>
                <a:lnTo>
                  <a:pt x="1736" y="1170"/>
                </a:lnTo>
                <a:lnTo>
                  <a:pt x="1731" y="1150"/>
                </a:lnTo>
                <a:lnTo>
                  <a:pt x="1727" y="1135"/>
                </a:lnTo>
                <a:lnTo>
                  <a:pt x="1725" y="1126"/>
                </a:lnTo>
                <a:lnTo>
                  <a:pt x="1725" y="1123"/>
                </a:lnTo>
                <a:lnTo>
                  <a:pt x="1724" y="1126"/>
                </a:lnTo>
                <a:lnTo>
                  <a:pt x="1722" y="1135"/>
                </a:lnTo>
                <a:lnTo>
                  <a:pt x="1718" y="1150"/>
                </a:lnTo>
                <a:lnTo>
                  <a:pt x="1712" y="1170"/>
                </a:lnTo>
                <a:lnTo>
                  <a:pt x="1705" y="1195"/>
                </a:lnTo>
                <a:lnTo>
                  <a:pt x="1698" y="1225"/>
                </a:lnTo>
                <a:lnTo>
                  <a:pt x="1688" y="1258"/>
                </a:lnTo>
                <a:lnTo>
                  <a:pt x="1679" y="1296"/>
                </a:lnTo>
                <a:lnTo>
                  <a:pt x="1668" y="1337"/>
                </a:lnTo>
                <a:lnTo>
                  <a:pt x="1657" y="1381"/>
                </a:lnTo>
                <a:lnTo>
                  <a:pt x="1644" y="1428"/>
                </a:lnTo>
                <a:lnTo>
                  <a:pt x="1632" y="1476"/>
                </a:lnTo>
                <a:lnTo>
                  <a:pt x="1618" y="1527"/>
                </a:lnTo>
                <a:lnTo>
                  <a:pt x="1604" y="1578"/>
                </a:lnTo>
                <a:lnTo>
                  <a:pt x="1591" y="1631"/>
                </a:lnTo>
                <a:lnTo>
                  <a:pt x="1576" y="1684"/>
                </a:lnTo>
                <a:lnTo>
                  <a:pt x="1561" y="1739"/>
                </a:lnTo>
                <a:lnTo>
                  <a:pt x="1548" y="1792"/>
                </a:lnTo>
                <a:lnTo>
                  <a:pt x="1534" y="1845"/>
                </a:lnTo>
                <a:lnTo>
                  <a:pt x="1520" y="1897"/>
                </a:lnTo>
                <a:lnTo>
                  <a:pt x="1507" y="1948"/>
                </a:lnTo>
                <a:lnTo>
                  <a:pt x="1493" y="1998"/>
                </a:lnTo>
                <a:lnTo>
                  <a:pt x="1481" y="2045"/>
                </a:lnTo>
                <a:lnTo>
                  <a:pt x="1469" y="2089"/>
                </a:lnTo>
                <a:lnTo>
                  <a:pt x="1458" y="2131"/>
                </a:lnTo>
                <a:lnTo>
                  <a:pt x="1448" y="2170"/>
                </a:lnTo>
                <a:lnTo>
                  <a:pt x="1439" y="2205"/>
                </a:lnTo>
                <a:lnTo>
                  <a:pt x="1431" y="2236"/>
                </a:lnTo>
                <a:lnTo>
                  <a:pt x="1423" y="2263"/>
                </a:lnTo>
                <a:lnTo>
                  <a:pt x="1418" y="2285"/>
                </a:lnTo>
                <a:lnTo>
                  <a:pt x="1414" y="2301"/>
                </a:lnTo>
                <a:lnTo>
                  <a:pt x="1411" y="2312"/>
                </a:lnTo>
                <a:lnTo>
                  <a:pt x="1410" y="2317"/>
                </a:lnTo>
                <a:lnTo>
                  <a:pt x="1308" y="2317"/>
                </a:lnTo>
                <a:lnTo>
                  <a:pt x="1272" y="2317"/>
                </a:lnTo>
                <a:lnTo>
                  <a:pt x="1250" y="2317"/>
                </a:lnTo>
                <a:lnTo>
                  <a:pt x="1215" y="2317"/>
                </a:lnTo>
                <a:lnTo>
                  <a:pt x="1191" y="2317"/>
                </a:lnTo>
                <a:lnTo>
                  <a:pt x="1147" y="2317"/>
                </a:lnTo>
                <a:lnTo>
                  <a:pt x="1037" y="2317"/>
                </a:lnTo>
                <a:lnTo>
                  <a:pt x="1012" y="2317"/>
                </a:lnTo>
                <a:lnTo>
                  <a:pt x="968" y="2317"/>
                </a:lnTo>
                <a:lnTo>
                  <a:pt x="782" y="2317"/>
                </a:lnTo>
                <a:lnTo>
                  <a:pt x="771" y="2317"/>
                </a:lnTo>
                <a:lnTo>
                  <a:pt x="756" y="2317"/>
                </a:lnTo>
                <a:lnTo>
                  <a:pt x="749" y="2317"/>
                </a:lnTo>
                <a:lnTo>
                  <a:pt x="748" y="2313"/>
                </a:lnTo>
                <a:lnTo>
                  <a:pt x="745" y="2301"/>
                </a:lnTo>
                <a:lnTo>
                  <a:pt x="740" y="2286"/>
                </a:lnTo>
                <a:lnTo>
                  <a:pt x="735" y="2264"/>
                </a:lnTo>
                <a:lnTo>
                  <a:pt x="729" y="2237"/>
                </a:lnTo>
                <a:lnTo>
                  <a:pt x="721" y="2205"/>
                </a:lnTo>
                <a:lnTo>
                  <a:pt x="711" y="2169"/>
                </a:lnTo>
                <a:lnTo>
                  <a:pt x="702" y="2128"/>
                </a:lnTo>
                <a:lnTo>
                  <a:pt x="690" y="2084"/>
                </a:lnTo>
                <a:lnTo>
                  <a:pt x="679" y="2036"/>
                </a:lnTo>
                <a:lnTo>
                  <a:pt x="665" y="1985"/>
                </a:lnTo>
                <a:lnTo>
                  <a:pt x="651" y="1931"/>
                </a:lnTo>
                <a:lnTo>
                  <a:pt x="638" y="1874"/>
                </a:lnTo>
                <a:lnTo>
                  <a:pt x="623" y="1815"/>
                </a:lnTo>
                <a:lnTo>
                  <a:pt x="607" y="1753"/>
                </a:lnTo>
                <a:lnTo>
                  <a:pt x="592" y="1691"/>
                </a:lnTo>
                <a:lnTo>
                  <a:pt x="576" y="1626"/>
                </a:lnTo>
                <a:lnTo>
                  <a:pt x="559" y="1560"/>
                </a:lnTo>
                <a:lnTo>
                  <a:pt x="542" y="1494"/>
                </a:lnTo>
                <a:lnTo>
                  <a:pt x="526" y="1427"/>
                </a:lnTo>
                <a:lnTo>
                  <a:pt x="509" y="1360"/>
                </a:lnTo>
                <a:lnTo>
                  <a:pt x="492" y="1292"/>
                </a:lnTo>
                <a:lnTo>
                  <a:pt x="474" y="1225"/>
                </a:lnTo>
                <a:lnTo>
                  <a:pt x="459" y="1159"/>
                </a:lnTo>
                <a:lnTo>
                  <a:pt x="442" y="1093"/>
                </a:lnTo>
                <a:lnTo>
                  <a:pt x="426" y="1029"/>
                </a:lnTo>
                <a:lnTo>
                  <a:pt x="411" y="966"/>
                </a:lnTo>
                <a:lnTo>
                  <a:pt x="395" y="906"/>
                </a:lnTo>
                <a:lnTo>
                  <a:pt x="380" y="847"/>
                </a:lnTo>
                <a:lnTo>
                  <a:pt x="367" y="791"/>
                </a:lnTo>
                <a:lnTo>
                  <a:pt x="353" y="738"/>
                </a:lnTo>
                <a:lnTo>
                  <a:pt x="340" y="687"/>
                </a:lnTo>
                <a:lnTo>
                  <a:pt x="328" y="640"/>
                </a:lnTo>
                <a:lnTo>
                  <a:pt x="317" y="597"/>
                </a:lnTo>
                <a:lnTo>
                  <a:pt x="308" y="558"/>
                </a:lnTo>
                <a:lnTo>
                  <a:pt x="298" y="522"/>
                </a:lnTo>
                <a:lnTo>
                  <a:pt x="291" y="492"/>
                </a:lnTo>
                <a:lnTo>
                  <a:pt x="285" y="466"/>
                </a:lnTo>
                <a:lnTo>
                  <a:pt x="280" y="446"/>
                </a:lnTo>
                <a:lnTo>
                  <a:pt x="275" y="431"/>
                </a:lnTo>
                <a:lnTo>
                  <a:pt x="273" y="422"/>
                </a:lnTo>
                <a:lnTo>
                  <a:pt x="272" y="419"/>
                </a:lnTo>
                <a:lnTo>
                  <a:pt x="118" y="419"/>
                </a:lnTo>
                <a:lnTo>
                  <a:pt x="91" y="419"/>
                </a:lnTo>
                <a:lnTo>
                  <a:pt x="66" y="419"/>
                </a:lnTo>
                <a:lnTo>
                  <a:pt x="43" y="419"/>
                </a:lnTo>
                <a:lnTo>
                  <a:pt x="24" y="419"/>
                </a:lnTo>
                <a:lnTo>
                  <a:pt x="9" y="419"/>
                </a:lnTo>
                <a:lnTo>
                  <a:pt x="0" y="419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4913906"/>
            <a:ext cx="9144000" cy="229594"/>
            <a:chOff x="0" y="4913906"/>
            <a:chExt cx="9144000" cy="229594"/>
          </a:xfrm>
        </p:grpSpPr>
        <p:pic>
          <p:nvPicPr>
            <p:cNvPr id="19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Freeform 8"/>
          <p:cNvSpPr>
            <a:spLocks/>
          </p:cNvSpPr>
          <p:nvPr userDrawn="1"/>
        </p:nvSpPr>
        <p:spPr bwMode="auto">
          <a:xfrm>
            <a:off x="0" y="2715182"/>
            <a:ext cx="4876038" cy="127000"/>
          </a:xfrm>
          <a:custGeom>
            <a:avLst/>
            <a:gdLst/>
            <a:ahLst/>
            <a:cxnLst/>
            <a:rect l="l" t="t" r="r" b="b"/>
            <a:pathLst>
              <a:path w="4876038" h="127000">
                <a:moveTo>
                  <a:pt x="0" y="0"/>
                </a:moveTo>
                <a:lnTo>
                  <a:pt x="1651376" y="0"/>
                </a:lnTo>
                <a:lnTo>
                  <a:pt x="3224662" y="0"/>
                </a:lnTo>
                <a:lnTo>
                  <a:pt x="4876038" y="0"/>
                </a:lnTo>
                <a:lnTo>
                  <a:pt x="4842701" y="127000"/>
                </a:lnTo>
                <a:lnTo>
                  <a:pt x="3191325" y="127000"/>
                </a:lnTo>
                <a:lnTo>
                  <a:pt x="1651376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569" y="404086"/>
            <a:ext cx="2240279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52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5568" userDrawn="1">
          <p15:clr>
            <a:srgbClr val="FBAE40"/>
          </p15:clr>
        </p15:guide>
        <p15:guide id="3" pos="32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51" y="3035188"/>
            <a:ext cx="7762875" cy="530915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850" b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1951" y="1568359"/>
            <a:ext cx="7743825" cy="1118255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ts val="4000"/>
              </a:lnSpc>
              <a:spcBef>
                <a:spcPts val="0"/>
              </a:spcBef>
              <a:defRPr sz="3800" b="0" cap="all" spc="-3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This Click to edit master title style</a:t>
            </a:r>
          </a:p>
        </p:txBody>
      </p:sp>
      <p:sp>
        <p:nvSpPr>
          <p:cNvPr id="11" name="Freeform 8"/>
          <p:cNvSpPr>
            <a:spLocks/>
          </p:cNvSpPr>
          <p:nvPr userDrawn="1"/>
        </p:nvSpPr>
        <p:spPr bwMode="auto">
          <a:xfrm>
            <a:off x="-2866" y="2715182"/>
            <a:ext cx="2560320" cy="127000"/>
          </a:xfrm>
          <a:custGeom>
            <a:avLst/>
            <a:gdLst/>
            <a:ahLst/>
            <a:cxnLst/>
            <a:rect l="l" t="t" r="r" b="b"/>
            <a:pathLst>
              <a:path w="3224662" h="127000">
                <a:moveTo>
                  <a:pt x="0" y="0"/>
                </a:moveTo>
                <a:lnTo>
                  <a:pt x="3224662" y="0"/>
                </a:lnTo>
                <a:lnTo>
                  <a:pt x="3191325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6600" y="4448832"/>
            <a:ext cx="1920239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3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332845"/>
            <a:ext cx="8305800" cy="76944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1577355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>
              <a:defRPr lang="en-US" sz="3200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332845"/>
            <a:ext cx="8305800" cy="76944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1577355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 marL="344488" indent="-344488">
              <a:buFont typeface="Arial" panose="020B0604020202020204" pitchFamily="34" charset="0"/>
              <a:buChar char="•"/>
              <a:defRPr lang="en-US" sz="3200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6745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" y="332845"/>
            <a:ext cx="8305800" cy="76944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1577355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 marL="344488" indent="-344488">
              <a:buFont typeface="Arial" panose="020B0604020202020204" pitchFamily="34" charset="0"/>
              <a:buChar char="•"/>
              <a:defRPr lang="en-US" sz="3200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1528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48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2021613"/>
            <a:ext cx="8170606" cy="1446550"/>
          </a:xfrm>
        </p:spPr>
        <p:txBody>
          <a:bodyPr/>
          <a:lstStyle>
            <a:lvl1pPr algn="ctr">
              <a:defRPr sz="4400" b="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0068" y="4429237"/>
            <a:ext cx="1920238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4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61950" y="337418"/>
            <a:ext cx="8170606" cy="58477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61950" y="1003394"/>
            <a:ext cx="8170606" cy="1744067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443417" y="4569498"/>
            <a:ext cx="1440179" cy="4114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8" r:id="rId2"/>
    <p:sldLayoutId id="2147483650" r:id="rId3"/>
    <p:sldLayoutId id="2147483671" r:id="rId4"/>
    <p:sldLayoutId id="2147483672" r:id="rId5"/>
    <p:sldLayoutId id="2147483653" r:id="rId6"/>
    <p:sldLayoutId id="2147483670" r:id="rId7"/>
    <p:sldLayoutId id="2147483662" r:id="rId8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l" defTabSz="457200" rtl="0" fontAlgn="base">
        <a:spcBef>
          <a:spcPts val="0"/>
        </a:spcBef>
        <a:spcAft>
          <a:spcPts val="100"/>
        </a:spcAft>
        <a:buFont typeface="Arial" charset="0"/>
        <a:buNone/>
        <a:defRPr sz="22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569913" indent="-228600" algn="l" defTabSz="457200" rtl="0" fontAlgn="base"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801688" indent="-227013" algn="l" defTabSz="457200" rtl="0" fontAlgn="base">
        <a:spcBef>
          <a:spcPts val="0"/>
        </a:spcBef>
        <a:spcAft>
          <a:spcPts val="10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027113" indent="-220663" algn="l" defTabSz="457200" rtl="0" fontAlgn="base"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1258888" indent="-239713" algn="l" defTabSz="457200" rtl="0" fontAlgn="base">
        <a:spcBef>
          <a:spcPts val="0"/>
        </a:spcBef>
        <a:spcAft>
          <a:spcPts val="1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orient="horz" pos="279" userDrawn="1">
          <p15:clr>
            <a:srgbClr val="F26B43"/>
          </p15:clr>
        </p15:guide>
        <p15:guide id="5" orient="horz" pos="840" userDrawn="1">
          <p15:clr>
            <a:srgbClr val="F26B43"/>
          </p15:clr>
        </p15:guide>
        <p15:guide id="6" pos="542" userDrawn="1">
          <p15:clr>
            <a:srgbClr val="F26B43"/>
          </p15:clr>
        </p15:guide>
        <p15:guide id="7" pos="55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1951" y="2048798"/>
            <a:ext cx="7743825" cy="642868"/>
          </a:xfrm>
        </p:spPr>
        <p:txBody>
          <a:bodyPr/>
          <a:lstStyle/>
          <a:p>
            <a:r>
              <a:rPr lang="en-US" sz="3200" dirty="0"/>
              <a:t>Cases in Cybersecurity 1</a:t>
            </a:r>
            <a:endParaRPr lang="en-US" sz="4800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2773AAD-913F-4F7D-B76C-297F2718F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014332"/>
            <a:ext cx="7762875" cy="992579"/>
          </a:xfrm>
        </p:spPr>
        <p:txBody>
          <a:bodyPr/>
          <a:lstStyle/>
          <a:p>
            <a:r>
              <a:rPr lang="en-US" sz="2800" dirty="0"/>
              <a:t>Advanced Cases in Assurance Services (ACCTG 521)</a:t>
            </a:r>
          </a:p>
          <a:p>
            <a:r>
              <a:rPr lang="en-US" sz="2800" dirty="0"/>
              <a:t>Class 16 | MPAcc class of 2026</a:t>
            </a:r>
          </a:p>
        </p:txBody>
      </p:sp>
    </p:spTree>
    <p:extLst>
      <p:ext uri="{BB962C8B-B14F-4D97-AF65-F5344CB8AC3E}">
        <p14:creationId xmlns:p14="http://schemas.microsoft.com/office/powerpoint/2010/main" val="38428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08D3-2E7B-4761-93EE-64ED2D0E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1732E-A723-4580-A147-73CBB5BF3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1946687"/>
          </a:xfrm>
        </p:spPr>
        <p:txBody>
          <a:bodyPr vert="horz" wrap="square" lIns="137160" tIns="45720" rIns="91440" bIns="45720" rtlCol="0" anchor="t">
            <a:spAutoFit/>
          </a:bodyPr>
          <a:lstStyle/>
          <a:p>
            <a:pPr marL="457200" indent="-457200"/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457200" indent="-457200"/>
            <a:r>
              <a:rPr lang="en-US" dirty="0"/>
              <a:t>Deliverable</a:t>
            </a:r>
          </a:p>
          <a:p>
            <a:pPr marL="457200" indent="-457200"/>
            <a:r>
              <a:rPr lang="en-US" dirty="0"/>
              <a:t>Lab: </a:t>
            </a:r>
          </a:p>
          <a:p>
            <a:pPr marL="1027113" lvl="1" indent="-457200"/>
            <a:r>
              <a:rPr lang="en-US" dirty="0"/>
              <a:t>Liberty Systems Cybersecurity Case</a:t>
            </a:r>
          </a:p>
        </p:txBody>
      </p:sp>
    </p:spTree>
    <p:extLst>
      <p:ext uri="{BB962C8B-B14F-4D97-AF65-F5344CB8AC3E}">
        <p14:creationId xmlns:p14="http://schemas.microsoft.com/office/powerpoint/2010/main" val="355178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DE70-438E-4700-8215-92CE521DC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393" y="2074664"/>
            <a:ext cx="7886700" cy="769441"/>
          </a:xfrm>
        </p:spPr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35241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diagram of a company's financial reporting system&#10;&#10;Description automatically generated">
            <a:extLst>
              <a:ext uri="{FF2B5EF4-FFF2-40B4-BE49-F238E27FC236}">
                <a16:creationId xmlns:a16="http://schemas.microsoft.com/office/drawing/2014/main" id="{F0C46C95-7A85-C804-919C-5A0AA3875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264" y="0"/>
            <a:ext cx="5509472" cy="3616308"/>
          </a:xfrm>
          <a:prstGeom prst="rect">
            <a:avLst/>
          </a:prstGeom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B0450109-553C-9D07-61FD-8B8C462CD346}"/>
              </a:ext>
            </a:extLst>
          </p:cNvPr>
          <p:cNvSpPr/>
          <p:nvPr/>
        </p:nvSpPr>
        <p:spPr>
          <a:xfrm>
            <a:off x="2747987" y="2278819"/>
            <a:ext cx="311184" cy="555342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2627C9-D781-DA9E-44C0-A7F4EB97366E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1910186" y="2556490"/>
            <a:ext cx="837801" cy="1508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0E7DE2C-5614-1EDE-2C39-5B1A9F45F33C}"/>
              </a:ext>
            </a:extLst>
          </p:cNvPr>
          <p:cNvSpPr txBox="1"/>
          <p:nvPr/>
        </p:nvSpPr>
        <p:spPr>
          <a:xfrm>
            <a:off x="1254311" y="4083681"/>
            <a:ext cx="7358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Early Classes on Economics of Audit, Systems: Transaction Analyses (incl: 522)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26575BB7-B610-CA07-378A-781FD2343D0F}"/>
              </a:ext>
            </a:extLst>
          </p:cNvPr>
          <p:cNvSpPr/>
          <p:nvPr/>
        </p:nvSpPr>
        <p:spPr>
          <a:xfrm rot="10800000">
            <a:off x="7218653" y="760404"/>
            <a:ext cx="182721" cy="1456178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B5FB59-8DF9-752F-0ED4-047E25DB038D}"/>
              </a:ext>
            </a:extLst>
          </p:cNvPr>
          <p:cNvSpPr txBox="1"/>
          <p:nvPr/>
        </p:nvSpPr>
        <p:spPr>
          <a:xfrm>
            <a:off x="7472387" y="871314"/>
            <a:ext cx="17324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Helix Analyzer</a:t>
            </a:r>
          </a:p>
          <a:p>
            <a:r>
              <a:rPr lang="en-US" dirty="0">
                <a:latin typeface="+mn-lt"/>
              </a:rPr>
              <a:t>Simulation</a:t>
            </a:r>
          </a:p>
          <a:p>
            <a:r>
              <a:rPr lang="en-US" i="1" dirty="0">
                <a:latin typeface="+mn-lt"/>
              </a:rPr>
              <a:t>Blockchain Audit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D7B23A-DEC5-CDFE-25B4-01883C920843}"/>
              </a:ext>
            </a:extLst>
          </p:cNvPr>
          <p:cNvCxnSpPr>
            <a:cxnSpLocks/>
          </p:cNvCxnSpPr>
          <p:nvPr/>
        </p:nvCxnSpPr>
        <p:spPr>
          <a:xfrm>
            <a:off x="3695899" y="1441018"/>
            <a:ext cx="2294744" cy="2240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6EC8DB0-16E1-AFED-50A1-89D6AFAB5263}"/>
              </a:ext>
            </a:extLst>
          </p:cNvPr>
          <p:cNvSpPr txBox="1"/>
          <p:nvPr/>
        </p:nvSpPr>
        <p:spPr>
          <a:xfrm>
            <a:off x="5943603" y="3492706"/>
            <a:ext cx="3115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Systems/controls: </a:t>
            </a:r>
            <a:r>
              <a:rPr lang="en-US" dirty="0" err="1">
                <a:latin typeface="+mn-lt"/>
              </a:rPr>
              <a:t>Pcard</a:t>
            </a:r>
            <a:r>
              <a:rPr lang="en-US" dirty="0">
                <a:latin typeface="+mn-lt"/>
              </a:rPr>
              <a:t>; </a:t>
            </a:r>
          </a:p>
          <a:p>
            <a:r>
              <a:rPr lang="en-US" dirty="0">
                <a:latin typeface="+mn-lt"/>
              </a:rPr>
              <a:t>Alteryx suspicious transactions.</a:t>
            </a:r>
          </a:p>
        </p:txBody>
      </p:sp>
    </p:spTree>
    <p:extLst>
      <p:ext uri="{BB962C8B-B14F-4D97-AF65-F5344CB8AC3E}">
        <p14:creationId xmlns:p14="http://schemas.microsoft.com/office/powerpoint/2010/main" val="43114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21909-8174-2A7C-B6E2-41B1E3135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diagram of a company's financial reporting system&#10;&#10;Description automatically generated">
            <a:extLst>
              <a:ext uri="{FF2B5EF4-FFF2-40B4-BE49-F238E27FC236}">
                <a16:creationId xmlns:a16="http://schemas.microsoft.com/office/drawing/2014/main" id="{996A71AE-2370-A8FF-6CA8-BD755A1FB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264" y="0"/>
            <a:ext cx="5509472" cy="36163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1E610E-7993-7353-B41E-43FFD96DD3DC}"/>
              </a:ext>
            </a:extLst>
          </p:cNvPr>
          <p:cNvSpPr/>
          <p:nvPr/>
        </p:nvSpPr>
        <p:spPr>
          <a:xfrm>
            <a:off x="1817264" y="737265"/>
            <a:ext cx="5473999" cy="2135196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8113C-117F-18EB-4402-28F977F4FE28}"/>
              </a:ext>
            </a:extLst>
          </p:cNvPr>
          <p:cNvSpPr txBox="1"/>
          <p:nvPr/>
        </p:nvSpPr>
        <p:spPr>
          <a:xfrm>
            <a:off x="335120" y="1359631"/>
            <a:ext cx="1464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Cybersecurity</a:t>
            </a:r>
          </a:p>
        </p:txBody>
      </p:sp>
    </p:spTree>
    <p:extLst>
      <p:ext uri="{BB962C8B-B14F-4D97-AF65-F5344CB8AC3E}">
        <p14:creationId xmlns:p14="http://schemas.microsoft.com/office/powerpoint/2010/main" val="130855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E839AE6-09B6-408D-B013-A53B1B3DE6D6}"/>
              </a:ext>
            </a:extLst>
          </p:cNvPr>
          <p:cNvGraphicFramePr/>
          <p:nvPr/>
        </p:nvGraphicFramePr>
        <p:xfrm>
          <a:off x="915714" y="852903"/>
          <a:ext cx="7729141" cy="33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0DB577B-3783-4B9B-B544-FC171F7BC9A0}"/>
              </a:ext>
            </a:extLst>
          </p:cNvPr>
          <p:cNvSpPr/>
          <p:nvPr/>
        </p:nvSpPr>
        <p:spPr>
          <a:xfrm>
            <a:off x="761793" y="1710850"/>
            <a:ext cx="1799173" cy="115185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4B2E84"/>
                </a:solidFill>
                <a:latin typeface="Calibri"/>
              </a:rPr>
              <a:t>Management Control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20B068-5CC1-4235-BB7E-4456E994C03F}"/>
              </a:ext>
            </a:extLst>
          </p:cNvPr>
          <p:cNvSpPr/>
          <p:nvPr/>
        </p:nvSpPr>
        <p:spPr>
          <a:xfrm>
            <a:off x="761793" y="2506217"/>
            <a:ext cx="1799173" cy="1307523"/>
          </a:xfrm>
          <a:prstGeom prst="rect">
            <a:avLst/>
          </a:prstGeom>
          <a:solidFill>
            <a:srgbClr val="B9A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4B2E84"/>
                </a:solidFill>
                <a:latin typeface="Calibri"/>
              </a:rPr>
              <a:t>The Business /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663B7-F402-42DB-88ED-8611268BA26F}"/>
              </a:ext>
            </a:extLst>
          </p:cNvPr>
          <p:cNvSpPr txBox="1"/>
          <p:nvPr/>
        </p:nvSpPr>
        <p:spPr>
          <a:xfrm>
            <a:off x="3229685" y="1728762"/>
            <a:ext cx="1829589" cy="25391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4B2E84"/>
                </a:solidFill>
                <a:latin typeface="Calibri"/>
                <a:cs typeface="+mn-cs"/>
              </a:rPr>
              <a:t>Enterprise Risk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49A9B-12EB-4FAA-9870-72E4407454C5}"/>
              </a:ext>
            </a:extLst>
          </p:cNvPr>
          <p:cNvSpPr txBox="1"/>
          <p:nvPr/>
        </p:nvSpPr>
        <p:spPr>
          <a:xfrm>
            <a:off x="3229685" y="2596417"/>
            <a:ext cx="1829589" cy="25391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4B2E84"/>
                </a:solidFill>
                <a:latin typeface="Calibri"/>
                <a:cs typeface="+mn-cs"/>
              </a:rPr>
              <a:t>Third Party Risk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648CE-4265-45B3-82C5-262834A3913B}"/>
              </a:ext>
            </a:extLst>
          </p:cNvPr>
          <p:cNvSpPr txBox="1"/>
          <p:nvPr/>
        </p:nvSpPr>
        <p:spPr>
          <a:xfrm>
            <a:off x="3229685" y="2022621"/>
            <a:ext cx="1829589" cy="25391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4B2E84"/>
                </a:solidFill>
                <a:latin typeface="Calibri"/>
                <a:cs typeface="+mn-cs"/>
              </a:rPr>
              <a:t>Legal &amp; Privacy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B466CA-9570-4092-AC0A-240BD5828AC5}"/>
              </a:ext>
            </a:extLst>
          </p:cNvPr>
          <p:cNvSpPr txBox="1"/>
          <p:nvPr/>
        </p:nvSpPr>
        <p:spPr>
          <a:xfrm>
            <a:off x="3229685" y="2873883"/>
            <a:ext cx="1829589" cy="25391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4B2E84"/>
                </a:solidFill>
                <a:latin typeface="Calibri"/>
                <a:cs typeface="+mn-cs"/>
              </a:rPr>
              <a:t>Cybersecurity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FC56BA-17F9-41BD-9662-FCFB80743134}"/>
              </a:ext>
            </a:extLst>
          </p:cNvPr>
          <p:cNvSpPr txBox="1"/>
          <p:nvPr/>
        </p:nvSpPr>
        <p:spPr>
          <a:xfrm>
            <a:off x="3229685" y="2316251"/>
            <a:ext cx="1829589" cy="25391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4B2E84"/>
                </a:solidFill>
                <a:latin typeface="Calibri"/>
                <a:cs typeface="+mn-cs"/>
              </a:rPr>
              <a:t>Physical Security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CC3C88-E9A9-4E88-8E82-E42AF2DC003F}"/>
              </a:ext>
            </a:extLst>
          </p:cNvPr>
          <p:cNvSpPr txBox="1"/>
          <p:nvPr/>
        </p:nvSpPr>
        <p:spPr>
          <a:xfrm>
            <a:off x="3229685" y="3150620"/>
            <a:ext cx="1829589" cy="41549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4B2E84"/>
                </a:solidFill>
                <a:latin typeface="Calibri"/>
                <a:cs typeface="+mn-cs"/>
              </a:rPr>
              <a:t>Business Continuity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235543-6168-4249-ACB3-BDBE858A82D6}"/>
              </a:ext>
            </a:extLst>
          </p:cNvPr>
          <p:cNvSpPr txBox="1"/>
          <p:nvPr/>
        </p:nvSpPr>
        <p:spPr>
          <a:xfrm>
            <a:off x="3229685" y="3609812"/>
            <a:ext cx="1829589" cy="25391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rgbClr val="4B2E84"/>
                </a:solidFill>
                <a:latin typeface="Calibri"/>
                <a:cs typeface="+mn-cs"/>
              </a:rPr>
              <a:t>Compliance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77228B-FA45-4D63-AC5D-FCF5B321E4D2}"/>
              </a:ext>
            </a:extLst>
          </p:cNvPr>
          <p:cNvSpPr/>
          <p:nvPr/>
        </p:nvSpPr>
        <p:spPr>
          <a:xfrm>
            <a:off x="6075430" y="1743612"/>
            <a:ext cx="1740197" cy="20701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4B2E84"/>
                </a:solidFill>
                <a:latin typeface="Calibri"/>
              </a:rPr>
              <a:t>Internal Audit/External Audit &amp; Consulting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54EF80-6300-4F0B-844D-CAB9B93D94F3}"/>
              </a:ext>
            </a:extLst>
          </p:cNvPr>
          <p:cNvSpPr txBox="1"/>
          <p:nvPr/>
        </p:nvSpPr>
        <p:spPr>
          <a:xfrm>
            <a:off x="450125" y="371312"/>
            <a:ext cx="4734864" cy="276999"/>
          </a:xfrm>
          <a:prstGeom prst="rect">
            <a:avLst/>
          </a:prstGeom>
          <a:noFill/>
          <a:ln>
            <a:solidFill>
              <a:srgbClr val="B9A077"/>
            </a:solidFill>
          </a:ln>
        </p:spPr>
        <p:txBody>
          <a:bodyPr wrap="square" rtlCol="0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latin typeface="Calibri"/>
                <a:cs typeface="+mn-cs"/>
              </a:rPr>
              <a:t>Management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254AB2-2AFD-4732-83BB-37922F7BB318}"/>
              </a:ext>
            </a:extLst>
          </p:cNvPr>
          <p:cNvSpPr txBox="1"/>
          <p:nvPr/>
        </p:nvSpPr>
        <p:spPr>
          <a:xfrm>
            <a:off x="5534368" y="371312"/>
            <a:ext cx="2822323" cy="276999"/>
          </a:xfrm>
          <a:prstGeom prst="rect">
            <a:avLst/>
          </a:prstGeom>
          <a:noFill/>
          <a:ln>
            <a:solidFill>
              <a:srgbClr val="B9A077"/>
            </a:solidFill>
          </a:ln>
        </p:spPr>
        <p:txBody>
          <a:bodyPr wrap="square" rtlCol="0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prstClr val="black"/>
                </a:solidFill>
                <a:latin typeface="Calibri"/>
                <a:cs typeface="+mn-cs"/>
              </a:rPr>
              <a:t>Audit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ACD4E2-C8F4-8B37-D56A-8FC603240723}"/>
              </a:ext>
            </a:extLst>
          </p:cNvPr>
          <p:cNvSpPr/>
          <p:nvPr/>
        </p:nvSpPr>
        <p:spPr>
          <a:xfrm>
            <a:off x="3111832" y="2858537"/>
            <a:ext cx="2073157" cy="257214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CECE77-4842-EAC3-07E9-CAA2557F3DA3}"/>
              </a:ext>
            </a:extLst>
          </p:cNvPr>
          <p:cNvCxnSpPr>
            <a:cxnSpLocks/>
            <a:stCxn id="2" idx="3"/>
            <a:endCxn id="8" idx="0"/>
          </p:cNvCxnSpPr>
          <p:nvPr/>
        </p:nvCxnSpPr>
        <p:spPr>
          <a:xfrm>
            <a:off x="5184989" y="2987144"/>
            <a:ext cx="999789" cy="124293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8F9383-5C28-5A91-B278-BE9C58848A6B}"/>
              </a:ext>
            </a:extLst>
          </p:cNvPr>
          <p:cNvSpPr txBox="1"/>
          <p:nvPr/>
        </p:nvSpPr>
        <p:spPr>
          <a:xfrm>
            <a:off x="4141270" y="4230075"/>
            <a:ext cx="408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Information Technology General Controls </a:t>
            </a:r>
          </a:p>
          <a:p>
            <a:r>
              <a:rPr lang="en-US" dirty="0">
                <a:latin typeface="+mn-lt"/>
              </a:rPr>
              <a:t>ITGC : </a:t>
            </a:r>
            <a:r>
              <a:rPr lang="en-US" b="1" i="1" dirty="0">
                <a:solidFill>
                  <a:srgbClr val="412985"/>
                </a:solidFill>
                <a:latin typeface="+mn-lt"/>
              </a:rPr>
              <a:t>Testing and Compliance issues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4E669D-CD8B-BDDB-0699-84D941592B81}"/>
              </a:ext>
            </a:extLst>
          </p:cNvPr>
          <p:cNvSpPr/>
          <p:nvPr/>
        </p:nvSpPr>
        <p:spPr>
          <a:xfrm>
            <a:off x="5954770" y="2542111"/>
            <a:ext cx="2073157" cy="57364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2C824F-DEF6-E41B-D9A8-866372F75E0E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6381650" y="3115751"/>
            <a:ext cx="609699" cy="1109852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501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8B04-EE8F-4494-1DBA-0BBDDC86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83A7-D3A5-FA67-5BC2-502EDFCA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02F64-40D5-DC2F-3FC7-DD042293D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1946687"/>
          </a:xfrm>
        </p:spPr>
        <p:txBody>
          <a:bodyPr vert="horz" wrap="square" lIns="137160" tIns="45720" rIns="91440" bIns="45720" rtlCol="0" anchor="t">
            <a:spAutoFit/>
          </a:bodyPr>
          <a:lstStyle/>
          <a:p>
            <a:pPr marL="457200" indent="-4572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/>
            <a:r>
              <a:rPr lang="en-US" b="1" dirty="0">
                <a:solidFill>
                  <a:schemeClr val="tx2"/>
                </a:solidFill>
              </a:rPr>
              <a:t>Deliverable</a:t>
            </a:r>
          </a:p>
          <a:p>
            <a:pPr marL="457200" indent="-457200"/>
            <a:r>
              <a:rPr lang="en-US" dirty="0"/>
              <a:t>Lab: </a:t>
            </a:r>
          </a:p>
          <a:p>
            <a:pPr marL="1027113" lvl="1" indent="-457200"/>
            <a:r>
              <a:rPr lang="en-US" dirty="0"/>
              <a:t>Liberty Systems Cybersecurity Case</a:t>
            </a:r>
          </a:p>
        </p:txBody>
      </p:sp>
    </p:spTree>
    <p:extLst>
      <p:ext uri="{BB962C8B-B14F-4D97-AF65-F5344CB8AC3E}">
        <p14:creationId xmlns:p14="http://schemas.microsoft.com/office/powerpoint/2010/main" val="182511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730B-E680-23F8-5749-54224D9B3F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33375"/>
            <a:ext cx="8305800" cy="584775"/>
          </a:xfrm>
        </p:spPr>
        <p:txBody>
          <a:bodyPr/>
          <a:lstStyle/>
          <a:p>
            <a:r>
              <a:rPr lang="en-US" dirty="0"/>
              <a:t> Deliverable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D9F6-17E1-D921-7028-A42413E4811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1405" y="933101"/>
            <a:ext cx="8229600" cy="2482731"/>
          </a:xfrm>
        </p:spPr>
        <p:txBody>
          <a:bodyPr/>
          <a:lstStyle/>
          <a:p>
            <a:r>
              <a:rPr lang="en-US" sz="2400" b="1" dirty="0"/>
              <a:t>A 1-page memo with a screenshot of your final Alteryx workflow.</a:t>
            </a:r>
          </a:p>
          <a:p>
            <a:endParaRPr lang="en-US" sz="2000" dirty="0"/>
          </a:p>
          <a:p>
            <a:r>
              <a:rPr lang="en-US" sz="2000" dirty="0"/>
              <a:t>The memo should answer the following (based on Q7 and Q8 of the case): </a:t>
            </a:r>
          </a:p>
          <a:p>
            <a:pPr marL="514350" indent="-514350">
              <a:buFont typeface="Arial" charset="0"/>
              <a:buAutoNum type="arabicPeriod"/>
            </a:pPr>
            <a:r>
              <a:rPr lang="en-US" sz="1600" dirty="0"/>
              <a:t>Based on your analysis, what do you believe should be the next steps for the external audit?</a:t>
            </a:r>
          </a:p>
          <a:p>
            <a:pPr marL="514350" indent="-514350">
              <a:buFont typeface="Arial" charset="0"/>
              <a:buAutoNum type="arabicPeriod"/>
            </a:pPr>
            <a:r>
              <a:rPr lang="en-US" sz="1600" dirty="0"/>
              <a:t>What other concerns do you have from reviewing the data? List at least three concerns you have and explain why you are concerned.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4144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4A583-89CF-EBB9-0E60-012A2701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3CFC-7C16-2871-3CCF-724F0C93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F9892-4E4D-FF4B-E305-02CB13A36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1946687"/>
          </a:xfrm>
        </p:spPr>
        <p:txBody>
          <a:bodyPr vert="horz" wrap="square" lIns="137160" tIns="45720" rIns="91440" bIns="45720" rtlCol="0" anchor="t">
            <a:spAutoFit/>
          </a:bodyPr>
          <a:lstStyle/>
          <a:p>
            <a:pPr marL="457200" indent="-4572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Deliverable</a:t>
            </a:r>
          </a:p>
          <a:p>
            <a:pPr marL="457200" indent="-457200"/>
            <a:r>
              <a:rPr lang="en-US" b="1" dirty="0">
                <a:solidFill>
                  <a:schemeClr val="tx2"/>
                </a:solidFill>
              </a:rPr>
              <a:t>Lab:</a:t>
            </a:r>
            <a:r>
              <a:rPr lang="en-US" dirty="0"/>
              <a:t> </a:t>
            </a:r>
          </a:p>
          <a:p>
            <a:pPr marL="1027113" lvl="1" indent="-457200"/>
            <a:r>
              <a:rPr lang="en-US" b="1" dirty="0">
                <a:solidFill>
                  <a:srgbClr val="412985"/>
                </a:solidFill>
              </a:rPr>
              <a:t>Liberty Systems Cybersecurity Case</a:t>
            </a:r>
          </a:p>
        </p:txBody>
      </p:sp>
    </p:spTree>
    <p:extLst>
      <p:ext uri="{BB962C8B-B14F-4D97-AF65-F5344CB8AC3E}">
        <p14:creationId xmlns:p14="http://schemas.microsoft.com/office/powerpoint/2010/main" val="3261769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3916-9831-4832-66EF-C170E7940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09F21-03C8-80B7-0566-D5C977003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2580194"/>
          </a:xfrm>
        </p:spPr>
        <p:txBody>
          <a:bodyPr/>
          <a:lstStyle/>
          <a:p>
            <a:r>
              <a:rPr lang="en-US" dirty="0"/>
              <a:t>Fewer steps makes a workflow easier to follow and debug, making it easier to share.</a:t>
            </a:r>
          </a:p>
          <a:p>
            <a:endParaRPr lang="en-US" dirty="0"/>
          </a:p>
          <a:p>
            <a:r>
              <a:rPr lang="en-US" i="1" dirty="0"/>
              <a:t>The Challenge</a:t>
            </a:r>
            <a:r>
              <a:rPr lang="en-US" dirty="0"/>
              <a:t>: Do better than the following screenshot by using </a:t>
            </a:r>
            <a:r>
              <a:rPr lang="en-US" b="1" dirty="0">
                <a:solidFill>
                  <a:srgbClr val="412985"/>
                </a:solidFill>
              </a:rPr>
              <a:t>fewer tools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642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594E82-6D6C-6DC1-9B53-0EB7479A0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" y="0"/>
            <a:ext cx="7011438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4622E1-F687-1A9F-C957-22046CA61249}"/>
              </a:ext>
            </a:extLst>
          </p:cNvPr>
          <p:cNvSpPr txBox="1"/>
          <p:nvPr/>
        </p:nvSpPr>
        <p:spPr>
          <a:xfrm>
            <a:off x="5285328" y="387782"/>
            <a:ext cx="1868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+mn-lt"/>
              </a:rPr>
              <a:t>The goal to beat: </a:t>
            </a:r>
          </a:p>
          <a:p>
            <a:r>
              <a:rPr lang="en-US" b="1" i="1" dirty="0">
                <a:solidFill>
                  <a:srgbClr val="412985"/>
                </a:solidFill>
                <a:latin typeface="+mn-lt"/>
              </a:rPr>
              <a:t>35</a:t>
            </a:r>
            <a:r>
              <a:rPr lang="en-US" dirty="0">
                <a:latin typeface="+mn-lt"/>
              </a:rPr>
              <a:t> steps</a:t>
            </a:r>
          </a:p>
        </p:txBody>
      </p:sp>
    </p:spTree>
    <p:extLst>
      <p:ext uri="{BB962C8B-B14F-4D97-AF65-F5344CB8AC3E}">
        <p14:creationId xmlns:p14="http://schemas.microsoft.com/office/powerpoint/2010/main" val="3232708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82A7-FD77-1F73-1233-744DD695C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742C-167E-7391-C71B-98A32FA45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0297" y="1225135"/>
            <a:ext cx="6556889" cy="2062103"/>
          </a:xfrm>
        </p:spPr>
        <p:txBody>
          <a:bodyPr/>
          <a:lstStyle/>
          <a:p>
            <a:r>
              <a:rPr lang="en-US" dirty="0"/>
              <a:t>Formula tool can accommodate many expressions, including </a:t>
            </a:r>
            <a:r>
              <a:rPr lang="en-US" dirty="0" err="1"/>
              <a:t>RegEx</a:t>
            </a:r>
            <a:r>
              <a:rPr lang="en-US" dirty="0"/>
              <a:t>, and output data in many formats (e.g., Boolean).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985A2-CE3E-A67A-47C3-62BA68821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41" y="1314182"/>
            <a:ext cx="818294" cy="769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08A5BB-A138-5F50-3CBA-8B0BB96F2A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88"/>
          <a:stretch/>
        </p:blipFill>
        <p:spPr>
          <a:xfrm>
            <a:off x="681441" y="3418228"/>
            <a:ext cx="818294" cy="81443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57B0D9-D0F4-6D3B-78E2-9CB406322FF0}"/>
              </a:ext>
            </a:extLst>
          </p:cNvPr>
          <p:cNvSpPr txBox="1">
            <a:spLocks/>
          </p:cNvSpPr>
          <p:nvPr/>
        </p:nvSpPr>
        <p:spPr>
          <a:xfrm>
            <a:off x="2020297" y="3240995"/>
            <a:ext cx="6556889" cy="1569660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 marL="0" indent="0" algn="l" defTabSz="457200" rtl="0" fontAlgn="base">
              <a:spcBef>
                <a:spcPts val="0"/>
              </a:spcBef>
              <a:spcAft>
                <a:spcPts val="100"/>
              </a:spcAft>
              <a:buFont typeface="Arial" charset="0"/>
              <a:buNone/>
              <a:defRPr lang="en-US" sz="3200" kern="1200" dirty="0" smtClean="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69913" indent="-228600" algn="l" defTabSz="457200" rtl="0" fontAlgn="base"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lang="en-US" sz="2200" kern="1200" dirty="0" smtClean="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801688" indent="-227013" algn="l" defTabSz="457200" rtl="0" fontAlgn="base">
              <a:spcBef>
                <a:spcPts val="0"/>
              </a:spcBef>
              <a:spcAft>
                <a:spcPts val="100"/>
              </a:spcAft>
              <a:buFont typeface="Arial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027113" indent="-220663" algn="l" defTabSz="457200" rtl="0" fontAlgn="base"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258888" indent="-239713" algn="l" defTabSz="457200" rtl="0" fontAlgn="base"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Filter tool can accommodate many custom conditions using </a:t>
            </a:r>
            <a:r>
              <a:rPr lang="en-US" dirty="0">
                <a:solidFill>
                  <a:srgbClr val="412985"/>
                </a:solidFill>
              </a:rPr>
              <a:t>AND</a:t>
            </a:r>
            <a:r>
              <a:rPr lang="en-US" dirty="0"/>
              <a:t>, with Boolean = 1 = True.</a:t>
            </a:r>
          </a:p>
        </p:txBody>
      </p:sp>
    </p:spTree>
    <p:extLst>
      <p:ext uri="{BB962C8B-B14F-4D97-AF65-F5344CB8AC3E}">
        <p14:creationId xmlns:p14="http://schemas.microsoft.com/office/powerpoint/2010/main" val="2082025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30CC-0154-427B-3381-73DB3670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RegEx</a:t>
            </a:r>
            <a:r>
              <a:rPr lang="en-US" dirty="0"/>
              <a:t>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2BFC-9145-B128-AEDF-A590AE395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3308598"/>
          </a:xfrm>
        </p:spPr>
        <p:txBody>
          <a:bodyPr/>
          <a:lstStyle/>
          <a:p>
            <a:r>
              <a:rPr lang="en-US" dirty="0" err="1"/>
              <a:t>RegEx</a:t>
            </a:r>
            <a:r>
              <a:rPr lang="en-US" dirty="0"/>
              <a:t> that </a:t>
            </a:r>
            <a:r>
              <a:rPr lang="en-US" i="1" dirty="0">
                <a:solidFill>
                  <a:srgbClr val="412985"/>
                </a:solidFill>
              </a:rPr>
              <a:t>matches</a:t>
            </a:r>
            <a:r>
              <a:rPr lang="en-US" dirty="0"/>
              <a:t> the following plain English: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Only lowercase letters: </a:t>
            </a:r>
          </a:p>
          <a:p>
            <a:pPr marL="1027113" lvl="1" indent="-457200"/>
            <a:r>
              <a:rPr lang="en-US" dirty="0"/>
              <a:t>“</a:t>
            </a:r>
            <a:r>
              <a:rPr lang="en-US" dirty="0">
                <a:solidFill>
                  <a:srgbClr val="412985"/>
                </a:solidFill>
              </a:rPr>
              <a:t>[a-z]*</a:t>
            </a:r>
            <a:r>
              <a:rPr lang="en-US" dirty="0"/>
              <a:t>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Upper and lowercase letters:</a:t>
            </a:r>
          </a:p>
          <a:p>
            <a:pPr marL="1027113" lvl="1" indent="-457200"/>
            <a:r>
              <a:rPr lang="en-US" dirty="0"/>
              <a:t>“</a:t>
            </a:r>
            <a:r>
              <a:rPr lang="en-US" dirty="0">
                <a:solidFill>
                  <a:srgbClr val="412985"/>
                </a:solidFill>
              </a:rPr>
              <a:t>.*[a-z].*[A-Z].*|.*[A-Z].*[a-z].*</a:t>
            </a:r>
            <a:r>
              <a:rPr lang="en-US" dirty="0"/>
              <a:t>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“|” pipe delimiter is an “OR” operator.</a:t>
            </a:r>
          </a:p>
        </p:txBody>
      </p:sp>
    </p:spTree>
    <p:extLst>
      <p:ext uri="{BB962C8B-B14F-4D97-AF65-F5344CB8AC3E}">
        <p14:creationId xmlns:p14="http://schemas.microsoft.com/office/powerpoint/2010/main" val="2141365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F9DB-EC2C-8A6A-406D-9950BDD7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129B2-856F-0AAD-D8A2-3C3A53A67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00125"/>
            <a:ext cx="8229600" cy="3565079"/>
          </a:xfrm>
        </p:spPr>
        <p:txBody>
          <a:bodyPr/>
          <a:lstStyle/>
          <a:p>
            <a:r>
              <a:rPr lang="en-US" dirty="0"/>
              <a:t>Combine steps into Formula and filter tools, use </a:t>
            </a:r>
            <a:r>
              <a:rPr lang="en-US" dirty="0" err="1"/>
              <a:t>boolen</a:t>
            </a:r>
            <a:r>
              <a:rPr lang="en-US" dirty="0"/>
              <a:t> (or False=0/True=1) to simplify the filter conditions.</a:t>
            </a:r>
          </a:p>
          <a:p>
            <a:endParaRPr lang="en-US" dirty="0"/>
          </a:p>
          <a:p>
            <a:r>
              <a:rPr lang="en-US" dirty="0"/>
              <a:t>Final output is Passwords that are NOT problematic, you will find (only) </a:t>
            </a:r>
            <a:r>
              <a:rPr lang="en-US" b="1" dirty="0">
                <a:solidFill>
                  <a:srgbClr val="412985"/>
                </a:solidFill>
              </a:rPr>
              <a:t>6</a:t>
            </a:r>
            <a:r>
              <a:rPr lang="en-US" dirty="0"/>
              <a:t> meet the criteria. </a:t>
            </a:r>
          </a:p>
        </p:txBody>
      </p:sp>
    </p:spTree>
    <p:extLst>
      <p:ext uri="{BB962C8B-B14F-4D97-AF65-F5344CB8AC3E}">
        <p14:creationId xmlns:p14="http://schemas.microsoft.com/office/powerpoint/2010/main" val="3587130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E59E-D035-442F-B808-80D34A40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" y="2021614"/>
            <a:ext cx="8170606" cy="769441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F8A0F-A392-468B-83F5-F4CB4C1F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7202"/>
            <a:ext cx="9144000" cy="6097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65860-206F-486C-94A8-1A3581784A71}"/>
              </a:ext>
            </a:extLst>
          </p:cNvPr>
          <p:cNvSpPr txBox="1"/>
          <p:nvPr/>
        </p:nvSpPr>
        <p:spPr>
          <a:xfrm>
            <a:off x="2997529" y="1152145"/>
            <a:ext cx="31951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78"/>
            <a:r>
              <a:rPr lang="en-US" sz="4400" b="1" dirty="0">
                <a:solidFill>
                  <a:prstClr val="white"/>
                </a:solidFill>
                <a:latin typeface="Arial"/>
                <a:cs typeface="Arial" panose="020B0604020202020204" pitchFamily="34" charset="0"/>
              </a:rPr>
              <a:t>Thank you!</a:t>
            </a:r>
            <a:endParaRPr lang="en-US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2899699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Foster">
      <a:dk1>
        <a:sysClr val="windowText" lastClr="000000"/>
      </a:dk1>
      <a:lt1>
        <a:sysClr val="window" lastClr="FFFFFF"/>
      </a:lt1>
      <a:dk2>
        <a:srgbClr val="4B2E84"/>
      </a:dk2>
      <a:lt2>
        <a:srgbClr val="B9A077"/>
      </a:lt2>
      <a:accent1>
        <a:srgbClr val="86754D"/>
      </a:accent1>
      <a:accent2>
        <a:srgbClr val="0988C1"/>
      </a:accent2>
      <a:accent3>
        <a:srgbClr val="3CB2A7"/>
      </a:accent3>
      <a:accent4>
        <a:srgbClr val="41AD49"/>
      </a:accent4>
      <a:accent5>
        <a:srgbClr val="DC4327"/>
      </a:accent5>
      <a:accent6>
        <a:srgbClr val="D2B887"/>
      </a:accent6>
      <a:hlink>
        <a:srgbClr val="4B2E84"/>
      </a:hlink>
      <a:folHlink>
        <a:srgbClr val="4B2E84"/>
      </a:folHlink>
    </a:clrScheme>
    <a:fontScheme name="Fost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F69E203AC04243ACA450E86C6C3027" ma:contentTypeVersion="3" ma:contentTypeDescription="Create a new document." ma:contentTypeScope="" ma:versionID="2d5dfb402cda9ec94ad9e4211ac1946e">
  <xsd:schema xmlns:xsd="http://www.w3.org/2001/XMLSchema" xmlns:xs="http://www.w3.org/2001/XMLSchema" xmlns:p="http://schemas.microsoft.com/office/2006/metadata/properties" xmlns:ns2="92d151aa-5444-48df-9732-7562e1b8a114" targetNamespace="http://schemas.microsoft.com/office/2006/metadata/properties" ma:root="true" ma:fieldsID="713c23bda8087a008cc1c00c9d76869d" ns2:_="">
    <xsd:import namespace="92d151aa-5444-48df-9732-7562e1b8a1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151aa-5444-48df-9732-7562e1b8a1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2C1C38-D2BC-41E8-BFF7-3546CADD0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7141BF-5E11-47F9-9296-0695D3DC96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d151aa-5444-48df-9732-7562e1b8a1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AA8D24-9DB6-4446-BFF5-A34A571DCD63}">
  <ds:schemaRefs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92d151aa-5444-48df-9732-7562e1b8a114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15771</TotalTime>
  <Words>456</Words>
  <Application>Microsoft Office PowerPoint</Application>
  <PresentationFormat>On-screen Show (16:9)</PresentationFormat>
  <Paragraphs>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W Foster MBA Career Mgmt</vt:lpstr>
      <vt:lpstr>Cases in Cybersecurity 1</vt:lpstr>
      <vt:lpstr>Agenda</vt:lpstr>
      <vt:lpstr>Review</vt:lpstr>
      <vt:lpstr>PowerPoint Presentation</vt:lpstr>
      <vt:lpstr>PowerPoint Presentation</vt:lpstr>
      <vt:lpstr>PowerPoint Presentation</vt:lpstr>
      <vt:lpstr>Agenda</vt:lpstr>
      <vt:lpstr> Deliverable</vt:lpstr>
      <vt:lpstr>Agenda</vt:lpstr>
      <vt:lpstr>Today’s Challenge</vt:lpstr>
      <vt:lpstr>PowerPoint Presentation</vt:lpstr>
      <vt:lpstr>Tool Suggestions</vt:lpstr>
      <vt:lpstr>RegEx Help</vt:lpstr>
      <vt:lpstr>Final Hints</vt:lpstr>
      <vt:lpstr>PowerPoint Presentation</vt:lpstr>
    </vt:vector>
  </TitlesOfParts>
  <Company>A.K.A. Design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Ann Kumasaka</dc:creator>
  <cp:lastModifiedBy>Asher Curtis</cp:lastModifiedBy>
  <cp:revision>409</cp:revision>
  <cp:lastPrinted>2024-10-16T21:57:06Z</cp:lastPrinted>
  <dcterms:created xsi:type="dcterms:W3CDTF">2011-09-06T04:32:21Z</dcterms:created>
  <dcterms:modified xsi:type="dcterms:W3CDTF">2025-11-18T20:51:25Z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0x01010023F69E203AC04243ACA450E86C6C3027</vt:lpwstr>
  </property>
  <property fmtid="{D5CDD505-2E9C-101B-9397-08002B2CF9AE}" pid="3" name="ImageCreateDate">
    <vt:lpwstr/>
  </property>
  <property fmtid="{D5CDD505-2E9C-101B-9397-08002B2CF9AE}" pid="4" name="Foster Site Scope">
    <vt:lpwstr>Intranet</vt:lpwstr>
  </property>
  <property fmtid="{D5CDD505-2E9C-101B-9397-08002B2CF9AE}" pid="5" name="Foster Permission Form">
    <vt:lpwstr/>
  </property>
  <property fmtid="{D5CDD505-2E9C-101B-9397-08002B2CF9AE}" pid="6" name="This needs to be set to identify the intended use of this image.  Examples would be &quot;Homepage&quot; or &quot;Program Cent">
    <vt:lpwstr/>
  </property>
  <property fmtid="{D5CDD505-2E9C-101B-9397-08002B2CF9AE}" pid="7" name="Page Location">
    <vt:lpwstr>Brand</vt:lpwstr>
  </property>
  <property fmtid="{D5CDD505-2E9C-101B-9397-08002B2CF9AE}" pid="8" name="Caption">
    <vt:lpwstr/>
  </property>
  <property fmtid="{D5CDD505-2E9C-101B-9397-08002B2CF9AE}" pid="9" name="Source Image">
    <vt:lpwstr/>
  </property>
  <property fmtid="{D5CDD505-2E9C-101B-9397-08002B2CF9AE}" pid="10" name="Comments">
    <vt:lpwstr/>
  </property>
</Properties>
</file>