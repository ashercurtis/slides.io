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7"/>
  </p:notesMasterIdLst>
  <p:handoutMasterIdLst>
    <p:handoutMasterId r:id="rId28"/>
  </p:handoutMasterIdLst>
  <p:sldIdLst>
    <p:sldId id="495" r:id="rId5"/>
    <p:sldId id="510" r:id="rId6"/>
    <p:sldId id="737" r:id="rId7"/>
    <p:sldId id="810" r:id="rId8"/>
    <p:sldId id="811" r:id="rId9"/>
    <p:sldId id="1096" r:id="rId10"/>
    <p:sldId id="2008" r:id="rId11"/>
    <p:sldId id="812" r:id="rId12"/>
    <p:sldId id="813" r:id="rId13"/>
    <p:sldId id="2009" r:id="rId14"/>
    <p:sldId id="814" r:id="rId15"/>
    <p:sldId id="815" r:id="rId16"/>
    <p:sldId id="730" r:id="rId17"/>
    <p:sldId id="385" r:id="rId18"/>
    <p:sldId id="2012" r:id="rId19"/>
    <p:sldId id="2013" r:id="rId20"/>
    <p:sldId id="2016" r:id="rId21"/>
    <p:sldId id="2015" r:id="rId22"/>
    <p:sldId id="2011" r:id="rId23"/>
    <p:sldId id="729" r:id="rId24"/>
    <p:sldId id="733" r:id="rId25"/>
    <p:sldId id="809" r:id="rId26"/>
  </p:sldIdLst>
  <p:sldSz cx="9144000" cy="5143500" type="screen16x9"/>
  <p:notesSz cx="7315200" cy="9601200"/>
  <p:defaultTextStyle>
    <a:defPPr>
      <a:defRPr lang="en-US"/>
    </a:defPPr>
    <a:lvl1pPr algn="l" defTabSz="457200" rtl="0" fontAlgn="base">
      <a:spcBef>
        <a:spcPct val="0"/>
      </a:spcBef>
      <a:spcAft>
        <a:spcPct val="0"/>
      </a:spcAft>
      <a:defRPr kern="1200">
        <a:solidFill>
          <a:schemeClr val="tx1"/>
        </a:solidFill>
        <a:latin typeface="Arial" charset="0"/>
        <a:ea typeface="+mn-ea"/>
        <a:cs typeface="Arial" charset="0"/>
      </a:defRPr>
    </a:lvl1pPr>
    <a:lvl2pPr marL="457200" algn="l" defTabSz="457200" rtl="0" fontAlgn="base">
      <a:spcBef>
        <a:spcPct val="0"/>
      </a:spcBef>
      <a:spcAft>
        <a:spcPct val="0"/>
      </a:spcAft>
      <a:defRPr kern="1200">
        <a:solidFill>
          <a:schemeClr val="tx1"/>
        </a:solidFill>
        <a:latin typeface="Arial" charset="0"/>
        <a:ea typeface="+mn-ea"/>
        <a:cs typeface="Arial" charset="0"/>
      </a:defRPr>
    </a:lvl2pPr>
    <a:lvl3pPr marL="914400" algn="l" defTabSz="457200" rtl="0" fontAlgn="base">
      <a:spcBef>
        <a:spcPct val="0"/>
      </a:spcBef>
      <a:spcAft>
        <a:spcPct val="0"/>
      </a:spcAft>
      <a:defRPr kern="1200">
        <a:solidFill>
          <a:schemeClr val="tx1"/>
        </a:solidFill>
        <a:latin typeface="Arial" charset="0"/>
        <a:ea typeface="+mn-ea"/>
        <a:cs typeface="Arial" charset="0"/>
      </a:defRPr>
    </a:lvl3pPr>
    <a:lvl4pPr marL="1371600" algn="l" defTabSz="457200" rtl="0" fontAlgn="base">
      <a:spcBef>
        <a:spcPct val="0"/>
      </a:spcBef>
      <a:spcAft>
        <a:spcPct val="0"/>
      </a:spcAft>
      <a:defRPr kern="1200">
        <a:solidFill>
          <a:schemeClr val="tx1"/>
        </a:solidFill>
        <a:latin typeface="Arial" charset="0"/>
        <a:ea typeface="+mn-ea"/>
        <a:cs typeface="Arial" charset="0"/>
      </a:defRPr>
    </a:lvl4pPr>
    <a:lvl5pPr marL="1828800" algn="l" defTabSz="457200"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Default Section" id="{8D555BDC-712A-D847-BE44-26DF3EC466F7}">
          <p14:sldIdLst>
            <p14:sldId id="495"/>
            <p14:sldId id="510"/>
            <p14:sldId id="737"/>
            <p14:sldId id="810"/>
            <p14:sldId id="811"/>
            <p14:sldId id="1096"/>
            <p14:sldId id="2008"/>
            <p14:sldId id="812"/>
            <p14:sldId id="813"/>
            <p14:sldId id="2009"/>
            <p14:sldId id="814"/>
            <p14:sldId id="815"/>
            <p14:sldId id="730"/>
            <p14:sldId id="385"/>
            <p14:sldId id="2012"/>
            <p14:sldId id="2013"/>
            <p14:sldId id="2016"/>
            <p14:sldId id="2015"/>
            <p14:sldId id="2011"/>
            <p14:sldId id="729"/>
            <p14:sldId id="733"/>
            <p14:sldId id="809"/>
          </p14:sldIdLst>
        </p14:section>
      </p14:sectionLst>
    </p:ext>
    <p:ext uri="{EFAFB233-063F-42B5-8137-9DF3F51BA10A}">
      <p15:sldGuideLst xmlns:p15="http://schemas.microsoft.com/office/powerpoint/2012/main">
        <p15:guide id="1" orient="horz" pos="2148" userDrawn="1">
          <p15:clr>
            <a:srgbClr val="A4A3A4"/>
          </p15:clr>
        </p15:guide>
        <p15:guide id="2" pos="2880">
          <p15:clr>
            <a:srgbClr val="A4A3A4"/>
          </p15:clr>
        </p15:guide>
        <p15:guide id="3" orient="horz" pos="1620">
          <p15:clr>
            <a:srgbClr val="A4A3A4"/>
          </p15:clr>
        </p15:guide>
        <p15:guide id="4" pos="228">
          <p15:clr>
            <a:srgbClr val="A4A3A4"/>
          </p15:clr>
        </p15:guide>
        <p15:guide id="5" pos="2887">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2985"/>
    <a:srgbClr val="C09F29"/>
    <a:srgbClr val="B9A077"/>
    <a:srgbClr val="0000FF"/>
    <a:srgbClr val="361F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3D4316-1591-43F4-9E3D-72E2E784E54F}" v="2" dt="2025-11-25T18:33:35.3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99" d="100"/>
          <a:sy n="199" d="100"/>
        </p:scale>
        <p:origin x="3222" y="150"/>
      </p:cViewPr>
      <p:guideLst>
        <p:guide orient="horz" pos="2148"/>
        <p:guide pos="2880"/>
        <p:guide orient="horz" pos="1620"/>
        <p:guide pos="228"/>
        <p:guide pos="2887"/>
      </p:guideLst>
    </p:cSldViewPr>
  </p:slideViewPr>
  <p:notesTextViewPr>
    <p:cViewPr>
      <p:scale>
        <a:sx n="1" d="1"/>
        <a:sy n="1" d="1"/>
      </p:scale>
      <p:origin x="0" y="0"/>
    </p:cViewPr>
  </p:notesTextViewPr>
  <p:notesViewPr>
    <p:cSldViewPr snapToGrid="0">
      <p:cViewPr>
        <p:scale>
          <a:sx n="1" d="2"/>
          <a:sy n="1" d="2"/>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er Curtis" userId="494c4f5b-6d11-415a-9d9e-829c1135aa91" providerId="ADAL" clId="{FDEDEEF3-7275-4161-A24C-7071BE30F9A7}"/>
    <pc:docChg chg="custSel modSld modNotesMaster modHandout">
      <pc:chgData name="Asher Curtis" userId="494c4f5b-6d11-415a-9d9e-829c1135aa91" providerId="ADAL" clId="{FDEDEEF3-7275-4161-A24C-7071BE30F9A7}" dt="2025-11-25T18:34:02.241" v="52" actId="207"/>
      <pc:docMkLst>
        <pc:docMk/>
      </pc:docMkLst>
      <pc:sldChg chg="modSp mod">
        <pc:chgData name="Asher Curtis" userId="494c4f5b-6d11-415a-9d9e-829c1135aa91" providerId="ADAL" clId="{FDEDEEF3-7275-4161-A24C-7071BE30F9A7}" dt="2025-11-25T18:08:43.458" v="2" actId="20577"/>
        <pc:sldMkLst>
          <pc:docMk/>
          <pc:sldMk cId="384289130" sldId="495"/>
        </pc:sldMkLst>
        <pc:spChg chg="mod">
          <ac:chgData name="Asher Curtis" userId="494c4f5b-6d11-415a-9d9e-829c1135aa91" providerId="ADAL" clId="{FDEDEEF3-7275-4161-A24C-7071BE30F9A7}" dt="2025-11-25T18:08:43.458" v="2" actId="20577"/>
          <ac:spMkLst>
            <pc:docMk/>
            <pc:sldMk cId="384289130" sldId="495"/>
            <ac:spMk id="9" creationId="{B2773AAD-913F-4F7D-B76C-297F2718F473}"/>
          </ac:spMkLst>
        </pc:spChg>
      </pc:sldChg>
      <pc:sldChg chg="delSp mod">
        <pc:chgData name="Asher Curtis" userId="494c4f5b-6d11-415a-9d9e-829c1135aa91" providerId="ADAL" clId="{FDEDEEF3-7275-4161-A24C-7071BE30F9A7}" dt="2025-11-25T18:33:22.155" v="3" actId="478"/>
        <pc:sldMkLst>
          <pc:docMk/>
          <pc:sldMk cId="1633124366" sldId="733"/>
        </pc:sldMkLst>
        <pc:spChg chg="del">
          <ac:chgData name="Asher Curtis" userId="494c4f5b-6d11-415a-9d9e-829c1135aa91" providerId="ADAL" clId="{FDEDEEF3-7275-4161-A24C-7071BE30F9A7}" dt="2025-11-25T18:33:22.155" v="3" actId="478"/>
          <ac:spMkLst>
            <pc:docMk/>
            <pc:sldMk cId="1633124366" sldId="733"/>
            <ac:spMk id="23" creationId="{ED0CB7E7-AECA-40AE-AF51-28A35B3BCC8C}"/>
          </ac:spMkLst>
        </pc:spChg>
      </pc:sldChg>
      <pc:sldChg chg="addSp modSp mod">
        <pc:chgData name="Asher Curtis" userId="494c4f5b-6d11-415a-9d9e-829c1135aa91" providerId="ADAL" clId="{FDEDEEF3-7275-4161-A24C-7071BE30F9A7}" dt="2025-11-25T18:34:02.241" v="52" actId="207"/>
        <pc:sldMkLst>
          <pc:docMk/>
          <pc:sldMk cId="1964144993" sldId="2009"/>
        </pc:sldMkLst>
        <pc:spChg chg="add mod">
          <ac:chgData name="Asher Curtis" userId="494c4f5b-6d11-415a-9d9e-829c1135aa91" providerId="ADAL" clId="{FDEDEEF3-7275-4161-A24C-7071BE30F9A7}" dt="2025-11-25T18:34:02.241" v="52" actId="207"/>
          <ac:spMkLst>
            <pc:docMk/>
            <pc:sldMk cId="1964144993" sldId="2009"/>
            <ac:spMk id="4" creationId="{4051AC39-721C-07A2-9E15-1515F9BED1B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fontAlgn="auto">
              <a:spcBef>
                <a:spcPts val="0"/>
              </a:spcBef>
              <a:spcAft>
                <a:spcPts val="0"/>
              </a:spcAft>
              <a:defRPr sz="1200">
                <a:latin typeface="+mn-lt"/>
                <a:cs typeface="+mn-cs"/>
              </a:defRPr>
            </a:lvl1pPr>
          </a:lstStyle>
          <a:p>
            <a:pPr>
              <a:defRPr/>
            </a:pPr>
            <a:endParaRPr lang="en-US">
              <a:latin typeface="Arial" panose="020B0604020202020204" pitchFamily="34" charset="0"/>
            </a:endParaRPr>
          </a:p>
        </p:txBody>
      </p:sp>
      <p:sp>
        <p:nvSpPr>
          <p:cNvPr id="3" name="Date Placeholder 2"/>
          <p:cNvSpPr>
            <a:spLocks noGrp="1"/>
          </p:cNvSpPr>
          <p:nvPr>
            <p:ph type="dt" sz="quarter" idx="1"/>
          </p:nvPr>
        </p:nvSpPr>
        <p:spPr>
          <a:xfrm>
            <a:off x="4143587" y="0"/>
            <a:ext cx="3169920" cy="480060"/>
          </a:xfrm>
          <a:prstGeom prst="rect">
            <a:avLst/>
          </a:prstGeom>
        </p:spPr>
        <p:txBody>
          <a:bodyPr vert="horz" lIns="96653" tIns="48327" rIns="96653" bIns="48327" rtlCol="0"/>
          <a:lstStyle>
            <a:lvl1pPr algn="r" fontAlgn="auto">
              <a:spcBef>
                <a:spcPts val="0"/>
              </a:spcBef>
              <a:spcAft>
                <a:spcPts val="0"/>
              </a:spcAft>
              <a:defRPr sz="1200" smtClean="0">
                <a:latin typeface="+mn-lt"/>
                <a:cs typeface="+mn-cs"/>
              </a:defRPr>
            </a:lvl1pPr>
          </a:lstStyle>
          <a:p>
            <a:pPr>
              <a:defRPr/>
            </a:pPr>
            <a:fld id="{F87AE820-DFE1-4C3C-B564-108A438BD633}" type="datetimeFigureOut">
              <a:rPr lang="en-US">
                <a:latin typeface="Arial" panose="020B0604020202020204" pitchFamily="34" charset="0"/>
              </a:rPr>
              <a:pPr>
                <a:defRPr/>
              </a:pPr>
              <a:t>11/25/2025</a:t>
            </a:fld>
            <a:endParaRPr lang="en-US">
              <a:latin typeface="Arial" panose="020B0604020202020204" pitchFamily="34" charset="0"/>
            </a:endParaRPr>
          </a:p>
        </p:txBody>
      </p:sp>
      <p:sp>
        <p:nvSpPr>
          <p:cNvPr id="4" name="Footer Placeholder 3"/>
          <p:cNvSpPr>
            <a:spLocks noGrp="1"/>
          </p:cNvSpPr>
          <p:nvPr>
            <p:ph type="ftr" sz="quarter" idx="2"/>
          </p:nvPr>
        </p:nvSpPr>
        <p:spPr>
          <a:xfrm>
            <a:off x="0" y="9119474"/>
            <a:ext cx="3169920" cy="480060"/>
          </a:xfrm>
          <a:prstGeom prst="rect">
            <a:avLst/>
          </a:prstGeom>
        </p:spPr>
        <p:txBody>
          <a:bodyPr vert="horz" lIns="96653" tIns="48327" rIns="96653" bIns="48327" rtlCol="0" anchor="b"/>
          <a:lstStyle>
            <a:lvl1pPr algn="l" fontAlgn="auto">
              <a:spcBef>
                <a:spcPts val="0"/>
              </a:spcBef>
              <a:spcAft>
                <a:spcPts val="0"/>
              </a:spcAft>
              <a:defRPr sz="1200">
                <a:latin typeface="+mn-lt"/>
                <a:cs typeface="+mn-cs"/>
              </a:defRPr>
            </a:lvl1pPr>
          </a:lstStyle>
          <a:p>
            <a:pPr>
              <a:defRPr/>
            </a:pPr>
            <a:endParaRPr lang="en-US">
              <a:latin typeface="Arial" panose="020B0604020202020204" pitchFamily="34" charset="0"/>
            </a:endParaRPr>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53" tIns="48327" rIns="96653" bIns="48327" rtlCol="0" anchor="b"/>
          <a:lstStyle>
            <a:lvl1pPr algn="r" fontAlgn="auto">
              <a:spcBef>
                <a:spcPts val="0"/>
              </a:spcBef>
              <a:spcAft>
                <a:spcPts val="0"/>
              </a:spcAft>
              <a:defRPr sz="1200" smtClean="0">
                <a:latin typeface="+mn-lt"/>
                <a:cs typeface="+mn-cs"/>
              </a:defRPr>
            </a:lvl1pPr>
          </a:lstStyle>
          <a:p>
            <a:pPr>
              <a:defRPr/>
            </a:pPr>
            <a:fld id="{429C84BD-FF2B-4119-9416-77652C2C47E2}" type="slidenum">
              <a:rPr lang="en-US">
                <a:latin typeface="Arial" panose="020B0604020202020204" pitchFamily="34" charset="0"/>
              </a:rPr>
              <a:pPr>
                <a:defRPr/>
              </a:pPr>
              <a:t>‹#›</a:t>
            </a:fld>
            <a:endParaRPr lang="en-US">
              <a:latin typeface="Arial" panose="020B0604020202020204" pitchFamily="34" charset="0"/>
            </a:endParaRPr>
          </a:p>
        </p:txBody>
      </p:sp>
    </p:spTree>
    <p:extLst>
      <p:ext uri="{BB962C8B-B14F-4D97-AF65-F5344CB8AC3E}">
        <p14:creationId xmlns:p14="http://schemas.microsoft.com/office/powerpoint/2010/main" val="13761755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fontAlgn="auto">
              <a:spcBef>
                <a:spcPts val="0"/>
              </a:spcBef>
              <a:spcAft>
                <a:spcPts val="0"/>
              </a:spcAft>
              <a:defRPr sz="1200">
                <a:latin typeface="Arial" panose="020B0604020202020204" pitchFamily="34" charset="0"/>
                <a:cs typeface="+mn-cs"/>
              </a:defRPr>
            </a:lvl1pPr>
          </a:lstStyle>
          <a:p>
            <a:pPr>
              <a:defRPr/>
            </a:pPr>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53" tIns="48327" rIns="96653" bIns="48327" rtlCol="0"/>
          <a:lstStyle>
            <a:lvl1pPr algn="r" fontAlgn="auto">
              <a:spcBef>
                <a:spcPts val="0"/>
              </a:spcBef>
              <a:spcAft>
                <a:spcPts val="0"/>
              </a:spcAft>
              <a:defRPr sz="1200" smtClean="0">
                <a:latin typeface="Arial" panose="020B0604020202020204" pitchFamily="34" charset="0"/>
                <a:cs typeface="+mn-cs"/>
              </a:defRPr>
            </a:lvl1pPr>
          </a:lstStyle>
          <a:p>
            <a:pPr>
              <a:defRPr/>
            </a:pPr>
            <a:fld id="{7C0560D2-22A1-4522-9A61-5BC081CC233D}" type="datetimeFigureOut">
              <a:rPr lang="en-US" smtClean="0"/>
              <a:pPr>
                <a:defRPr/>
              </a:pPr>
              <a:t>11/25/2025</a:t>
            </a:fld>
            <a:endParaRPr lang="en-US"/>
          </a:p>
        </p:txBody>
      </p:sp>
      <p:sp>
        <p:nvSpPr>
          <p:cNvPr id="4" name="Slide Image Placeholder 3"/>
          <p:cNvSpPr>
            <a:spLocks noGrp="1" noRot="1" noChangeAspect="1"/>
          </p:cNvSpPr>
          <p:nvPr>
            <p:ph type="sldImg" idx="2"/>
          </p:nvPr>
        </p:nvSpPr>
        <p:spPr>
          <a:xfrm>
            <a:off x="457200" y="719138"/>
            <a:ext cx="6400800" cy="3600450"/>
          </a:xfrm>
          <a:prstGeom prst="rect">
            <a:avLst/>
          </a:prstGeom>
          <a:noFill/>
          <a:ln w="12700">
            <a:solidFill>
              <a:prstClr val="black"/>
            </a:solidFill>
          </a:ln>
        </p:spPr>
        <p:txBody>
          <a:bodyPr vert="horz" lIns="96653" tIns="48327" rIns="96653" bIns="48327" rtlCol="0" anchor="ctr"/>
          <a:lstStyle/>
          <a:p>
            <a:pPr lvl="0"/>
            <a:endParaRPr lang="en-US" noProof="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53" tIns="48327" rIns="96653" bIns="48327"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53" tIns="48327" rIns="96653" bIns="48327" rtlCol="0" anchor="b"/>
          <a:lstStyle>
            <a:lvl1pPr algn="l" fontAlgn="auto">
              <a:spcBef>
                <a:spcPts val="0"/>
              </a:spcBef>
              <a:spcAft>
                <a:spcPts val="0"/>
              </a:spcAft>
              <a:defRPr sz="1200">
                <a:latin typeface="Arial" panose="020B0604020202020204" pitchFamily="34" charset="0"/>
                <a:cs typeface="+mn-cs"/>
              </a:defRPr>
            </a:lvl1pPr>
          </a:lstStyle>
          <a:p>
            <a:pPr>
              <a:defRPr/>
            </a:pPr>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53" tIns="48327" rIns="96653" bIns="48327" rtlCol="0" anchor="b"/>
          <a:lstStyle>
            <a:lvl1pPr algn="r" fontAlgn="auto">
              <a:spcBef>
                <a:spcPts val="0"/>
              </a:spcBef>
              <a:spcAft>
                <a:spcPts val="0"/>
              </a:spcAft>
              <a:defRPr sz="1200" smtClean="0">
                <a:latin typeface="Arial" panose="020B0604020202020204" pitchFamily="34" charset="0"/>
                <a:cs typeface="+mn-cs"/>
              </a:defRPr>
            </a:lvl1pPr>
          </a:lstStyle>
          <a:p>
            <a:pPr>
              <a:defRPr/>
            </a:pPr>
            <a:fld id="{7B479713-0D50-44A6-B1F4-4082749E615F}" type="slidenum">
              <a:rPr lang="en-US" smtClean="0"/>
              <a:pPr>
                <a:defRPr/>
              </a:pPr>
              <a:t>‹#›</a:t>
            </a:fld>
            <a:endParaRPr lang="en-US"/>
          </a:p>
        </p:txBody>
      </p:sp>
    </p:spTree>
    <p:extLst>
      <p:ext uri="{BB962C8B-B14F-4D97-AF65-F5344CB8AC3E}">
        <p14:creationId xmlns:p14="http://schemas.microsoft.com/office/powerpoint/2010/main" val="1719214621"/>
      </p:ext>
    </p:extLst>
  </p:cSld>
  <p:clrMap bg1="lt1" tx1="dk1" bg2="lt2" tx2="dk2" accent1="accent1" accent2="accent2" accent3="accent3" accent4="accent4" accent5="accent5" accent6="accent6" hlink="hlink" folHlink="folHlink"/>
  <p:notesStyle>
    <a:lvl1pPr algn="l" defTabSz="457200"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defTabSz="457200"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defTabSz="457200"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defTabSz="457200"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defTabSz="457200"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a:t>
            </a:fld>
            <a:endParaRPr lang="en-US"/>
          </a:p>
        </p:txBody>
      </p:sp>
    </p:spTree>
    <p:extLst>
      <p:ext uri="{BB962C8B-B14F-4D97-AF65-F5344CB8AC3E}">
        <p14:creationId xmlns:p14="http://schemas.microsoft.com/office/powerpoint/2010/main" val="19825713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a:t>
            </a:fld>
            <a:endParaRPr lang="en-US"/>
          </a:p>
        </p:txBody>
      </p:sp>
    </p:spTree>
    <p:extLst>
      <p:ext uri="{BB962C8B-B14F-4D97-AF65-F5344CB8AC3E}">
        <p14:creationId xmlns:p14="http://schemas.microsoft.com/office/powerpoint/2010/main" val="229011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3</a:t>
            </a:fld>
            <a:endParaRPr lang="en-US"/>
          </a:p>
        </p:txBody>
      </p:sp>
    </p:spTree>
    <p:extLst>
      <p:ext uri="{BB962C8B-B14F-4D97-AF65-F5344CB8AC3E}">
        <p14:creationId xmlns:p14="http://schemas.microsoft.com/office/powerpoint/2010/main" val="4830206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4</a:t>
            </a:fld>
            <a:endParaRPr lang="en-US"/>
          </a:p>
        </p:txBody>
      </p:sp>
    </p:spTree>
    <p:extLst>
      <p:ext uri="{BB962C8B-B14F-4D97-AF65-F5344CB8AC3E}">
        <p14:creationId xmlns:p14="http://schemas.microsoft.com/office/powerpoint/2010/main" val="14523596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5</a:t>
            </a:fld>
            <a:endParaRPr lang="en-US"/>
          </a:p>
        </p:txBody>
      </p:sp>
    </p:spTree>
    <p:extLst>
      <p:ext uri="{BB962C8B-B14F-4D97-AF65-F5344CB8AC3E}">
        <p14:creationId xmlns:p14="http://schemas.microsoft.com/office/powerpoint/2010/main" val="1767946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6</a:t>
            </a:fld>
            <a:endParaRPr lang="en-US"/>
          </a:p>
        </p:txBody>
      </p:sp>
    </p:spTree>
    <p:extLst>
      <p:ext uri="{BB962C8B-B14F-4D97-AF65-F5344CB8AC3E}">
        <p14:creationId xmlns:p14="http://schemas.microsoft.com/office/powerpoint/2010/main" val="42140172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7</a:t>
            </a:fld>
            <a:endParaRPr lang="en-US"/>
          </a:p>
        </p:txBody>
      </p:sp>
    </p:spTree>
    <p:extLst>
      <p:ext uri="{BB962C8B-B14F-4D97-AF65-F5344CB8AC3E}">
        <p14:creationId xmlns:p14="http://schemas.microsoft.com/office/powerpoint/2010/main" val="31596278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8</a:t>
            </a:fld>
            <a:endParaRPr lang="en-US"/>
          </a:p>
        </p:txBody>
      </p:sp>
    </p:spTree>
    <p:extLst>
      <p:ext uri="{BB962C8B-B14F-4D97-AF65-F5344CB8AC3E}">
        <p14:creationId xmlns:p14="http://schemas.microsoft.com/office/powerpoint/2010/main" val="32154613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9</a:t>
            </a:fld>
            <a:endParaRPr lang="en-US"/>
          </a:p>
        </p:txBody>
      </p:sp>
    </p:spTree>
    <p:extLst>
      <p:ext uri="{BB962C8B-B14F-4D97-AF65-F5344CB8AC3E}">
        <p14:creationId xmlns:p14="http://schemas.microsoft.com/office/powerpoint/2010/main" val="17355871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10</a:t>
            </a:fld>
            <a:endParaRPr lang="en-US"/>
          </a:p>
        </p:txBody>
      </p:sp>
    </p:spTree>
    <p:extLst>
      <p:ext uri="{BB962C8B-B14F-4D97-AF65-F5344CB8AC3E}">
        <p14:creationId xmlns:p14="http://schemas.microsoft.com/office/powerpoint/2010/main" val="18308629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11</a:t>
            </a:fld>
            <a:endParaRPr lang="en-US"/>
          </a:p>
        </p:txBody>
      </p:sp>
    </p:spTree>
    <p:extLst>
      <p:ext uri="{BB962C8B-B14F-4D97-AF65-F5344CB8AC3E}">
        <p14:creationId xmlns:p14="http://schemas.microsoft.com/office/powerpoint/2010/main" val="38380824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12</a:t>
            </a:fld>
            <a:endParaRPr lang="en-US"/>
          </a:p>
        </p:txBody>
      </p:sp>
    </p:spTree>
    <p:extLst>
      <p:ext uri="{BB962C8B-B14F-4D97-AF65-F5344CB8AC3E}">
        <p14:creationId xmlns:p14="http://schemas.microsoft.com/office/powerpoint/2010/main" val="19341119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13</a:t>
            </a:fld>
            <a:endParaRPr lang="en-US"/>
          </a:p>
        </p:txBody>
      </p:sp>
    </p:spTree>
    <p:extLst>
      <p:ext uri="{BB962C8B-B14F-4D97-AF65-F5344CB8AC3E}">
        <p14:creationId xmlns:p14="http://schemas.microsoft.com/office/powerpoint/2010/main" val="34234469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i="1" dirty="0"/>
              <a:t>Faculty note: Ten transactions are provided (estimated 10 minutes to complete). You can ask for students to research less transactions as desired based on permitted time. </a:t>
            </a:r>
          </a:p>
        </p:txBody>
      </p:sp>
      <p:sp>
        <p:nvSpPr>
          <p:cNvPr id="4" name="Foliennummernplatzhalter 3"/>
          <p:cNvSpPr>
            <a:spLocks noGrp="1"/>
          </p:cNvSpPr>
          <p:nvPr>
            <p:ph type="sldNum" sz="quarter" idx="10"/>
          </p:nvPr>
        </p:nvSpPr>
        <p:spPr/>
        <p:txBody>
          <a:bodyPr/>
          <a:lstStyle/>
          <a:p>
            <a:fld id="{5B43D19E-BFDB-4C92-8EDD-32EDDA8F41DF}" type="slidenum">
              <a:rPr lang="en-GB" smtClean="0"/>
              <a:pPr/>
              <a:t>14</a:t>
            </a:fld>
            <a:endParaRPr lang="en-GB" dirty="0"/>
          </a:p>
        </p:txBody>
      </p:sp>
    </p:spTree>
    <p:extLst>
      <p:ext uri="{BB962C8B-B14F-4D97-AF65-F5344CB8AC3E}">
        <p14:creationId xmlns:p14="http://schemas.microsoft.com/office/powerpoint/2010/main" val="33857815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15</a:t>
            </a:fld>
            <a:endParaRPr lang="en-US"/>
          </a:p>
        </p:txBody>
      </p:sp>
    </p:spTree>
    <p:extLst>
      <p:ext uri="{BB962C8B-B14F-4D97-AF65-F5344CB8AC3E}">
        <p14:creationId xmlns:p14="http://schemas.microsoft.com/office/powerpoint/2010/main" val="34225368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16</a:t>
            </a:fld>
            <a:endParaRPr lang="en-US"/>
          </a:p>
        </p:txBody>
      </p:sp>
    </p:spTree>
    <p:extLst>
      <p:ext uri="{BB962C8B-B14F-4D97-AF65-F5344CB8AC3E}">
        <p14:creationId xmlns:p14="http://schemas.microsoft.com/office/powerpoint/2010/main" val="8454963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17</a:t>
            </a:fld>
            <a:endParaRPr lang="en-US"/>
          </a:p>
        </p:txBody>
      </p:sp>
    </p:spTree>
    <p:extLst>
      <p:ext uri="{BB962C8B-B14F-4D97-AF65-F5344CB8AC3E}">
        <p14:creationId xmlns:p14="http://schemas.microsoft.com/office/powerpoint/2010/main" val="12305820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18</a:t>
            </a:fld>
            <a:endParaRPr lang="en-US"/>
          </a:p>
        </p:txBody>
      </p:sp>
    </p:spTree>
    <p:extLst>
      <p:ext uri="{BB962C8B-B14F-4D97-AF65-F5344CB8AC3E}">
        <p14:creationId xmlns:p14="http://schemas.microsoft.com/office/powerpoint/2010/main" val="35893682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84417D-1188-4C37-8002-C7B0954B3805}" type="slidenum">
              <a:rPr lang="en-US" smtClean="0"/>
              <a:t>19</a:t>
            </a:fld>
            <a:endParaRPr lang="en-US"/>
          </a:p>
        </p:txBody>
      </p:sp>
    </p:spTree>
    <p:extLst>
      <p:ext uri="{BB962C8B-B14F-4D97-AF65-F5344CB8AC3E}">
        <p14:creationId xmlns:p14="http://schemas.microsoft.com/office/powerpoint/2010/main" val="33528930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20</a:t>
            </a:fld>
            <a:endParaRPr lang="en-US"/>
          </a:p>
        </p:txBody>
      </p:sp>
    </p:spTree>
    <p:extLst>
      <p:ext uri="{BB962C8B-B14F-4D97-AF65-F5344CB8AC3E}">
        <p14:creationId xmlns:p14="http://schemas.microsoft.com/office/powerpoint/2010/main" val="17385625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21</a:t>
            </a:fld>
            <a:endParaRPr lang="en-US"/>
          </a:p>
        </p:txBody>
      </p:sp>
    </p:spTree>
    <p:extLst>
      <p:ext uri="{BB962C8B-B14F-4D97-AF65-F5344CB8AC3E}">
        <p14:creationId xmlns:p14="http://schemas.microsoft.com/office/powerpoint/2010/main" val="17293148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84417D-1188-4C37-8002-C7B0954B3805}" type="slidenum">
              <a:rPr lang="en-US" smtClean="0"/>
              <a:t>22</a:t>
            </a:fld>
            <a:endParaRPr lang="en-US"/>
          </a:p>
        </p:txBody>
      </p:sp>
    </p:spTree>
    <p:extLst>
      <p:ext uri="{BB962C8B-B14F-4D97-AF65-F5344CB8AC3E}">
        <p14:creationId xmlns:p14="http://schemas.microsoft.com/office/powerpoint/2010/main" val="68581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White">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61951" y="3014332"/>
            <a:ext cx="7762875" cy="538609"/>
          </a:xfrm>
          <a:prstGeom prst="rect">
            <a:avLst/>
          </a:prstGeom>
        </p:spPr>
        <p:txBody>
          <a:bodyPr anchor="t" anchorCtr="0"/>
          <a:lstStyle>
            <a:lvl1pPr marL="0" indent="0" algn="l">
              <a:spcBef>
                <a:spcPts val="0"/>
              </a:spcBef>
              <a:spcAft>
                <a:spcPts val="300"/>
              </a:spcAft>
              <a:buNone/>
              <a:defRPr sz="2900" b="0">
                <a:solidFill>
                  <a:schemeClr val="tx2"/>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name</a:t>
            </a:r>
          </a:p>
        </p:txBody>
      </p:sp>
      <p:sp>
        <p:nvSpPr>
          <p:cNvPr id="7" name="Title 1"/>
          <p:cNvSpPr>
            <a:spLocks noGrp="1"/>
          </p:cNvSpPr>
          <p:nvPr>
            <p:ph type="title" hasCustomPrompt="1"/>
          </p:nvPr>
        </p:nvSpPr>
        <p:spPr>
          <a:xfrm>
            <a:off x="361951" y="1419523"/>
            <a:ext cx="7743825" cy="1272143"/>
          </a:xfrm>
          <a:prstGeom prst="rect">
            <a:avLst/>
          </a:prstGeom>
        </p:spPr>
        <p:txBody>
          <a:bodyPr anchor="b" anchorCtr="0"/>
          <a:lstStyle>
            <a:lvl1pPr algn="l">
              <a:lnSpc>
                <a:spcPts val="4600"/>
              </a:lnSpc>
              <a:spcBef>
                <a:spcPts val="0"/>
              </a:spcBef>
              <a:defRPr sz="4400" b="0" cap="all" spc="-30" baseline="0">
                <a:solidFill>
                  <a:schemeClr val="tx2"/>
                </a:solidFill>
                <a:latin typeface="Arial Black" panose="020B0A04020102020204" pitchFamily="34" charset="0"/>
              </a:defRPr>
            </a:lvl1pPr>
          </a:lstStyle>
          <a:p>
            <a:r>
              <a:rPr lang="en-US"/>
              <a:t>Click to edit master title style</a:t>
            </a:r>
          </a:p>
        </p:txBody>
      </p:sp>
      <p:sp>
        <p:nvSpPr>
          <p:cNvPr id="13" name="Freeform 12"/>
          <p:cNvSpPr>
            <a:spLocks/>
          </p:cNvSpPr>
          <p:nvPr userDrawn="1"/>
        </p:nvSpPr>
        <p:spPr bwMode="auto">
          <a:xfrm>
            <a:off x="7951304" y="384934"/>
            <a:ext cx="1192696" cy="799273"/>
          </a:xfrm>
          <a:custGeom>
            <a:avLst/>
            <a:gdLst>
              <a:gd name="T0" fmla="*/ 88 w 3456"/>
              <a:gd name="T1" fmla="*/ 0 h 2317"/>
              <a:gd name="T2" fmla="*/ 462 w 3456"/>
              <a:gd name="T3" fmla="*/ 0 h 2317"/>
              <a:gd name="T4" fmla="*/ 1159 w 3456"/>
              <a:gd name="T5" fmla="*/ 0 h 2317"/>
              <a:gd name="T6" fmla="*/ 1231 w 3456"/>
              <a:gd name="T7" fmla="*/ 419 h 2317"/>
              <a:gd name="T8" fmla="*/ 953 w 3456"/>
              <a:gd name="T9" fmla="*/ 419 h 2317"/>
              <a:gd name="T10" fmla="*/ 1239 w 3456"/>
              <a:gd name="T11" fmla="*/ 1591 h 2317"/>
              <a:gd name="T12" fmla="*/ 1298 w 3456"/>
              <a:gd name="T13" fmla="*/ 1374 h 2317"/>
              <a:gd name="T14" fmla="*/ 1387 w 3456"/>
              <a:gd name="T15" fmla="*/ 1044 h 2317"/>
              <a:gd name="T16" fmla="*/ 1487 w 3456"/>
              <a:gd name="T17" fmla="*/ 673 h 2317"/>
              <a:gd name="T18" fmla="*/ 1580 w 3456"/>
              <a:gd name="T19" fmla="*/ 328 h 2317"/>
              <a:gd name="T20" fmla="*/ 1646 w 3456"/>
              <a:gd name="T21" fmla="*/ 81 h 2317"/>
              <a:gd name="T22" fmla="*/ 1763 w 3456"/>
              <a:gd name="T23" fmla="*/ 0 h 2317"/>
              <a:gd name="T24" fmla="*/ 2093 w 3456"/>
              <a:gd name="T25" fmla="*/ 0 h 2317"/>
              <a:gd name="T26" fmla="*/ 2122 w 3456"/>
              <a:gd name="T27" fmla="*/ 113 h 2317"/>
              <a:gd name="T28" fmla="*/ 2189 w 3456"/>
              <a:gd name="T29" fmla="*/ 380 h 2317"/>
              <a:gd name="T30" fmla="*/ 2277 w 3456"/>
              <a:gd name="T31" fmla="*/ 734 h 2317"/>
              <a:gd name="T32" fmla="*/ 2369 w 3456"/>
              <a:gd name="T33" fmla="*/ 1105 h 2317"/>
              <a:gd name="T34" fmla="*/ 2447 w 3456"/>
              <a:gd name="T35" fmla="*/ 1420 h 2317"/>
              <a:gd name="T36" fmla="*/ 2496 w 3456"/>
              <a:gd name="T37" fmla="*/ 1611 h 2317"/>
              <a:gd name="T38" fmla="*/ 2634 w 3456"/>
              <a:gd name="T39" fmla="*/ 419 h 2317"/>
              <a:gd name="T40" fmla="*/ 2536 w 3456"/>
              <a:gd name="T41" fmla="*/ 281 h 2317"/>
              <a:gd name="T42" fmla="*/ 2536 w 3456"/>
              <a:gd name="T43" fmla="*/ 0 h 2317"/>
              <a:gd name="T44" fmla="*/ 3215 w 3456"/>
              <a:gd name="T45" fmla="*/ 419 h 2317"/>
              <a:gd name="T46" fmla="*/ 3178 w 3456"/>
              <a:gd name="T47" fmla="*/ 446 h 2317"/>
              <a:gd name="T48" fmla="*/ 3127 w 3456"/>
              <a:gd name="T49" fmla="*/ 640 h 2317"/>
              <a:gd name="T50" fmla="*/ 3041 w 3456"/>
              <a:gd name="T51" fmla="*/ 967 h 2317"/>
              <a:gd name="T52" fmla="*/ 2938 w 3456"/>
              <a:gd name="T53" fmla="*/ 1360 h 2317"/>
              <a:gd name="T54" fmla="*/ 2833 w 3456"/>
              <a:gd name="T55" fmla="*/ 1754 h 2317"/>
              <a:gd name="T56" fmla="*/ 2746 w 3456"/>
              <a:gd name="T57" fmla="*/ 2084 h 2317"/>
              <a:gd name="T58" fmla="*/ 2693 w 3456"/>
              <a:gd name="T59" fmla="*/ 2286 h 2317"/>
              <a:gd name="T60" fmla="*/ 2525 w 3456"/>
              <a:gd name="T61" fmla="*/ 2317 h 2317"/>
              <a:gd name="T62" fmla="*/ 2242 w 3456"/>
              <a:gd name="T63" fmla="*/ 2317 h 2317"/>
              <a:gd name="T64" fmla="*/ 2020 w 3456"/>
              <a:gd name="T65" fmla="*/ 2301 h 2317"/>
              <a:gd name="T66" fmla="*/ 1977 w 3456"/>
              <a:gd name="T67" fmla="*/ 2131 h 2317"/>
              <a:gd name="T68" fmla="*/ 1906 w 3456"/>
              <a:gd name="T69" fmla="*/ 1845 h 2317"/>
              <a:gd name="T70" fmla="*/ 1825 w 3456"/>
              <a:gd name="T71" fmla="*/ 1527 h 2317"/>
              <a:gd name="T72" fmla="*/ 1758 w 3456"/>
              <a:gd name="T73" fmla="*/ 1258 h 2317"/>
              <a:gd name="T74" fmla="*/ 1725 w 3456"/>
              <a:gd name="T75" fmla="*/ 1126 h 2317"/>
              <a:gd name="T76" fmla="*/ 1705 w 3456"/>
              <a:gd name="T77" fmla="*/ 1195 h 2317"/>
              <a:gd name="T78" fmla="*/ 1644 w 3456"/>
              <a:gd name="T79" fmla="*/ 1428 h 2317"/>
              <a:gd name="T80" fmla="*/ 1561 w 3456"/>
              <a:gd name="T81" fmla="*/ 1739 h 2317"/>
              <a:gd name="T82" fmla="*/ 1481 w 3456"/>
              <a:gd name="T83" fmla="*/ 2045 h 2317"/>
              <a:gd name="T84" fmla="*/ 1423 w 3456"/>
              <a:gd name="T85" fmla="*/ 2263 h 2317"/>
              <a:gd name="T86" fmla="*/ 1272 w 3456"/>
              <a:gd name="T87" fmla="*/ 2317 h 2317"/>
              <a:gd name="T88" fmla="*/ 1012 w 3456"/>
              <a:gd name="T89" fmla="*/ 2317 h 2317"/>
              <a:gd name="T90" fmla="*/ 748 w 3456"/>
              <a:gd name="T91" fmla="*/ 2313 h 2317"/>
              <a:gd name="T92" fmla="*/ 711 w 3456"/>
              <a:gd name="T93" fmla="*/ 2169 h 2317"/>
              <a:gd name="T94" fmla="*/ 638 w 3456"/>
              <a:gd name="T95" fmla="*/ 1874 h 2317"/>
              <a:gd name="T96" fmla="*/ 542 w 3456"/>
              <a:gd name="T97" fmla="*/ 1494 h 2317"/>
              <a:gd name="T98" fmla="*/ 442 w 3456"/>
              <a:gd name="T99" fmla="*/ 1093 h 2317"/>
              <a:gd name="T100" fmla="*/ 353 w 3456"/>
              <a:gd name="T101" fmla="*/ 738 h 2317"/>
              <a:gd name="T102" fmla="*/ 291 w 3456"/>
              <a:gd name="T103" fmla="*/ 492 h 2317"/>
              <a:gd name="T104" fmla="*/ 118 w 3456"/>
              <a:gd name="T105" fmla="*/ 419 h 2317"/>
              <a:gd name="T106" fmla="*/ 0 w 3456"/>
              <a:gd name="T107" fmla="*/ 419 h 2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456" h="2317">
                <a:moveTo>
                  <a:pt x="0" y="0"/>
                </a:moveTo>
                <a:lnTo>
                  <a:pt x="15" y="0"/>
                </a:lnTo>
                <a:lnTo>
                  <a:pt x="22" y="0"/>
                </a:lnTo>
                <a:lnTo>
                  <a:pt x="43" y="0"/>
                </a:lnTo>
                <a:lnTo>
                  <a:pt x="71" y="0"/>
                </a:lnTo>
                <a:lnTo>
                  <a:pt x="88" y="0"/>
                </a:lnTo>
                <a:lnTo>
                  <a:pt x="189" y="0"/>
                </a:lnTo>
                <a:lnTo>
                  <a:pt x="237" y="0"/>
                </a:lnTo>
                <a:lnTo>
                  <a:pt x="289" y="0"/>
                </a:lnTo>
                <a:lnTo>
                  <a:pt x="345" y="0"/>
                </a:lnTo>
                <a:lnTo>
                  <a:pt x="402" y="0"/>
                </a:lnTo>
                <a:lnTo>
                  <a:pt x="462" y="0"/>
                </a:lnTo>
                <a:lnTo>
                  <a:pt x="941" y="0"/>
                </a:lnTo>
                <a:lnTo>
                  <a:pt x="993" y="0"/>
                </a:lnTo>
                <a:lnTo>
                  <a:pt x="1042" y="0"/>
                </a:lnTo>
                <a:lnTo>
                  <a:pt x="1106" y="0"/>
                </a:lnTo>
                <a:lnTo>
                  <a:pt x="1125" y="0"/>
                </a:lnTo>
                <a:lnTo>
                  <a:pt x="1159" y="0"/>
                </a:lnTo>
                <a:lnTo>
                  <a:pt x="1188" y="0"/>
                </a:lnTo>
                <a:lnTo>
                  <a:pt x="1231" y="0"/>
                </a:lnTo>
                <a:lnTo>
                  <a:pt x="1231" y="372"/>
                </a:lnTo>
                <a:lnTo>
                  <a:pt x="1231" y="394"/>
                </a:lnTo>
                <a:lnTo>
                  <a:pt x="1231" y="410"/>
                </a:lnTo>
                <a:lnTo>
                  <a:pt x="1231" y="419"/>
                </a:lnTo>
                <a:lnTo>
                  <a:pt x="1082" y="419"/>
                </a:lnTo>
                <a:lnTo>
                  <a:pt x="1053" y="419"/>
                </a:lnTo>
                <a:lnTo>
                  <a:pt x="1024" y="419"/>
                </a:lnTo>
                <a:lnTo>
                  <a:pt x="997" y="419"/>
                </a:lnTo>
                <a:lnTo>
                  <a:pt x="973" y="419"/>
                </a:lnTo>
                <a:lnTo>
                  <a:pt x="953" y="419"/>
                </a:lnTo>
                <a:lnTo>
                  <a:pt x="924" y="419"/>
                </a:lnTo>
                <a:lnTo>
                  <a:pt x="1226" y="1638"/>
                </a:lnTo>
                <a:lnTo>
                  <a:pt x="1227" y="1635"/>
                </a:lnTo>
                <a:lnTo>
                  <a:pt x="1229" y="1627"/>
                </a:lnTo>
                <a:lnTo>
                  <a:pt x="1234" y="1611"/>
                </a:lnTo>
                <a:lnTo>
                  <a:pt x="1239" y="1591"/>
                </a:lnTo>
                <a:lnTo>
                  <a:pt x="1246" y="1566"/>
                </a:lnTo>
                <a:lnTo>
                  <a:pt x="1255" y="1536"/>
                </a:lnTo>
                <a:lnTo>
                  <a:pt x="1264" y="1502"/>
                </a:lnTo>
                <a:lnTo>
                  <a:pt x="1275" y="1463"/>
                </a:lnTo>
                <a:lnTo>
                  <a:pt x="1286" y="1420"/>
                </a:lnTo>
                <a:lnTo>
                  <a:pt x="1298" y="1374"/>
                </a:lnTo>
                <a:lnTo>
                  <a:pt x="1311" y="1325"/>
                </a:lnTo>
                <a:lnTo>
                  <a:pt x="1325" y="1273"/>
                </a:lnTo>
                <a:lnTo>
                  <a:pt x="1339" y="1219"/>
                </a:lnTo>
                <a:lnTo>
                  <a:pt x="1355" y="1162"/>
                </a:lnTo>
                <a:lnTo>
                  <a:pt x="1371" y="1104"/>
                </a:lnTo>
                <a:lnTo>
                  <a:pt x="1387" y="1044"/>
                </a:lnTo>
                <a:lnTo>
                  <a:pt x="1403" y="984"/>
                </a:lnTo>
                <a:lnTo>
                  <a:pt x="1420" y="922"/>
                </a:lnTo>
                <a:lnTo>
                  <a:pt x="1437" y="860"/>
                </a:lnTo>
                <a:lnTo>
                  <a:pt x="1454" y="797"/>
                </a:lnTo>
                <a:lnTo>
                  <a:pt x="1470" y="734"/>
                </a:lnTo>
                <a:lnTo>
                  <a:pt x="1487" y="673"/>
                </a:lnTo>
                <a:lnTo>
                  <a:pt x="1504" y="611"/>
                </a:lnTo>
                <a:lnTo>
                  <a:pt x="1520" y="551"/>
                </a:lnTo>
                <a:lnTo>
                  <a:pt x="1535" y="492"/>
                </a:lnTo>
                <a:lnTo>
                  <a:pt x="1551" y="436"/>
                </a:lnTo>
                <a:lnTo>
                  <a:pt x="1566" y="380"/>
                </a:lnTo>
                <a:lnTo>
                  <a:pt x="1580" y="328"/>
                </a:lnTo>
                <a:lnTo>
                  <a:pt x="1593" y="278"/>
                </a:lnTo>
                <a:lnTo>
                  <a:pt x="1605" y="231"/>
                </a:lnTo>
                <a:lnTo>
                  <a:pt x="1618" y="188"/>
                </a:lnTo>
                <a:lnTo>
                  <a:pt x="1629" y="149"/>
                </a:lnTo>
                <a:lnTo>
                  <a:pt x="1638" y="112"/>
                </a:lnTo>
                <a:lnTo>
                  <a:pt x="1646" y="81"/>
                </a:lnTo>
                <a:lnTo>
                  <a:pt x="1654" y="55"/>
                </a:lnTo>
                <a:lnTo>
                  <a:pt x="1660" y="33"/>
                </a:lnTo>
                <a:lnTo>
                  <a:pt x="1664" y="16"/>
                </a:lnTo>
                <a:lnTo>
                  <a:pt x="1667" y="6"/>
                </a:lnTo>
                <a:lnTo>
                  <a:pt x="1668" y="0"/>
                </a:lnTo>
                <a:lnTo>
                  <a:pt x="1763" y="0"/>
                </a:lnTo>
                <a:lnTo>
                  <a:pt x="1794" y="0"/>
                </a:lnTo>
                <a:lnTo>
                  <a:pt x="1811" y="0"/>
                </a:lnTo>
                <a:lnTo>
                  <a:pt x="1968" y="0"/>
                </a:lnTo>
                <a:lnTo>
                  <a:pt x="1999" y="0"/>
                </a:lnTo>
                <a:lnTo>
                  <a:pt x="2028" y="0"/>
                </a:lnTo>
                <a:lnTo>
                  <a:pt x="2093" y="0"/>
                </a:lnTo>
                <a:lnTo>
                  <a:pt x="2095" y="6"/>
                </a:lnTo>
                <a:lnTo>
                  <a:pt x="2098" y="16"/>
                </a:lnTo>
                <a:lnTo>
                  <a:pt x="2102" y="33"/>
                </a:lnTo>
                <a:lnTo>
                  <a:pt x="2107" y="55"/>
                </a:lnTo>
                <a:lnTo>
                  <a:pt x="2113" y="81"/>
                </a:lnTo>
                <a:lnTo>
                  <a:pt x="2122" y="113"/>
                </a:lnTo>
                <a:lnTo>
                  <a:pt x="2130" y="149"/>
                </a:lnTo>
                <a:lnTo>
                  <a:pt x="2141" y="188"/>
                </a:lnTo>
                <a:lnTo>
                  <a:pt x="2151" y="231"/>
                </a:lnTo>
                <a:lnTo>
                  <a:pt x="2163" y="278"/>
                </a:lnTo>
                <a:lnTo>
                  <a:pt x="2175" y="328"/>
                </a:lnTo>
                <a:lnTo>
                  <a:pt x="2189" y="380"/>
                </a:lnTo>
                <a:lnTo>
                  <a:pt x="2202" y="436"/>
                </a:lnTo>
                <a:lnTo>
                  <a:pt x="2216" y="492"/>
                </a:lnTo>
                <a:lnTo>
                  <a:pt x="2231" y="552"/>
                </a:lnTo>
                <a:lnTo>
                  <a:pt x="2246" y="611"/>
                </a:lnTo>
                <a:lnTo>
                  <a:pt x="2261" y="673"/>
                </a:lnTo>
                <a:lnTo>
                  <a:pt x="2277" y="734"/>
                </a:lnTo>
                <a:lnTo>
                  <a:pt x="2292" y="797"/>
                </a:lnTo>
                <a:lnTo>
                  <a:pt x="2308" y="860"/>
                </a:lnTo>
                <a:lnTo>
                  <a:pt x="2323" y="922"/>
                </a:lnTo>
                <a:lnTo>
                  <a:pt x="2339" y="984"/>
                </a:lnTo>
                <a:lnTo>
                  <a:pt x="2354" y="1044"/>
                </a:lnTo>
                <a:lnTo>
                  <a:pt x="2369" y="1105"/>
                </a:lnTo>
                <a:lnTo>
                  <a:pt x="2384" y="1162"/>
                </a:lnTo>
                <a:lnTo>
                  <a:pt x="2397" y="1219"/>
                </a:lnTo>
                <a:lnTo>
                  <a:pt x="2411" y="1273"/>
                </a:lnTo>
                <a:lnTo>
                  <a:pt x="2423" y="1325"/>
                </a:lnTo>
                <a:lnTo>
                  <a:pt x="2436" y="1374"/>
                </a:lnTo>
                <a:lnTo>
                  <a:pt x="2447" y="1420"/>
                </a:lnTo>
                <a:lnTo>
                  <a:pt x="2458" y="1463"/>
                </a:lnTo>
                <a:lnTo>
                  <a:pt x="2467" y="1502"/>
                </a:lnTo>
                <a:lnTo>
                  <a:pt x="2477" y="1536"/>
                </a:lnTo>
                <a:lnTo>
                  <a:pt x="2484" y="1565"/>
                </a:lnTo>
                <a:lnTo>
                  <a:pt x="2490" y="1591"/>
                </a:lnTo>
                <a:lnTo>
                  <a:pt x="2496" y="1611"/>
                </a:lnTo>
                <a:lnTo>
                  <a:pt x="2499" y="1627"/>
                </a:lnTo>
                <a:lnTo>
                  <a:pt x="2501" y="1635"/>
                </a:lnTo>
                <a:lnTo>
                  <a:pt x="2502" y="1638"/>
                </a:lnTo>
                <a:lnTo>
                  <a:pt x="2831" y="419"/>
                </a:lnTo>
                <a:lnTo>
                  <a:pt x="2663" y="419"/>
                </a:lnTo>
                <a:lnTo>
                  <a:pt x="2634" y="419"/>
                </a:lnTo>
                <a:lnTo>
                  <a:pt x="2607" y="419"/>
                </a:lnTo>
                <a:lnTo>
                  <a:pt x="2582" y="419"/>
                </a:lnTo>
                <a:lnTo>
                  <a:pt x="2562" y="419"/>
                </a:lnTo>
                <a:lnTo>
                  <a:pt x="2546" y="419"/>
                </a:lnTo>
                <a:lnTo>
                  <a:pt x="2536" y="419"/>
                </a:lnTo>
                <a:lnTo>
                  <a:pt x="2536" y="281"/>
                </a:lnTo>
                <a:lnTo>
                  <a:pt x="2536" y="246"/>
                </a:lnTo>
                <a:lnTo>
                  <a:pt x="2536" y="209"/>
                </a:lnTo>
                <a:lnTo>
                  <a:pt x="2536" y="47"/>
                </a:lnTo>
                <a:lnTo>
                  <a:pt x="2536" y="26"/>
                </a:lnTo>
                <a:lnTo>
                  <a:pt x="2536" y="10"/>
                </a:lnTo>
                <a:lnTo>
                  <a:pt x="2536" y="0"/>
                </a:lnTo>
                <a:lnTo>
                  <a:pt x="3456" y="0"/>
                </a:lnTo>
                <a:lnTo>
                  <a:pt x="3456" y="419"/>
                </a:lnTo>
                <a:lnTo>
                  <a:pt x="3283" y="419"/>
                </a:lnTo>
                <a:lnTo>
                  <a:pt x="3258" y="419"/>
                </a:lnTo>
                <a:lnTo>
                  <a:pt x="3234" y="419"/>
                </a:lnTo>
                <a:lnTo>
                  <a:pt x="3215" y="419"/>
                </a:lnTo>
                <a:lnTo>
                  <a:pt x="3199" y="419"/>
                </a:lnTo>
                <a:lnTo>
                  <a:pt x="3189" y="419"/>
                </a:lnTo>
                <a:lnTo>
                  <a:pt x="3186" y="419"/>
                </a:lnTo>
                <a:lnTo>
                  <a:pt x="3185" y="422"/>
                </a:lnTo>
                <a:lnTo>
                  <a:pt x="3183" y="431"/>
                </a:lnTo>
                <a:lnTo>
                  <a:pt x="3178" y="446"/>
                </a:lnTo>
                <a:lnTo>
                  <a:pt x="3173" y="466"/>
                </a:lnTo>
                <a:lnTo>
                  <a:pt x="3166" y="492"/>
                </a:lnTo>
                <a:lnTo>
                  <a:pt x="3159" y="522"/>
                </a:lnTo>
                <a:lnTo>
                  <a:pt x="3149" y="558"/>
                </a:lnTo>
                <a:lnTo>
                  <a:pt x="3139" y="597"/>
                </a:lnTo>
                <a:lnTo>
                  <a:pt x="3127" y="640"/>
                </a:lnTo>
                <a:lnTo>
                  <a:pt x="3115" y="687"/>
                </a:lnTo>
                <a:lnTo>
                  <a:pt x="3101" y="738"/>
                </a:lnTo>
                <a:lnTo>
                  <a:pt x="3087" y="791"/>
                </a:lnTo>
                <a:lnTo>
                  <a:pt x="3073" y="847"/>
                </a:lnTo>
                <a:lnTo>
                  <a:pt x="3057" y="906"/>
                </a:lnTo>
                <a:lnTo>
                  <a:pt x="3041" y="967"/>
                </a:lnTo>
                <a:lnTo>
                  <a:pt x="3025" y="1029"/>
                </a:lnTo>
                <a:lnTo>
                  <a:pt x="3008" y="1093"/>
                </a:lnTo>
                <a:lnTo>
                  <a:pt x="2990" y="1159"/>
                </a:lnTo>
                <a:lnTo>
                  <a:pt x="2973" y="1225"/>
                </a:lnTo>
                <a:lnTo>
                  <a:pt x="2955" y="1292"/>
                </a:lnTo>
                <a:lnTo>
                  <a:pt x="2938" y="1360"/>
                </a:lnTo>
                <a:lnTo>
                  <a:pt x="2920" y="1427"/>
                </a:lnTo>
                <a:lnTo>
                  <a:pt x="2902" y="1494"/>
                </a:lnTo>
                <a:lnTo>
                  <a:pt x="2884" y="1560"/>
                </a:lnTo>
                <a:lnTo>
                  <a:pt x="2867" y="1626"/>
                </a:lnTo>
                <a:lnTo>
                  <a:pt x="2850" y="1691"/>
                </a:lnTo>
                <a:lnTo>
                  <a:pt x="2833" y="1754"/>
                </a:lnTo>
                <a:lnTo>
                  <a:pt x="2817" y="1815"/>
                </a:lnTo>
                <a:lnTo>
                  <a:pt x="2801" y="1874"/>
                </a:lnTo>
                <a:lnTo>
                  <a:pt x="2787" y="1931"/>
                </a:lnTo>
                <a:lnTo>
                  <a:pt x="2772" y="1985"/>
                </a:lnTo>
                <a:lnTo>
                  <a:pt x="2759" y="2036"/>
                </a:lnTo>
                <a:lnTo>
                  <a:pt x="2746" y="2084"/>
                </a:lnTo>
                <a:lnTo>
                  <a:pt x="2734" y="2128"/>
                </a:lnTo>
                <a:lnTo>
                  <a:pt x="2724" y="2169"/>
                </a:lnTo>
                <a:lnTo>
                  <a:pt x="2715" y="2205"/>
                </a:lnTo>
                <a:lnTo>
                  <a:pt x="2706" y="2237"/>
                </a:lnTo>
                <a:lnTo>
                  <a:pt x="2699" y="2264"/>
                </a:lnTo>
                <a:lnTo>
                  <a:pt x="2693" y="2286"/>
                </a:lnTo>
                <a:lnTo>
                  <a:pt x="2688" y="2302"/>
                </a:lnTo>
                <a:lnTo>
                  <a:pt x="2686" y="2313"/>
                </a:lnTo>
                <a:lnTo>
                  <a:pt x="2684" y="2317"/>
                </a:lnTo>
                <a:lnTo>
                  <a:pt x="2584" y="2317"/>
                </a:lnTo>
                <a:lnTo>
                  <a:pt x="2548" y="2317"/>
                </a:lnTo>
                <a:lnTo>
                  <a:pt x="2525" y="2317"/>
                </a:lnTo>
                <a:lnTo>
                  <a:pt x="2490" y="2317"/>
                </a:lnTo>
                <a:lnTo>
                  <a:pt x="2466" y="2317"/>
                </a:lnTo>
                <a:lnTo>
                  <a:pt x="2422" y="2317"/>
                </a:lnTo>
                <a:lnTo>
                  <a:pt x="2312" y="2317"/>
                </a:lnTo>
                <a:lnTo>
                  <a:pt x="2286" y="2317"/>
                </a:lnTo>
                <a:lnTo>
                  <a:pt x="2242" y="2317"/>
                </a:lnTo>
                <a:lnTo>
                  <a:pt x="2058" y="2317"/>
                </a:lnTo>
                <a:lnTo>
                  <a:pt x="2045" y="2317"/>
                </a:lnTo>
                <a:lnTo>
                  <a:pt x="2032" y="2317"/>
                </a:lnTo>
                <a:lnTo>
                  <a:pt x="2024" y="2317"/>
                </a:lnTo>
                <a:lnTo>
                  <a:pt x="2023" y="2312"/>
                </a:lnTo>
                <a:lnTo>
                  <a:pt x="2020" y="2301"/>
                </a:lnTo>
                <a:lnTo>
                  <a:pt x="2016" y="2285"/>
                </a:lnTo>
                <a:lnTo>
                  <a:pt x="2011" y="2263"/>
                </a:lnTo>
                <a:lnTo>
                  <a:pt x="2003" y="2236"/>
                </a:lnTo>
                <a:lnTo>
                  <a:pt x="1996" y="2205"/>
                </a:lnTo>
                <a:lnTo>
                  <a:pt x="1988" y="2170"/>
                </a:lnTo>
                <a:lnTo>
                  <a:pt x="1977" y="2131"/>
                </a:lnTo>
                <a:lnTo>
                  <a:pt x="1967" y="2089"/>
                </a:lnTo>
                <a:lnTo>
                  <a:pt x="1956" y="2045"/>
                </a:lnTo>
                <a:lnTo>
                  <a:pt x="1944" y="1998"/>
                </a:lnTo>
                <a:lnTo>
                  <a:pt x="1931" y="1948"/>
                </a:lnTo>
                <a:lnTo>
                  <a:pt x="1919" y="1897"/>
                </a:lnTo>
                <a:lnTo>
                  <a:pt x="1906" y="1845"/>
                </a:lnTo>
                <a:lnTo>
                  <a:pt x="1892" y="1792"/>
                </a:lnTo>
                <a:lnTo>
                  <a:pt x="1879" y="1739"/>
                </a:lnTo>
                <a:lnTo>
                  <a:pt x="1865" y="1684"/>
                </a:lnTo>
                <a:lnTo>
                  <a:pt x="1852" y="1631"/>
                </a:lnTo>
                <a:lnTo>
                  <a:pt x="1839" y="1578"/>
                </a:lnTo>
                <a:lnTo>
                  <a:pt x="1825" y="1527"/>
                </a:lnTo>
                <a:lnTo>
                  <a:pt x="1813" y="1476"/>
                </a:lnTo>
                <a:lnTo>
                  <a:pt x="1801" y="1428"/>
                </a:lnTo>
                <a:lnTo>
                  <a:pt x="1790" y="1381"/>
                </a:lnTo>
                <a:lnTo>
                  <a:pt x="1778" y="1337"/>
                </a:lnTo>
                <a:lnTo>
                  <a:pt x="1768" y="1296"/>
                </a:lnTo>
                <a:lnTo>
                  <a:pt x="1758" y="1258"/>
                </a:lnTo>
                <a:lnTo>
                  <a:pt x="1750" y="1225"/>
                </a:lnTo>
                <a:lnTo>
                  <a:pt x="1743" y="1195"/>
                </a:lnTo>
                <a:lnTo>
                  <a:pt x="1736" y="1170"/>
                </a:lnTo>
                <a:lnTo>
                  <a:pt x="1731" y="1150"/>
                </a:lnTo>
                <a:lnTo>
                  <a:pt x="1727" y="1135"/>
                </a:lnTo>
                <a:lnTo>
                  <a:pt x="1725" y="1126"/>
                </a:lnTo>
                <a:lnTo>
                  <a:pt x="1725" y="1123"/>
                </a:lnTo>
                <a:lnTo>
                  <a:pt x="1724" y="1126"/>
                </a:lnTo>
                <a:lnTo>
                  <a:pt x="1722" y="1135"/>
                </a:lnTo>
                <a:lnTo>
                  <a:pt x="1718" y="1150"/>
                </a:lnTo>
                <a:lnTo>
                  <a:pt x="1712" y="1170"/>
                </a:lnTo>
                <a:lnTo>
                  <a:pt x="1705" y="1195"/>
                </a:lnTo>
                <a:lnTo>
                  <a:pt x="1698" y="1225"/>
                </a:lnTo>
                <a:lnTo>
                  <a:pt x="1688" y="1258"/>
                </a:lnTo>
                <a:lnTo>
                  <a:pt x="1679" y="1296"/>
                </a:lnTo>
                <a:lnTo>
                  <a:pt x="1668" y="1337"/>
                </a:lnTo>
                <a:lnTo>
                  <a:pt x="1657" y="1381"/>
                </a:lnTo>
                <a:lnTo>
                  <a:pt x="1644" y="1428"/>
                </a:lnTo>
                <a:lnTo>
                  <a:pt x="1632" y="1476"/>
                </a:lnTo>
                <a:lnTo>
                  <a:pt x="1618" y="1527"/>
                </a:lnTo>
                <a:lnTo>
                  <a:pt x="1604" y="1578"/>
                </a:lnTo>
                <a:lnTo>
                  <a:pt x="1591" y="1631"/>
                </a:lnTo>
                <a:lnTo>
                  <a:pt x="1576" y="1684"/>
                </a:lnTo>
                <a:lnTo>
                  <a:pt x="1561" y="1739"/>
                </a:lnTo>
                <a:lnTo>
                  <a:pt x="1548" y="1792"/>
                </a:lnTo>
                <a:lnTo>
                  <a:pt x="1534" y="1845"/>
                </a:lnTo>
                <a:lnTo>
                  <a:pt x="1520" y="1897"/>
                </a:lnTo>
                <a:lnTo>
                  <a:pt x="1507" y="1948"/>
                </a:lnTo>
                <a:lnTo>
                  <a:pt x="1493" y="1998"/>
                </a:lnTo>
                <a:lnTo>
                  <a:pt x="1481" y="2045"/>
                </a:lnTo>
                <a:lnTo>
                  <a:pt x="1469" y="2089"/>
                </a:lnTo>
                <a:lnTo>
                  <a:pt x="1458" y="2131"/>
                </a:lnTo>
                <a:lnTo>
                  <a:pt x="1448" y="2170"/>
                </a:lnTo>
                <a:lnTo>
                  <a:pt x="1439" y="2205"/>
                </a:lnTo>
                <a:lnTo>
                  <a:pt x="1431" y="2236"/>
                </a:lnTo>
                <a:lnTo>
                  <a:pt x="1423" y="2263"/>
                </a:lnTo>
                <a:lnTo>
                  <a:pt x="1418" y="2285"/>
                </a:lnTo>
                <a:lnTo>
                  <a:pt x="1414" y="2301"/>
                </a:lnTo>
                <a:lnTo>
                  <a:pt x="1411" y="2312"/>
                </a:lnTo>
                <a:lnTo>
                  <a:pt x="1410" y="2317"/>
                </a:lnTo>
                <a:lnTo>
                  <a:pt x="1308" y="2317"/>
                </a:lnTo>
                <a:lnTo>
                  <a:pt x="1272" y="2317"/>
                </a:lnTo>
                <a:lnTo>
                  <a:pt x="1250" y="2317"/>
                </a:lnTo>
                <a:lnTo>
                  <a:pt x="1215" y="2317"/>
                </a:lnTo>
                <a:lnTo>
                  <a:pt x="1191" y="2317"/>
                </a:lnTo>
                <a:lnTo>
                  <a:pt x="1147" y="2317"/>
                </a:lnTo>
                <a:lnTo>
                  <a:pt x="1037" y="2317"/>
                </a:lnTo>
                <a:lnTo>
                  <a:pt x="1012" y="2317"/>
                </a:lnTo>
                <a:lnTo>
                  <a:pt x="968" y="2317"/>
                </a:lnTo>
                <a:lnTo>
                  <a:pt x="782" y="2317"/>
                </a:lnTo>
                <a:lnTo>
                  <a:pt x="771" y="2317"/>
                </a:lnTo>
                <a:lnTo>
                  <a:pt x="756" y="2317"/>
                </a:lnTo>
                <a:lnTo>
                  <a:pt x="749" y="2317"/>
                </a:lnTo>
                <a:lnTo>
                  <a:pt x="748" y="2313"/>
                </a:lnTo>
                <a:lnTo>
                  <a:pt x="745" y="2301"/>
                </a:lnTo>
                <a:lnTo>
                  <a:pt x="740" y="2286"/>
                </a:lnTo>
                <a:lnTo>
                  <a:pt x="735" y="2264"/>
                </a:lnTo>
                <a:lnTo>
                  <a:pt x="729" y="2237"/>
                </a:lnTo>
                <a:lnTo>
                  <a:pt x="721" y="2205"/>
                </a:lnTo>
                <a:lnTo>
                  <a:pt x="711" y="2169"/>
                </a:lnTo>
                <a:lnTo>
                  <a:pt x="702" y="2128"/>
                </a:lnTo>
                <a:lnTo>
                  <a:pt x="690" y="2084"/>
                </a:lnTo>
                <a:lnTo>
                  <a:pt x="679" y="2036"/>
                </a:lnTo>
                <a:lnTo>
                  <a:pt x="665" y="1985"/>
                </a:lnTo>
                <a:lnTo>
                  <a:pt x="651" y="1931"/>
                </a:lnTo>
                <a:lnTo>
                  <a:pt x="638" y="1874"/>
                </a:lnTo>
                <a:lnTo>
                  <a:pt x="623" y="1815"/>
                </a:lnTo>
                <a:lnTo>
                  <a:pt x="607" y="1753"/>
                </a:lnTo>
                <a:lnTo>
                  <a:pt x="592" y="1691"/>
                </a:lnTo>
                <a:lnTo>
                  <a:pt x="576" y="1626"/>
                </a:lnTo>
                <a:lnTo>
                  <a:pt x="559" y="1560"/>
                </a:lnTo>
                <a:lnTo>
                  <a:pt x="542" y="1494"/>
                </a:lnTo>
                <a:lnTo>
                  <a:pt x="526" y="1427"/>
                </a:lnTo>
                <a:lnTo>
                  <a:pt x="509" y="1360"/>
                </a:lnTo>
                <a:lnTo>
                  <a:pt x="492" y="1292"/>
                </a:lnTo>
                <a:lnTo>
                  <a:pt x="474" y="1225"/>
                </a:lnTo>
                <a:lnTo>
                  <a:pt x="459" y="1159"/>
                </a:lnTo>
                <a:lnTo>
                  <a:pt x="442" y="1093"/>
                </a:lnTo>
                <a:lnTo>
                  <a:pt x="426" y="1029"/>
                </a:lnTo>
                <a:lnTo>
                  <a:pt x="411" y="966"/>
                </a:lnTo>
                <a:lnTo>
                  <a:pt x="395" y="906"/>
                </a:lnTo>
                <a:lnTo>
                  <a:pt x="380" y="847"/>
                </a:lnTo>
                <a:lnTo>
                  <a:pt x="367" y="791"/>
                </a:lnTo>
                <a:lnTo>
                  <a:pt x="353" y="738"/>
                </a:lnTo>
                <a:lnTo>
                  <a:pt x="340" y="687"/>
                </a:lnTo>
                <a:lnTo>
                  <a:pt x="328" y="640"/>
                </a:lnTo>
                <a:lnTo>
                  <a:pt x="317" y="597"/>
                </a:lnTo>
                <a:lnTo>
                  <a:pt x="308" y="558"/>
                </a:lnTo>
                <a:lnTo>
                  <a:pt x="298" y="522"/>
                </a:lnTo>
                <a:lnTo>
                  <a:pt x="291" y="492"/>
                </a:lnTo>
                <a:lnTo>
                  <a:pt x="285" y="466"/>
                </a:lnTo>
                <a:lnTo>
                  <a:pt x="280" y="446"/>
                </a:lnTo>
                <a:lnTo>
                  <a:pt x="275" y="431"/>
                </a:lnTo>
                <a:lnTo>
                  <a:pt x="273" y="422"/>
                </a:lnTo>
                <a:lnTo>
                  <a:pt x="272" y="419"/>
                </a:lnTo>
                <a:lnTo>
                  <a:pt x="118" y="419"/>
                </a:lnTo>
                <a:lnTo>
                  <a:pt x="91" y="419"/>
                </a:lnTo>
                <a:lnTo>
                  <a:pt x="66" y="419"/>
                </a:lnTo>
                <a:lnTo>
                  <a:pt x="43" y="419"/>
                </a:lnTo>
                <a:lnTo>
                  <a:pt x="24" y="419"/>
                </a:lnTo>
                <a:lnTo>
                  <a:pt x="9" y="419"/>
                </a:lnTo>
                <a:lnTo>
                  <a:pt x="0" y="419"/>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5" name="Group 4"/>
          <p:cNvGrpSpPr/>
          <p:nvPr userDrawn="1"/>
        </p:nvGrpSpPr>
        <p:grpSpPr>
          <a:xfrm>
            <a:off x="0" y="4913906"/>
            <a:ext cx="9144000" cy="229594"/>
            <a:chOff x="0" y="4913906"/>
            <a:chExt cx="9144000" cy="229594"/>
          </a:xfrm>
        </p:grpSpPr>
        <p:pic>
          <p:nvPicPr>
            <p:cNvPr id="19" name="Picture 350" descr="C:\Users\Sarah\Documents\_SSD_Business\Clients\AKA Design\1388_UW Foster PPT template\Art\RainAngle-purple_CESMAS.pn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4807"/>
            <a:stretch/>
          </p:blipFill>
          <p:spPr bwMode="auto">
            <a:xfrm>
              <a:off x="0" y="4913906"/>
              <a:ext cx="9144000" cy="229594"/>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350" descr="C:\Users\Sarah\Documents\_SSD_Business\Clients\AKA Design\1388_UW Foster PPT template\Art\RainAngle-purple_CESMAS.pn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4807"/>
            <a:stretch/>
          </p:blipFill>
          <p:spPr bwMode="auto">
            <a:xfrm>
              <a:off x="0" y="4913906"/>
              <a:ext cx="9144000" cy="229594"/>
            </a:xfrm>
            <a:prstGeom prst="rect">
              <a:avLst/>
            </a:prstGeom>
            <a:noFill/>
            <a:extLst>
              <a:ext uri="{909E8E84-426E-40DD-AFC4-6F175D3DCCD1}">
                <a14:hiddenFill xmlns:a14="http://schemas.microsoft.com/office/drawing/2010/main">
                  <a:solidFill>
                    <a:srgbClr val="FFFFFF"/>
                  </a:solidFill>
                </a14:hiddenFill>
              </a:ext>
            </a:extLst>
          </p:spPr>
        </p:pic>
      </p:grpSp>
      <p:sp>
        <p:nvSpPr>
          <p:cNvPr id="14" name="Freeform 8"/>
          <p:cNvSpPr>
            <a:spLocks/>
          </p:cNvSpPr>
          <p:nvPr userDrawn="1"/>
        </p:nvSpPr>
        <p:spPr bwMode="auto">
          <a:xfrm>
            <a:off x="0" y="2715182"/>
            <a:ext cx="4876038" cy="127000"/>
          </a:xfrm>
          <a:custGeom>
            <a:avLst/>
            <a:gdLst/>
            <a:ahLst/>
            <a:cxnLst/>
            <a:rect l="l" t="t" r="r" b="b"/>
            <a:pathLst>
              <a:path w="4876038" h="127000">
                <a:moveTo>
                  <a:pt x="0" y="0"/>
                </a:moveTo>
                <a:lnTo>
                  <a:pt x="1651376" y="0"/>
                </a:lnTo>
                <a:lnTo>
                  <a:pt x="3224662" y="0"/>
                </a:lnTo>
                <a:lnTo>
                  <a:pt x="4876038" y="0"/>
                </a:lnTo>
                <a:lnTo>
                  <a:pt x="4842701" y="127000"/>
                </a:lnTo>
                <a:lnTo>
                  <a:pt x="3191325" y="127000"/>
                </a:lnTo>
                <a:lnTo>
                  <a:pt x="1651376" y="127000"/>
                </a:lnTo>
                <a:lnTo>
                  <a:pt x="0" y="127000"/>
                </a:lnTo>
                <a:close/>
              </a:path>
            </a:pathLst>
          </a:cu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a:solidFill>
                <a:schemeClr val="lt1"/>
              </a:solidFill>
              <a:latin typeface="+mn-lt"/>
              <a:cs typeface="+mn-cs"/>
            </a:endParaRPr>
          </a:p>
        </p:txBody>
      </p:sp>
      <p:pic>
        <p:nvPicPr>
          <p:cNvPr id="16" name="Picture 15"/>
          <p:cNvPicPr>
            <a:picLocks noChangeAspect="1"/>
          </p:cNvPicPr>
          <p:nvPr userDrawn="1"/>
        </p:nvPicPr>
        <p:blipFill>
          <a:blip r:embed="rId3"/>
          <a:stretch>
            <a:fillRect/>
          </a:stretch>
        </p:blipFill>
        <p:spPr>
          <a:xfrm>
            <a:off x="315569" y="404086"/>
            <a:ext cx="2240279" cy="640080"/>
          </a:xfrm>
          <a:prstGeom prst="rect">
            <a:avLst/>
          </a:prstGeom>
        </p:spPr>
      </p:pic>
    </p:spTree>
    <p:extLst>
      <p:ext uri="{BB962C8B-B14F-4D97-AF65-F5344CB8AC3E}">
        <p14:creationId xmlns:p14="http://schemas.microsoft.com/office/powerpoint/2010/main" val="2114452014"/>
      </p:ext>
    </p:extLst>
  </p:cSld>
  <p:clrMapOvr>
    <a:masterClrMapping/>
  </p:clrMapOvr>
  <p:extLst>
    <p:ext uri="{DCECCB84-F9BA-43D5-87BE-67443E8EF086}">
      <p15:sldGuideLst xmlns:p15="http://schemas.microsoft.com/office/powerpoint/2012/main">
        <p15:guide id="1" pos="2880" userDrawn="1">
          <p15:clr>
            <a:srgbClr val="FBAE40"/>
          </p15:clr>
        </p15:guide>
        <p15:guide id="2" pos="5568" userDrawn="1">
          <p15:clr>
            <a:srgbClr val="FBAE40"/>
          </p15:clr>
        </p15:guide>
        <p15:guide id="3" pos="32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Section header_purple">
    <p:bg>
      <p:bgPr>
        <a:solidFill>
          <a:schemeClr val="tx2"/>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61951" y="3035188"/>
            <a:ext cx="7762875" cy="530915"/>
          </a:xfrm>
          <a:prstGeom prst="rect">
            <a:avLst/>
          </a:prstGeom>
        </p:spPr>
        <p:txBody>
          <a:bodyPr anchor="t" anchorCtr="0"/>
          <a:lstStyle>
            <a:lvl1pPr marL="0" indent="0" algn="l">
              <a:spcBef>
                <a:spcPts val="0"/>
              </a:spcBef>
              <a:spcAft>
                <a:spcPts val="300"/>
              </a:spcAft>
              <a:buNone/>
              <a:defRPr sz="2850" b="0">
                <a:solidFill>
                  <a:schemeClr val="bg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name</a:t>
            </a:r>
          </a:p>
        </p:txBody>
      </p:sp>
      <p:sp>
        <p:nvSpPr>
          <p:cNvPr id="7" name="Title 1"/>
          <p:cNvSpPr>
            <a:spLocks noGrp="1"/>
          </p:cNvSpPr>
          <p:nvPr>
            <p:ph type="title" hasCustomPrompt="1"/>
          </p:nvPr>
        </p:nvSpPr>
        <p:spPr>
          <a:xfrm>
            <a:off x="361951" y="1568359"/>
            <a:ext cx="7743825" cy="1118255"/>
          </a:xfrm>
          <a:prstGeom prst="rect">
            <a:avLst/>
          </a:prstGeom>
        </p:spPr>
        <p:txBody>
          <a:bodyPr anchor="t" anchorCtr="0"/>
          <a:lstStyle>
            <a:lvl1pPr algn="l">
              <a:lnSpc>
                <a:spcPts val="4000"/>
              </a:lnSpc>
              <a:spcBef>
                <a:spcPts val="0"/>
              </a:spcBef>
              <a:defRPr sz="3800" b="0" cap="all" spc="-30" baseline="0">
                <a:solidFill>
                  <a:schemeClr val="bg2"/>
                </a:solidFill>
                <a:latin typeface="Arial Black" panose="020B0A04020102020204" pitchFamily="34" charset="0"/>
              </a:defRPr>
            </a:lvl1pPr>
          </a:lstStyle>
          <a:p>
            <a:r>
              <a:rPr lang="en-US"/>
              <a:t>This Click to edit master title style</a:t>
            </a:r>
          </a:p>
        </p:txBody>
      </p:sp>
      <p:sp>
        <p:nvSpPr>
          <p:cNvPr id="11" name="Freeform 8"/>
          <p:cNvSpPr>
            <a:spLocks/>
          </p:cNvSpPr>
          <p:nvPr userDrawn="1"/>
        </p:nvSpPr>
        <p:spPr bwMode="auto">
          <a:xfrm>
            <a:off x="-2866" y="2715182"/>
            <a:ext cx="2560320" cy="127000"/>
          </a:xfrm>
          <a:custGeom>
            <a:avLst/>
            <a:gdLst/>
            <a:ahLst/>
            <a:cxnLst/>
            <a:rect l="l" t="t" r="r" b="b"/>
            <a:pathLst>
              <a:path w="3224662" h="127000">
                <a:moveTo>
                  <a:pt x="0" y="0"/>
                </a:moveTo>
                <a:lnTo>
                  <a:pt x="3224662" y="0"/>
                </a:lnTo>
                <a:lnTo>
                  <a:pt x="3191325" y="127000"/>
                </a:lnTo>
                <a:lnTo>
                  <a:pt x="0" y="127000"/>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a:solidFill>
                <a:schemeClr val="lt1"/>
              </a:solidFill>
              <a:latin typeface="+mn-lt"/>
              <a:cs typeface="+mn-cs"/>
            </a:endParaRPr>
          </a:p>
        </p:txBody>
      </p:sp>
      <p:pic>
        <p:nvPicPr>
          <p:cNvPr id="12" name="Picture 11"/>
          <p:cNvPicPr>
            <a:picLocks noChangeAspect="1"/>
          </p:cNvPicPr>
          <p:nvPr userDrawn="1"/>
        </p:nvPicPr>
        <p:blipFill>
          <a:blip r:embed="rId2"/>
          <a:stretch>
            <a:fillRect/>
          </a:stretch>
        </p:blipFill>
        <p:spPr>
          <a:xfrm>
            <a:off x="7086600" y="4448832"/>
            <a:ext cx="1920239" cy="548640"/>
          </a:xfrm>
          <a:prstGeom prst="rect">
            <a:avLst/>
          </a:prstGeom>
        </p:spPr>
      </p:pic>
    </p:spTree>
    <p:extLst>
      <p:ext uri="{BB962C8B-B14F-4D97-AF65-F5344CB8AC3E}">
        <p14:creationId xmlns:p14="http://schemas.microsoft.com/office/powerpoint/2010/main" val="2133832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1950" y="332845"/>
            <a:ext cx="8305800" cy="769441"/>
          </a:xfrm>
          <a:prstGeom prst="rect">
            <a:avLst/>
          </a:prstGeom>
        </p:spPr>
        <p:txBody>
          <a:bodyPr vert="horz" wrap="square" lIns="91440" tIns="45720" rIns="91440" bIns="45720" rtlCol="0" anchor="t" anchorCtr="0">
            <a:spAutoFit/>
          </a:bodyPr>
          <a:lstStyle>
            <a:lvl1pPr>
              <a:defRPr lang="en-US" sz="4400" dirty="0"/>
            </a:lvl1pPr>
          </a:lstStyle>
          <a:p>
            <a:pPr lvl="0"/>
            <a:r>
              <a:rPr lang="en-US"/>
              <a:t>Click to edit Master title style</a:t>
            </a:r>
          </a:p>
        </p:txBody>
      </p:sp>
      <p:sp>
        <p:nvSpPr>
          <p:cNvPr id="3" name="Content Placeholder 2"/>
          <p:cNvSpPr>
            <a:spLocks noGrp="1"/>
          </p:cNvSpPr>
          <p:nvPr>
            <p:ph idx="1"/>
          </p:nvPr>
        </p:nvSpPr>
        <p:spPr>
          <a:xfrm>
            <a:off x="361950" y="1000125"/>
            <a:ext cx="8229600" cy="1577355"/>
          </a:xfrm>
          <a:prstGeom prst="rect">
            <a:avLst/>
          </a:prstGeom>
        </p:spPr>
        <p:txBody>
          <a:bodyPr vert="horz" wrap="square" lIns="137160" tIns="45720" rIns="91440" bIns="45720" rtlCol="0">
            <a:spAutoFit/>
          </a:bodyPr>
          <a:lstStyle>
            <a:lvl1pPr>
              <a:defRPr lang="en-US" sz="3200" dirty="0" smtClean="0"/>
            </a:lvl1pPr>
            <a:lvl2pPr>
              <a:defRPr lang="en-US" dirty="0" smtClean="0"/>
            </a:lvl2pPr>
            <a:lvl3pPr>
              <a:defRPr lang="en-US" dirty="0" smtClean="0"/>
            </a:lvl3pPr>
            <a:lvl4pPr>
              <a:defRPr lang="en-US" dirty="0"/>
            </a:lvl4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Bullet">
    <p:spTree>
      <p:nvGrpSpPr>
        <p:cNvPr id="1" name=""/>
        <p:cNvGrpSpPr/>
        <p:nvPr/>
      </p:nvGrpSpPr>
      <p:grpSpPr>
        <a:xfrm>
          <a:off x="0" y="0"/>
          <a:ext cx="0" cy="0"/>
          <a:chOff x="0" y="0"/>
          <a:chExt cx="0" cy="0"/>
        </a:xfrm>
      </p:grpSpPr>
      <p:sp>
        <p:nvSpPr>
          <p:cNvPr id="2" name="Title 1"/>
          <p:cNvSpPr>
            <a:spLocks noGrp="1"/>
          </p:cNvSpPr>
          <p:nvPr>
            <p:ph type="title"/>
          </p:nvPr>
        </p:nvSpPr>
        <p:spPr>
          <a:xfrm>
            <a:off x="361950" y="332845"/>
            <a:ext cx="8305800" cy="769441"/>
          </a:xfrm>
          <a:prstGeom prst="rect">
            <a:avLst/>
          </a:prstGeom>
        </p:spPr>
        <p:txBody>
          <a:bodyPr vert="horz" wrap="square" lIns="91440" tIns="45720" rIns="91440" bIns="45720" rtlCol="0" anchor="t" anchorCtr="0">
            <a:spAutoFit/>
          </a:bodyPr>
          <a:lstStyle>
            <a:lvl1pPr>
              <a:defRPr lang="en-US" sz="4400" dirty="0"/>
            </a:lvl1pPr>
          </a:lstStyle>
          <a:p>
            <a:pPr lvl="0"/>
            <a:r>
              <a:rPr lang="en-US"/>
              <a:t>Click to edit Master title style</a:t>
            </a:r>
          </a:p>
        </p:txBody>
      </p:sp>
      <p:sp>
        <p:nvSpPr>
          <p:cNvPr id="3" name="Content Placeholder 2"/>
          <p:cNvSpPr>
            <a:spLocks noGrp="1"/>
          </p:cNvSpPr>
          <p:nvPr>
            <p:ph idx="1"/>
          </p:nvPr>
        </p:nvSpPr>
        <p:spPr>
          <a:xfrm>
            <a:off x="361950" y="1000125"/>
            <a:ext cx="8229600" cy="1577355"/>
          </a:xfrm>
          <a:prstGeom prst="rect">
            <a:avLst/>
          </a:prstGeom>
        </p:spPr>
        <p:txBody>
          <a:bodyPr vert="horz" wrap="square" lIns="137160" tIns="45720" rIns="91440" bIns="45720" rtlCol="0">
            <a:spAutoFit/>
          </a:bodyPr>
          <a:lstStyle>
            <a:lvl1pPr marL="344488" indent="-344488">
              <a:buFont typeface="Arial" panose="020B0604020202020204" pitchFamily="34" charset="0"/>
              <a:buChar char="•"/>
              <a:defRPr lang="en-US" sz="3200" dirty="0" smtClean="0"/>
            </a:lvl1pPr>
            <a:lvl2pPr>
              <a:defRPr lang="en-US" dirty="0" smtClean="0"/>
            </a:lvl2pPr>
            <a:lvl3pPr>
              <a:defRPr lang="en-US" dirty="0" smtClean="0"/>
            </a:lvl3pPr>
            <a:lvl4pPr>
              <a:defRPr lang="en-US" dirty="0"/>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4674528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1_Title and Bullet">
    <p:spTree>
      <p:nvGrpSpPr>
        <p:cNvPr id="1" name=""/>
        <p:cNvGrpSpPr/>
        <p:nvPr/>
      </p:nvGrpSpPr>
      <p:grpSpPr>
        <a:xfrm>
          <a:off x="0" y="0"/>
          <a:ext cx="0" cy="0"/>
          <a:chOff x="0" y="0"/>
          <a:chExt cx="0" cy="0"/>
        </a:xfrm>
      </p:grpSpPr>
      <p:sp>
        <p:nvSpPr>
          <p:cNvPr id="2" name="Title 1"/>
          <p:cNvSpPr>
            <a:spLocks noGrp="1"/>
          </p:cNvSpPr>
          <p:nvPr>
            <p:ph type="title"/>
          </p:nvPr>
        </p:nvSpPr>
        <p:spPr>
          <a:xfrm>
            <a:off x="361950" y="332845"/>
            <a:ext cx="8305800" cy="769441"/>
          </a:xfrm>
          <a:prstGeom prst="rect">
            <a:avLst/>
          </a:prstGeom>
        </p:spPr>
        <p:txBody>
          <a:bodyPr vert="horz" wrap="square" lIns="91440" tIns="45720" rIns="91440" bIns="45720" rtlCol="0" anchor="t" anchorCtr="0">
            <a:spAutoFit/>
          </a:bodyPr>
          <a:lstStyle>
            <a:lvl1pPr>
              <a:defRPr lang="en-US" sz="4400" dirty="0"/>
            </a:lvl1pPr>
          </a:lstStyle>
          <a:p>
            <a:pPr lvl="0"/>
            <a:r>
              <a:rPr lang="en-US"/>
              <a:t>Click to edit Master title style</a:t>
            </a:r>
          </a:p>
        </p:txBody>
      </p:sp>
      <p:sp>
        <p:nvSpPr>
          <p:cNvPr id="3" name="Content Placeholder 2"/>
          <p:cNvSpPr>
            <a:spLocks noGrp="1"/>
          </p:cNvSpPr>
          <p:nvPr>
            <p:ph idx="1"/>
          </p:nvPr>
        </p:nvSpPr>
        <p:spPr>
          <a:xfrm>
            <a:off x="361950" y="1000125"/>
            <a:ext cx="8229600" cy="1577355"/>
          </a:xfrm>
          <a:prstGeom prst="rect">
            <a:avLst/>
          </a:prstGeom>
        </p:spPr>
        <p:txBody>
          <a:bodyPr vert="horz" wrap="square" lIns="137160" tIns="45720" rIns="91440" bIns="45720" rtlCol="0">
            <a:spAutoFit/>
          </a:bodyPr>
          <a:lstStyle>
            <a:lvl1pPr marL="344488" indent="-344488">
              <a:buFont typeface="Arial" panose="020B0604020202020204" pitchFamily="34" charset="0"/>
              <a:buChar char="•"/>
              <a:defRPr lang="en-US" sz="3200" dirty="0" smtClean="0"/>
            </a:lvl1pPr>
            <a:lvl2pPr>
              <a:defRPr lang="en-US" dirty="0" smtClean="0"/>
            </a:lvl2pPr>
            <a:lvl3pPr>
              <a:defRPr lang="en-US" dirty="0" smtClean="0"/>
            </a:lvl3pPr>
            <a:lvl4pPr>
              <a:defRPr lang="en-US" dirty="0"/>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615283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7484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hank You_purple">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6696" y="2021613"/>
            <a:ext cx="8170606" cy="1446550"/>
          </a:xfrm>
        </p:spPr>
        <p:txBody>
          <a:bodyPr/>
          <a:lstStyle>
            <a:lvl1pPr algn="ctr">
              <a:defRPr sz="4400" b="0" baseline="0">
                <a:solidFill>
                  <a:schemeClr val="bg2"/>
                </a:solidFill>
                <a:latin typeface="Arial Black" panose="020B0A04020102020204" pitchFamily="34" charset="0"/>
              </a:defRPr>
            </a:lvl1pPr>
          </a:lstStyle>
          <a:p>
            <a:r>
              <a:rPr lang="en-US"/>
              <a:t>Click to edit Master title style</a:t>
            </a:r>
          </a:p>
        </p:txBody>
      </p:sp>
      <p:pic>
        <p:nvPicPr>
          <p:cNvPr id="9" name="Picture 8"/>
          <p:cNvPicPr>
            <a:picLocks noChangeAspect="1"/>
          </p:cNvPicPr>
          <p:nvPr userDrawn="1"/>
        </p:nvPicPr>
        <p:blipFill>
          <a:blip r:embed="rId2"/>
          <a:stretch>
            <a:fillRect/>
          </a:stretch>
        </p:blipFill>
        <p:spPr>
          <a:xfrm>
            <a:off x="7080068" y="4429237"/>
            <a:ext cx="1920238" cy="548640"/>
          </a:xfrm>
          <a:prstGeom prst="rect">
            <a:avLst/>
          </a:prstGeom>
        </p:spPr>
      </p:pic>
    </p:spTree>
    <p:extLst>
      <p:ext uri="{BB962C8B-B14F-4D97-AF65-F5344CB8AC3E}">
        <p14:creationId xmlns:p14="http://schemas.microsoft.com/office/powerpoint/2010/main" val="3168846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361950" y="337418"/>
            <a:ext cx="8170606" cy="584775"/>
          </a:xfrm>
          <a:prstGeom prst="rect">
            <a:avLst/>
          </a:prstGeom>
        </p:spPr>
        <p:txBody>
          <a:bodyPr vert="horz" wrap="square" lIns="91440" tIns="45720" rIns="91440" bIns="45720" rtlCol="0" anchor="t" anchorCtr="0">
            <a:spAutoFit/>
          </a:bodyPr>
          <a:lstStyle/>
          <a:p>
            <a:r>
              <a:rPr lang="en-US"/>
              <a:t>Click to edit Master title style</a:t>
            </a:r>
          </a:p>
        </p:txBody>
      </p:sp>
      <p:sp>
        <p:nvSpPr>
          <p:cNvPr id="6" name="Text Placeholder 5"/>
          <p:cNvSpPr>
            <a:spLocks noGrp="1"/>
          </p:cNvSpPr>
          <p:nvPr>
            <p:ph type="body" idx="1"/>
          </p:nvPr>
        </p:nvSpPr>
        <p:spPr>
          <a:xfrm>
            <a:off x="361950" y="1003394"/>
            <a:ext cx="8170606" cy="1744067"/>
          </a:xfrm>
          <a:prstGeom prst="rect">
            <a:avLst/>
          </a:prstGeom>
        </p:spPr>
        <p:txBody>
          <a:bodyPr vert="horz" wrap="square" lIns="137160" tIns="45720" rIns="9144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p:cNvPicPr>
            <a:picLocks noChangeAspect="1"/>
          </p:cNvPicPr>
          <p:nvPr userDrawn="1"/>
        </p:nvPicPr>
        <p:blipFill>
          <a:blip r:embed="rId10"/>
          <a:stretch>
            <a:fillRect/>
          </a:stretch>
        </p:blipFill>
        <p:spPr>
          <a:xfrm>
            <a:off x="7443417" y="4569498"/>
            <a:ext cx="1440179" cy="411480"/>
          </a:xfrm>
          <a:prstGeom prst="rect">
            <a:avLst/>
          </a:prstGeom>
        </p:spPr>
      </p:pic>
    </p:spTree>
  </p:cSld>
  <p:clrMap bg1="lt1" tx1="dk1" bg2="lt2" tx2="dk2" accent1="accent1" accent2="accent2" accent3="accent3" accent4="accent4" accent5="accent5" accent6="accent6" hlink="hlink" folHlink="folHlink"/>
  <p:sldLayoutIdLst>
    <p:sldLayoutId id="2147483669" r:id="rId1"/>
    <p:sldLayoutId id="2147483668" r:id="rId2"/>
    <p:sldLayoutId id="2147483650" r:id="rId3"/>
    <p:sldLayoutId id="2147483671" r:id="rId4"/>
    <p:sldLayoutId id="2147483672" r:id="rId5"/>
    <p:sldLayoutId id="2147483653" r:id="rId6"/>
    <p:sldLayoutId id="2147483670" r:id="rId7"/>
    <p:sldLayoutId id="2147483662" r:id="rId8"/>
  </p:sldLayoutIdLst>
  <p:hf hdr="0" ftr="0" dt="0"/>
  <p:txStyles>
    <p:titleStyle>
      <a:lvl1pPr algn="l" defTabSz="457200" rtl="0" fontAlgn="base">
        <a:spcBef>
          <a:spcPct val="0"/>
        </a:spcBef>
        <a:spcAft>
          <a:spcPct val="0"/>
        </a:spcAft>
        <a:defRPr sz="3200" b="1" kern="1200">
          <a:solidFill>
            <a:schemeClr val="tx2"/>
          </a:solidFill>
          <a:latin typeface="+mj-lt"/>
          <a:ea typeface="+mj-ea"/>
          <a:cs typeface="Arial" panose="020B0604020202020204" pitchFamily="34" charset="0"/>
        </a:defRPr>
      </a:lvl1pPr>
      <a:lvl2pPr algn="ctr" defTabSz="457200" rtl="0" fontAlgn="base">
        <a:spcBef>
          <a:spcPct val="0"/>
        </a:spcBef>
        <a:spcAft>
          <a:spcPct val="0"/>
        </a:spcAft>
        <a:defRPr sz="4400">
          <a:solidFill>
            <a:schemeClr val="tx1"/>
          </a:solidFill>
          <a:latin typeface="Calibri" pitchFamily="34" charset="0"/>
        </a:defRPr>
      </a:lvl2pPr>
      <a:lvl3pPr algn="ctr" defTabSz="457200" rtl="0" fontAlgn="base">
        <a:spcBef>
          <a:spcPct val="0"/>
        </a:spcBef>
        <a:spcAft>
          <a:spcPct val="0"/>
        </a:spcAft>
        <a:defRPr sz="4400">
          <a:solidFill>
            <a:schemeClr val="tx1"/>
          </a:solidFill>
          <a:latin typeface="Calibri" pitchFamily="34" charset="0"/>
        </a:defRPr>
      </a:lvl3pPr>
      <a:lvl4pPr algn="ctr" defTabSz="457200" rtl="0" fontAlgn="base">
        <a:spcBef>
          <a:spcPct val="0"/>
        </a:spcBef>
        <a:spcAft>
          <a:spcPct val="0"/>
        </a:spcAft>
        <a:defRPr sz="4400">
          <a:solidFill>
            <a:schemeClr val="tx1"/>
          </a:solidFill>
          <a:latin typeface="Calibri" pitchFamily="34" charset="0"/>
        </a:defRPr>
      </a:lvl4pPr>
      <a:lvl5pPr algn="ctr" defTabSz="457200" rtl="0" fontAlgn="base">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p:titleStyle>
    <p:bodyStyle>
      <a:lvl1pPr marL="0" indent="0" algn="l" defTabSz="457200" rtl="0" fontAlgn="base">
        <a:spcBef>
          <a:spcPts val="0"/>
        </a:spcBef>
        <a:spcAft>
          <a:spcPts val="100"/>
        </a:spcAft>
        <a:buFont typeface="Arial" charset="0"/>
        <a:buNone/>
        <a:defRPr sz="2200" kern="1200">
          <a:solidFill>
            <a:schemeClr val="tx1"/>
          </a:solidFill>
          <a:latin typeface="+mn-lt"/>
          <a:ea typeface="Open Sans" panose="020B0606030504020204" pitchFamily="34" charset="0"/>
          <a:cs typeface="Open Sans" panose="020B0606030504020204" pitchFamily="34" charset="0"/>
        </a:defRPr>
      </a:lvl1pPr>
      <a:lvl2pPr marL="569913" indent="-228600" algn="l" defTabSz="457200" rtl="0" fontAlgn="base">
        <a:spcBef>
          <a:spcPts val="0"/>
        </a:spcBef>
        <a:spcAft>
          <a:spcPts val="100"/>
        </a:spcAft>
        <a:buFont typeface="Arial" panose="020B0604020202020204" pitchFamily="34" charset="0"/>
        <a:buChar char="•"/>
        <a:defRPr sz="2200" kern="1200">
          <a:solidFill>
            <a:schemeClr val="tx1"/>
          </a:solidFill>
          <a:latin typeface="+mn-lt"/>
          <a:ea typeface="Open Sans" panose="020B0606030504020204" pitchFamily="34" charset="0"/>
          <a:cs typeface="Open Sans" panose="020B0606030504020204" pitchFamily="34" charset="0"/>
        </a:defRPr>
      </a:lvl2pPr>
      <a:lvl3pPr marL="801688" indent="-227013" algn="l" defTabSz="457200" rtl="0" fontAlgn="base">
        <a:spcBef>
          <a:spcPts val="0"/>
        </a:spcBef>
        <a:spcAft>
          <a:spcPts val="100"/>
        </a:spcAft>
        <a:buFont typeface="Arial" charset="0"/>
        <a:buChar char="•"/>
        <a:defRPr sz="2000" kern="1200">
          <a:solidFill>
            <a:schemeClr val="tx1"/>
          </a:solidFill>
          <a:latin typeface="+mn-lt"/>
          <a:ea typeface="Open Sans" panose="020B0606030504020204" pitchFamily="34" charset="0"/>
          <a:cs typeface="Open Sans" panose="020B0606030504020204" pitchFamily="34" charset="0"/>
        </a:defRPr>
      </a:lvl3pPr>
      <a:lvl4pPr marL="1027113" indent="-220663" algn="l" defTabSz="457200" rtl="0" fontAlgn="base">
        <a:spcBef>
          <a:spcPts val="0"/>
        </a:spcBef>
        <a:spcAft>
          <a:spcPts val="100"/>
        </a:spcAft>
        <a:buFont typeface="Arial" panose="020B0604020202020204" pitchFamily="34" charset="0"/>
        <a:buChar char="•"/>
        <a:defRPr sz="2000" kern="1200">
          <a:solidFill>
            <a:schemeClr val="tx1"/>
          </a:solidFill>
          <a:latin typeface="+mn-lt"/>
          <a:ea typeface="Open Sans" panose="020B0606030504020204" pitchFamily="34" charset="0"/>
          <a:cs typeface="Open Sans" panose="020B0606030504020204" pitchFamily="34" charset="0"/>
        </a:defRPr>
      </a:lvl4pPr>
      <a:lvl5pPr marL="1258888" indent="-239713" algn="l" defTabSz="457200" rtl="0" fontAlgn="base">
        <a:spcBef>
          <a:spcPts val="0"/>
        </a:spcBef>
        <a:spcAft>
          <a:spcPts val="100"/>
        </a:spcAft>
        <a:buFont typeface="Arial" panose="020B0604020202020204" pitchFamily="34" charset="0"/>
        <a:buChar char="•"/>
        <a:defRPr sz="2000" kern="1200">
          <a:solidFill>
            <a:schemeClr val="tx1"/>
          </a:solidFill>
          <a:latin typeface="+mn-lt"/>
          <a:ea typeface="Open Sans" panose="020B0606030504020204" pitchFamily="34" charset="0"/>
          <a:cs typeface="Open Sans" panose="020B0606030504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guide id="3" pos="288" userDrawn="1">
          <p15:clr>
            <a:srgbClr val="F26B43"/>
          </p15:clr>
        </p15:guide>
        <p15:guide id="4" orient="horz" pos="279" userDrawn="1">
          <p15:clr>
            <a:srgbClr val="F26B43"/>
          </p15:clr>
        </p15:guide>
        <p15:guide id="5" orient="horz" pos="840" userDrawn="1">
          <p15:clr>
            <a:srgbClr val="F26B43"/>
          </p15:clr>
        </p15:guide>
        <p15:guide id="6" pos="542" userDrawn="1">
          <p15:clr>
            <a:srgbClr val="F26B43"/>
          </p15:clr>
        </p15:guide>
        <p15:guide id="7" pos="556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7.wmf"/><Relationship Id="rId5" Type="http://schemas.microsoft.com/office/2007/relationships/hdphoto" Target="../media/hdphoto1.wdp"/><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9.emf"/><Relationship Id="rId5" Type="http://schemas.openxmlformats.org/officeDocument/2006/relationships/oleObject" Target="../embeddings/oleObject1.bin"/><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http://www.blockchair.com/"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hyperlink" Target="https://mempool.space/"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developer.bitcoin.org/glossary.html#term-Change-address"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hyperlink" Target="https://developer.bitcoin.org/devguide/transactions.html#avoiding-key-reuse"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7.wmf"/><Relationship Id="rId5" Type="http://schemas.microsoft.com/office/2007/relationships/hdphoto" Target="../media/hdphoto1.wdp"/><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hyperlink" Target="https://superuser.com/questions/1262987/how-can-i-see-if-a-login-failed-in-the-office-365-audit-log" TargetMode="Externa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61951" y="2048798"/>
            <a:ext cx="7743825" cy="642868"/>
          </a:xfrm>
        </p:spPr>
        <p:txBody>
          <a:bodyPr/>
          <a:lstStyle/>
          <a:p>
            <a:r>
              <a:rPr lang="en-US" sz="3200" dirty="0"/>
              <a:t>Blockchain Audits</a:t>
            </a:r>
            <a:endParaRPr lang="en-US" sz="4800" dirty="0"/>
          </a:p>
        </p:txBody>
      </p:sp>
      <p:sp>
        <p:nvSpPr>
          <p:cNvPr id="9" name="Subtitle 8">
            <a:extLst>
              <a:ext uri="{FF2B5EF4-FFF2-40B4-BE49-F238E27FC236}">
                <a16:creationId xmlns:a16="http://schemas.microsoft.com/office/drawing/2014/main" id="{B2773AAD-913F-4F7D-B76C-297F2718F473}"/>
              </a:ext>
            </a:extLst>
          </p:cNvPr>
          <p:cNvSpPr>
            <a:spLocks noGrp="1"/>
          </p:cNvSpPr>
          <p:nvPr>
            <p:ph type="subTitle" idx="1"/>
          </p:nvPr>
        </p:nvSpPr>
        <p:spPr>
          <a:xfrm>
            <a:off x="361951" y="3014332"/>
            <a:ext cx="7762875" cy="992579"/>
          </a:xfrm>
        </p:spPr>
        <p:txBody>
          <a:bodyPr/>
          <a:lstStyle/>
          <a:p>
            <a:r>
              <a:rPr lang="en-US" sz="2800" dirty="0"/>
              <a:t>Advanced Cases in Assurance Services (ACCTG 521)</a:t>
            </a:r>
          </a:p>
          <a:p>
            <a:r>
              <a:rPr lang="en-US" sz="2800" dirty="0"/>
              <a:t>Class 18 | MPAcc Class of 2026</a:t>
            </a:r>
          </a:p>
        </p:txBody>
      </p:sp>
    </p:spTree>
    <p:extLst>
      <p:ext uri="{BB962C8B-B14F-4D97-AF65-F5344CB8AC3E}">
        <p14:creationId xmlns:p14="http://schemas.microsoft.com/office/powerpoint/2010/main" val="384289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808D3-2E7B-4761-93EE-64ED2D0E74D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8C51732E-A723-4580-A147-73CBB5BF3D05}"/>
              </a:ext>
            </a:extLst>
          </p:cNvPr>
          <p:cNvSpPr>
            <a:spLocks noGrp="1"/>
          </p:cNvSpPr>
          <p:nvPr>
            <p:ph idx="1"/>
          </p:nvPr>
        </p:nvSpPr>
        <p:spPr>
          <a:xfrm>
            <a:off x="361950" y="1000125"/>
            <a:ext cx="8229600" cy="2803332"/>
          </a:xfrm>
        </p:spPr>
        <p:txBody>
          <a:bodyPr vert="horz" wrap="square" lIns="137160" tIns="45720" rIns="91440" bIns="45720" rtlCol="0" anchor="t">
            <a:spAutoFit/>
          </a:bodyPr>
          <a:lstStyle/>
          <a:p>
            <a:pPr marL="457200" indent="-457200"/>
            <a:r>
              <a:rPr lang="en-US" b="1" dirty="0">
                <a:solidFill>
                  <a:schemeClr val="tx2"/>
                </a:solidFill>
              </a:rPr>
              <a:t>Review/Admin</a:t>
            </a:r>
          </a:p>
          <a:p>
            <a:pPr marL="457200" indent="-457200"/>
            <a:r>
              <a:rPr lang="en-US" dirty="0"/>
              <a:t>Auditing Blockchain: Brief Overview</a:t>
            </a:r>
          </a:p>
          <a:p>
            <a:pPr marL="457200" indent="-457200"/>
            <a:r>
              <a:rPr lang="en-US" dirty="0"/>
              <a:t>Deliverable</a:t>
            </a:r>
          </a:p>
          <a:p>
            <a:pPr marL="457200" indent="-457200"/>
            <a:r>
              <a:rPr lang="en-US" dirty="0"/>
              <a:t>Lab: </a:t>
            </a:r>
          </a:p>
          <a:p>
            <a:pPr marL="1027113" lvl="1" indent="-457200"/>
            <a:r>
              <a:rPr lang="en-US" dirty="0"/>
              <a:t>Manually extract and reconcile blockchain.</a:t>
            </a:r>
          </a:p>
          <a:p>
            <a:pPr marL="1027113" lvl="1" indent="-457200"/>
            <a:r>
              <a:rPr lang="en-US" dirty="0"/>
              <a:t>Use the Blockchain Analyzer tool. </a:t>
            </a:r>
          </a:p>
        </p:txBody>
      </p:sp>
    </p:spTree>
    <p:extLst>
      <p:ext uri="{BB962C8B-B14F-4D97-AF65-F5344CB8AC3E}">
        <p14:creationId xmlns:p14="http://schemas.microsoft.com/office/powerpoint/2010/main" val="3551787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DDE70-438E-4700-8215-92CE521DC58C}"/>
              </a:ext>
            </a:extLst>
          </p:cNvPr>
          <p:cNvSpPr>
            <a:spLocks noGrp="1"/>
          </p:cNvSpPr>
          <p:nvPr>
            <p:ph type="title"/>
          </p:nvPr>
        </p:nvSpPr>
        <p:spPr>
          <a:xfrm>
            <a:off x="748393" y="2074664"/>
            <a:ext cx="7886700" cy="769441"/>
          </a:xfrm>
        </p:spPr>
        <p:txBody>
          <a:bodyPr/>
          <a:lstStyle/>
          <a:p>
            <a:r>
              <a:rPr lang="en-US" dirty="0"/>
              <a:t>Review/Admin</a:t>
            </a:r>
          </a:p>
        </p:txBody>
      </p:sp>
    </p:spTree>
    <p:extLst>
      <p:ext uri="{BB962C8B-B14F-4D97-AF65-F5344CB8AC3E}">
        <p14:creationId xmlns:p14="http://schemas.microsoft.com/office/powerpoint/2010/main" val="3035241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E85F8-9EED-5B5E-B22F-B9383740AE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137D36-99ED-39DC-693C-DF29F3E9737A}"/>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229F57D-F301-7955-FF0A-027F8A3ACBDF}"/>
              </a:ext>
            </a:extLst>
          </p:cNvPr>
          <p:cNvSpPr>
            <a:spLocks noGrp="1"/>
          </p:cNvSpPr>
          <p:nvPr>
            <p:ph idx="1"/>
          </p:nvPr>
        </p:nvSpPr>
        <p:spPr>
          <a:xfrm>
            <a:off x="361950" y="1000125"/>
            <a:ext cx="8229600" cy="2803332"/>
          </a:xfrm>
        </p:spPr>
        <p:txBody>
          <a:bodyPr vert="horz" wrap="square" lIns="137160" tIns="45720" rIns="91440" bIns="45720" rtlCol="0" anchor="t">
            <a:spAutoFit/>
          </a:bodyPr>
          <a:lstStyle/>
          <a:p>
            <a:pPr marL="457200" indent="-457200"/>
            <a:r>
              <a:rPr lang="en-US" dirty="0">
                <a:solidFill>
                  <a:schemeClr val="bg1">
                    <a:lumMod val="65000"/>
                  </a:schemeClr>
                </a:solidFill>
              </a:rPr>
              <a:t>Review/Admin</a:t>
            </a:r>
          </a:p>
          <a:p>
            <a:pPr marL="457200" indent="-457200"/>
            <a:r>
              <a:rPr lang="en-US" b="1" dirty="0">
                <a:solidFill>
                  <a:schemeClr val="tx2"/>
                </a:solidFill>
              </a:rPr>
              <a:t>Auditing Blockchain: Brief Overview</a:t>
            </a:r>
          </a:p>
          <a:p>
            <a:pPr marL="457200" indent="-457200"/>
            <a:r>
              <a:rPr lang="en-US" dirty="0"/>
              <a:t>Deliverable</a:t>
            </a:r>
          </a:p>
          <a:p>
            <a:pPr marL="457200" indent="-457200"/>
            <a:r>
              <a:rPr lang="en-US" dirty="0"/>
              <a:t>Lab: </a:t>
            </a:r>
          </a:p>
          <a:p>
            <a:pPr marL="1027113" lvl="1" indent="-457200"/>
            <a:r>
              <a:rPr lang="en-US" dirty="0"/>
              <a:t>Manually extract and reconcile blockchain.</a:t>
            </a:r>
          </a:p>
          <a:p>
            <a:pPr marL="1027113" lvl="1" indent="-457200"/>
            <a:r>
              <a:rPr lang="en-US" dirty="0"/>
              <a:t>Use the Blockchain Analyzer tool. </a:t>
            </a:r>
          </a:p>
        </p:txBody>
      </p:sp>
    </p:spTree>
    <p:extLst>
      <p:ext uri="{BB962C8B-B14F-4D97-AF65-F5344CB8AC3E}">
        <p14:creationId xmlns:p14="http://schemas.microsoft.com/office/powerpoint/2010/main" val="2011400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6F324-D0B5-8408-27CD-E94809A87C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0C943F-4C28-96BA-3F1C-2F99DC00CE5C}"/>
              </a:ext>
            </a:extLst>
          </p:cNvPr>
          <p:cNvSpPr>
            <a:spLocks noGrp="1"/>
          </p:cNvSpPr>
          <p:nvPr>
            <p:ph type="title"/>
          </p:nvPr>
        </p:nvSpPr>
        <p:spPr>
          <a:xfrm>
            <a:off x="695731" y="805993"/>
            <a:ext cx="7886700" cy="2123658"/>
          </a:xfrm>
        </p:spPr>
        <p:txBody>
          <a:bodyPr/>
          <a:lstStyle/>
          <a:p>
            <a:r>
              <a:rPr lang="en-US" dirty="0"/>
              <a:t>Auditing Blockchain: </a:t>
            </a:r>
            <a:br>
              <a:rPr lang="en-US" dirty="0"/>
            </a:br>
            <a:r>
              <a:rPr lang="en-US" dirty="0"/>
              <a:t>Brief Overview</a:t>
            </a:r>
            <a:br>
              <a:rPr lang="en-US" dirty="0"/>
            </a:br>
            <a:endParaRPr lang="en-US" dirty="0"/>
          </a:p>
        </p:txBody>
      </p:sp>
    </p:spTree>
    <p:extLst>
      <p:ext uri="{BB962C8B-B14F-4D97-AF65-F5344CB8AC3E}">
        <p14:creationId xmlns:p14="http://schemas.microsoft.com/office/powerpoint/2010/main" val="3546924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30F5A0-31AF-46F6-B145-C3D45A63DA5D}"/>
              </a:ext>
            </a:extLst>
          </p:cNvPr>
          <p:cNvSpPr txBox="1"/>
          <p:nvPr/>
        </p:nvSpPr>
        <p:spPr>
          <a:xfrm>
            <a:off x="670928" y="1930270"/>
            <a:ext cx="4036540" cy="2652995"/>
          </a:xfrm>
          <a:prstGeom prst="rect">
            <a:avLst/>
          </a:prstGeom>
          <a:noFill/>
        </p:spPr>
        <p:txBody>
          <a:bodyPr wrap="square" lIns="0" tIns="36537" rIns="0" bIns="0" rtlCol="0">
            <a:spAutoFit/>
          </a:bodyPr>
          <a:lstStyle/>
          <a:p>
            <a:pPr defTabSz="914378">
              <a:buClr>
                <a:srgbClr val="FFE600"/>
              </a:buClr>
            </a:pPr>
            <a:r>
              <a:rPr lang="en-US" sz="1600" b="1" dirty="0">
                <a:solidFill>
                  <a:srgbClr val="646464"/>
                </a:solidFill>
                <a:latin typeface="Arial" panose="020B0604020202020204" pitchFamily="34" charset="0"/>
                <a:cs typeface="Arial" panose="020B0604020202020204" pitchFamily="34" charset="0"/>
              </a:rPr>
              <a:t>The ledger is cryptographically sealed:</a:t>
            </a:r>
          </a:p>
          <a:p>
            <a:pPr marL="285743" indent="-285743" defTabSz="914378">
              <a:buClr>
                <a:srgbClr val="412985"/>
              </a:buClr>
              <a:buSzPct val="85000"/>
              <a:buFont typeface="Arial" panose="020B0604020202020204" pitchFamily="34" charset="0"/>
              <a:buChar char="∞"/>
            </a:pPr>
            <a:r>
              <a:rPr lang="en-US" sz="1400" dirty="0">
                <a:solidFill>
                  <a:srgbClr val="646464"/>
                </a:solidFill>
                <a:latin typeface="Arial" panose="020B0604020202020204" pitchFamily="34" charset="0"/>
                <a:cs typeface="Arial" panose="020B0604020202020204" pitchFamily="34" charset="0"/>
              </a:rPr>
              <a:t>Transactions are recorded into blocks and blocks are linked into a chain of blocks using cryptographic hashes.</a:t>
            </a:r>
          </a:p>
          <a:p>
            <a:pPr marL="742931" lvl="1" indent="-285743" defTabSz="914378">
              <a:buClr>
                <a:srgbClr val="412985"/>
              </a:buClr>
              <a:buSzPct val="85000"/>
              <a:buFont typeface="Arial" panose="020B0604020202020204" pitchFamily="34" charset="0"/>
              <a:buChar char="∞"/>
            </a:pPr>
            <a:r>
              <a:rPr lang="en-US" sz="1400" dirty="0">
                <a:solidFill>
                  <a:srgbClr val="646464"/>
                </a:solidFill>
                <a:latin typeface="Arial" panose="020B0604020202020204" pitchFamily="34" charset="0"/>
                <a:cs typeface="Arial" panose="020B0604020202020204" pitchFamily="34" charset="0"/>
              </a:rPr>
              <a:t>Each transaction hash a hash, like a digital fingerprint.</a:t>
            </a:r>
          </a:p>
          <a:p>
            <a:pPr marL="285743" indent="-285743" defTabSz="914378">
              <a:buClr>
                <a:srgbClr val="412985"/>
              </a:buClr>
              <a:buSzPct val="85000"/>
              <a:buFont typeface="Arial" panose="020B0604020202020204" pitchFamily="34" charset="0"/>
              <a:buChar char="∞"/>
            </a:pPr>
            <a:r>
              <a:rPr lang="en-US" sz="1400" dirty="0">
                <a:solidFill>
                  <a:srgbClr val="646464"/>
                </a:solidFill>
                <a:latin typeface="Arial" panose="020B0604020202020204" pitchFamily="34" charset="0"/>
                <a:cs typeface="Arial" panose="020B0604020202020204" pitchFamily="34" charset="0"/>
              </a:rPr>
              <a:t>This process makes the blockchain near impossible to alter the history of the ledger, instead, you can generally only add to it.</a:t>
            </a:r>
          </a:p>
          <a:p>
            <a:pPr marL="285743" indent="-285743" defTabSz="914378">
              <a:buClr>
                <a:srgbClr val="412985"/>
              </a:buClr>
              <a:buSzPct val="85000"/>
              <a:buFont typeface="Arial" panose="020B0604020202020204" pitchFamily="34" charset="0"/>
              <a:buChar char="∞"/>
            </a:pPr>
            <a:r>
              <a:rPr lang="en-US" sz="1400" dirty="0">
                <a:solidFill>
                  <a:srgbClr val="646464"/>
                </a:solidFill>
                <a:latin typeface="Arial" panose="020B0604020202020204" pitchFamily="34" charset="0"/>
                <a:cs typeface="Arial" panose="020B0604020202020204" pitchFamily="34" charset="0"/>
              </a:rPr>
              <a:t>Often considered as leading to a trusted ledger, the truth, or a trustless environment (so why do we need to audit crypto??)</a:t>
            </a:r>
          </a:p>
        </p:txBody>
      </p:sp>
      <p:pic>
        <p:nvPicPr>
          <p:cNvPr id="5" name="Picture 4">
            <a:extLst>
              <a:ext uri="{FF2B5EF4-FFF2-40B4-BE49-F238E27FC236}">
                <a16:creationId xmlns:a16="http://schemas.microsoft.com/office/drawing/2014/main" id="{2E9ECC54-B03B-47B6-9895-7F4CFB37149C}"/>
              </a:ext>
            </a:extLst>
          </p:cNvPr>
          <p:cNvPicPr>
            <a:picLocks noChangeAspect="1"/>
          </p:cNvPicPr>
          <p:nvPr/>
        </p:nvPicPr>
        <p:blipFill>
          <a:blip r:embed="rId3"/>
          <a:stretch>
            <a:fillRect/>
          </a:stretch>
        </p:blipFill>
        <p:spPr>
          <a:xfrm>
            <a:off x="4890347" y="1815678"/>
            <a:ext cx="3752427" cy="1407160"/>
          </a:xfrm>
          <a:prstGeom prst="rect">
            <a:avLst/>
          </a:prstGeom>
        </p:spPr>
      </p:pic>
      <p:sp>
        <p:nvSpPr>
          <p:cNvPr id="4" name="Title 1">
            <a:extLst>
              <a:ext uri="{FF2B5EF4-FFF2-40B4-BE49-F238E27FC236}">
                <a16:creationId xmlns:a16="http://schemas.microsoft.com/office/drawing/2014/main" id="{513391DF-97DF-BBEF-C58C-5769081C4992}"/>
              </a:ext>
            </a:extLst>
          </p:cNvPr>
          <p:cNvSpPr txBox="1">
            <a:spLocks/>
          </p:cNvSpPr>
          <p:nvPr/>
        </p:nvSpPr>
        <p:spPr>
          <a:xfrm>
            <a:off x="0" y="265113"/>
            <a:ext cx="8389938" cy="508000"/>
          </a:xfrm>
          <a:prstGeom prst="rect">
            <a:avLst/>
          </a:prstGeom>
        </p:spPr>
        <p:txBody>
          <a:bodyPr vert="horz" wrap="square" lIns="91440" tIns="45720" rIns="91440" bIns="45720" rtlCol="0" anchor="t" anchorCtr="0">
            <a:spAutoFit/>
          </a:bodyPr>
          <a:lstStyle>
            <a:lvl1pPr algn="l" defTabSz="457200" rtl="0" fontAlgn="base">
              <a:spcBef>
                <a:spcPct val="0"/>
              </a:spcBef>
              <a:spcAft>
                <a:spcPct val="0"/>
              </a:spcAft>
              <a:defRPr sz="3200" b="1" kern="1200">
                <a:solidFill>
                  <a:schemeClr val="tx2"/>
                </a:solidFill>
                <a:latin typeface="+mj-lt"/>
                <a:ea typeface="+mj-ea"/>
                <a:cs typeface="Arial" panose="020B0604020202020204" pitchFamily="34" charset="0"/>
              </a:defRPr>
            </a:lvl1pPr>
            <a:lvl2pPr algn="ctr" defTabSz="457200" rtl="0" fontAlgn="base">
              <a:spcBef>
                <a:spcPct val="0"/>
              </a:spcBef>
              <a:spcAft>
                <a:spcPct val="0"/>
              </a:spcAft>
              <a:defRPr sz="4400">
                <a:solidFill>
                  <a:schemeClr val="tx1"/>
                </a:solidFill>
                <a:latin typeface="Calibri" pitchFamily="34" charset="0"/>
              </a:defRPr>
            </a:lvl2pPr>
            <a:lvl3pPr algn="ctr" defTabSz="457200" rtl="0" fontAlgn="base">
              <a:spcBef>
                <a:spcPct val="0"/>
              </a:spcBef>
              <a:spcAft>
                <a:spcPct val="0"/>
              </a:spcAft>
              <a:defRPr sz="4400">
                <a:solidFill>
                  <a:schemeClr val="tx1"/>
                </a:solidFill>
                <a:latin typeface="Calibri" pitchFamily="34" charset="0"/>
              </a:defRPr>
            </a:lvl3pPr>
            <a:lvl4pPr algn="ctr" defTabSz="457200" rtl="0" fontAlgn="base">
              <a:spcBef>
                <a:spcPct val="0"/>
              </a:spcBef>
              <a:spcAft>
                <a:spcPct val="0"/>
              </a:spcAft>
              <a:defRPr sz="4400">
                <a:solidFill>
                  <a:schemeClr val="tx1"/>
                </a:solidFill>
                <a:latin typeface="Calibri" pitchFamily="34" charset="0"/>
              </a:defRPr>
            </a:lvl4pPr>
            <a:lvl5pPr algn="ctr" defTabSz="457200" rtl="0" fontAlgn="base">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r>
              <a:rPr lang="en-US" sz="2700" dirty="0">
                <a:latin typeface="Arial" panose="020B0604020202020204" pitchFamily="34" charset="0"/>
              </a:rPr>
              <a:t>The Blockchain is an “immutable public ledger”</a:t>
            </a:r>
            <a:endParaRPr lang="en-US" sz="2700" dirty="0"/>
          </a:p>
        </p:txBody>
      </p:sp>
    </p:spTree>
    <p:extLst>
      <p:ext uri="{BB962C8B-B14F-4D97-AF65-F5344CB8AC3E}">
        <p14:creationId xmlns:p14="http://schemas.microsoft.com/office/powerpoint/2010/main" val="446744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A8B85-8B2A-44E0-A0CA-A13632850DE9}"/>
              </a:ext>
            </a:extLst>
          </p:cNvPr>
          <p:cNvSpPr>
            <a:spLocks noGrp="1"/>
          </p:cNvSpPr>
          <p:nvPr>
            <p:ph type="title" idx="4294967295"/>
          </p:nvPr>
        </p:nvSpPr>
        <p:spPr>
          <a:xfrm>
            <a:off x="0" y="265113"/>
            <a:ext cx="8389938" cy="508000"/>
          </a:xfrm>
        </p:spPr>
        <p:txBody>
          <a:bodyPr/>
          <a:lstStyle/>
          <a:p>
            <a:r>
              <a:rPr lang="en-US" sz="2700" dirty="0">
                <a:latin typeface="Arial" panose="020B0604020202020204" pitchFamily="34" charset="0"/>
              </a:rPr>
              <a:t>“Trust” is misleading in the world of blockchain</a:t>
            </a:r>
            <a:endParaRPr lang="en-US" sz="2700" dirty="0"/>
          </a:p>
        </p:txBody>
      </p:sp>
      <p:sp>
        <p:nvSpPr>
          <p:cNvPr id="4" name="Oval 3">
            <a:extLst>
              <a:ext uri="{FF2B5EF4-FFF2-40B4-BE49-F238E27FC236}">
                <a16:creationId xmlns:a16="http://schemas.microsoft.com/office/drawing/2014/main" id="{B17C9D10-03F6-4505-BD96-EA0570895617}"/>
              </a:ext>
            </a:extLst>
          </p:cNvPr>
          <p:cNvSpPr/>
          <p:nvPr/>
        </p:nvSpPr>
        <p:spPr>
          <a:xfrm>
            <a:off x="746957" y="1851881"/>
            <a:ext cx="2056329" cy="2056329"/>
          </a:xfrm>
          <a:prstGeom prst="ellipse">
            <a:avLst/>
          </a:prstGeom>
          <a:solidFill>
            <a:schemeClr val="bg2"/>
          </a:solidFill>
          <a:ln w="38100" cap="flat">
            <a:solidFill>
              <a:schemeClr val="bg1"/>
            </a:solidFill>
            <a:prstDash val="solid"/>
            <a:round/>
          </a:ln>
          <a:effectLst/>
          <a:sp3d/>
        </p:spPr>
        <p:txBody>
          <a:bodyPr rot="0" spcFirstLastPara="1" vertOverflow="overflow" horzOverflow="overflow" vert="horz" wrap="square" lIns="0" tIns="0" rIns="0" bIns="0" numCol="1" spcCol="38100" rtlCol="0" anchor="ctr" anchorCtr="1">
            <a:noAutofit/>
          </a:bodyPr>
          <a:lstStyle/>
          <a:p>
            <a:pPr algn="ctr" defTabSz="685115" hangingPunct="0">
              <a:defRPr/>
            </a:pPr>
            <a:r>
              <a:rPr lang="en-US" sz="1799" kern="0" dirty="0">
                <a:latin typeface="Arial" panose="020B0604020202020204" pitchFamily="34" charset="0"/>
                <a:sym typeface="Arial"/>
              </a:rPr>
              <a:t>Trust the math/code</a:t>
            </a:r>
          </a:p>
        </p:txBody>
      </p:sp>
      <p:sp>
        <p:nvSpPr>
          <p:cNvPr id="5" name="Oval 4">
            <a:extLst>
              <a:ext uri="{FF2B5EF4-FFF2-40B4-BE49-F238E27FC236}">
                <a16:creationId xmlns:a16="http://schemas.microsoft.com/office/drawing/2014/main" id="{62815988-7773-4987-A350-E821933FE233}"/>
              </a:ext>
            </a:extLst>
          </p:cNvPr>
          <p:cNvSpPr/>
          <p:nvPr/>
        </p:nvSpPr>
        <p:spPr>
          <a:xfrm>
            <a:off x="5167749" y="1835974"/>
            <a:ext cx="2056329" cy="2056329"/>
          </a:xfrm>
          <a:prstGeom prst="ellipse">
            <a:avLst/>
          </a:prstGeom>
          <a:solidFill>
            <a:schemeClr val="tx2"/>
          </a:solidFill>
          <a:ln w="38100" cap="flat">
            <a:solidFill>
              <a:schemeClr val="bg1"/>
            </a:solidFill>
            <a:prstDash val="dash"/>
            <a:round/>
          </a:ln>
          <a:effectLst/>
          <a:sp3d/>
        </p:spPr>
        <p:txBody>
          <a:bodyPr rot="0" spcFirstLastPara="1" vertOverflow="overflow" horzOverflow="overflow" vert="horz" wrap="square" lIns="0" tIns="0" rIns="0" bIns="0" numCol="1" spcCol="38100" rtlCol="0" anchor="ctr" anchorCtr="1">
            <a:noAutofit/>
          </a:bodyPr>
          <a:lstStyle/>
          <a:p>
            <a:pPr algn="ctr" defTabSz="685115" hangingPunct="0">
              <a:defRPr/>
            </a:pPr>
            <a:r>
              <a:rPr lang="en-US" sz="1799" kern="0" dirty="0">
                <a:solidFill>
                  <a:schemeClr val="bg1"/>
                </a:solidFill>
                <a:latin typeface="Arial" panose="020B0604020202020204" pitchFamily="34" charset="0"/>
                <a:sym typeface="Arial"/>
              </a:rPr>
              <a:t>Trust, but verify</a:t>
            </a:r>
          </a:p>
        </p:txBody>
      </p:sp>
      <p:sp>
        <p:nvSpPr>
          <p:cNvPr id="6" name="TextBox 5">
            <a:extLst>
              <a:ext uri="{FF2B5EF4-FFF2-40B4-BE49-F238E27FC236}">
                <a16:creationId xmlns:a16="http://schemas.microsoft.com/office/drawing/2014/main" id="{A9A064DB-ADE8-43EE-9089-FFB91F8DF188}"/>
              </a:ext>
            </a:extLst>
          </p:cNvPr>
          <p:cNvSpPr txBox="1"/>
          <p:nvPr/>
        </p:nvSpPr>
        <p:spPr>
          <a:xfrm>
            <a:off x="415795" y="1133136"/>
            <a:ext cx="2960552" cy="276871"/>
          </a:xfrm>
          <a:prstGeom prst="rect">
            <a:avLst/>
          </a:prstGeom>
          <a:noFill/>
          <a:ln w="12700" cap="flat">
            <a:noFill/>
            <a:miter lim="400000"/>
          </a:ln>
          <a:effectLst/>
          <a:sp3d/>
        </p:spPr>
        <p:txBody>
          <a:bodyPr rot="0" spcFirstLastPara="1" vertOverflow="overflow" horzOverflow="overflow" vert="horz" wrap="square" lIns="0" tIns="0" rIns="0" bIns="0" numCol="1" spcCol="38100" rtlCol="0" anchor="ctr">
            <a:spAutoFit/>
          </a:bodyPr>
          <a:lstStyle/>
          <a:p>
            <a:pPr algn="ctr" defTabSz="685115" hangingPunct="0">
              <a:defRPr/>
            </a:pPr>
            <a:r>
              <a:rPr lang="en-US" sz="1799" kern="0" dirty="0">
                <a:solidFill>
                  <a:srgbClr val="595959"/>
                </a:solidFill>
                <a:latin typeface="Arial" panose="020B0604020202020204" pitchFamily="34" charset="0"/>
                <a:sym typeface="Arial"/>
              </a:rPr>
              <a:t>Inside the blockchain</a:t>
            </a:r>
          </a:p>
        </p:txBody>
      </p:sp>
      <p:sp>
        <p:nvSpPr>
          <p:cNvPr id="7" name="TextBox 6">
            <a:extLst>
              <a:ext uri="{FF2B5EF4-FFF2-40B4-BE49-F238E27FC236}">
                <a16:creationId xmlns:a16="http://schemas.microsoft.com/office/drawing/2014/main" id="{02BFFD28-5AB4-4681-9F21-1E74EBAC6C16}"/>
              </a:ext>
            </a:extLst>
          </p:cNvPr>
          <p:cNvSpPr txBox="1"/>
          <p:nvPr/>
        </p:nvSpPr>
        <p:spPr>
          <a:xfrm>
            <a:off x="4532700" y="1133105"/>
            <a:ext cx="3480042" cy="553741"/>
          </a:xfrm>
          <a:prstGeom prst="rect">
            <a:avLst/>
          </a:prstGeom>
          <a:noFill/>
          <a:ln w="12700" cap="flat">
            <a:noFill/>
            <a:miter lim="400000"/>
          </a:ln>
          <a:effectLst/>
          <a:sp3d/>
        </p:spPr>
        <p:txBody>
          <a:bodyPr rot="0" spcFirstLastPara="1" vertOverflow="overflow" horzOverflow="overflow" vert="horz" wrap="square" lIns="0" tIns="0" rIns="0" bIns="0" numCol="1" spcCol="38100" rtlCol="0" anchor="ctr">
            <a:spAutoFit/>
          </a:bodyPr>
          <a:lstStyle/>
          <a:p>
            <a:pPr algn="ctr" defTabSz="685115" hangingPunct="0">
              <a:defRPr/>
            </a:pPr>
            <a:r>
              <a:rPr lang="en-US" sz="1799" kern="0" dirty="0">
                <a:solidFill>
                  <a:srgbClr val="595959"/>
                </a:solidFill>
                <a:latin typeface="Arial" panose="020B0604020202020204" pitchFamily="34" charset="0"/>
                <a:sym typeface="Arial"/>
              </a:rPr>
              <a:t>Integrating in the real world… risks are still present</a:t>
            </a:r>
          </a:p>
        </p:txBody>
      </p:sp>
      <p:sp>
        <p:nvSpPr>
          <p:cNvPr id="8" name="TextBox 7">
            <a:extLst>
              <a:ext uri="{FF2B5EF4-FFF2-40B4-BE49-F238E27FC236}">
                <a16:creationId xmlns:a16="http://schemas.microsoft.com/office/drawing/2014/main" id="{20ED2213-23D9-479F-B312-58E8B578FF88}"/>
              </a:ext>
            </a:extLst>
          </p:cNvPr>
          <p:cNvSpPr txBox="1"/>
          <p:nvPr/>
        </p:nvSpPr>
        <p:spPr>
          <a:xfrm>
            <a:off x="415795" y="4144988"/>
            <a:ext cx="8156481" cy="830484"/>
          </a:xfrm>
          <a:prstGeom prst="rect">
            <a:avLst/>
          </a:prstGeom>
          <a:noFill/>
          <a:ln w="12700" cap="flat">
            <a:noFill/>
            <a:miter lim="400000"/>
          </a:ln>
          <a:effectLst/>
          <a:sp3d/>
        </p:spPr>
        <p:txBody>
          <a:bodyPr rot="0" spcFirstLastPara="1" vertOverflow="overflow" horzOverflow="overflow" vert="horz" wrap="square" lIns="0" tIns="0" rIns="0" bIns="0" numCol="1" spcCol="38100" rtlCol="0" anchor="ctr">
            <a:spAutoFit/>
          </a:bodyPr>
          <a:lstStyle/>
          <a:p>
            <a:pPr defTabSz="685115" hangingPunct="0">
              <a:defRPr/>
            </a:pPr>
            <a:r>
              <a:rPr lang="en-US" sz="1349" kern="0" dirty="0">
                <a:solidFill>
                  <a:srgbClr val="595959"/>
                </a:solidFill>
                <a:latin typeface="Arial" panose="020B0604020202020204" pitchFamily="34" charset="0"/>
                <a:sym typeface="Arial"/>
              </a:rPr>
              <a:t>Many perceive that because blockchain transactions are considered immutable and based on cryptography (the math), there are no additional risks; however, this is not the case. For example, the math can validate the existence of a digital asset and imply ownership but ownership can be compromised if the private key is stolen, lost or otherwise misappropriated. </a:t>
            </a:r>
          </a:p>
        </p:txBody>
      </p:sp>
    </p:spTree>
    <p:extLst>
      <p:ext uri="{BB962C8B-B14F-4D97-AF65-F5344CB8AC3E}">
        <p14:creationId xmlns:p14="http://schemas.microsoft.com/office/powerpoint/2010/main" val="1101175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dissolve">
                                      <p:cBhvr>
                                        <p:cTn id="15" dur="500"/>
                                        <p:tgtEl>
                                          <p:spTgt spid="7"/>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dissolv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dissolve">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B9EA2-962C-C763-6297-89CF77ECD5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380C97-ADC2-4D5C-5EA3-408863D0B9B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B6F3185A-35F2-B24C-94D8-4C8DFC2112BA}"/>
              </a:ext>
            </a:extLst>
          </p:cNvPr>
          <p:cNvSpPr>
            <a:spLocks noGrp="1"/>
          </p:cNvSpPr>
          <p:nvPr>
            <p:ph idx="1"/>
          </p:nvPr>
        </p:nvSpPr>
        <p:spPr>
          <a:xfrm>
            <a:off x="361950" y="1000125"/>
            <a:ext cx="8229600" cy="2803332"/>
          </a:xfrm>
        </p:spPr>
        <p:txBody>
          <a:bodyPr vert="horz" wrap="square" lIns="137160" tIns="45720" rIns="91440" bIns="45720" rtlCol="0" anchor="t">
            <a:spAutoFit/>
          </a:bodyPr>
          <a:lstStyle/>
          <a:p>
            <a:pPr marL="457200" indent="-457200"/>
            <a:r>
              <a:rPr lang="en-US" dirty="0">
                <a:solidFill>
                  <a:schemeClr val="bg1">
                    <a:lumMod val="65000"/>
                  </a:schemeClr>
                </a:solidFill>
              </a:rPr>
              <a:t>Review/Admin</a:t>
            </a:r>
          </a:p>
          <a:p>
            <a:pPr marL="457200" indent="-457200"/>
            <a:r>
              <a:rPr lang="en-US" dirty="0">
                <a:solidFill>
                  <a:schemeClr val="bg1">
                    <a:lumMod val="65000"/>
                  </a:schemeClr>
                </a:solidFill>
              </a:rPr>
              <a:t>Auditing Blockchain: Brief Overview</a:t>
            </a:r>
          </a:p>
          <a:p>
            <a:pPr marL="457200" indent="-457200"/>
            <a:r>
              <a:rPr lang="en-US" b="1" dirty="0">
                <a:solidFill>
                  <a:schemeClr val="tx2"/>
                </a:solidFill>
              </a:rPr>
              <a:t>Deliverable</a:t>
            </a:r>
          </a:p>
          <a:p>
            <a:pPr marL="457200" indent="-457200"/>
            <a:r>
              <a:rPr lang="en-US" dirty="0"/>
              <a:t>Lab: </a:t>
            </a:r>
          </a:p>
          <a:p>
            <a:pPr marL="1027113" lvl="1" indent="-457200"/>
            <a:r>
              <a:rPr lang="en-US" dirty="0"/>
              <a:t>Manually extract and reconcile blockchain.</a:t>
            </a:r>
          </a:p>
          <a:p>
            <a:pPr marL="1027113" lvl="1" indent="-457200"/>
            <a:r>
              <a:rPr lang="en-US" dirty="0"/>
              <a:t>Use the Blockchain Analyzer tool. </a:t>
            </a:r>
          </a:p>
        </p:txBody>
      </p:sp>
    </p:spTree>
    <p:extLst>
      <p:ext uri="{BB962C8B-B14F-4D97-AF65-F5344CB8AC3E}">
        <p14:creationId xmlns:p14="http://schemas.microsoft.com/office/powerpoint/2010/main" val="2115737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8AFBA-2A89-4BE1-80B6-7388E9B95F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DA517D-A2E9-FE67-C624-2381798D0194}"/>
              </a:ext>
            </a:extLst>
          </p:cNvPr>
          <p:cNvSpPr>
            <a:spLocks noGrp="1"/>
          </p:cNvSpPr>
          <p:nvPr>
            <p:ph type="title"/>
          </p:nvPr>
        </p:nvSpPr>
        <p:spPr>
          <a:xfrm>
            <a:off x="748393" y="2074664"/>
            <a:ext cx="7886700" cy="769441"/>
          </a:xfrm>
        </p:spPr>
        <p:txBody>
          <a:bodyPr/>
          <a:lstStyle/>
          <a:p>
            <a:r>
              <a:rPr lang="en-US" dirty="0"/>
              <a:t>Deliverable</a:t>
            </a:r>
          </a:p>
        </p:txBody>
      </p:sp>
    </p:spTree>
    <p:extLst>
      <p:ext uri="{BB962C8B-B14F-4D97-AF65-F5344CB8AC3E}">
        <p14:creationId xmlns:p14="http://schemas.microsoft.com/office/powerpoint/2010/main" val="3574462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6730B-E680-23F8-5749-54224D9B3F39}"/>
              </a:ext>
            </a:extLst>
          </p:cNvPr>
          <p:cNvSpPr>
            <a:spLocks noGrp="1"/>
          </p:cNvSpPr>
          <p:nvPr>
            <p:ph type="title" idx="4294967295"/>
          </p:nvPr>
        </p:nvSpPr>
        <p:spPr>
          <a:xfrm>
            <a:off x="0" y="333375"/>
            <a:ext cx="8305800" cy="768350"/>
          </a:xfrm>
        </p:spPr>
        <p:txBody>
          <a:bodyPr/>
          <a:lstStyle/>
          <a:p>
            <a:r>
              <a:rPr lang="en-US" dirty="0"/>
              <a:t>Deliverable</a:t>
            </a:r>
          </a:p>
        </p:txBody>
      </p:sp>
      <p:sp>
        <p:nvSpPr>
          <p:cNvPr id="3" name="Content Placeholder 2">
            <a:extLst>
              <a:ext uri="{FF2B5EF4-FFF2-40B4-BE49-F238E27FC236}">
                <a16:creationId xmlns:a16="http://schemas.microsoft.com/office/drawing/2014/main" id="{DDC3D9F6-17E1-D921-7028-A42413E48115}"/>
              </a:ext>
            </a:extLst>
          </p:cNvPr>
          <p:cNvSpPr>
            <a:spLocks noGrp="1"/>
          </p:cNvSpPr>
          <p:nvPr>
            <p:ph idx="4294967295"/>
          </p:nvPr>
        </p:nvSpPr>
        <p:spPr>
          <a:xfrm>
            <a:off x="531405" y="933101"/>
            <a:ext cx="8229600" cy="3375283"/>
          </a:xfrm>
        </p:spPr>
        <p:txBody>
          <a:bodyPr/>
          <a:lstStyle/>
          <a:p>
            <a:r>
              <a:rPr lang="en-US" sz="2400" b="1" dirty="0"/>
              <a:t>As a 1 page memo, please answer the following (based on Part 5 Section 3 of the Case): </a:t>
            </a:r>
          </a:p>
          <a:p>
            <a:r>
              <a:rPr lang="en-US" sz="1800" dirty="0"/>
              <a:t>Testing for completeness and existence. </a:t>
            </a:r>
            <a:r>
              <a:rPr lang="en-US" sz="1800" i="1" dirty="0"/>
              <a:t>Required: </a:t>
            </a:r>
            <a:r>
              <a:rPr lang="en-US" sz="1800" dirty="0"/>
              <a:t>Evaluate the completeness and existence assertions for the client. In evaluating these assertions, you need to check if the given transactions exist and add up to the same end balance in the wallet. You also need to look for any unusual items (something suspicious or potentially risky). </a:t>
            </a:r>
          </a:p>
          <a:p>
            <a:pPr marL="514350" indent="-514350">
              <a:buFont typeface="Arial" charset="0"/>
              <a:buAutoNum type="arabicPeriod"/>
            </a:pPr>
            <a:r>
              <a:rPr lang="en-US" sz="1800" dirty="0"/>
              <a:t>Describe the anatomy of a blockchain (bitcoin) transaction using an accompanying screenshot of a selected transaction from those provided.</a:t>
            </a:r>
          </a:p>
          <a:p>
            <a:pPr marL="514350" indent="-514350">
              <a:buFont typeface="Arial" charset="0"/>
              <a:buAutoNum type="arabicPeriod"/>
            </a:pPr>
            <a:r>
              <a:rPr lang="en-US" sz="1800" dirty="0"/>
              <a:t>To assess completeness and existence, which of the analyzer tabs did you use? Take a screenshot and Explain why and any findings.</a:t>
            </a:r>
          </a:p>
          <a:p>
            <a:pPr marL="514350" indent="-514350">
              <a:buAutoNum type="arabicPeriod"/>
            </a:pPr>
            <a:r>
              <a:rPr lang="en-US" sz="1800" dirty="0"/>
              <a:t>How does this tool help in a blockchain audit relative to manual sampling? </a:t>
            </a:r>
          </a:p>
        </p:txBody>
      </p:sp>
      <p:sp>
        <p:nvSpPr>
          <p:cNvPr id="4" name="TextBox 3">
            <a:extLst>
              <a:ext uri="{FF2B5EF4-FFF2-40B4-BE49-F238E27FC236}">
                <a16:creationId xmlns:a16="http://schemas.microsoft.com/office/drawing/2014/main" id="{4051AC39-721C-07A2-9E15-1515F9BED1B0}"/>
              </a:ext>
            </a:extLst>
          </p:cNvPr>
          <p:cNvSpPr txBox="1"/>
          <p:nvPr/>
        </p:nvSpPr>
        <p:spPr>
          <a:xfrm>
            <a:off x="4993294" y="4567213"/>
            <a:ext cx="4187621" cy="369332"/>
          </a:xfrm>
          <a:prstGeom prst="rect">
            <a:avLst/>
          </a:prstGeom>
          <a:noFill/>
        </p:spPr>
        <p:txBody>
          <a:bodyPr wrap="none" rtlCol="0">
            <a:spAutoFit/>
          </a:bodyPr>
          <a:lstStyle/>
          <a:p>
            <a:r>
              <a:rPr lang="en-US" dirty="0">
                <a:solidFill>
                  <a:schemeClr val="tx2"/>
                </a:solidFill>
                <a:latin typeface="+mn-lt"/>
              </a:rPr>
              <a:t>**See example memo template (optional).</a:t>
            </a:r>
          </a:p>
        </p:txBody>
      </p:sp>
    </p:spTree>
    <p:extLst>
      <p:ext uri="{BB962C8B-B14F-4D97-AF65-F5344CB8AC3E}">
        <p14:creationId xmlns:p14="http://schemas.microsoft.com/office/powerpoint/2010/main" val="1964144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264EE-BFDF-5599-F5D9-16415493DE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C50072-88EB-6199-4A00-27BF64617087}"/>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2F934691-F922-9387-4266-A62A94CDED81}"/>
              </a:ext>
            </a:extLst>
          </p:cNvPr>
          <p:cNvSpPr>
            <a:spLocks noGrp="1"/>
          </p:cNvSpPr>
          <p:nvPr>
            <p:ph idx="1"/>
          </p:nvPr>
        </p:nvSpPr>
        <p:spPr>
          <a:xfrm>
            <a:off x="361950" y="1000125"/>
            <a:ext cx="8229600" cy="2803332"/>
          </a:xfrm>
        </p:spPr>
        <p:txBody>
          <a:bodyPr vert="horz" wrap="square" lIns="137160" tIns="45720" rIns="91440" bIns="45720" rtlCol="0" anchor="t">
            <a:spAutoFit/>
          </a:bodyPr>
          <a:lstStyle/>
          <a:p>
            <a:pPr marL="457200" indent="-457200"/>
            <a:r>
              <a:rPr lang="en-US" dirty="0">
                <a:solidFill>
                  <a:schemeClr val="bg1">
                    <a:lumMod val="65000"/>
                  </a:schemeClr>
                </a:solidFill>
              </a:rPr>
              <a:t>Review/Admin</a:t>
            </a:r>
          </a:p>
          <a:p>
            <a:pPr marL="457200" indent="-457200"/>
            <a:r>
              <a:rPr lang="en-US" dirty="0">
                <a:solidFill>
                  <a:schemeClr val="bg1">
                    <a:lumMod val="65000"/>
                  </a:schemeClr>
                </a:solidFill>
              </a:rPr>
              <a:t>Auditing Blockchain: Brief Overview</a:t>
            </a:r>
          </a:p>
          <a:p>
            <a:pPr marL="457200" indent="-457200"/>
            <a:r>
              <a:rPr lang="en-US" dirty="0">
                <a:solidFill>
                  <a:schemeClr val="bg1">
                    <a:lumMod val="65000"/>
                  </a:schemeClr>
                </a:solidFill>
              </a:rPr>
              <a:t>Deliverable</a:t>
            </a:r>
          </a:p>
          <a:p>
            <a:pPr marL="457200" indent="-457200"/>
            <a:r>
              <a:rPr lang="en-US" b="1" dirty="0">
                <a:solidFill>
                  <a:srgbClr val="412985"/>
                </a:solidFill>
              </a:rPr>
              <a:t>Lab</a:t>
            </a:r>
            <a:r>
              <a:rPr lang="en-US" dirty="0">
                <a:solidFill>
                  <a:srgbClr val="412985"/>
                </a:solidFill>
              </a:rPr>
              <a:t>: </a:t>
            </a:r>
          </a:p>
          <a:p>
            <a:pPr marL="1027113" lvl="1" indent="-457200"/>
            <a:r>
              <a:rPr lang="en-US" dirty="0">
                <a:solidFill>
                  <a:srgbClr val="412985"/>
                </a:solidFill>
              </a:rPr>
              <a:t>Manually extract and reconcile blockchain.</a:t>
            </a:r>
          </a:p>
          <a:p>
            <a:pPr marL="1027113" lvl="1" indent="-457200"/>
            <a:r>
              <a:rPr lang="en-US" dirty="0">
                <a:solidFill>
                  <a:srgbClr val="412985"/>
                </a:solidFill>
              </a:rPr>
              <a:t>Use the Blockchain Analyzer tool. </a:t>
            </a:r>
          </a:p>
        </p:txBody>
      </p:sp>
    </p:spTree>
    <p:extLst>
      <p:ext uri="{BB962C8B-B14F-4D97-AF65-F5344CB8AC3E}">
        <p14:creationId xmlns:p14="http://schemas.microsoft.com/office/powerpoint/2010/main" val="19122565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52145-8D74-47FF-A232-87ED1A165A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0B70F5-24AD-D439-D441-90AFA45C6E25}"/>
              </a:ext>
            </a:extLst>
          </p:cNvPr>
          <p:cNvSpPr>
            <a:spLocks noGrp="1"/>
          </p:cNvSpPr>
          <p:nvPr>
            <p:ph type="title"/>
          </p:nvPr>
        </p:nvSpPr>
        <p:spPr>
          <a:xfrm>
            <a:off x="777117" y="959191"/>
            <a:ext cx="7886700" cy="2800767"/>
          </a:xfrm>
        </p:spPr>
        <p:txBody>
          <a:bodyPr/>
          <a:lstStyle/>
          <a:p>
            <a:r>
              <a:rPr lang="en-US" dirty="0"/>
              <a:t>Lab* </a:t>
            </a:r>
            <a:br>
              <a:rPr lang="en-US" dirty="0"/>
            </a:br>
            <a:br>
              <a:rPr lang="en-US" dirty="0"/>
            </a:br>
            <a:br>
              <a:rPr lang="en-US" dirty="0"/>
            </a:br>
            <a:r>
              <a:rPr lang="en-US" dirty="0"/>
              <a:t>*</a:t>
            </a:r>
            <a:r>
              <a:rPr lang="en-US" sz="2800" dirty="0"/>
              <a:t>(no need for remote today)</a:t>
            </a:r>
            <a:endParaRPr lang="en-US" dirty="0"/>
          </a:p>
        </p:txBody>
      </p:sp>
    </p:spTree>
    <p:extLst>
      <p:ext uri="{BB962C8B-B14F-4D97-AF65-F5344CB8AC3E}">
        <p14:creationId xmlns:p14="http://schemas.microsoft.com/office/powerpoint/2010/main" val="9537847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536D32-5D69-4607-9066-2F3824C14AC0}"/>
              </a:ext>
            </a:extLst>
          </p:cNvPr>
          <p:cNvPicPr>
            <a:picLocks noChangeAspect="1"/>
          </p:cNvPicPr>
          <p:nvPr/>
        </p:nvPicPr>
        <p:blipFill>
          <a:blip r:embed="rId3"/>
          <a:stretch>
            <a:fillRect/>
          </a:stretch>
        </p:blipFill>
        <p:spPr>
          <a:xfrm>
            <a:off x="121709" y="936609"/>
            <a:ext cx="4115189" cy="3820194"/>
          </a:xfrm>
          <a:prstGeom prst="rect">
            <a:avLst/>
          </a:prstGeom>
        </p:spPr>
      </p:pic>
      <p:sp>
        <p:nvSpPr>
          <p:cNvPr id="5" name="Title 1">
            <a:extLst>
              <a:ext uri="{FF2B5EF4-FFF2-40B4-BE49-F238E27FC236}">
                <a16:creationId xmlns:a16="http://schemas.microsoft.com/office/drawing/2014/main" id="{2194AF4E-8D47-4E77-B3A6-8197C8734A7B}"/>
              </a:ext>
            </a:extLst>
          </p:cNvPr>
          <p:cNvSpPr txBox="1">
            <a:spLocks/>
          </p:cNvSpPr>
          <p:nvPr/>
        </p:nvSpPr>
        <p:spPr>
          <a:xfrm>
            <a:off x="-739764" y="88146"/>
            <a:ext cx="10448212" cy="573985"/>
          </a:xfrm>
          <a:prstGeom prst="rect">
            <a:avLst/>
          </a:prstGeom>
          <a:solidFill>
            <a:srgbClr val="412985">
              <a:alpha val="75000"/>
            </a:srgbClr>
          </a:solidFill>
        </p:spPr>
        <p:txBody>
          <a:bodyPr vert="horz" lIns="0" tIns="0" rIns="0" bIns="0" rtlCol="0" anchor="ctr" anchorCtr="0">
            <a:noAutofit/>
          </a:bodyPr>
          <a:lstStyle>
            <a:lvl1pPr algn="l" defTabSz="914400" rtl="0" eaLnBrk="1" latinLnBrk="0" hangingPunct="1">
              <a:lnSpc>
                <a:spcPct val="85000"/>
              </a:lnSpc>
              <a:spcBef>
                <a:spcPct val="0"/>
              </a:spcBef>
              <a:buNone/>
              <a:defRPr sz="3000" b="1" kern="1200">
                <a:solidFill>
                  <a:schemeClr val="bg1"/>
                </a:solidFill>
                <a:latin typeface="+mn-lt"/>
                <a:ea typeface="+mj-ea"/>
                <a:cs typeface="Arial" pitchFamily="34" charset="0"/>
              </a:defRPr>
            </a:lvl1pPr>
          </a:lstStyle>
          <a:p>
            <a:pPr algn="ctr"/>
            <a:r>
              <a:rPr lang="en-CA" sz="1600" dirty="0">
                <a:latin typeface="+mj-lt"/>
              </a:rPr>
              <a:t>Rather than relying on a central entity to verify transactions, blockchains are </a:t>
            </a:r>
          </a:p>
          <a:p>
            <a:pPr algn="ctr"/>
            <a:r>
              <a:rPr lang="en-CA" sz="1600" dirty="0">
                <a:latin typeface="+mj-lt"/>
              </a:rPr>
              <a:t>managed and secured autonomously by a peer-to-peer network. </a:t>
            </a:r>
            <a:endParaRPr lang="en-CA" sz="1600" b="0" dirty="0">
              <a:latin typeface="+mj-lt"/>
            </a:endParaRPr>
          </a:p>
        </p:txBody>
      </p:sp>
      <p:sp>
        <p:nvSpPr>
          <p:cNvPr id="6" name="Oval 5">
            <a:extLst>
              <a:ext uri="{FF2B5EF4-FFF2-40B4-BE49-F238E27FC236}">
                <a16:creationId xmlns:a16="http://schemas.microsoft.com/office/drawing/2014/main" id="{BDEDBF96-AA99-4EBE-A633-397EBFBD9BE3}"/>
              </a:ext>
            </a:extLst>
          </p:cNvPr>
          <p:cNvSpPr/>
          <p:nvPr/>
        </p:nvSpPr>
        <p:spPr>
          <a:xfrm>
            <a:off x="2795081" y="2062265"/>
            <a:ext cx="278859" cy="278859"/>
          </a:xfrm>
          <a:prstGeom prst="ellipse">
            <a:avLst/>
          </a:prstGeom>
          <a:noFill/>
          <a:ln w="28575">
            <a:solidFill>
              <a:srgbClr val="4129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ln w="10160">
                  <a:solidFill>
                    <a:sysClr val="windowText" lastClr="000000"/>
                  </a:solidFill>
                  <a:prstDash val="solid"/>
                </a:ln>
                <a:solidFill>
                  <a:srgbClr val="FFFFFF"/>
                </a:solidFill>
                <a:effectLst>
                  <a:outerShdw blurRad="38100" dist="22860" dir="5400000" algn="tl" rotWithShape="0">
                    <a:srgbClr val="000000">
                      <a:alpha val="30000"/>
                    </a:srgbClr>
                  </a:outerShdw>
                </a:effectLst>
              </a:rPr>
              <a:t>F</a:t>
            </a:r>
          </a:p>
        </p:txBody>
      </p:sp>
      <p:sp>
        <p:nvSpPr>
          <p:cNvPr id="7" name="TextBox 6">
            <a:extLst>
              <a:ext uri="{FF2B5EF4-FFF2-40B4-BE49-F238E27FC236}">
                <a16:creationId xmlns:a16="http://schemas.microsoft.com/office/drawing/2014/main" id="{7A75B03C-B463-43B8-BEF9-A0CFE3F1628D}"/>
              </a:ext>
            </a:extLst>
          </p:cNvPr>
          <p:cNvSpPr txBox="1"/>
          <p:nvPr/>
        </p:nvSpPr>
        <p:spPr>
          <a:xfrm>
            <a:off x="3048900" y="2062264"/>
            <a:ext cx="1558440" cy="307777"/>
          </a:xfrm>
          <a:prstGeom prst="rect">
            <a:avLst/>
          </a:prstGeom>
          <a:noFill/>
        </p:spPr>
        <p:txBody>
          <a:bodyPr wrap="none" rtlCol="0">
            <a:spAutoFit/>
          </a:bodyPr>
          <a:lstStyle/>
          <a:p>
            <a:r>
              <a:rPr lang="en-US" sz="1400" dirty="0">
                <a:solidFill>
                  <a:srgbClr val="412985"/>
                </a:solidFill>
              </a:rPr>
              <a:t>“Blockchain.com”</a:t>
            </a:r>
          </a:p>
        </p:txBody>
      </p:sp>
      <p:cxnSp>
        <p:nvCxnSpPr>
          <p:cNvPr id="8" name="Straight Arrow Connector 7">
            <a:extLst>
              <a:ext uri="{FF2B5EF4-FFF2-40B4-BE49-F238E27FC236}">
                <a16:creationId xmlns:a16="http://schemas.microsoft.com/office/drawing/2014/main" id="{6AD26E66-AEC0-42EF-9A3A-09EA87895363}"/>
              </a:ext>
            </a:extLst>
          </p:cNvPr>
          <p:cNvCxnSpPr>
            <a:cxnSpLocks/>
          </p:cNvCxnSpPr>
          <p:nvPr/>
        </p:nvCxnSpPr>
        <p:spPr>
          <a:xfrm>
            <a:off x="4490718" y="2418945"/>
            <a:ext cx="588991" cy="4083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10" name="Group 9">
            <a:extLst>
              <a:ext uri="{FF2B5EF4-FFF2-40B4-BE49-F238E27FC236}">
                <a16:creationId xmlns:a16="http://schemas.microsoft.com/office/drawing/2014/main" id="{74D0743D-CE28-468D-A2C7-6A3ED964ED17}"/>
              </a:ext>
            </a:extLst>
          </p:cNvPr>
          <p:cNvGrpSpPr/>
          <p:nvPr/>
        </p:nvGrpSpPr>
        <p:grpSpPr>
          <a:xfrm>
            <a:off x="4603284" y="779344"/>
            <a:ext cx="797903" cy="978937"/>
            <a:chOff x="2369260" y="2069469"/>
            <a:chExt cx="1593236" cy="1954717"/>
          </a:xfrm>
        </p:grpSpPr>
        <p:pic>
          <p:nvPicPr>
            <p:cNvPr id="11" name="Picture 10">
              <a:extLst>
                <a:ext uri="{FF2B5EF4-FFF2-40B4-BE49-F238E27FC236}">
                  <a16:creationId xmlns:a16="http://schemas.microsoft.com/office/drawing/2014/main" id="{4838EA36-13D9-4969-9724-3438E5459ED9}"/>
                </a:ext>
              </a:extLst>
            </p:cNvPr>
            <p:cNvPicPr>
              <a:picLocks noChangeAspect="1"/>
            </p:cNvPicPr>
            <p:nvPr/>
          </p:nvPicPr>
          <p:blipFill rotWithShape="1">
            <a:blip r:embed="rId4" cstate="print">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l="10710" t="8207" r="10867" b="11254"/>
            <a:stretch/>
          </p:blipFill>
          <p:spPr>
            <a:xfrm>
              <a:off x="2463838" y="2069469"/>
              <a:ext cx="1498658" cy="1539100"/>
            </a:xfrm>
            <a:prstGeom prst="rect">
              <a:avLst/>
            </a:prstGeom>
          </p:spPr>
        </p:pic>
        <p:sp>
          <p:nvSpPr>
            <p:cNvPr id="12" name="TextBox 112">
              <a:extLst>
                <a:ext uri="{FF2B5EF4-FFF2-40B4-BE49-F238E27FC236}">
                  <a16:creationId xmlns:a16="http://schemas.microsoft.com/office/drawing/2014/main" id="{A3C16D71-98A2-4FC1-9E0A-713DA2ED4C7B}"/>
                </a:ext>
              </a:extLst>
            </p:cNvPr>
            <p:cNvSpPr txBox="1"/>
            <p:nvPr/>
          </p:nvSpPr>
          <p:spPr>
            <a:xfrm>
              <a:off x="2369260" y="3637013"/>
              <a:ext cx="1582701" cy="387173"/>
            </a:xfrm>
            <a:prstGeom prst="rect">
              <a:avLst/>
            </a:prstGeom>
            <a:noFill/>
          </p:spPr>
          <p:txBody>
            <a:bodyPr wrap="square" lIns="0" tIns="36576"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85000"/>
                </a:lnSpc>
                <a:spcAft>
                  <a:spcPts val="600"/>
                </a:spcAft>
                <a:buClr>
                  <a:schemeClr val="accent2"/>
                </a:buClr>
                <a:buSzPct val="70000"/>
              </a:pPr>
              <a:r>
                <a:rPr lang="en-US" sz="1200" dirty="0">
                  <a:latin typeface="Arial" panose="020B0604020202020204" pitchFamily="34" charset="0"/>
                  <a:cs typeface="Arial" panose="020B0604020202020204" pitchFamily="34" charset="0"/>
                </a:rPr>
                <a:t>Bitcoin </a:t>
              </a:r>
            </a:p>
          </p:txBody>
        </p:sp>
      </p:grpSp>
      <p:pic>
        <p:nvPicPr>
          <p:cNvPr id="13" name="Picture 12">
            <a:extLst>
              <a:ext uri="{FF2B5EF4-FFF2-40B4-BE49-F238E27FC236}">
                <a16:creationId xmlns:a16="http://schemas.microsoft.com/office/drawing/2014/main" id="{C991CD55-9B33-4CED-9E7E-C7DC2C63AE85}"/>
              </a:ext>
            </a:extLst>
          </p:cNvPr>
          <p:cNvPicPr>
            <a:picLocks noChangeAspect="1"/>
          </p:cNvPicPr>
          <p:nvPr/>
        </p:nvPicPr>
        <p:blipFill>
          <a:blip r:embed="rId6" cstate="screen">
            <a:duotone>
              <a:prstClr val="black"/>
              <a:srgbClr val="412985">
                <a:tint val="45000"/>
                <a:satMod val="400000"/>
              </a:srgbClr>
            </a:duotone>
            <a:extLst>
              <a:ext uri="{28A0092B-C50C-407E-A947-70E740481C1C}">
                <a14:useLocalDpi xmlns:a14="http://schemas.microsoft.com/office/drawing/2010/main"/>
              </a:ext>
            </a:extLst>
          </a:blip>
          <a:stretch>
            <a:fillRect/>
          </a:stretch>
        </p:blipFill>
        <p:spPr>
          <a:xfrm>
            <a:off x="5158491" y="2521410"/>
            <a:ext cx="565027" cy="734351"/>
          </a:xfrm>
          <a:prstGeom prst="rect">
            <a:avLst/>
          </a:prstGeom>
        </p:spPr>
      </p:pic>
      <p:sp>
        <p:nvSpPr>
          <p:cNvPr id="14" name="Rectangle 13">
            <a:extLst>
              <a:ext uri="{FF2B5EF4-FFF2-40B4-BE49-F238E27FC236}">
                <a16:creationId xmlns:a16="http://schemas.microsoft.com/office/drawing/2014/main" id="{0B782A64-13DF-4082-94AF-ABE89B7A9C28}"/>
              </a:ext>
            </a:extLst>
          </p:cNvPr>
          <p:cNvSpPr/>
          <p:nvPr/>
        </p:nvSpPr>
        <p:spPr>
          <a:xfrm>
            <a:off x="4977756" y="3315908"/>
            <a:ext cx="915636" cy="369332"/>
          </a:xfrm>
          <a:prstGeom prst="rect">
            <a:avLst/>
          </a:prstGeom>
        </p:spPr>
        <p:txBody>
          <a:bodyPr wrap="none">
            <a:spAutoFit/>
          </a:bodyPr>
          <a:lstStyle/>
          <a:p>
            <a:pPr algn="ctr"/>
            <a:r>
              <a:rPr lang="en-US" dirty="0">
                <a:latin typeface="Arial" panose="020B0604020202020204" pitchFamily="34" charset="0"/>
              </a:rPr>
              <a:t>Auditor</a:t>
            </a:r>
          </a:p>
        </p:txBody>
      </p:sp>
      <p:sp>
        <p:nvSpPr>
          <p:cNvPr id="15" name="Rectangle 14">
            <a:extLst>
              <a:ext uri="{FF2B5EF4-FFF2-40B4-BE49-F238E27FC236}">
                <a16:creationId xmlns:a16="http://schemas.microsoft.com/office/drawing/2014/main" id="{D68FC0A9-3A3B-4648-8798-770B48EEF34E}"/>
              </a:ext>
            </a:extLst>
          </p:cNvPr>
          <p:cNvSpPr/>
          <p:nvPr/>
        </p:nvSpPr>
        <p:spPr>
          <a:xfrm>
            <a:off x="6243998" y="1486869"/>
            <a:ext cx="2900003" cy="3039640"/>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a:solidFill>
                  <a:schemeClr val="tx1"/>
                </a:solidFill>
                <a:latin typeface="Arial" panose="020B0604020202020204" pitchFamily="34" charset="0"/>
              </a:rPr>
              <a:t>Client Data</a:t>
            </a:r>
          </a:p>
        </p:txBody>
      </p:sp>
      <p:pic>
        <p:nvPicPr>
          <p:cNvPr id="16" name="Picture 15">
            <a:extLst>
              <a:ext uri="{FF2B5EF4-FFF2-40B4-BE49-F238E27FC236}">
                <a16:creationId xmlns:a16="http://schemas.microsoft.com/office/drawing/2014/main" id="{BAC42D6D-A528-4377-9B51-DB547C9E5B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538075" y="1972280"/>
            <a:ext cx="565027" cy="734351"/>
          </a:xfrm>
          <a:prstGeom prst="rect">
            <a:avLst/>
          </a:prstGeom>
        </p:spPr>
      </p:pic>
      <p:sp>
        <p:nvSpPr>
          <p:cNvPr id="17" name="Freeform 34">
            <a:extLst>
              <a:ext uri="{FF2B5EF4-FFF2-40B4-BE49-F238E27FC236}">
                <a16:creationId xmlns:a16="http://schemas.microsoft.com/office/drawing/2014/main" id="{4C582183-7FBE-40AC-850E-7527ABDDE4F3}"/>
              </a:ext>
            </a:extLst>
          </p:cNvPr>
          <p:cNvSpPr>
            <a:spLocks noChangeAspect="1" noEditPoints="1"/>
          </p:cNvSpPr>
          <p:nvPr/>
        </p:nvSpPr>
        <p:spPr bwMode="auto">
          <a:xfrm>
            <a:off x="6479614" y="3275678"/>
            <a:ext cx="517286" cy="717867"/>
          </a:xfrm>
          <a:custGeom>
            <a:avLst/>
            <a:gdLst>
              <a:gd name="T0" fmla="*/ 2147483647 w 3426"/>
              <a:gd name="T1" fmla="*/ 2147483647 h 4763"/>
              <a:gd name="T2" fmla="*/ 2147483647 w 3426"/>
              <a:gd name="T3" fmla="*/ 2147483647 h 4763"/>
              <a:gd name="T4" fmla="*/ 2147483647 w 3426"/>
              <a:gd name="T5" fmla="*/ 2147483647 h 4763"/>
              <a:gd name="T6" fmla="*/ 2147483647 w 3426"/>
              <a:gd name="T7" fmla="*/ 2147483647 h 4763"/>
              <a:gd name="T8" fmla="*/ 2147483647 w 3426"/>
              <a:gd name="T9" fmla="*/ 2147483647 h 4763"/>
              <a:gd name="T10" fmla="*/ 2147483647 w 3426"/>
              <a:gd name="T11" fmla="*/ 2147483647 h 4763"/>
              <a:gd name="T12" fmla="*/ 2147483647 w 3426"/>
              <a:gd name="T13" fmla="*/ 2147483647 h 4763"/>
              <a:gd name="T14" fmla="*/ 2147483647 w 3426"/>
              <a:gd name="T15" fmla="*/ 2147483647 h 4763"/>
              <a:gd name="T16" fmla="*/ 2147483647 w 3426"/>
              <a:gd name="T17" fmla="*/ 2147483647 h 4763"/>
              <a:gd name="T18" fmla="*/ 2147483647 w 3426"/>
              <a:gd name="T19" fmla="*/ 2147483647 h 4763"/>
              <a:gd name="T20" fmla="*/ 2147483647 w 3426"/>
              <a:gd name="T21" fmla="*/ 2147483647 h 4763"/>
              <a:gd name="T22" fmla="*/ 2147483647 w 3426"/>
              <a:gd name="T23" fmla="*/ 2147483647 h 4763"/>
              <a:gd name="T24" fmla="*/ 2147483647 w 3426"/>
              <a:gd name="T25" fmla="*/ 2147483647 h 4763"/>
              <a:gd name="T26" fmla="*/ 2147483647 w 3426"/>
              <a:gd name="T27" fmla="*/ 2147483647 h 4763"/>
              <a:gd name="T28" fmla="*/ 2147483647 w 3426"/>
              <a:gd name="T29" fmla="*/ 2147483647 h 4763"/>
              <a:gd name="T30" fmla="*/ 0 w 3426"/>
              <a:gd name="T31" fmla="*/ 2147483647 h 4763"/>
              <a:gd name="T32" fmla="*/ 0 w 3426"/>
              <a:gd name="T33" fmla="*/ 0 h 4763"/>
              <a:gd name="T34" fmla="*/ 2147483647 w 3426"/>
              <a:gd name="T35" fmla="*/ 0 h 4763"/>
              <a:gd name="T36" fmla="*/ 2147483647 w 3426"/>
              <a:gd name="T37" fmla="*/ 2147483647 h 4763"/>
              <a:gd name="T38" fmla="*/ 2147483647 w 3426"/>
              <a:gd name="T39" fmla="*/ 2147483647 h 4763"/>
              <a:gd name="T40" fmla="*/ 2147483647 w 3426"/>
              <a:gd name="T41" fmla="*/ 2147483647 h 4763"/>
              <a:gd name="T42" fmla="*/ 2147483647 w 3426"/>
              <a:gd name="T43" fmla="*/ 2147483647 h 4763"/>
              <a:gd name="T44" fmla="*/ 2147483647 w 3426"/>
              <a:gd name="T45" fmla="*/ 2147483647 h 4763"/>
              <a:gd name="T46" fmla="*/ 2147483647 w 3426"/>
              <a:gd name="T47" fmla="*/ 2147483647 h 4763"/>
              <a:gd name="T48" fmla="*/ 2147483647 w 3426"/>
              <a:gd name="T49" fmla="*/ 2147483647 h 4763"/>
              <a:gd name="T50" fmla="*/ 2147483647 w 3426"/>
              <a:gd name="T51" fmla="*/ 2147483647 h 4763"/>
              <a:gd name="T52" fmla="*/ 2147483647 w 3426"/>
              <a:gd name="T53" fmla="*/ 2147483647 h 4763"/>
              <a:gd name="T54" fmla="*/ 2147483647 w 3426"/>
              <a:gd name="T55" fmla="*/ 2147483647 h 4763"/>
              <a:gd name="T56" fmla="*/ 2147483647 w 3426"/>
              <a:gd name="T57" fmla="*/ 2147483647 h 4763"/>
              <a:gd name="T58" fmla="*/ 2147483647 w 3426"/>
              <a:gd name="T59" fmla="*/ 2147483647 h 4763"/>
              <a:gd name="T60" fmla="*/ 2147483647 w 3426"/>
              <a:gd name="T61" fmla="*/ 2147483647 h 4763"/>
              <a:gd name="T62" fmla="*/ 2147483647 w 3426"/>
              <a:gd name="T63" fmla="*/ 2147483647 h 4763"/>
              <a:gd name="T64" fmla="*/ 2147483647 w 3426"/>
              <a:gd name="T65" fmla="*/ 2147483647 h 4763"/>
              <a:gd name="T66" fmla="*/ 2147483647 w 3426"/>
              <a:gd name="T67" fmla="*/ 2147483647 h 4763"/>
              <a:gd name="T68" fmla="*/ 2147483647 w 3426"/>
              <a:gd name="T69" fmla="*/ 2147483647 h 4763"/>
              <a:gd name="T70" fmla="*/ 2147483647 w 3426"/>
              <a:gd name="T71" fmla="*/ 2147483647 h 4763"/>
              <a:gd name="T72" fmla="*/ 2147483647 w 3426"/>
              <a:gd name="T73" fmla="*/ 2147483647 h 4763"/>
              <a:gd name="T74" fmla="*/ 2147483647 w 3426"/>
              <a:gd name="T75" fmla="*/ 2147483647 h 476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426"/>
              <a:gd name="T115" fmla="*/ 0 h 4763"/>
              <a:gd name="T116" fmla="*/ 3426 w 3426"/>
              <a:gd name="T117" fmla="*/ 4763 h 476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426" h="4763">
                <a:moveTo>
                  <a:pt x="608" y="3039"/>
                </a:moveTo>
                <a:lnTo>
                  <a:pt x="2820" y="3039"/>
                </a:lnTo>
                <a:lnTo>
                  <a:pt x="2820" y="3135"/>
                </a:lnTo>
                <a:lnTo>
                  <a:pt x="608" y="3135"/>
                </a:lnTo>
                <a:lnTo>
                  <a:pt x="608" y="3039"/>
                </a:lnTo>
                <a:close/>
                <a:moveTo>
                  <a:pt x="3160" y="901"/>
                </a:moveTo>
                <a:lnTo>
                  <a:pt x="2532" y="272"/>
                </a:lnTo>
                <a:lnTo>
                  <a:pt x="2532" y="901"/>
                </a:lnTo>
                <a:lnTo>
                  <a:pt x="3160" y="901"/>
                </a:lnTo>
                <a:close/>
                <a:moveTo>
                  <a:pt x="193" y="193"/>
                </a:moveTo>
                <a:lnTo>
                  <a:pt x="193" y="4570"/>
                </a:lnTo>
                <a:lnTo>
                  <a:pt x="3232" y="4570"/>
                </a:lnTo>
                <a:lnTo>
                  <a:pt x="3233" y="1288"/>
                </a:lnTo>
                <a:lnTo>
                  <a:pt x="3426" y="1288"/>
                </a:lnTo>
                <a:lnTo>
                  <a:pt x="3425" y="4763"/>
                </a:lnTo>
                <a:lnTo>
                  <a:pt x="0" y="4763"/>
                </a:lnTo>
                <a:lnTo>
                  <a:pt x="0" y="0"/>
                </a:lnTo>
                <a:lnTo>
                  <a:pt x="2533" y="0"/>
                </a:lnTo>
                <a:lnTo>
                  <a:pt x="3426" y="894"/>
                </a:lnTo>
                <a:lnTo>
                  <a:pt x="3426" y="1095"/>
                </a:lnTo>
                <a:lnTo>
                  <a:pt x="2339" y="1095"/>
                </a:lnTo>
                <a:lnTo>
                  <a:pt x="2339" y="193"/>
                </a:lnTo>
                <a:lnTo>
                  <a:pt x="193" y="193"/>
                </a:lnTo>
                <a:close/>
                <a:moveTo>
                  <a:pt x="608" y="3656"/>
                </a:moveTo>
                <a:lnTo>
                  <a:pt x="2336" y="3656"/>
                </a:lnTo>
                <a:lnTo>
                  <a:pt x="2336" y="3753"/>
                </a:lnTo>
                <a:lnTo>
                  <a:pt x="608" y="3753"/>
                </a:lnTo>
                <a:lnTo>
                  <a:pt x="608" y="3656"/>
                </a:lnTo>
                <a:close/>
                <a:moveTo>
                  <a:pt x="608" y="1806"/>
                </a:moveTo>
                <a:lnTo>
                  <a:pt x="2820" y="1806"/>
                </a:lnTo>
                <a:lnTo>
                  <a:pt x="2820" y="1903"/>
                </a:lnTo>
                <a:lnTo>
                  <a:pt x="608" y="1903"/>
                </a:lnTo>
                <a:lnTo>
                  <a:pt x="608" y="1806"/>
                </a:lnTo>
                <a:close/>
                <a:moveTo>
                  <a:pt x="608" y="2423"/>
                </a:moveTo>
                <a:lnTo>
                  <a:pt x="2820" y="2423"/>
                </a:lnTo>
                <a:lnTo>
                  <a:pt x="2820" y="2519"/>
                </a:lnTo>
                <a:lnTo>
                  <a:pt x="608" y="2519"/>
                </a:lnTo>
                <a:lnTo>
                  <a:pt x="608" y="2423"/>
                </a:lnTo>
                <a:close/>
              </a:path>
            </a:pathLst>
          </a:custGeom>
          <a:solidFill>
            <a:schemeClr val="tx1">
              <a:lumMod val="75000"/>
            </a:schemeClr>
          </a:solidFill>
          <a:ln w="9525">
            <a:no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de-DE"/>
          </a:p>
        </p:txBody>
      </p:sp>
      <p:pic>
        <p:nvPicPr>
          <p:cNvPr id="18" name="Picture 17">
            <a:extLst>
              <a:ext uri="{FF2B5EF4-FFF2-40B4-BE49-F238E27FC236}">
                <a16:creationId xmlns:a16="http://schemas.microsoft.com/office/drawing/2014/main" id="{32D598BE-9859-443D-A15E-12E3AE0D9204}"/>
              </a:ext>
            </a:extLst>
          </p:cNvPr>
          <p:cNvPicPr>
            <a:picLocks noChangeAspect="1"/>
          </p:cNvPicPr>
          <p:nvPr/>
        </p:nvPicPr>
        <p:blipFill>
          <a:blip r:embed="rId7"/>
          <a:stretch>
            <a:fillRect/>
          </a:stretch>
        </p:blipFill>
        <p:spPr>
          <a:xfrm>
            <a:off x="7330887" y="3020712"/>
            <a:ext cx="1722571" cy="1257565"/>
          </a:xfrm>
          <a:prstGeom prst="rect">
            <a:avLst/>
          </a:prstGeom>
        </p:spPr>
      </p:pic>
      <p:sp>
        <p:nvSpPr>
          <p:cNvPr id="19" name="Rectangle 18">
            <a:extLst>
              <a:ext uri="{FF2B5EF4-FFF2-40B4-BE49-F238E27FC236}">
                <a16:creationId xmlns:a16="http://schemas.microsoft.com/office/drawing/2014/main" id="{036C43B0-0682-4790-8AAE-24BDEAF0668E}"/>
              </a:ext>
            </a:extLst>
          </p:cNvPr>
          <p:cNvSpPr/>
          <p:nvPr/>
        </p:nvSpPr>
        <p:spPr>
          <a:xfrm>
            <a:off x="7430047" y="2048590"/>
            <a:ext cx="1527982" cy="600164"/>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t>Wallet data</a:t>
            </a:r>
          </a:p>
          <a:p>
            <a:r>
              <a:rPr lang="en-US" sz="1100" dirty="0"/>
              <a:t>Transaction data</a:t>
            </a:r>
          </a:p>
          <a:p>
            <a:r>
              <a:rPr lang="en-US" sz="1100" dirty="0"/>
              <a:t>Access verification data</a:t>
            </a:r>
            <a:endParaRPr lang="de-DE" sz="1100" dirty="0"/>
          </a:p>
        </p:txBody>
      </p:sp>
      <p:sp>
        <p:nvSpPr>
          <p:cNvPr id="20" name="Right Brace 19">
            <a:extLst>
              <a:ext uri="{FF2B5EF4-FFF2-40B4-BE49-F238E27FC236}">
                <a16:creationId xmlns:a16="http://schemas.microsoft.com/office/drawing/2014/main" id="{54607812-27F3-4E52-8E41-9F960BB888CC}"/>
              </a:ext>
            </a:extLst>
          </p:cNvPr>
          <p:cNvSpPr/>
          <p:nvPr/>
        </p:nvSpPr>
        <p:spPr>
          <a:xfrm flipH="1">
            <a:off x="5753370" y="1656721"/>
            <a:ext cx="428614" cy="246628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2" name="Rectangle 21">
            <a:extLst>
              <a:ext uri="{FF2B5EF4-FFF2-40B4-BE49-F238E27FC236}">
                <a16:creationId xmlns:a16="http://schemas.microsoft.com/office/drawing/2014/main" id="{B255E3BF-121D-4A72-A374-B8590F7EF5A0}"/>
              </a:ext>
            </a:extLst>
          </p:cNvPr>
          <p:cNvSpPr/>
          <p:nvPr/>
        </p:nvSpPr>
        <p:spPr>
          <a:xfrm>
            <a:off x="3996859" y="4557755"/>
            <a:ext cx="4965509" cy="646331"/>
          </a:xfrm>
          <a:prstGeom prst="rect">
            <a:avLst/>
          </a:prstGeom>
        </p:spPr>
        <p:txBody>
          <a:bodyPr wrap="square">
            <a:spAutoFit/>
          </a:bodyPr>
          <a:lstStyle/>
          <a:p>
            <a:pPr marL="285743" indent="-285743">
              <a:buFont typeface="Arial" panose="020B0604020202020204" pitchFamily="34" charset="0"/>
              <a:buChar char="•"/>
            </a:pPr>
            <a:r>
              <a:rPr lang="en-US" dirty="0"/>
              <a:t>Reconcile a </a:t>
            </a:r>
            <a:r>
              <a:rPr lang="en-US" dirty="0" err="1"/>
              <a:t>blockexplorer’s</a:t>
            </a:r>
            <a:r>
              <a:rPr lang="en-US" dirty="0"/>
              <a:t> data with client records.</a:t>
            </a:r>
          </a:p>
        </p:txBody>
      </p:sp>
    </p:spTree>
    <p:extLst>
      <p:ext uri="{BB962C8B-B14F-4D97-AF65-F5344CB8AC3E}">
        <p14:creationId xmlns:p14="http://schemas.microsoft.com/office/powerpoint/2010/main" val="2603232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0" y="265675"/>
            <a:ext cx="8390553" cy="769441"/>
          </a:xfrm>
        </p:spPr>
        <p:txBody>
          <a:bodyPr/>
          <a:lstStyle/>
          <a:p>
            <a:r>
              <a:rPr lang="en-US" dirty="0"/>
              <a:t>Audit using a third-party</a:t>
            </a:r>
          </a:p>
        </p:txBody>
      </p:sp>
      <p:sp>
        <p:nvSpPr>
          <p:cNvPr id="162" name="Textplatzhalter 4">
            <a:extLst>
              <a:ext uri="{FF2B5EF4-FFF2-40B4-BE49-F238E27FC236}">
                <a16:creationId xmlns:a16="http://schemas.microsoft.com/office/drawing/2014/main" id="{39EDC7FF-8F8F-461C-A7E3-B96888DED0E1}"/>
              </a:ext>
            </a:extLst>
          </p:cNvPr>
          <p:cNvSpPr>
            <a:spLocks noGrp="1"/>
          </p:cNvSpPr>
          <p:nvPr>
            <p:ph idx="1"/>
          </p:nvPr>
        </p:nvSpPr>
        <p:spPr>
          <a:xfrm>
            <a:off x="277974" y="1545967"/>
            <a:ext cx="8245540" cy="3111365"/>
          </a:xfrm>
        </p:spPr>
        <p:txBody>
          <a:bodyPr/>
          <a:lstStyle/>
          <a:p>
            <a:pPr>
              <a:lnSpc>
                <a:spcPct val="150000"/>
              </a:lnSpc>
              <a:spcAft>
                <a:spcPts val="0"/>
              </a:spcAft>
            </a:pPr>
            <a:r>
              <a:rPr lang="en-US" sz="1349" dirty="0">
                <a:solidFill>
                  <a:srgbClr val="595959"/>
                </a:solidFill>
                <a:ea typeface="Calibri" panose="020F0502020204030204" pitchFamily="34" charset="0"/>
              </a:rPr>
              <a:t>Your client has provided you with a table of their </a:t>
            </a:r>
            <a:r>
              <a:rPr lang="en-US" sz="1349" dirty="0" err="1">
                <a:solidFill>
                  <a:srgbClr val="595959"/>
                </a:solidFill>
                <a:ea typeface="Calibri" panose="020F0502020204030204" pitchFamily="34" charset="0"/>
              </a:rPr>
              <a:t>cyptocurrency</a:t>
            </a:r>
            <a:r>
              <a:rPr lang="en-US" sz="1349" dirty="0">
                <a:solidFill>
                  <a:srgbClr val="595959"/>
                </a:solidFill>
                <a:ea typeface="Calibri" panose="020F0502020204030204" pitchFamily="34" charset="0"/>
              </a:rPr>
              <a:t> transactions (Bitcoin) that occurred on  March 1, 2018 for their wallet at the address: </a:t>
            </a:r>
            <a:r>
              <a:rPr lang="en-US" sz="1349" b="1" dirty="0">
                <a:solidFill>
                  <a:schemeClr val="tx2"/>
                </a:solidFill>
                <a:cs typeface="Arial" panose="020B0604020202020204" pitchFamily="34" charset="0"/>
              </a:rPr>
              <a:t>17A16QmavnUfCW11DAApiJxp7ARnxN5pGX</a:t>
            </a:r>
            <a:endParaRPr lang="en-US" sz="1349" b="1" dirty="0">
              <a:solidFill>
                <a:schemeClr val="tx2"/>
              </a:solidFill>
            </a:endParaRPr>
          </a:p>
          <a:p>
            <a:pPr marL="342728" indent="-342728">
              <a:lnSpc>
                <a:spcPct val="150000"/>
              </a:lnSpc>
              <a:spcAft>
                <a:spcPts val="0"/>
              </a:spcAft>
              <a:buFont typeface="+mj-lt"/>
              <a:buAutoNum type="arabicPeriod"/>
            </a:pPr>
            <a:endParaRPr lang="en-US" sz="1349" dirty="0">
              <a:solidFill>
                <a:schemeClr val="bg1"/>
              </a:solidFill>
            </a:endParaRPr>
          </a:p>
          <a:p>
            <a:pPr marL="342728" indent="-342728">
              <a:lnSpc>
                <a:spcPct val="150000"/>
              </a:lnSpc>
              <a:spcAft>
                <a:spcPts val="0"/>
              </a:spcAft>
              <a:buFont typeface="+mj-lt"/>
              <a:buAutoNum type="arabicPeriod"/>
            </a:pPr>
            <a:endParaRPr lang="en-US" sz="1349" dirty="0">
              <a:solidFill>
                <a:schemeClr val="bg1"/>
              </a:solidFill>
            </a:endParaRPr>
          </a:p>
          <a:p>
            <a:pPr marL="342728" indent="-342728">
              <a:lnSpc>
                <a:spcPct val="150000"/>
              </a:lnSpc>
              <a:spcAft>
                <a:spcPts val="0"/>
              </a:spcAft>
              <a:buFont typeface="+mj-lt"/>
              <a:buAutoNum type="arabicPeriod"/>
            </a:pPr>
            <a:endParaRPr lang="en-US" sz="1349" dirty="0">
              <a:solidFill>
                <a:schemeClr val="bg1"/>
              </a:solidFill>
            </a:endParaRPr>
          </a:p>
          <a:p>
            <a:pPr marL="342728" indent="-342728">
              <a:lnSpc>
                <a:spcPct val="150000"/>
              </a:lnSpc>
              <a:spcAft>
                <a:spcPts val="0"/>
              </a:spcAft>
              <a:buFont typeface="+mj-lt"/>
              <a:buAutoNum type="arabicPeriod"/>
            </a:pPr>
            <a:endParaRPr lang="en-US" sz="1349" dirty="0">
              <a:solidFill>
                <a:schemeClr val="bg1"/>
              </a:solidFill>
            </a:endParaRPr>
          </a:p>
          <a:p>
            <a:pPr marL="342728" indent="-342728">
              <a:lnSpc>
                <a:spcPct val="150000"/>
              </a:lnSpc>
              <a:spcAft>
                <a:spcPts val="0"/>
              </a:spcAft>
              <a:buFont typeface="+mj-lt"/>
              <a:buAutoNum type="arabicPeriod"/>
            </a:pPr>
            <a:endParaRPr lang="en-US" sz="1349" dirty="0">
              <a:solidFill>
                <a:schemeClr val="bg1"/>
              </a:solidFill>
            </a:endParaRPr>
          </a:p>
          <a:p>
            <a:pPr marL="342728" indent="-342728">
              <a:lnSpc>
                <a:spcPct val="150000"/>
              </a:lnSpc>
              <a:spcAft>
                <a:spcPts val="0"/>
              </a:spcAft>
              <a:buFont typeface="+mj-lt"/>
              <a:buAutoNum type="arabicPeriod"/>
            </a:pPr>
            <a:endParaRPr lang="en-US" sz="1349" dirty="0">
              <a:solidFill>
                <a:schemeClr val="bg1"/>
              </a:solidFill>
            </a:endParaRPr>
          </a:p>
          <a:p>
            <a:pPr marL="342728" indent="-342728">
              <a:lnSpc>
                <a:spcPct val="150000"/>
              </a:lnSpc>
              <a:spcAft>
                <a:spcPts val="0"/>
              </a:spcAft>
              <a:buFont typeface="+mj-lt"/>
              <a:buAutoNum type="arabicPeriod"/>
            </a:pPr>
            <a:endParaRPr lang="en-US" sz="1349" dirty="0">
              <a:solidFill>
                <a:schemeClr val="bg1"/>
              </a:solidFill>
            </a:endParaRPr>
          </a:p>
          <a:p>
            <a:pPr>
              <a:lnSpc>
                <a:spcPct val="150000"/>
              </a:lnSpc>
              <a:spcAft>
                <a:spcPts val="0"/>
              </a:spcAft>
            </a:pPr>
            <a:r>
              <a:rPr lang="de-DE" sz="1049" dirty="0">
                <a:solidFill>
                  <a:schemeClr val="bg1"/>
                </a:solidFill>
              </a:rPr>
              <a:t>         </a:t>
            </a:r>
            <a:endParaRPr lang="de-DE" sz="1049" dirty="0">
              <a:solidFill>
                <a:schemeClr val="bg1">
                  <a:lumMod val="85000"/>
                </a:schemeClr>
              </a:solidFill>
              <a:latin typeface="Arial" panose="020B0604020202020204" pitchFamily="34" charset="0"/>
              <a:cs typeface="Arial" panose="020B0604020202020204" pitchFamily="34" charset="0"/>
            </a:endParaRPr>
          </a:p>
        </p:txBody>
      </p:sp>
      <p:graphicFrame>
        <p:nvGraphicFramePr>
          <p:cNvPr id="9" name="Objekt 8" hidden="1"/>
          <p:cNvGraphicFramePr>
            <a:graphicFrameLocks noChangeAspect="1"/>
          </p:cNvGraphicFramePr>
          <p:nvPr>
            <p:custDataLst>
              <p:tags r:id="rId1"/>
            </p:custDataLst>
          </p:nvPr>
        </p:nvGraphicFramePr>
        <p:xfrm>
          <a:off x="1191" y="2530"/>
          <a:ext cx="1190" cy="1190"/>
        </p:xfrm>
        <a:graphic>
          <a:graphicData uri="http://schemas.openxmlformats.org/presentationml/2006/ole">
            <mc:AlternateContent xmlns:mc="http://schemas.openxmlformats.org/markup-compatibility/2006">
              <mc:Choice xmlns:v="urn:schemas-microsoft-com:vml" Requires="v">
                <p:oleObj name="think-cell Folie" r:id="rId5" imgW="352" imgH="318" progId="TCLayout.ActiveDocument.1">
                  <p:embed/>
                </p:oleObj>
              </mc:Choice>
              <mc:Fallback>
                <p:oleObj name="think-cell Folie" r:id="rId5" imgW="352" imgH="318" progId="TCLayout.ActiveDocument.1">
                  <p:embed/>
                  <p:pic>
                    <p:nvPicPr>
                      <p:cNvPr id="9" name="Objekt 8" hidden="1"/>
                      <p:cNvPicPr/>
                      <p:nvPr/>
                    </p:nvPicPr>
                    <p:blipFill>
                      <a:blip r:embed="rId6"/>
                      <a:stretch>
                        <a:fillRect/>
                      </a:stretch>
                    </p:blipFill>
                    <p:spPr>
                      <a:xfrm>
                        <a:off x="1191" y="2530"/>
                        <a:ext cx="1190" cy="1190"/>
                      </a:xfrm>
                      <a:prstGeom prst="rect">
                        <a:avLst/>
                      </a:prstGeom>
                    </p:spPr>
                  </p:pic>
                </p:oleObj>
              </mc:Fallback>
            </mc:AlternateContent>
          </a:graphicData>
        </a:graphic>
      </p:graphicFrame>
      <p:sp>
        <p:nvSpPr>
          <p:cNvPr id="3" name="Rechteck 2" hidden="1"/>
          <p:cNvSpPr/>
          <p:nvPr>
            <p:custDataLst>
              <p:tags r:id="rId2"/>
            </p:custDataLst>
          </p:nvPr>
        </p:nvSpPr>
        <p:spPr>
          <a:xfrm>
            <a:off x="1" y="1339"/>
            <a:ext cx="119000" cy="119000"/>
          </a:xfrm>
          <a:prstGeom prst="rect">
            <a:avLst/>
          </a:prstGeom>
          <a:solidFill>
            <a:srgbClr val="D2D2DA"/>
          </a:solidFill>
          <a:ln w="12700" cap="sq" cmpd="sng" algn="ctr">
            <a:noFill/>
            <a:prstDash val="solid"/>
            <a:miter lim="800000"/>
            <a:tailEnd type="none"/>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799" kern="0" dirty="0">
              <a:solidFill>
                <a:srgbClr val="2E2E38"/>
              </a:solidFill>
              <a:latin typeface="Arial" panose="020B0604020202020204" pitchFamily="34" charset="0"/>
              <a:ea typeface="+mj-ea"/>
              <a:cs typeface="Arial" panose="020B0604020202020204" pitchFamily="34" charset="0"/>
              <a:sym typeface="EYInterstate Light" panose="02000506000000020004" pitchFamily="2" charset="0"/>
            </a:endParaRPr>
          </a:p>
        </p:txBody>
      </p:sp>
      <p:graphicFrame>
        <p:nvGraphicFramePr>
          <p:cNvPr id="13" name="Table 12">
            <a:extLst>
              <a:ext uri="{FF2B5EF4-FFF2-40B4-BE49-F238E27FC236}">
                <a16:creationId xmlns:a16="http://schemas.microsoft.com/office/drawing/2014/main" id="{9904D813-28DD-465F-903D-C8D6117990A2}"/>
              </a:ext>
            </a:extLst>
          </p:cNvPr>
          <p:cNvGraphicFramePr>
            <a:graphicFrameLocks noGrp="1"/>
          </p:cNvGraphicFramePr>
          <p:nvPr/>
        </p:nvGraphicFramePr>
        <p:xfrm>
          <a:off x="421610" y="2355673"/>
          <a:ext cx="7958268" cy="2416932"/>
        </p:xfrm>
        <a:graphic>
          <a:graphicData uri="http://schemas.openxmlformats.org/drawingml/2006/table">
            <a:tbl>
              <a:tblPr/>
              <a:tblGrid>
                <a:gridCol w="4125837">
                  <a:extLst>
                    <a:ext uri="{9D8B030D-6E8A-4147-A177-3AD203B41FA5}">
                      <a16:colId xmlns:a16="http://schemas.microsoft.com/office/drawing/2014/main" val="4058604838"/>
                    </a:ext>
                  </a:extLst>
                </a:gridCol>
                <a:gridCol w="539779">
                  <a:extLst>
                    <a:ext uri="{9D8B030D-6E8A-4147-A177-3AD203B41FA5}">
                      <a16:colId xmlns:a16="http://schemas.microsoft.com/office/drawing/2014/main" val="1221493060"/>
                    </a:ext>
                  </a:extLst>
                </a:gridCol>
                <a:gridCol w="1025580">
                  <a:extLst>
                    <a:ext uri="{9D8B030D-6E8A-4147-A177-3AD203B41FA5}">
                      <a16:colId xmlns:a16="http://schemas.microsoft.com/office/drawing/2014/main" val="2066428784"/>
                    </a:ext>
                  </a:extLst>
                </a:gridCol>
                <a:gridCol w="809669">
                  <a:extLst>
                    <a:ext uri="{9D8B030D-6E8A-4147-A177-3AD203B41FA5}">
                      <a16:colId xmlns:a16="http://schemas.microsoft.com/office/drawing/2014/main" val="3550196102"/>
                    </a:ext>
                  </a:extLst>
                </a:gridCol>
                <a:gridCol w="755690">
                  <a:extLst>
                    <a:ext uri="{9D8B030D-6E8A-4147-A177-3AD203B41FA5}">
                      <a16:colId xmlns:a16="http://schemas.microsoft.com/office/drawing/2014/main" val="1440403465"/>
                    </a:ext>
                  </a:extLst>
                </a:gridCol>
                <a:gridCol w="701713">
                  <a:extLst>
                    <a:ext uri="{9D8B030D-6E8A-4147-A177-3AD203B41FA5}">
                      <a16:colId xmlns:a16="http://schemas.microsoft.com/office/drawing/2014/main" val="2624685176"/>
                    </a:ext>
                  </a:extLst>
                </a:gridCol>
              </a:tblGrid>
              <a:tr h="333515">
                <a:tc>
                  <a:txBody>
                    <a:bodyPr/>
                    <a:lstStyle/>
                    <a:p>
                      <a:pPr marL="0" marR="0">
                        <a:lnSpc>
                          <a:spcPct val="115000"/>
                        </a:lnSpc>
                        <a:spcBef>
                          <a:spcPts val="0"/>
                        </a:spcBef>
                        <a:spcAft>
                          <a:spcPts val="0"/>
                        </a:spcAft>
                      </a:pPr>
                      <a:r>
                        <a:rPr lang="en-US" sz="900" b="1" dirty="0">
                          <a:effectLst/>
                          <a:latin typeface="Arial" panose="020B0604020202020204" pitchFamily="34" charset="0"/>
                          <a:ea typeface="Calibri" panose="020F0502020204030204" pitchFamily="34" charset="0"/>
                          <a:cs typeface="Times New Roman" panose="02020603050405020304" pitchFamily="18" charset="0"/>
                        </a:rPr>
                        <a:t>Transaction ID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tc>
                  <a:txBody>
                    <a:bodyPr/>
                    <a:lstStyle/>
                    <a:p>
                      <a:pPr marL="0" marR="0" algn="ctr">
                        <a:lnSpc>
                          <a:spcPct val="115000"/>
                        </a:lnSpc>
                        <a:spcBef>
                          <a:spcPts val="0"/>
                        </a:spcBef>
                        <a:spcAft>
                          <a:spcPts val="0"/>
                        </a:spcAft>
                      </a:pPr>
                      <a:r>
                        <a:rPr lang="en-US" sz="900" b="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Block</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tc>
                  <a:txBody>
                    <a:bodyPr/>
                    <a:lstStyle/>
                    <a:p>
                      <a:pPr marL="0" marR="0" algn="ctr">
                        <a:lnSpc>
                          <a:spcPct val="115000"/>
                        </a:lnSpc>
                        <a:spcBef>
                          <a:spcPts val="0"/>
                        </a:spcBef>
                        <a:spcAft>
                          <a:spcPts val="0"/>
                        </a:spcAft>
                      </a:pPr>
                      <a:r>
                        <a:rPr lang="en-US" sz="900" b="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DD.MM.YYY Time</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tc>
                  <a:txBody>
                    <a:bodyPr/>
                    <a:lstStyle/>
                    <a:p>
                      <a:pPr marL="0" marR="0" algn="ctr">
                        <a:lnSpc>
                          <a:spcPct val="115000"/>
                        </a:lnSpc>
                        <a:spcBef>
                          <a:spcPts val="0"/>
                        </a:spcBef>
                        <a:spcAft>
                          <a:spcPts val="0"/>
                        </a:spcAft>
                        <a:tabLst>
                          <a:tab pos="162560" algn="dec"/>
                        </a:tabLst>
                      </a:pPr>
                      <a:r>
                        <a:rPr lang="en-US" sz="900" b="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Value</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tc>
                  <a:txBody>
                    <a:bodyPr/>
                    <a:lstStyle/>
                    <a:p>
                      <a:pPr marL="0" marR="0" algn="ctr">
                        <a:lnSpc>
                          <a:spcPct val="115000"/>
                        </a:lnSpc>
                        <a:spcBef>
                          <a:spcPts val="0"/>
                        </a:spcBef>
                        <a:spcAft>
                          <a:spcPts val="0"/>
                        </a:spcAft>
                        <a:tabLst>
                          <a:tab pos="219710" algn="dec"/>
                        </a:tabLst>
                      </a:pPr>
                      <a:r>
                        <a:rPr lang="en-US" sz="9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Running Balance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tc>
                  <a:txBody>
                    <a:bodyPr/>
                    <a:lstStyle/>
                    <a:p>
                      <a:pPr marL="0" marR="0" algn="ctr">
                        <a:lnSpc>
                          <a:spcPct val="115000"/>
                        </a:lnSpc>
                        <a:spcBef>
                          <a:spcPts val="0"/>
                        </a:spcBef>
                        <a:spcAft>
                          <a:spcPts val="0"/>
                        </a:spcAft>
                      </a:pPr>
                      <a:r>
                        <a:rPr lang="en-US" sz="900" b="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Sent/ Received</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2309124177"/>
                  </a:ext>
                </a:extLst>
              </a:tr>
              <a:tr h="213234">
                <a:tc>
                  <a:txBody>
                    <a:bodyPr/>
                    <a:lstStyle/>
                    <a:p>
                      <a:pPr marL="0" marR="0">
                        <a:lnSpc>
                          <a:spcPct val="115000"/>
                        </a:lnSpc>
                        <a:spcBef>
                          <a:spcPts val="0"/>
                        </a:spcBef>
                        <a:spcAft>
                          <a:spcPts val="0"/>
                        </a:spcAft>
                      </a:pPr>
                      <a:r>
                        <a:rPr lang="en-US" sz="9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5a60cf5712521d0dc57c0cb56f493126c6d7967b78ee6cc9ac28c7b77bffb2c7</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0"/>
                        </a:spcBef>
                        <a:spcAft>
                          <a:spcPts val="0"/>
                        </a:spcAf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511417</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9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01.03.2018 04:54</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tabLst>
                          <a:tab pos="162560" algn="dec"/>
                        </a:tabLst>
                      </a:pPr>
                      <a:r>
                        <a:rPr lang="en-US" sz="9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0.09761362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tabLst>
                          <a:tab pos="219710" algn="dec"/>
                        </a:tabLst>
                      </a:pPr>
                      <a:r>
                        <a:rPr lang="en-US" sz="9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273.938403</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Received</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02991192"/>
                  </a:ext>
                </a:extLst>
              </a:tr>
              <a:tr h="180763">
                <a:tc>
                  <a:txBody>
                    <a:bodyPr/>
                    <a:lstStyle/>
                    <a:p>
                      <a:pPr marL="0" marR="0">
                        <a:lnSpc>
                          <a:spcPct val="115000"/>
                        </a:lnSpc>
                        <a:spcBef>
                          <a:spcPts val="0"/>
                        </a:spcBef>
                        <a:spcAft>
                          <a:spcPts val="0"/>
                        </a:spcAft>
                      </a:pPr>
                      <a:r>
                        <a:rPr lang="en-US" sz="9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3c25b98df1d2ce6a7cce227f4300e28c93141ad98cdf4f4d8f07955b79f7abf1</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0"/>
                        </a:spcBef>
                        <a:spcAft>
                          <a:spcPts val="0"/>
                        </a:spcAf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511418</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01.03.2018 05:02</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tabLst>
                          <a:tab pos="162560" algn="dec"/>
                        </a:tabLs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-0.04125702</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tabLst>
                          <a:tab pos="219710" algn="dec"/>
                        </a:tabLs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273.9001168</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Sent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42924728"/>
                  </a:ext>
                </a:extLst>
              </a:tr>
              <a:tr h="213234">
                <a:tc>
                  <a:txBody>
                    <a:bodyPr/>
                    <a:lstStyle/>
                    <a:p>
                      <a:pPr marL="0" marR="0">
                        <a:lnSpc>
                          <a:spcPct val="115000"/>
                        </a:lnSpc>
                        <a:spcBef>
                          <a:spcPts val="0"/>
                        </a:spcBef>
                        <a:spcAft>
                          <a:spcPts val="0"/>
                        </a:spcAft>
                      </a:pPr>
                      <a:r>
                        <a:rPr lang="en-US" sz="9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3a69317f65e4ef0c73a242c9c4ae125a7c27e0f23397be7652e65d409a156ea1</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0"/>
                        </a:spcBef>
                        <a:spcAft>
                          <a:spcPts val="0"/>
                        </a:spcAf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511418</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01.03.2018 05:02</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tabLst>
                          <a:tab pos="162560" algn="dec"/>
                        </a:tabLs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0.0271139</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tabLst>
                          <a:tab pos="219710" algn="dec"/>
                        </a:tabLst>
                      </a:pPr>
                      <a:r>
                        <a:rPr lang="en-US" sz="9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273.9413739</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Received</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82195746"/>
                  </a:ext>
                </a:extLst>
              </a:tr>
              <a:tr h="224959">
                <a:tc>
                  <a:txBody>
                    <a:bodyPr/>
                    <a:lstStyle/>
                    <a:p>
                      <a:pPr marL="0" marR="0">
                        <a:lnSpc>
                          <a:spcPct val="115000"/>
                        </a:lnSpc>
                        <a:spcBef>
                          <a:spcPts val="0"/>
                        </a:spcBef>
                        <a:spcAft>
                          <a:spcPts val="0"/>
                        </a:spcAft>
                      </a:pPr>
                      <a:r>
                        <a:rPr lang="en-US" sz="9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66a8dd8135d7655207b17ee5a0279ab0184987105b8c51cb79233d3d0835dbf9</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0"/>
                        </a:spcBef>
                        <a:spcAft>
                          <a:spcPts val="0"/>
                        </a:spcAf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511418</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01.03.2018 05:02</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tabLst>
                          <a:tab pos="162560" algn="dec"/>
                        </a:tabLst>
                      </a:pPr>
                      <a:r>
                        <a:rPr lang="en-US" sz="9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-0.01465857</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tabLst>
                          <a:tab pos="219710" algn="dec"/>
                        </a:tabLst>
                      </a:pPr>
                      <a:r>
                        <a:rPr lang="en-US" sz="9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273.91426</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Sent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71769434"/>
                  </a:ext>
                </a:extLst>
              </a:tr>
              <a:tr h="213234">
                <a:tc>
                  <a:txBody>
                    <a:bodyPr/>
                    <a:lstStyle/>
                    <a:p>
                      <a:pPr marL="0" marR="0">
                        <a:lnSpc>
                          <a:spcPct val="115000"/>
                        </a:lnSpc>
                        <a:spcBef>
                          <a:spcPts val="0"/>
                        </a:spcBef>
                        <a:spcAft>
                          <a:spcPts val="0"/>
                        </a:spcAft>
                      </a:pPr>
                      <a:r>
                        <a:rPr lang="en-US" sz="9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C22e31c0010acadf1c9457593379b496b0f0a65d25df3bdea19b7453bf67cc68</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0"/>
                        </a:spcBef>
                        <a:spcAft>
                          <a:spcPts val="0"/>
                        </a:spcAf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511418</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01.03.2018 05:02</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tabLst>
                          <a:tab pos="162560" algn="dec"/>
                        </a:tabLs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0.01877822</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tabLst>
                          <a:tab pos="219710" algn="dec"/>
                        </a:tabLst>
                      </a:pPr>
                      <a:r>
                        <a:rPr lang="en-US" sz="9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273.9289185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Received</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38101830"/>
                  </a:ext>
                </a:extLst>
              </a:tr>
              <a:tr h="213234">
                <a:tc>
                  <a:txBody>
                    <a:bodyPr/>
                    <a:lstStyle/>
                    <a:p>
                      <a:pPr marL="0" marR="0">
                        <a:lnSpc>
                          <a:spcPct val="115000"/>
                        </a:lnSpc>
                        <a:spcBef>
                          <a:spcPts val="0"/>
                        </a:spcBef>
                        <a:spcAft>
                          <a:spcPts val="0"/>
                        </a:spcAft>
                      </a:pPr>
                      <a:r>
                        <a:rPr lang="en-US" sz="9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3bb36c8afe021b031b4bac846f56e4b17ba25e5cc208ea8a450a97535c29a86b</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0"/>
                        </a:spcBef>
                        <a:spcAft>
                          <a:spcPts val="0"/>
                        </a:spcAft>
                      </a:pPr>
                      <a:r>
                        <a:rPr lang="en-US" sz="9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511419</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9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01.03.2018 05:04</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tabLst>
                          <a:tab pos="162560" algn="dec"/>
                        </a:tabLst>
                      </a:pPr>
                      <a:r>
                        <a:rPr lang="en-US" sz="9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0.00042844</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tabLst>
                          <a:tab pos="219710" algn="dec"/>
                        </a:tabLst>
                      </a:pPr>
                      <a:r>
                        <a:rPr lang="en-US" sz="9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273.9005453</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Received</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84451830"/>
                  </a:ext>
                </a:extLst>
              </a:tr>
              <a:tr h="213234">
                <a:tc>
                  <a:txBody>
                    <a:bodyPr/>
                    <a:lstStyle/>
                    <a:p>
                      <a:pPr marL="0" marR="0">
                        <a:lnSpc>
                          <a:spcPct val="115000"/>
                        </a:lnSpc>
                        <a:spcBef>
                          <a:spcPts val="0"/>
                        </a:spcBef>
                        <a:spcAft>
                          <a:spcPts val="0"/>
                        </a:spcAft>
                      </a:pPr>
                      <a:r>
                        <a:rPr lang="en-US" sz="9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4c5ff27fa0c0e20d3d55dd94f065c9258208e339c0b02c403c8c3c6587781db6</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0"/>
                        </a:spcBef>
                        <a:spcAft>
                          <a:spcPts val="0"/>
                        </a:spcAf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511420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9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01.03.2018 05:28</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tabLst>
                          <a:tab pos="162560" algn="dec"/>
                        </a:tabLst>
                      </a:pPr>
                      <a:r>
                        <a:rPr lang="en-US" sz="9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0.05636806</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tabLst>
                          <a:tab pos="219710" algn="dec"/>
                        </a:tabLst>
                      </a:pPr>
                      <a:r>
                        <a:rPr lang="en-US" sz="9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273.9177608</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Received</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3075307"/>
                  </a:ext>
                </a:extLst>
              </a:tr>
              <a:tr h="185057">
                <a:tc>
                  <a:txBody>
                    <a:bodyPr/>
                    <a:lstStyle/>
                    <a:p>
                      <a:pPr marL="0" marR="0">
                        <a:lnSpc>
                          <a:spcPct val="115000"/>
                        </a:lnSpc>
                        <a:spcBef>
                          <a:spcPts val="0"/>
                        </a:spcBef>
                        <a:spcAft>
                          <a:spcPts val="0"/>
                        </a:spcAft>
                      </a:pPr>
                      <a:r>
                        <a:rPr lang="en-US" sz="9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7cad2ead30accb9f4f0dbd4511f755589e4efd42fb44e9d6daaf231d49c46fb3</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0"/>
                        </a:spcBef>
                        <a:spcAft>
                          <a:spcPts val="0"/>
                        </a:spcAf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511420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01.03.2018 05:28</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tabLst>
                          <a:tab pos="162560" algn="dec"/>
                        </a:tabLst>
                      </a:pPr>
                      <a:r>
                        <a:rPr lang="en-US" sz="9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-0.09210298</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tabLst>
                          <a:tab pos="219710" algn="dec"/>
                        </a:tabLs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273.8613927</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Sent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51634252"/>
                  </a:ext>
                </a:extLst>
              </a:tr>
              <a:tr h="213234">
                <a:tc>
                  <a:txBody>
                    <a:bodyPr/>
                    <a:lstStyle/>
                    <a:p>
                      <a:pPr marL="0" marR="0">
                        <a:lnSpc>
                          <a:spcPct val="115000"/>
                        </a:lnSpc>
                        <a:spcBef>
                          <a:spcPts val="0"/>
                        </a:spcBef>
                        <a:spcAft>
                          <a:spcPts val="0"/>
                        </a:spcAft>
                      </a:pPr>
                      <a:r>
                        <a:rPr lang="en-US" sz="9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F533bbf1e47ed31a14a5a4ce80907d0aa28b271147fb6e098e92d5b1e732e774</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0"/>
                        </a:spcBef>
                        <a:spcAft>
                          <a:spcPts val="0"/>
                        </a:spcAf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511420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9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01.03.2018 05:28</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tabLst>
                          <a:tab pos="162560" algn="dec"/>
                        </a:tabLst>
                      </a:pPr>
                      <a:r>
                        <a:rPr lang="en-US" sz="9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0.00587873</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tabLst>
                          <a:tab pos="219710" algn="dec"/>
                        </a:tabLst>
                      </a:pPr>
                      <a:r>
                        <a:rPr lang="en-US" sz="9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273.9534957</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9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Received</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18387754"/>
                  </a:ext>
                </a:extLst>
              </a:tr>
              <a:tr h="213234">
                <a:tc>
                  <a:txBody>
                    <a:bodyPr/>
                    <a:lstStyle/>
                    <a:p>
                      <a:pPr marL="0" marR="0">
                        <a:lnSpc>
                          <a:spcPct val="115000"/>
                        </a:lnSpc>
                        <a:spcBef>
                          <a:spcPts val="0"/>
                        </a:spcBef>
                        <a:spcAft>
                          <a:spcPts val="0"/>
                        </a:spcAf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96b536a276c1add2e511837a20f67dc1bfa547e004397a4e4743406349ed2f0d</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0"/>
                        </a:spcBef>
                        <a:spcAft>
                          <a:spcPts val="0"/>
                        </a:spcAf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511420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01.03.2018 05:28</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tabLst>
                          <a:tab pos="162560" algn="dec"/>
                        </a:tabLs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0.07450548</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tabLst>
                          <a:tab pos="219710" algn="dec"/>
                        </a:tabLst>
                      </a:pPr>
                      <a:r>
                        <a:rPr lang="en-US" sz="9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273.947617</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9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Received</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270" marR="6270" marT="627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654229905"/>
                  </a:ext>
                </a:extLst>
              </a:tr>
            </a:tbl>
          </a:graphicData>
        </a:graphic>
      </p:graphicFrame>
    </p:spTree>
    <p:extLst>
      <p:ext uri="{BB962C8B-B14F-4D97-AF65-F5344CB8AC3E}">
        <p14:creationId xmlns:p14="http://schemas.microsoft.com/office/powerpoint/2010/main" val="166231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08C13-970C-4C5E-BAB1-3DD0DA2ECC14}"/>
              </a:ext>
            </a:extLst>
          </p:cNvPr>
          <p:cNvSpPr>
            <a:spLocks noGrp="1"/>
          </p:cNvSpPr>
          <p:nvPr>
            <p:ph type="title"/>
          </p:nvPr>
        </p:nvSpPr>
        <p:spPr>
          <a:xfrm>
            <a:off x="0" y="265675"/>
            <a:ext cx="8390553" cy="769441"/>
          </a:xfrm>
        </p:spPr>
        <p:txBody>
          <a:bodyPr/>
          <a:lstStyle/>
          <a:p>
            <a:r>
              <a:rPr lang="en-US" dirty="0"/>
              <a:t>Audit using a third-party</a:t>
            </a:r>
          </a:p>
        </p:txBody>
      </p:sp>
      <p:sp>
        <p:nvSpPr>
          <p:cNvPr id="4" name="Textplatzhalter 4">
            <a:extLst>
              <a:ext uri="{FF2B5EF4-FFF2-40B4-BE49-F238E27FC236}">
                <a16:creationId xmlns:a16="http://schemas.microsoft.com/office/drawing/2014/main" id="{0B3CB848-BA87-4850-91B3-467FE649DCD6}"/>
              </a:ext>
            </a:extLst>
          </p:cNvPr>
          <p:cNvSpPr txBox="1">
            <a:spLocks/>
          </p:cNvSpPr>
          <p:nvPr/>
        </p:nvSpPr>
        <p:spPr>
          <a:xfrm>
            <a:off x="375199" y="1505413"/>
            <a:ext cx="8015354" cy="3894363"/>
          </a:xfrm>
          <a:prstGeom prst="rect">
            <a:avLst/>
          </a:prstGeom>
        </p:spPr>
        <p:txBody>
          <a:bodyPr vert="horz"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4000"/>
              </a:lnSpc>
              <a:spcAft>
                <a:spcPts val="0"/>
              </a:spcAft>
              <a:buSzPct val="100000"/>
            </a:pPr>
            <a:r>
              <a:rPr lang="en-US" sz="2100" dirty="0">
                <a:solidFill>
                  <a:srgbClr val="595959"/>
                </a:solidFill>
              </a:rPr>
              <a:t>Tools often referred to as block explorers are commonly used to access and analyze information from a public blockchain. These tools display the contents of a public blockchain and allow users to examine the details of individual blocks (e.g., all transactions included in a block), individual transactions (e.g., the transaction amount, the sender’s public address, the receiver’s public address) and information about specific public addresses (e.g., balance as of the point in time that the information is accessed, details of all transactions). </a:t>
            </a:r>
          </a:p>
          <a:p>
            <a:pPr>
              <a:spcAft>
                <a:spcPts val="0"/>
              </a:spcAft>
              <a:buSzPct val="100000"/>
            </a:pPr>
            <a:endParaRPr lang="en-US" sz="2400" dirty="0">
              <a:solidFill>
                <a:srgbClr val="595959"/>
              </a:solidFill>
            </a:endParaRPr>
          </a:p>
        </p:txBody>
      </p:sp>
    </p:spTree>
    <p:extLst>
      <p:ext uri="{BB962C8B-B14F-4D97-AF65-F5344CB8AC3E}">
        <p14:creationId xmlns:p14="http://schemas.microsoft.com/office/powerpoint/2010/main" val="191093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08C13-970C-4C5E-BAB1-3DD0DA2ECC14}"/>
              </a:ext>
            </a:extLst>
          </p:cNvPr>
          <p:cNvSpPr>
            <a:spLocks noGrp="1"/>
          </p:cNvSpPr>
          <p:nvPr>
            <p:ph type="title"/>
          </p:nvPr>
        </p:nvSpPr>
        <p:spPr>
          <a:xfrm>
            <a:off x="0" y="265675"/>
            <a:ext cx="8390553" cy="769441"/>
          </a:xfrm>
        </p:spPr>
        <p:txBody>
          <a:bodyPr/>
          <a:lstStyle/>
          <a:p>
            <a:r>
              <a:rPr lang="en-US" dirty="0"/>
              <a:t>Audit using a third-party</a:t>
            </a:r>
          </a:p>
        </p:txBody>
      </p:sp>
      <p:sp>
        <p:nvSpPr>
          <p:cNvPr id="4" name="Textplatzhalter 4">
            <a:extLst>
              <a:ext uri="{FF2B5EF4-FFF2-40B4-BE49-F238E27FC236}">
                <a16:creationId xmlns:a16="http://schemas.microsoft.com/office/drawing/2014/main" id="{0B3CB848-BA87-4850-91B3-467FE649DCD6}"/>
              </a:ext>
            </a:extLst>
          </p:cNvPr>
          <p:cNvSpPr txBox="1">
            <a:spLocks/>
          </p:cNvSpPr>
          <p:nvPr/>
        </p:nvSpPr>
        <p:spPr>
          <a:xfrm>
            <a:off x="375199" y="1505413"/>
            <a:ext cx="8015354" cy="3894363"/>
          </a:xfrm>
          <a:prstGeom prst="rect">
            <a:avLst/>
          </a:prstGeom>
        </p:spPr>
        <p:txBody>
          <a:bodyPr vert="horz"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4000"/>
              </a:lnSpc>
              <a:spcAft>
                <a:spcPts val="0"/>
              </a:spcAft>
              <a:buSzPct val="100000"/>
            </a:pPr>
            <a:r>
              <a:rPr lang="en-US" sz="2100" b="1" dirty="0">
                <a:solidFill>
                  <a:srgbClr val="595959"/>
                </a:solidFill>
              </a:rPr>
              <a:t>Required</a:t>
            </a:r>
          </a:p>
          <a:p>
            <a:pPr marL="385763" indent="-385763">
              <a:lnSpc>
                <a:spcPct val="114000"/>
              </a:lnSpc>
              <a:spcAft>
                <a:spcPts val="0"/>
              </a:spcAft>
              <a:buSzPct val="100000"/>
              <a:buFont typeface="+mj-lt"/>
              <a:buAutoNum type="arabicPeriod"/>
            </a:pPr>
            <a:r>
              <a:rPr lang="en-US" sz="2100" dirty="0">
                <a:solidFill>
                  <a:srgbClr val="595959"/>
                </a:solidFill>
                <a:hlinkClick r:id="rId3"/>
              </a:rPr>
              <a:t>Blockchair</a:t>
            </a:r>
            <a:r>
              <a:rPr lang="en-US" sz="2100" dirty="0">
                <a:solidFill>
                  <a:srgbClr val="595959"/>
                </a:solidFill>
              </a:rPr>
              <a:t> is a block explorer. Using this block explorer, the transaction ID and wallet address, check to see if each transaction exists and if the value of each transaction differs from the client data. </a:t>
            </a:r>
          </a:p>
          <a:p>
            <a:pPr marL="385763" indent="-385763">
              <a:lnSpc>
                <a:spcPct val="114000"/>
              </a:lnSpc>
              <a:spcAft>
                <a:spcPts val="0"/>
              </a:spcAft>
              <a:buSzPct val="100000"/>
              <a:buFont typeface="+mj-lt"/>
              <a:buAutoNum type="arabicPeriod"/>
            </a:pPr>
            <a:r>
              <a:rPr lang="en-US" sz="2100" dirty="0">
                <a:solidFill>
                  <a:srgbClr val="595959"/>
                </a:solidFill>
              </a:rPr>
              <a:t>What are your findings? </a:t>
            </a:r>
          </a:p>
          <a:p>
            <a:pPr marL="385763" indent="-385763">
              <a:lnSpc>
                <a:spcPct val="114000"/>
              </a:lnSpc>
              <a:spcAft>
                <a:spcPts val="0"/>
              </a:spcAft>
              <a:buSzPct val="100000"/>
              <a:buFont typeface="+mj-lt"/>
              <a:buAutoNum type="arabicPeriod"/>
            </a:pPr>
            <a:r>
              <a:rPr lang="en-US" sz="2100" dirty="0">
                <a:solidFill>
                  <a:srgbClr val="595959"/>
                </a:solidFill>
              </a:rPr>
              <a:t>What are your perspectives (and or/concerns) about using a tool like this to audit these types of transactions?</a:t>
            </a:r>
          </a:p>
          <a:p>
            <a:pPr>
              <a:spcAft>
                <a:spcPts val="0"/>
              </a:spcAft>
              <a:buSzPct val="100000"/>
            </a:pPr>
            <a:endParaRPr lang="en-US" sz="2400" dirty="0">
              <a:solidFill>
                <a:srgbClr val="595959"/>
              </a:solidFill>
            </a:endParaRPr>
          </a:p>
        </p:txBody>
      </p:sp>
      <p:sp>
        <p:nvSpPr>
          <p:cNvPr id="3" name="TextBox 2">
            <a:extLst>
              <a:ext uri="{FF2B5EF4-FFF2-40B4-BE49-F238E27FC236}">
                <a16:creationId xmlns:a16="http://schemas.microsoft.com/office/drawing/2014/main" id="{D4936273-DD2B-40C5-8A0E-576F7E0C0C55}"/>
              </a:ext>
            </a:extLst>
          </p:cNvPr>
          <p:cNvSpPr txBox="1"/>
          <p:nvPr/>
        </p:nvSpPr>
        <p:spPr>
          <a:xfrm>
            <a:off x="130676" y="4093336"/>
            <a:ext cx="8936725" cy="646331"/>
          </a:xfrm>
          <a:prstGeom prst="rect">
            <a:avLst/>
          </a:prstGeom>
          <a:noFill/>
        </p:spPr>
        <p:txBody>
          <a:bodyPr wrap="square" rtlCol="0">
            <a:spAutoFit/>
          </a:bodyPr>
          <a:lstStyle/>
          <a:p>
            <a:r>
              <a:rPr lang="en-US" dirty="0">
                <a:latin typeface="+mn-lt"/>
              </a:rPr>
              <a:t>*In small teams you will need to explore the transaction data and reconcile with the info in the excel sheet. (Alternative explorer: </a:t>
            </a:r>
            <a:r>
              <a:rPr lang="en-US" dirty="0" err="1">
                <a:hlinkClick r:id="rId4"/>
              </a:rPr>
              <a:t>mempool</a:t>
            </a:r>
            <a:r>
              <a:rPr lang="en-US" dirty="0">
                <a:hlinkClick r:id="rId4"/>
              </a:rPr>
              <a:t> - Bitcoin Explorer</a:t>
            </a:r>
            <a:r>
              <a:rPr lang="en-US" dirty="0"/>
              <a:t>)</a:t>
            </a:r>
            <a:endParaRPr lang="en-US" dirty="0">
              <a:latin typeface="+mn-lt"/>
            </a:endParaRPr>
          </a:p>
        </p:txBody>
      </p:sp>
    </p:spTree>
    <p:extLst>
      <p:ext uri="{BB962C8B-B14F-4D97-AF65-F5344CB8AC3E}">
        <p14:creationId xmlns:p14="http://schemas.microsoft.com/office/powerpoint/2010/main" val="2430586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793D-27EE-E11F-53E4-2A3B883711AC}"/>
              </a:ext>
            </a:extLst>
          </p:cNvPr>
          <p:cNvSpPr>
            <a:spLocks noGrp="1"/>
          </p:cNvSpPr>
          <p:nvPr>
            <p:ph type="title"/>
          </p:nvPr>
        </p:nvSpPr>
        <p:spPr>
          <a:xfrm>
            <a:off x="361950" y="332845"/>
            <a:ext cx="8305800" cy="707886"/>
          </a:xfrm>
        </p:spPr>
        <p:txBody>
          <a:bodyPr/>
          <a:lstStyle/>
          <a:p>
            <a:r>
              <a:rPr lang="en-US" sz="4000" dirty="0"/>
              <a:t>Anatomy of a bitcoin transaction</a:t>
            </a:r>
          </a:p>
        </p:txBody>
      </p:sp>
      <p:sp>
        <p:nvSpPr>
          <p:cNvPr id="3" name="Content Placeholder 2">
            <a:extLst>
              <a:ext uri="{FF2B5EF4-FFF2-40B4-BE49-F238E27FC236}">
                <a16:creationId xmlns:a16="http://schemas.microsoft.com/office/drawing/2014/main" id="{CCAE6595-01C6-3AAC-46F6-E28F9E8FC761}"/>
              </a:ext>
            </a:extLst>
          </p:cNvPr>
          <p:cNvSpPr>
            <a:spLocks noGrp="1"/>
          </p:cNvSpPr>
          <p:nvPr>
            <p:ph idx="1"/>
          </p:nvPr>
        </p:nvSpPr>
        <p:spPr>
          <a:xfrm>
            <a:off x="361950" y="1000125"/>
            <a:ext cx="8229600" cy="3503523"/>
          </a:xfrm>
        </p:spPr>
        <p:txBody>
          <a:bodyPr/>
          <a:lstStyle/>
          <a:p>
            <a:pPr marL="342900" indent="-342900">
              <a:buFont typeface="Arial" panose="020B0604020202020204" pitchFamily="34" charset="0"/>
              <a:buChar char="•"/>
            </a:pPr>
            <a:r>
              <a:rPr lang="en-US" sz="2000" dirty="0"/>
              <a:t>Since each transaction spends Unspent Transaction Outputs (UTXOs) and because a UTXO can only be spent once, the full value of the included UTXOs must be spent or given to a miner as a transaction fee. Few people will have UTXOs that exactly match the amount they want to pay, so most transactions include a change output.</a:t>
            </a:r>
          </a:p>
          <a:p>
            <a:pPr marL="342900" indent="-342900">
              <a:buFont typeface="Arial" panose="020B0604020202020204" pitchFamily="34" charset="0"/>
              <a:buChar char="•"/>
            </a:pPr>
            <a:r>
              <a:rPr lang="en-US" sz="2000" u="sng" dirty="0">
                <a:hlinkClick r:id="rId3"/>
              </a:rPr>
              <a:t>Change outputs</a:t>
            </a:r>
            <a:r>
              <a:rPr lang="en-US" sz="2000" dirty="0"/>
              <a:t> are regular outputs which spend the surplus satoshis from the UTXOs back to the spender. They can reuse the same P2PKH pubkey hash or P2SH script hash as was used in the UTXO, but for the reasons described in the </a:t>
            </a:r>
            <a:r>
              <a:rPr lang="en-US" sz="2000" u="sng" dirty="0">
                <a:hlinkClick r:id="rId4"/>
              </a:rPr>
              <a:t>next subsection</a:t>
            </a:r>
            <a:r>
              <a:rPr lang="en-US" sz="2000" dirty="0"/>
              <a:t>, it is highly recommended that change outputs be sent to a new P2PKH or P2SH address.</a:t>
            </a:r>
          </a:p>
          <a:p>
            <a:endParaRPr lang="en-US" sz="2000" dirty="0"/>
          </a:p>
        </p:txBody>
      </p:sp>
    </p:spTree>
    <p:extLst>
      <p:ext uri="{BB962C8B-B14F-4D97-AF65-F5344CB8AC3E}">
        <p14:creationId xmlns:p14="http://schemas.microsoft.com/office/powerpoint/2010/main" val="10650311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08C13-970C-4C5E-BAB1-3DD0DA2ECC14}"/>
              </a:ext>
            </a:extLst>
          </p:cNvPr>
          <p:cNvSpPr>
            <a:spLocks noGrp="1"/>
          </p:cNvSpPr>
          <p:nvPr>
            <p:ph type="title"/>
          </p:nvPr>
        </p:nvSpPr>
        <p:spPr>
          <a:xfrm>
            <a:off x="0" y="265675"/>
            <a:ext cx="8390553" cy="769441"/>
          </a:xfrm>
        </p:spPr>
        <p:txBody>
          <a:bodyPr/>
          <a:lstStyle/>
          <a:p>
            <a:r>
              <a:rPr lang="en-US" dirty="0"/>
              <a:t>Audit using a third-party</a:t>
            </a:r>
          </a:p>
        </p:txBody>
      </p:sp>
      <p:sp>
        <p:nvSpPr>
          <p:cNvPr id="4" name="Textplatzhalter 4">
            <a:extLst>
              <a:ext uri="{FF2B5EF4-FFF2-40B4-BE49-F238E27FC236}">
                <a16:creationId xmlns:a16="http://schemas.microsoft.com/office/drawing/2014/main" id="{0B3CB848-BA87-4850-91B3-467FE649DCD6}"/>
              </a:ext>
            </a:extLst>
          </p:cNvPr>
          <p:cNvSpPr txBox="1">
            <a:spLocks/>
          </p:cNvSpPr>
          <p:nvPr/>
        </p:nvSpPr>
        <p:spPr>
          <a:xfrm>
            <a:off x="375199" y="1505413"/>
            <a:ext cx="8015354" cy="3894363"/>
          </a:xfrm>
          <a:prstGeom prst="rect">
            <a:avLst/>
          </a:prstGeom>
        </p:spPr>
        <p:txBody>
          <a:bodyPr vert="horz"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4000"/>
              </a:lnSpc>
              <a:spcAft>
                <a:spcPts val="0"/>
              </a:spcAft>
              <a:buSzPct val="100000"/>
            </a:pPr>
            <a:r>
              <a:rPr lang="en-US" sz="2100" b="1" dirty="0">
                <a:solidFill>
                  <a:srgbClr val="595959"/>
                </a:solidFill>
              </a:rPr>
              <a:t>Perspectives (Q3):</a:t>
            </a:r>
          </a:p>
          <a:p>
            <a:pPr marL="385763" indent="-385763">
              <a:spcAft>
                <a:spcPts val="0"/>
              </a:spcAft>
              <a:buSzPct val="100000"/>
              <a:buFont typeface="+mj-lt"/>
              <a:buAutoNum type="arabicPeriod"/>
            </a:pPr>
            <a:r>
              <a:rPr lang="en-US" sz="2400" dirty="0">
                <a:solidFill>
                  <a:srgbClr val="595959"/>
                </a:solidFill>
              </a:rPr>
              <a:t>Inefficient / time consuming</a:t>
            </a:r>
          </a:p>
          <a:p>
            <a:pPr marL="385763" indent="-385763">
              <a:spcAft>
                <a:spcPts val="0"/>
              </a:spcAft>
              <a:buSzPct val="100000"/>
              <a:buFont typeface="+mj-lt"/>
              <a:buAutoNum type="arabicPeriod"/>
            </a:pPr>
            <a:r>
              <a:rPr lang="en-US" sz="2400" dirty="0">
                <a:solidFill>
                  <a:srgbClr val="595959"/>
                </a:solidFill>
              </a:rPr>
              <a:t>Risky – reliance on a third party</a:t>
            </a:r>
          </a:p>
          <a:p>
            <a:pPr marL="385763" indent="-385763">
              <a:spcAft>
                <a:spcPts val="0"/>
              </a:spcAft>
              <a:buSzPct val="100000"/>
              <a:buFont typeface="+mj-lt"/>
              <a:buAutoNum type="arabicPeriod"/>
            </a:pPr>
            <a:r>
              <a:rPr lang="en-US" sz="2400" dirty="0">
                <a:solidFill>
                  <a:srgbClr val="595959"/>
                </a:solidFill>
              </a:rPr>
              <a:t>Insufficient – can we get running balances?</a:t>
            </a:r>
          </a:p>
        </p:txBody>
      </p:sp>
    </p:spTree>
    <p:extLst>
      <p:ext uri="{BB962C8B-B14F-4D97-AF65-F5344CB8AC3E}">
        <p14:creationId xmlns:p14="http://schemas.microsoft.com/office/powerpoint/2010/main" val="30825711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DF653E0-14A5-47F0-8A07-24ED9E9D2F27}"/>
              </a:ext>
            </a:extLst>
          </p:cNvPr>
          <p:cNvSpPr txBox="1"/>
          <p:nvPr/>
        </p:nvSpPr>
        <p:spPr>
          <a:xfrm>
            <a:off x="685800" y="1154663"/>
            <a:ext cx="7977674" cy="2123658"/>
          </a:xfrm>
          <a:prstGeom prst="rect">
            <a:avLst/>
          </a:prstGeom>
          <a:noFill/>
        </p:spPr>
        <p:txBody>
          <a:bodyPr wrap="square">
            <a:spAutoFit/>
          </a:bodyPr>
          <a:lstStyle/>
          <a:p>
            <a:r>
              <a:rPr lang="en-US" sz="4400" b="1" dirty="0">
                <a:solidFill>
                  <a:srgbClr val="4B2E84"/>
                </a:solidFill>
                <a:latin typeface="Arial"/>
                <a:ea typeface="+mj-ea"/>
                <a:cs typeface="Arial" panose="020B0604020202020204" pitchFamily="34" charset="0"/>
              </a:rPr>
              <a:t>Auditing Digital Assets: Using an audit node on the blockchain</a:t>
            </a:r>
            <a:endParaRPr lang="en-US" dirty="0"/>
          </a:p>
        </p:txBody>
      </p:sp>
    </p:spTree>
    <p:extLst>
      <p:ext uri="{BB962C8B-B14F-4D97-AF65-F5344CB8AC3E}">
        <p14:creationId xmlns:p14="http://schemas.microsoft.com/office/powerpoint/2010/main" val="12900243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536D32-5D69-4607-9066-2F3824C14AC0}"/>
              </a:ext>
            </a:extLst>
          </p:cNvPr>
          <p:cNvPicPr>
            <a:picLocks noChangeAspect="1"/>
          </p:cNvPicPr>
          <p:nvPr/>
        </p:nvPicPr>
        <p:blipFill>
          <a:blip r:embed="rId3"/>
          <a:stretch>
            <a:fillRect/>
          </a:stretch>
        </p:blipFill>
        <p:spPr>
          <a:xfrm>
            <a:off x="121709" y="936609"/>
            <a:ext cx="4115189" cy="3820194"/>
          </a:xfrm>
          <a:prstGeom prst="rect">
            <a:avLst/>
          </a:prstGeom>
        </p:spPr>
      </p:pic>
      <p:sp>
        <p:nvSpPr>
          <p:cNvPr id="5" name="Title 1">
            <a:extLst>
              <a:ext uri="{FF2B5EF4-FFF2-40B4-BE49-F238E27FC236}">
                <a16:creationId xmlns:a16="http://schemas.microsoft.com/office/drawing/2014/main" id="{2194AF4E-8D47-4E77-B3A6-8197C8734A7B}"/>
              </a:ext>
            </a:extLst>
          </p:cNvPr>
          <p:cNvSpPr txBox="1">
            <a:spLocks/>
          </p:cNvSpPr>
          <p:nvPr/>
        </p:nvSpPr>
        <p:spPr>
          <a:xfrm>
            <a:off x="-739764" y="88146"/>
            <a:ext cx="10448212" cy="573985"/>
          </a:xfrm>
          <a:prstGeom prst="rect">
            <a:avLst/>
          </a:prstGeom>
          <a:solidFill>
            <a:srgbClr val="412985">
              <a:alpha val="75000"/>
            </a:srgbClr>
          </a:solidFill>
        </p:spPr>
        <p:txBody>
          <a:bodyPr vert="horz" lIns="0" tIns="0" rIns="0" bIns="0" rtlCol="0" anchor="ctr" anchorCtr="0">
            <a:noAutofit/>
          </a:bodyPr>
          <a:lstStyle>
            <a:lvl1pPr algn="l" defTabSz="914400" rtl="0" eaLnBrk="1" latinLnBrk="0" hangingPunct="1">
              <a:lnSpc>
                <a:spcPct val="85000"/>
              </a:lnSpc>
              <a:spcBef>
                <a:spcPct val="0"/>
              </a:spcBef>
              <a:buNone/>
              <a:defRPr sz="3000" b="1" kern="1200">
                <a:solidFill>
                  <a:schemeClr val="bg1"/>
                </a:solidFill>
                <a:latin typeface="+mn-lt"/>
                <a:ea typeface="+mj-ea"/>
                <a:cs typeface="Arial" pitchFamily="34" charset="0"/>
              </a:defRPr>
            </a:lvl1pPr>
          </a:lstStyle>
          <a:p>
            <a:pPr algn="ctr"/>
            <a:r>
              <a:rPr lang="en-CA" sz="1600" dirty="0">
                <a:latin typeface="+mj-lt"/>
              </a:rPr>
              <a:t>Rather than relying on a central entity to verify transactions, blockchains are </a:t>
            </a:r>
          </a:p>
          <a:p>
            <a:pPr algn="ctr"/>
            <a:r>
              <a:rPr lang="en-CA" sz="1600" dirty="0">
                <a:latin typeface="+mj-lt"/>
              </a:rPr>
              <a:t>managed and secured autonomously by a peer-to-peer network. </a:t>
            </a:r>
            <a:endParaRPr lang="en-CA" sz="1600" b="0" dirty="0">
              <a:latin typeface="+mj-lt"/>
            </a:endParaRPr>
          </a:p>
        </p:txBody>
      </p:sp>
      <p:sp>
        <p:nvSpPr>
          <p:cNvPr id="6" name="Oval 5">
            <a:extLst>
              <a:ext uri="{FF2B5EF4-FFF2-40B4-BE49-F238E27FC236}">
                <a16:creationId xmlns:a16="http://schemas.microsoft.com/office/drawing/2014/main" id="{BDEDBF96-AA99-4EBE-A633-397EBFBD9BE3}"/>
              </a:ext>
            </a:extLst>
          </p:cNvPr>
          <p:cNvSpPr/>
          <p:nvPr/>
        </p:nvSpPr>
        <p:spPr>
          <a:xfrm>
            <a:off x="2795081" y="2062265"/>
            <a:ext cx="278859" cy="278859"/>
          </a:xfrm>
          <a:prstGeom prst="ellipse">
            <a:avLst/>
          </a:prstGeom>
          <a:noFill/>
          <a:ln w="28575">
            <a:solidFill>
              <a:srgbClr val="4129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ln w="10160">
                  <a:solidFill>
                    <a:sysClr val="windowText" lastClr="000000"/>
                  </a:solidFill>
                  <a:prstDash val="solid"/>
                </a:ln>
                <a:solidFill>
                  <a:srgbClr val="FFFFFF"/>
                </a:solidFill>
                <a:effectLst>
                  <a:outerShdw blurRad="38100" dist="22860" dir="5400000" algn="tl" rotWithShape="0">
                    <a:srgbClr val="000000">
                      <a:alpha val="30000"/>
                    </a:srgbClr>
                  </a:outerShdw>
                </a:effectLst>
              </a:rPr>
              <a:t>F</a:t>
            </a:r>
          </a:p>
        </p:txBody>
      </p:sp>
      <p:sp>
        <p:nvSpPr>
          <p:cNvPr id="7" name="TextBox 6">
            <a:extLst>
              <a:ext uri="{FF2B5EF4-FFF2-40B4-BE49-F238E27FC236}">
                <a16:creationId xmlns:a16="http://schemas.microsoft.com/office/drawing/2014/main" id="{7A75B03C-B463-43B8-BEF9-A0CFE3F1628D}"/>
              </a:ext>
            </a:extLst>
          </p:cNvPr>
          <p:cNvSpPr txBox="1"/>
          <p:nvPr/>
        </p:nvSpPr>
        <p:spPr>
          <a:xfrm>
            <a:off x="3048900" y="2062264"/>
            <a:ext cx="1159292" cy="307777"/>
          </a:xfrm>
          <a:prstGeom prst="rect">
            <a:avLst/>
          </a:prstGeom>
          <a:noFill/>
        </p:spPr>
        <p:txBody>
          <a:bodyPr wrap="none" rtlCol="0">
            <a:spAutoFit/>
          </a:bodyPr>
          <a:lstStyle/>
          <a:p>
            <a:r>
              <a:rPr lang="en-US" sz="1400" dirty="0">
                <a:solidFill>
                  <a:srgbClr val="412985"/>
                </a:solidFill>
              </a:rPr>
              <a:t>“Audit node”</a:t>
            </a:r>
          </a:p>
        </p:txBody>
      </p:sp>
      <p:cxnSp>
        <p:nvCxnSpPr>
          <p:cNvPr id="8" name="Straight Arrow Connector 7">
            <a:extLst>
              <a:ext uri="{FF2B5EF4-FFF2-40B4-BE49-F238E27FC236}">
                <a16:creationId xmlns:a16="http://schemas.microsoft.com/office/drawing/2014/main" id="{6AD26E66-AEC0-42EF-9A3A-09EA87895363}"/>
              </a:ext>
            </a:extLst>
          </p:cNvPr>
          <p:cNvCxnSpPr>
            <a:cxnSpLocks/>
          </p:cNvCxnSpPr>
          <p:nvPr/>
        </p:nvCxnSpPr>
        <p:spPr>
          <a:xfrm>
            <a:off x="4182894" y="2198451"/>
            <a:ext cx="896814" cy="6288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34CFF539-2126-40D4-BA28-990E6D1292F1}"/>
              </a:ext>
            </a:extLst>
          </p:cNvPr>
          <p:cNvSpPr txBox="1"/>
          <p:nvPr/>
        </p:nvSpPr>
        <p:spPr>
          <a:xfrm>
            <a:off x="4490717" y="1877599"/>
            <a:ext cx="1120820" cy="369332"/>
          </a:xfrm>
          <a:prstGeom prst="rect">
            <a:avLst/>
          </a:prstGeom>
          <a:noFill/>
        </p:spPr>
        <p:txBody>
          <a:bodyPr wrap="none" rtlCol="0">
            <a:spAutoFit/>
          </a:bodyPr>
          <a:lstStyle/>
          <a:p>
            <a:r>
              <a:rPr lang="en-US" dirty="0"/>
              <a:t>Live feed</a:t>
            </a:r>
          </a:p>
        </p:txBody>
      </p:sp>
      <p:grpSp>
        <p:nvGrpSpPr>
          <p:cNvPr id="10" name="Group 9">
            <a:extLst>
              <a:ext uri="{FF2B5EF4-FFF2-40B4-BE49-F238E27FC236}">
                <a16:creationId xmlns:a16="http://schemas.microsoft.com/office/drawing/2014/main" id="{74D0743D-CE28-468D-A2C7-6A3ED964ED17}"/>
              </a:ext>
            </a:extLst>
          </p:cNvPr>
          <p:cNvGrpSpPr/>
          <p:nvPr/>
        </p:nvGrpSpPr>
        <p:grpSpPr>
          <a:xfrm>
            <a:off x="4603284" y="779344"/>
            <a:ext cx="797903" cy="978937"/>
            <a:chOff x="2369260" y="2069469"/>
            <a:chExt cx="1593236" cy="1954717"/>
          </a:xfrm>
        </p:grpSpPr>
        <p:pic>
          <p:nvPicPr>
            <p:cNvPr id="11" name="Picture 10">
              <a:extLst>
                <a:ext uri="{FF2B5EF4-FFF2-40B4-BE49-F238E27FC236}">
                  <a16:creationId xmlns:a16="http://schemas.microsoft.com/office/drawing/2014/main" id="{4838EA36-13D9-4969-9724-3438E5459ED9}"/>
                </a:ext>
              </a:extLst>
            </p:cNvPr>
            <p:cNvPicPr>
              <a:picLocks noChangeAspect="1"/>
            </p:cNvPicPr>
            <p:nvPr/>
          </p:nvPicPr>
          <p:blipFill rotWithShape="1">
            <a:blip r:embed="rId4" cstate="print">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l="10710" t="8207" r="10867" b="11254"/>
            <a:stretch/>
          </p:blipFill>
          <p:spPr>
            <a:xfrm>
              <a:off x="2463838" y="2069469"/>
              <a:ext cx="1498658" cy="1539100"/>
            </a:xfrm>
            <a:prstGeom prst="rect">
              <a:avLst/>
            </a:prstGeom>
          </p:spPr>
        </p:pic>
        <p:sp>
          <p:nvSpPr>
            <p:cNvPr id="12" name="TextBox 112">
              <a:extLst>
                <a:ext uri="{FF2B5EF4-FFF2-40B4-BE49-F238E27FC236}">
                  <a16:creationId xmlns:a16="http://schemas.microsoft.com/office/drawing/2014/main" id="{A3C16D71-98A2-4FC1-9E0A-713DA2ED4C7B}"/>
                </a:ext>
              </a:extLst>
            </p:cNvPr>
            <p:cNvSpPr txBox="1"/>
            <p:nvPr/>
          </p:nvSpPr>
          <p:spPr>
            <a:xfrm>
              <a:off x="2369260" y="3637013"/>
              <a:ext cx="1582701" cy="387173"/>
            </a:xfrm>
            <a:prstGeom prst="rect">
              <a:avLst/>
            </a:prstGeom>
            <a:noFill/>
          </p:spPr>
          <p:txBody>
            <a:bodyPr wrap="square" lIns="0" tIns="36576"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85000"/>
                </a:lnSpc>
                <a:spcAft>
                  <a:spcPts val="600"/>
                </a:spcAft>
                <a:buClr>
                  <a:schemeClr val="accent2"/>
                </a:buClr>
                <a:buSzPct val="70000"/>
              </a:pPr>
              <a:r>
                <a:rPr lang="en-US" sz="1200" dirty="0">
                  <a:latin typeface="Arial" panose="020B0604020202020204" pitchFamily="34" charset="0"/>
                  <a:cs typeface="Arial" panose="020B0604020202020204" pitchFamily="34" charset="0"/>
                </a:rPr>
                <a:t>Bitcoin </a:t>
              </a:r>
            </a:p>
          </p:txBody>
        </p:sp>
      </p:grpSp>
      <p:pic>
        <p:nvPicPr>
          <p:cNvPr id="13" name="Picture 12">
            <a:extLst>
              <a:ext uri="{FF2B5EF4-FFF2-40B4-BE49-F238E27FC236}">
                <a16:creationId xmlns:a16="http://schemas.microsoft.com/office/drawing/2014/main" id="{C991CD55-9B33-4CED-9E7E-C7DC2C63AE85}"/>
              </a:ext>
            </a:extLst>
          </p:cNvPr>
          <p:cNvPicPr>
            <a:picLocks noChangeAspect="1"/>
          </p:cNvPicPr>
          <p:nvPr/>
        </p:nvPicPr>
        <p:blipFill>
          <a:blip r:embed="rId6" cstate="screen">
            <a:duotone>
              <a:prstClr val="black"/>
              <a:srgbClr val="412985">
                <a:tint val="45000"/>
                <a:satMod val="400000"/>
              </a:srgbClr>
            </a:duotone>
            <a:extLst>
              <a:ext uri="{28A0092B-C50C-407E-A947-70E740481C1C}">
                <a14:useLocalDpi xmlns:a14="http://schemas.microsoft.com/office/drawing/2010/main"/>
              </a:ext>
            </a:extLst>
          </a:blip>
          <a:stretch>
            <a:fillRect/>
          </a:stretch>
        </p:blipFill>
        <p:spPr>
          <a:xfrm>
            <a:off x="5158491" y="2521410"/>
            <a:ext cx="565027" cy="734351"/>
          </a:xfrm>
          <a:prstGeom prst="rect">
            <a:avLst/>
          </a:prstGeom>
        </p:spPr>
      </p:pic>
      <p:sp>
        <p:nvSpPr>
          <p:cNvPr id="14" name="Rectangle 13">
            <a:extLst>
              <a:ext uri="{FF2B5EF4-FFF2-40B4-BE49-F238E27FC236}">
                <a16:creationId xmlns:a16="http://schemas.microsoft.com/office/drawing/2014/main" id="{0B782A64-13DF-4082-94AF-ABE89B7A9C28}"/>
              </a:ext>
            </a:extLst>
          </p:cNvPr>
          <p:cNvSpPr/>
          <p:nvPr/>
        </p:nvSpPr>
        <p:spPr>
          <a:xfrm>
            <a:off x="4977756" y="3315908"/>
            <a:ext cx="915636" cy="369332"/>
          </a:xfrm>
          <a:prstGeom prst="rect">
            <a:avLst/>
          </a:prstGeom>
        </p:spPr>
        <p:txBody>
          <a:bodyPr wrap="none">
            <a:spAutoFit/>
          </a:bodyPr>
          <a:lstStyle/>
          <a:p>
            <a:pPr algn="ctr"/>
            <a:r>
              <a:rPr lang="en-US" dirty="0">
                <a:latin typeface="Arial" panose="020B0604020202020204" pitchFamily="34" charset="0"/>
              </a:rPr>
              <a:t>Auditor</a:t>
            </a:r>
          </a:p>
        </p:txBody>
      </p:sp>
      <p:sp>
        <p:nvSpPr>
          <p:cNvPr id="15" name="Rectangle 14">
            <a:extLst>
              <a:ext uri="{FF2B5EF4-FFF2-40B4-BE49-F238E27FC236}">
                <a16:creationId xmlns:a16="http://schemas.microsoft.com/office/drawing/2014/main" id="{D68FC0A9-3A3B-4648-8798-770B48EEF34E}"/>
              </a:ext>
            </a:extLst>
          </p:cNvPr>
          <p:cNvSpPr/>
          <p:nvPr/>
        </p:nvSpPr>
        <p:spPr>
          <a:xfrm>
            <a:off x="6243998" y="1486869"/>
            <a:ext cx="2900003" cy="3039640"/>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a:solidFill>
                  <a:schemeClr val="tx1"/>
                </a:solidFill>
                <a:latin typeface="Arial" panose="020B0604020202020204" pitchFamily="34" charset="0"/>
              </a:rPr>
              <a:t>Client Data</a:t>
            </a:r>
          </a:p>
        </p:txBody>
      </p:sp>
      <p:pic>
        <p:nvPicPr>
          <p:cNvPr id="16" name="Picture 15">
            <a:extLst>
              <a:ext uri="{FF2B5EF4-FFF2-40B4-BE49-F238E27FC236}">
                <a16:creationId xmlns:a16="http://schemas.microsoft.com/office/drawing/2014/main" id="{BAC42D6D-A528-4377-9B51-DB547C9E5B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538075" y="1972280"/>
            <a:ext cx="565027" cy="734351"/>
          </a:xfrm>
          <a:prstGeom prst="rect">
            <a:avLst/>
          </a:prstGeom>
        </p:spPr>
      </p:pic>
      <p:sp>
        <p:nvSpPr>
          <p:cNvPr id="17" name="Freeform 34">
            <a:extLst>
              <a:ext uri="{FF2B5EF4-FFF2-40B4-BE49-F238E27FC236}">
                <a16:creationId xmlns:a16="http://schemas.microsoft.com/office/drawing/2014/main" id="{4C582183-7FBE-40AC-850E-7527ABDDE4F3}"/>
              </a:ext>
            </a:extLst>
          </p:cNvPr>
          <p:cNvSpPr>
            <a:spLocks noChangeAspect="1" noEditPoints="1"/>
          </p:cNvSpPr>
          <p:nvPr/>
        </p:nvSpPr>
        <p:spPr bwMode="auto">
          <a:xfrm>
            <a:off x="6479614" y="3275678"/>
            <a:ext cx="517286" cy="717867"/>
          </a:xfrm>
          <a:custGeom>
            <a:avLst/>
            <a:gdLst>
              <a:gd name="T0" fmla="*/ 2147483647 w 3426"/>
              <a:gd name="T1" fmla="*/ 2147483647 h 4763"/>
              <a:gd name="T2" fmla="*/ 2147483647 w 3426"/>
              <a:gd name="T3" fmla="*/ 2147483647 h 4763"/>
              <a:gd name="T4" fmla="*/ 2147483647 w 3426"/>
              <a:gd name="T5" fmla="*/ 2147483647 h 4763"/>
              <a:gd name="T6" fmla="*/ 2147483647 w 3426"/>
              <a:gd name="T7" fmla="*/ 2147483647 h 4763"/>
              <a:gd name="T8" fmla="*/ 2147483647 w 3426"/>
              <a:gd name="T9" fmla="*/ 2147483647 h 4763"/>
              <a:gd name="T10" fmla="*/ 2147483647 w 3426"/>
              <a:gd name="T11" fmla="*/ 2147483647 h 4763"/>
              <a:gd name="T12" fmla="*/ 2147483647 w 3426"/>
              <a:gd name="T13" fmla="*/ 2147483647 h 4763"/>
              <a:gd name="T14" fmla="*/ 2147483647 w 3426"/>
              <a:gd name="T15" fmla="*/ 2147483647 h 4763"/>
              <a:gd name="T16" fmla="*/ 2147483647 w 3426"/>
              <a:gd name="T17" fmla="*/ 2147483647 h 4763"/>
              <a:gd name="T18" fmla="*/ 2147483647 w 3426"/>
              <a:gd name="T19" fmla="*/ 2147483647 h 4763"/>
              <a:gd name="T20" fmla="*/ 2147483647 w 3426"/>
              <a:gd name="T21" fmla="*/ 2147483647 h 4763"/>
              <a:gd name="T22" fmla="*/ 2147483647 w 3426"/>
              <a:gd name="T23" fmla="*/ 2147483647 h 4763"/>
              <a:gd name="T24" fmla="*/ 2147483647 w 3426"/>
              <a:gd name="T25" fmla="*/ 2147483647 h 4763"/>
              <a:gd name="T26" fmla="*/ 2147483647 w 3426"/>
              <a:gd name="T27" fmla="*/ 2147483647 h 4763"/>
              <a:gd name="T28" fmla="*/ 2147483647 w 3426"/>
              <a:gd name="T29" fmla="*/ 2147483647 h 4763"/>
              <a:gd name="T30" fmla="*/ 0 w 3426"/>
              <a:gd name="T31" fmla="*/ 2147483647 h 4763"/>
              <a:gd name="T32" fmla="*/ 0 w 3426"/>
              <a:gd name="T33" fmla="*/ 0 h 4763"/>
              <a:gd name="T34" fmla="*/ 2147483647 w 3426"/>
              <a:gd name="T35" fmla="*/ 0 h 4763"/>
              <a:gd name="T36" fmla="*/ 2147483647 w 3426"/>
              <a:gd name="T37" fmla="*/ 2147483647 h 4763"/>
              <a:gd name="T38" fmla="*/ 2147483647 w 3426"/>
              <a:gd name="T39" fmla="*/ 2147483647 h 4763"/>
              <a:gd name="T40" fmla="*/ 2147483647 w 3426"/>
              <a:gd name="T41" fmla="*/ 2147483647 h 4763"/>
              <a:gd name="T42" fmla="*/ 2147483647 w 3426"/>
              <a:gd name="T43" fmla="*/ 2147483647 h 4763"/>
              <a:gd name="T44" fmla="*/ 2147483647 w 3426"/>
              <a:gd name="T45" fmla="*/ 2147483647 h 4763"/>
              <a:gd name="T46" fmla="*/ 2147483647 w 3426"/>
              <a:gd name="T47" fmla="*/ 2147483647 h 4763"/>
              <a:gd name="T48" fmla="*/ 2147483647 w 3426"/>
              <a:gd name="T49" fmla="*/ 2147483647 h 4763"/>
              <a:gd name="T50" fmla="*/ 2147483647 w 3426"/>
              <a:gd name="T51" fmla="*/ 2147483647 h 4763"/>
              <a:gd name="T52" fmla="*/ 2147483647 w 3426"/>
              <a:gd name="T53" fmla="*/ 2147483647 h 4763"/>
              <a:gd name="T54" fmla="*/ 2147483647 w 3426"/>
              <a:gd name="T55" fmla="*/ 2147483647 h 4763"/>
              <a:gd name="T56" fmla="*/ 2147483647 w 3426"/>
              <a:gd name="T57" fmla="*/ 2147483647 h 4763"/>
              <a:gd name="T58" fmla="*/ 2147483647 w 3426"/>
              <a:gd name="T59" fmla="*/ 2147483647 h 4763"/>
              <a:gd name="T60" fmla="*/ 2147483647 w 3426"/>
              <a:gd name="T61" fmla="*/ 2147483647 h 4763"/>
              <a:gd name="T62" fmla="*/ 2147483647 w 3426"/>
              <a:gd name="T63" fmla="*/ 2147483647 h 4763"/>
              <a:gd name="T64" fmla="*/ 2147483647 w 3426"/>
              <a:gd name="T65" fmla="*/ 2147483647 h 4763"/>
              <a:gd name="T66" fmla="*/ 2147483647 w 3426"/>
              <a:gd name="T67" fmla="*/ 2147483647 h 4763"/>
              <a:gd name="T68" fmla="*/ 2147483647 w 3426"/>
              <a:gd name="T69" fmla="*/ 2147483647 h 4763"/>
              <a:gd name="T70" fmla="*/ 2147483647 w 3426"/>
              <a:gd name="T71" fmla="*/ 2147483647 h 4763"/>
              <a:gd name="T72" fmla="*/ 2147483647 w 3426"/>
              <a:gd name="T73" fmla="*/ 2147483647 h 4763"/>
              <a:gd name="T74" fmla="*/ 2147483647 w 3426"/>
              <a:gd name="T75" fmla="*/ 2147483647 h 476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426"/>
              <a:gd name="T115" fmla="*/ 0 h 4763"/>
              <a:gd name="T116" fmla="*/ 3426 w 3426"/>
              <a:gd name="T117" fmla="*/ 4763 h 476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426" h="4763">
                <a:moveTo>
                  <a:pt x="608" y="3039"/>
                </a:moveTo>
                <a:lnTo>
                  <a:pt x="2820" y="3039"/>
                </a:lnTo>
                <a:lnTo>
                  <a:pt x="2820" y="3135"/>
                </a:lnTo>
                <a:lnTo>
                  <a:pt x="608" y="3135"/>
                </a:lnTo>
                <a:lnTo>
                  <a:pt x="608" y="3039"/>
                </a:lnTo>
                <a:close/>
                <a:moveTo>
                  <a:pt x="3160" y="901"/>
                </a:moveTo>
                <a:lnTo>
                  <a:pt x="2532" y="272"/>
                </a:lnTo>
                <a:lnTo>
                  <a:pt x="2532" y="901"/>
                </a:lnTo>
                <a:lnTo>
                  <a:pt x="3160" y="901"/>
                </a:lnTo>
                <a:close/>
                <a:moveTo>
                  <a:pt x="193" y="193"/>
                </a:moveTo>
                <a:lnTo>
                  <a:pt x="193" y="4570"/>
                </a:lnTo>
                <a:lnTo>
                  <a:pt x="3232" y="4570"/>
                </a:lnTo>
                <a:lnTo>
                  <a:pt x="3233" y="1288"/>
                </a:lnTo>
                <a:lnTo>
                  <a:pt x="3426" y="1288"/>
                </a:lnTo>
                <a:lnTo>
                  <a:pt x="3425" y="4763"/>
                </a:lnTo>
                <a:lnTo>
                  <a:pt x="0" y="4763"/>
                </a:lnTo>
                <a:lnTo>
                  <a:pt x="0" y="0"/>
                </a:lnTo>
                <a:lnTo>
                  <a:pt x="2533" y="0"/>
                </a:lnTo>
                <a:lnTo>
                  <a:pt x="3426" y="894"/>
                </a:lnTo>
                <a:lnTo>
                  <a:pt x="3426" y="1095"/>
                </a:lnTo>
                <a:lnTo>
                  <a:pt x="2339" y="1095"/>
                </a:lnTo>
                <a:lnTo>
                  <a:pt x="2339" y="193"/>
                </a:lnTo>
                <a:lnTo>
                  <a:pt x="193" y="193"/>
                </a:lnTo>
                <a:close/>
                <a:moveTo>
                  <a:pt x="608" y="3656"/>
                </a:moveTo>
                <a:lnTo>
                  <a:pt x="2336" y="3656"/>
                </a:lnTo>
                <a:lnTo>
                  <a:pt x="2336" y="3753"/>
                </a:lnTo>
                <a:lnTo>
                  <a:pt x="608" y="3753"/>
                </a:lnTo>
                <a:lnTo>
                  <a:pt x="608" y="3656"/>
                </a:lnTo>
                <a:close/>
                <a:moveTo>
                  <a:pt x="608" y="1806"/>
                </a:moveTo>
                <a:lnTo>
                  <a:pt x="2820" y="1806"/>
                </a:lnTo>
                <a:lnTo>
                  <a:pt x="2820" y="1903"/>
                </a:lnTo>
                <a:lnTo>
                  <a:pt x="608" y="1903"/>
                </a:lnTo>
                <a:lnTo>
                  <a:pt x="608" y="1806"/>
                </a:lnTo>
                <a:close/>
                <a:moveTo>
                  <a:pt x="608" y="2423"/>
                </a:moveTo>
                <a:lnTo>
                  <a:pt x="2820" y="2423"/>
                </a:lnTo>
                <a:lnTo>
                  <a:pt x="2820" y="2519"/>
                </a:lnTo>
                <a:lnTo>
                  <a:pt x="608" y="2519"/>
                </a:lnTo>
                <a:lnTo>
                  <a:pt x="608" y="2423"/>
                </a:lnTo>
                <a:close/>
              </a:path>
            </a:pathLst>
          </a:custGeom>
          <a:solidFill>
            <a:schemeClr val="tx1">
              <a:lumMod val="75000"/>
            </a:schemeClr>
          </a:solidFill>
          <a:ln w="9525">
            <a:no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de-DE"/>
          </a:p>
        </p:txBody>
      </p:sp>
      <p:pic>
        <p:nvPicPr>
          <p:cNvPr id="18" name="Picture 17">
            <a:extLst>
              <a:ext uri="{FF2B5EF4-FFF2-40B4-BE49-F238E27FC236}">
                <a16:creationId xmlns:a16="http://schemas.microsoft.com/office/drawing/2014/main" id="{32D598BE-9859-443D-A15E-12E3AE0D9204}"/>
              </a:ext>
            </a:extLst>
          </p:cNvPr>
          <p:cNvPicPr>
            <a:picLocks noChangeAspect="1"/>
          </p:cNvPicPr>
          <p:nvPr/>
        </p:nvPicPr>
        <p:blipFill>
          <a:blip r:embed="rId7"/>
          <a:stretch>
            <a:fillRect/>
          </a:stretch>
        </p:blipFill>
        <p:spPr>
          <a:xfrm>
            <a:off x="7330887" y="3020712"/>
            <a:ext cx="1722571" cy="1257565"/>
          </a:xfrm>
          <a:prstGeom prst="rect">
            <a:avLst/>
          </a:prstGeom>
        </p:spPr>
      </p:pic>
      <p:sp>
        <p:nvSpPr>
          <p:cNvPr id="19" name="Rectangle 18">
            <a:extLst>
              <a:ext uri="{FF2B5EF4-FFF2-40B4-BE49-F238E27FC236}">
                <a16:creationId xmlns:a16="http://schemas.microsoft.com/office/drawing/2014/main" id="{036C43B0-0682-4790-8AAE-24BDEAF0668E}"/>
              </a:ext>
            </a:extLst>
          </p:cNvPr>
          <p:cNvSpPr/>
          <p:nvPr/>
        </p:nvSpPr>
        <p:spPr>
          <a:xfrm>
            <a:off x="7430047" y="2048590"/>
            <a:ext cx="1527982" cy="600164"/>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t>Wallet data</a:t>
            </a:r>
          </a:p>
          <a:p>
            <a:r>
              <a:rPr lang="en-US" sz="1100" dirty="0"/>
              <a:t>Transaction data</a:t>
            </a:r>
          </a:p>
          <a:p>
            <a:r>
              <a:rPr lang="en-US" sz="1100" dirty="0"/>
              <a:t>Access verification data</a:t>
            </a:r>
            <a:endParaRPr lang="de-DE" sz="1100" dirty="0"/>
          </a:p>
        </p:txBody>
      </p:sp>
      <p:sp>
        <p:nvSpPr>
          <p:cNvPr id="20" name="Right Brace 19">
            <a:extLst>
              <a:ext uri="{FF2B5EF4-FFF2-40B4-BE49-F238E27FC236}">
                <a16:creationId xmlns:a16="http://schemas.microsoft.com/office/drawing/2014/main" id="{54607812-27F3-4E52-8E41-9F960BB888CC}"/>
              </a:ext>
            </a:extLst>
          </p:cNvPr>
          <p:cNvSpPr/>
          <p:nvPr/>
        </p:nvSpPr>
        <p:spPr>
          <a:xfrm flipH="1">
            <a:off x="5753370" y="1656721"/>
            <a:ext cx="428614" cy="246628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2" name="Rectangle 21">
            <a:extLst>
              <a:ext uri="{FF2B5EF4-FFF2-40B4-BE49-F238E27FC236}">
                <a16:creationId xmlns:a16="http://schemas.microsoft.com/office/drawing/2014/main" id="{B255E3BF-121D-4A72-A374-B8590F7EF5A0}"/>
              </a:ext>
            </a:extLst>
          </p:cNvPr>
          <p:cNvSpPr/>
          <p:nvPr/>
        </p:nvSpPr>
        <p:spPr>
          <a:xfrm>
            <a:off x="3957997" y="4604936"/>
            <a:ext cx="4572000" cy="369332"/>
          </a:xfrm>
          <a:prstGeom prst="rect">
            <a:avLst/>
          </a:prstGeom>
        </p:spPr>
        <p:txBody>
          <a:bodyPr>
            <a:spAutoFit/>
          </a:bodyPr>
          <a:lstStyle/>
          <a:p>
            <a:pPr marL="285743" indent="-285743">
              <a:buFont typeface="Arial" panose="020B0604020202020204" pitchFamily="34" charset="0"/>
              <a:buChar char="•"/>
            </a:pPr>
            <a:r>
              <a:rPr lang="en-US" dirty="0"/>
              <a:t>Reconcile live data with client records.</a:t>
            </a:r>
          </a:p>
        </p:txBody>
      </p:sp>
    </p:spTree>
    <p:extLst>
      <p:ext uri="{BB962C8B-B14F-4D97-AF65-F5344CB8AC3E}">
        <p14:creationId xmlns:p14="http://schemas.microsoft.com/office/powerpoint/2010/main" val="2391764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194AF4E-8D47-4E77-B3A6-8197C8734A7B}"/>
              </a:ext>
            </a:extLst>
          </p:cNvPr>
          <p:cNvSpPr txBox="1">
            <a:spLocks/>
          </p:cNvSpPr>
          <p:nvPr/>
        </p:nvSpPr>
        <p:spPr>
          <a:xfrm>
            <a:off x="-739764" y="88146"/>
            <a:ext cx="10448212" cy="573985"/>
          </a:xfrm>
          <a:prstGeom prst="rect">
            <a:avLst/>
          </a:prstGeom>
          <a:solidFill>
            <a:srgbClr val="412985">
              <a:alpha val="75000"/>
            </a:srgbClr>
          </a:solidFill>
        </p:spPr>
        <p:txBody>
          <a:bodyPr vert="horz" lIns="0" tIns="0" rIns="0" bIns="0" rtlCol="0" anchor="ctr" anchorCtr="0">
            <a:noAutofit/>
          </a:bodyPr>
          <a:lstStyle>
            <a:lvl1pPr algn="l" defTabSz="914400" rtl="0" eaLnBrk="1" latinLnBrk="0" hangingPunct="1">
              <a:lnSpc>
                <a:spcPct val="85000"/>
              </a:lnSpc>
              <a:spcBef>
                <a:spcPct val="0"/>
              </a:spcBef>
              <a:buNone/>
              <a:defRPr sz="3000" b="1" kern="1200">
                <a:solidFill>
                  <a:schemeClr val="bg1"/>
                </a:solidFill>
                <a:latin typeface="+mn-lt"/>
                <a:ea typeface="+mj-ea"/>
                <a:cs typeface="Arial" pitchFamily="34" charset="0"/>
              </a:defRPr>
            </a:lvl1pPr>
          </a:lstStyle>
          <a:p>
            <a:pPr algn="ctr"/>
            <a:r>
              <a:rPr lang="en-CA" sz="1600" dirty="0">
                <a:latin typeface="+mj-lt"/>
              </a:rPr>
              <a:t>Rather than relying on a central entity to verify transactions, blockchains are </a:t>
            </a:r>
          </a:p>
          <a:p>
            <a:pPr algn="ctr"/>
            <a:r>
              <a:rPr lang="en-CA" sz="1600" dirty="0">
                <a:latin typeface="+mj-lt"/>
              </a:rPr>
              <a:t>managed and secured autonomously by a peer-to-peer network. </a:t>
            </a:r>
            <a:endParaRPr lang="en-CA" sz="1600" b="0" dirty="0">
              <a:latin typeface="+mj-lt"/>
            </a:endParaRPr>
          </a:p>
        </p:txBody>
      </p:sp>
      <p:pic>
        <p:nvPicPr>
          <p:cNvPr id="2" name="Picture 1">
            <a:extLst>
              <a:ext uri="{FF2B5EF4-FFF2-40B4-BE49-F238E27FC236}">
                <a16:creationId xmlns:a16="http://schemas.microsoft.com/office/drawing/2014/main" id="{0BD4AAC3-AF70-433D-9434-CA53CA93E5A4}"/>
              </a:ext>
            </a:extLst>
          </p:cNvPr>
          <p:cNvPicPr>
            <a:picLocks noChangeAspect="1"/>
          </p:cNvPicPr>
          <p:nvPr/>
        </p:nvPicPr>
        <p:blipFill>
          <a:blip r:embed="rId3"/>
          <a:stretch>
            <a:fillRect/>
          </a:stretch>
        </p:blipFill>
        <p:spPr>
          <a:xfrm>
            <a:off x="1490730" y="662131"/>
            <a:ext cx="5843927" cy="2773991"/>
          </a:xfrm>
          <a:prstGeom prst="rect">
            <a:avLst/>
          </a:prstGeom>
        </p:spPr>
      </p:pic>
      <p:pic>
        <p:nvPicPr>
          <p:cNvPr id="21" name="Picture 20" descr="A screenshot of a computer&#10;&#10;Description automatically generated">
            <a:extLst>
              <a:ext uri="{FF2B5EF4-FFF2-40B4-BE49-F238E27FC236}">
                <a16:creationId xmlns:a16="http://schemas.microsoft.com/office/drawing/2014/main" id="{5C15664A-9CE9-4E68-AF3B-8D296AA17A3C}"/>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3534384" y="3347546"/>
            <a:ext cx="3560323" cy="1795955"/>
          </a:xfrm>
          <a:prstGeom prst="rect">
            <a:avLst/>
          </a:prstGeom>
        </p:spPr>
      </p:pic>
    </p:spTree>
    <p:extLst>
      <p:ext uri="{BB962C8B-B14F-4D97-AF65-F5344CB8AC3E}">
        <p14:creationId xmlns:p14="http://schemas.microsoft.com/office/powerpoint/2010/main" val="16331243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8E59E-D035-442F-B808-80D34A409A26}"/>
              </a:ext>
            </a:extLst>
          </p:cNvPr>
          <p:cNvSpPr>
            <a:spLocks noGrp="1"/>
          </p:cNvSpPr>
          <p:nvPr>
            <p:ph type="title"/>
          </p:nvPr>
        </p:nvSpPr>
        <p:spPr>
          <a:xfrm>
            <a:off x="486696" y="2021614"/>
            <a:ext cx="8170606" cy="769441"/>
          </a:xfrm>
        </p:spPr>
        <p:txBody>
          <a:bodyPr/>
          <a:lstStyle/>
          <a:p>
            <a:endParaRPr lang="en-US"/>
          </a:p>
        </p:txBody>
      </p:sp>
      <p:pic>
        <p:nvPicPr>
          <p:cNvPr id="4" name="Picture 3">
            <a:extLst>
              <a:ext uri="{FF2B5EF4-FFF2-40B4-BE49-F238E27FC236}">
                <a16:creationId xmlns:a16="http://schemas.microsoft.com/office/drawing/2014/main" id="{D34F8A0F-A392-468B-83F5-F4CB4C1F3C57}"/>
              </a:ext>
            </a:extLst>
          </p:cNvPr>
          <p:cNvPicPr>
            <a:picLocks noChangeAspect="1"/>
          </p:cNvPicPr>
          <p:nvPr/>
        </p:nvPicPr>
        <p:blipFill>
          <a:blip r:embed="rId3"/>
          <a:stretch>
            <a:fillRect/>
          </a:stretch>
        </p:blipFill>
        <p:spPr>
          <a:xfrm>
            <a:off x="0" y="-477202"/>
            <a:ext cx="9144000" cy="6097904"/>
          </a:xfrm>
          <a:prstGeom prst="rect">
            <a:avLst/>
          </a:prstGeom>
        </p:spPr>
      </p:pic>
      <p:sp>
        <p:nvSpPr>
          <p:cNvPr id="5" name="TextBox 4">
            <a:extLst>
              <a:ext uri="{FF2B5EF4-FFF2-40B4-BE49-F238E27FC236}">
                <a16:creationId xmlns:a16="http://schemas.microsoft.com/office/drawing/2014/main" id="{BCC65860-206F-486C-94A8-1A3581784A71}"/>
              </a:ext>
            </a:extLst>
          </p:cNvPr>
          <p:cNvSpPr txBox="1"/>
          <p:nvPr/>
        </p:nvSpPr>
        <p:spPr>
          <a:xfrm>
            <a:off x="2997529" y="1152145"/>
            <a:ext cx="3195105" cy="769441"/>
          </a:xfrm>
          <a:prstGeom prst="rect">
            <a:avLst/>
          </a:prstGeom>
          <a:noFill/>
        </p:spPr>
        <p:txBody>
          <a:bodyPr wrap="none" rtlCol="0">
            <a:spAutoFit/>
          </a:bodyPr>
          <a:lstStyle/>
          <a:p>
            <a:pPr defTabSz="457178"/>
            <a:r>
              <a:rPr lang="en-US" sz="4400" b="1" dirty="0">
                <a:solidFill>
                  <a:prstClr val="white"/>
                </a:solidFill>
                <a:latin typeface="Arial"/>
                <a:cs typeface="Arial" panose="020B0604020202020204" pitchFamily="34" charset="0"/>
              </a:rPr>
              <a:t>Thank you!</a:t>
            </a:r>
            <a:endParaRPr lang="en-US" dirty="0">
              <a:solidFill>
                <a:prstClr val="white"/>
              </a:solidFill>
              <a:latin typeface="Calibri"/>
            </a:endParaRPr>
          </a:p>
        </p:txBody>
      </p:sp>
    </p:spTree>
    <p:extLst>
      <p:ext uri="{BB962C8B-B14F-4D97-AF65-F5344CB8AC3E}">
        <p14:creationId xmlns:p14="http://schemas.microsoft.com/office/powerpoint/2010/main" val="408289969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iubtMLxoTBulTyE4ynvfRA"/>
</p:tagLst>
</file>

<file path=ppt/theme/theme1.xml><?xml version="1.0" encoding="utf-8"?>
<a:theme xmlns:a="http://schemas.openxmlformats.org/drawingml/2006/main" name="W Foster MBA Career Mgmt">
  <a:themeElements>
    <a:clrScheme name="Foster">
      <a:dk1>
        <a:sysClr val="windowText" lastClr="000000"/>
      </a:dk1>
      <a:lt1>
        <a:sysClr val="window" lastClr="FFFFFF"/>
      </a:lt1>
      <a:dk2>
        <a:srgbClr val="4B2E84"/>
      </a:dk2>
      <a:lt2>
        <a:srgbClr val="B9A077"/>
      </a:lt2>
      <a:accent1>
        <a:srgbClr val="86754D"/>
      </a:accent1>
      <a:accent2>
        <a:srgbClr val="0988C1"/>
      </a:accent2>
      <a:accent3>
        <a:srgbClr val="3CB2A7"/>
      </a:accent3>
      <a:accent4>
        <a:srgbClr val="41AD49"/>
      </a:accent4>
      <a:accent5>
        <a:srgbClr val="DC4327"/>
      </a:accent5>
      <a:accent6>
        <a:srgbClr val="D2B887"/>
      </a:accent6>
      <a:hlink>
        <a:srgbClr val="4B2E84"/>
      </a:hlink>
      <a:folHlink>
        <a:srgbClr val="4B2E84"/>
      </a:folHlink>
    </a:clrScheme>
    <a:fontScheme name="Foster">
      <a:majorFont>
        <a:latin typeface="Arial"/>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a:latin typeface="+mn-lt"/>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3F69E203AC04243ACA450E86C6C3027" ma:contentTypeVersion="3" ma:contentTypeDescription="Create a new document." ma:contentTypeScope="" ma:versionID="2d5dfb402cda9ec94ad9e4211ac1946e">
  <xsd:schema xmlns:xsd="http://www.w3.org/2001/XMLSchema" xmlns:xs="http://www.w3.org/2001/XMLSchema" xmlns:p="http://schemas.microsoft.com/office/2006/metadata/properties" xmlns:ns2="92d151aa-5444-48df-9732-7562e1b8a114" targetNamespace="http://schemas.microsoft.com/office/2006/metadata/properties" ma:root="true" ma:fieldsID="713c23bda8087a008cc1c00c9d76869d" ns2:_="">
    <xsd:import namespace="92d151aa-5444-48df-9732-7562e1b8a114"/>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d151aa-5444-48df-9732-7562e1b8a114"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2C1C38-D2BC-41E8-BFF7-3546CADD0637}">
  <ds:schemaRefs>
    <ds:schemaRef ds:uri="http://schemas.microsoft.com/sharepoint/v3/contenttype/forms"/>
  </ds:schemaRefs>
</ds:datastoreItem>
</file>

<file path=customXml/itemProps2.xml><?xml version="1.0" encoding="utf-8"?>
<ds:datastoreItem xmlns:ds="http://schemas.openxmlformats.org/officeDocument/2006/customXml" ds:itemID="{52AA8D24-9DB6-4446-BFF5-A34A571DCD63}">
  <ds:schemaRefs>
    <ds:schemaRef ds:uri="http://schemas.microsoft.com/office/2006/documentManagement/types"/>
    <ds:schemaRef ds:uri="http://purl.org/dc/terms/"/>
    <ds:schemaRef ds:uri="92d151aa-5444-48df-9732-7562e1b8a114"/>
    <ds:schemaRef ds:uri="http://purl.org/dc/elements/1.1/"/>
    <ds:schemaRef ds:uri="http://purl.org/dc/dcmitype/"/>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C7141BF-5E11-47F9-9296-0695D3DC964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2d151aa-5444-48df-9732-7562e1b8a11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otalTime>13031</TotalTime>
  <Words>1150</Words>
  <Application>Microsoft Office PowerPoint</Application>
  <PresentationFormat>On-screen Show (16:9)</PresentationFormat>
  <Paragraphs>196</Paragraphs>
  <Slides>22</Slides>
  <Notes>22</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22</vt:i4>
      </vt:variant>
    </vt:vector>
  </HeadingPairs>
  <TitlesOfParts>
    <vt:vector size="27" baseType="lpstr">
      <vt:lpstr>Arial</vt:lpstr>
      <vt:lpstr>Arial Black</vt:lpstr>
      <vt:lpstr>Calibri</vt:lpstr>
      <vt:lpstr>W Foster MBA Career Mgmt</vt:lpstr>
      <vt:lpstr>think-cell Folie</vt:lpstr>
      <vt:lpstr>Blockchain Audits</vt:lpstr>
      <vt:lpstr>Agenda</vt:lpstr>
      <vt:lpstr>Review/Admin</vt:lpstr>
      <vt:lpstr>Agenda</vt:lpstr>
      <vt:lpstr>Auditing Blockchain:  Brief Overview </vt:lpstr>
      <vt:lpstr>PowerPoint Presentation</vt:lpstr>
      <vt:lpstr>“Trust” is misleading in the world of blockchain</vt:lpstr>
      <vt:lpstr>Agenda</vt:lpstr>
      <vt:lpstr>Deliverable</vt:lpstr>
      <vt:lpstr>Deliverable</vt:lpstr>
      <vt:lpstr>Agenda</vt:lpstr>
      <vt:lpstr>Lab*    *(no need for remote today)</vt:lpstr>
      <vt:lpstr>PowerPoint Presentation</vt:lpstr>
      <vt:lpstr>Audit using a third-party</vt:lpstr>
      <vt:lpstr>Audit using a third-party</vt:lpstr>
      <vt:lpstr>Audit using a third-party</vt:lpstr>
      <vt:lpstr>Anatomy of a bitcoin transaction</vt:lpstr>
      <vt:lpstr>Audit using a third-party</vt:lpstr>
      <vt:lpstr>PowerPoint Presentation</vt:lpstr>
      <vt:lpstr>PowerPoint Presentation</vt:lpstr>
      <vt:lpstr>PowerPoint Presentation</vt:lpstr>
      <vt:lpstr>PowerPoint Presentation</vt:lpstr>
    </vt:vector>
  </TitlesOfParts>
  <Company>A.K.A. Design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Ann Kumasaka</dc:creator>
  <cp:lastModifiedBy>Asher Curtis</cp:lastModifiedBy>
  <cp:revision>407</cp:revision>
  <cp:lastPrinted>2025-11-25T18:08:00Z</cp:lastPrinted>
  <dcterms:created xsi:type="dcterms:W3CDTF">2011-09-06T04:32:21Z</dcterms:created>
  <dcterms:modified xsi:type="dcterms:W3CDTF">2025-11-25T18:34:11Z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0x01010023F69E203AC04243ACA450E86C6C3027</vt:lpwstr>
  </property>
  <property fmtid="{D5CDD505-2E9C-101B-9397-08002B2CF9AE}" pid="3" name="ImageCreateDate">
    <vt:lpwstr/>
  </property>
  <property fmtid="{D5CDD505-2E9C-101B-9397-08002B2CF9AE}" pid="4" name="Foster Site Scope">
    <vt:lpwstr>Intranet</vt:lpwstr>
  </property>
  <property fmtid="{D5CDD505-2E9C-101B-9397-08002B2CF9AE}" pid="5" name="Foster Permission Form">
    <vt:lpwstr/>
  </property>
  <property fmtid="{D5CDD505-2E9C-101B-9397-08002B2CF9AE}" pid="6" name="This needs to be set to identify the intended use of this image.  Examples would be &quot;Homepage&quot; or &quot;Program Cent">
    <vt:lpwstr/>
  </property>
  <property fmtid="{D5CDD505-2E9C-101B-9397-08002B2CF9AE}" pid="7" name="Page Location">
    <vt:lpwstr>Brand</vt:lpwstr>
  </property>
  <property fmtid="{D5CDD505-2E9C-101B-9397-08002B2CF9AE}" pid="8" name="Caption">
    <vt:lpwstr/>
  </property>
  <property fmtid="{D5CDD505-2E9C-101B-9397-08002B2CF9AE}" pid="9" name="Source Image">
    <vt:lpwstr/>
  </property>
  <property fmtid="{D5CDD505-2E9C-101B-9397-08002B2CF9AE}" pid="10" name="Comments">
    <vt:lpwstr/>
  </property>
</Properties>
</file>