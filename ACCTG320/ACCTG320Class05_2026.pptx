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300" r:id="rId3"/>
    <p:sldId id="1147" r:id="rId4"/>
    <p:sldId id="1145" r:id="rId5"/>
    <p:sldId id="1149" r:id="rId6"/>
    <p:sldId id="1150" r:id="rId7"/>
    <p:sldId id="1148" r:id="rId8"/>
    <p:sldId id="1146" r:id="rId9"/>
    <p:sldId id="1130" r:id="rId10"/>
    <p:sldId id="372" r:id="rId11"/>
    <p:sldId id="873" r:id="rId12"/>
    <p:sldId id="1139" r:id="rId13"/>
    <p:sldId id="1138" r:id="rId14"/>
    <p:sldId id="1140" r:id="rId15"/>
    <p:sldId id="1141" r:id="rId16"/>
    <p:sldId id="1143" r:id="rId17"/>
    <p:sldId id="1144" r:id="rId18"/>
    <p:sldId id="1136" r:id="rId19"/>
    <p:sldId id="1135" r:id="rId20"/>
    <p:sldId id="1142" r:id="rId21"/>
    <p:sldId id="258" r:id="rId22"/>
    <p:sldId id="259" r:id="rId23"/>
    <p:sldId id="260" r:id="rId24"/>
    <p:sldId id="261" r:id="rId25"/>
    <p:sldId id="26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A4EA4C-9854-4083-860F-BA86D847A779}" v="10" dt="2026-10-12T01:56:42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58" autoAdjust="0"/>
  </p:normalViewPr>
  <p:slideViewPr>
    <p:cSldViewPr snapToGrid="0">
      <p:cViewPr varScale="1">
        <p:scale>
          <a:sx n="135" d="100"/>
          <a:sy n="135" d="100"/>
        </p:scale>
        <p:origin x="34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er Curtis" userId="35c297388724ba9a" providerId="LiveId" clId="{A4FC0AD2-B0F2-4A57-BDAF-7F9B57B5A19A}"/>
    <pc:docChg chg="addSld delSld modSld">
      <pc:chgData name="Asher Curtis" userId="35c297388724ba9a" providerId="LiveId" clId="{A4FC0AD2-B0F2-4A57-BDAF-7F9B57B5A19A}" dt="2026-10-12T01:57:05.837" v="258" actId="114"/>
      <pc:docMkLst>
        <pc:docMk/>
      </pc:docMkLst>
      <pc:sldChg chg="modSp mod">
        <pc:chgData name="Asher Curtis" userId="35c297388724ba9a" providerId="LiveId" clId="{A4FC0AD2-B0F2-4A57-BDAF-7F9B57B5A19A}" dt="2026-10-12T01:36:00.970" v="5" actId="20577"/>
        <pc:sldMkLst>
          <pc:docMk/>
          <pc:sldMk cId="4294885419" sldId="256"/>
        </pc:sldMkLst>
        <pc:spChg chg="mod">
          <ac:chgData name="Asher Curtis" userId="35c297388724ba9a" providerId="LiveId" clId="{A4FC0AD2-B0F2-4A57-BDAF-7F9B57B5A19A}" dt="2026-10-12T01:35:12.264" v="0" actId="20577"/>
          <ac:spMkLst>
            <pc:docMk/>
            <pc:sldMk cId="4294885419" sldId="256"/>
            <ac:spMk id="3" creationId="{25E99166-AAF5-498F-B46D-82D42CECC71B}"/>
          </ac:spMkLst>
        </pc:spChg>
        <pc:spChg chg="mod">
          <ac:chgData name="Asher Curtis" userId="35c297388724ba9a" providerId="LiveId" clId="{A4FC0AD2-B0F2-4A57-BDAF-7F9B57B5A19A}" dt="2026-10-12T01:36:00.970" v="5" actId="20577"/>
          <ac:spMkLst>
            <pc:docMk/>
            <pc:sldMk cId="4294885419" sldId="256"/>
            <ac:spMk id="4" creationId="{42171E04-8C84-4649-B7E3-F266075EC7BB}"/>
          </ac:spMkLst>
        </pc:spChg>
      </pc:sldChg>
      <pc:sldChg chg="add">
        <pc:chgData name="Asher Curtis" userId="35c297388724ba9a" providerId="LiveId" clId="{A4FC0AD2-B0F2-4A57-BDAF-7F9B57B5A19A}" dt="2026-10-12T01:46:01.987" v="217"/>
        <pc:sldMkLst>
          <pc:docMk/>
          <pc:sldMk cId="0" sldId="257"/>
        </pc:sldMkLst>
      </pc:sldChg>
      <pc:sldChg chg="add">
        <pc:chgData name="Asher Curtis" userId="35c297388724ba9a" providerId="LiveId" clId="{A4FC0AD2-B0F2-4A57-BDAF-7F9B57B5A19A}" dt="2026-10-12T01:46:01.987" v="217"/>
        <pc:sldMkLst>
          <pc:docMk/>
          <pc:sldMk cId="1029077847" sldId="258"/>
        </pc:sldMkLst>
      </pc:sldChg>
      <pc:sldChg chg="add">
        <pc:chgData name="Asher Curtis" userId="35c297388724ba9a" providerId="LiveId" clId="{A4FC0AD2-B0F2-4A57-BDAF-7F9B57B5A19A}" dt="2026-10-12T01:46:01.987" v="217"/>
        <pc:sldMkLst>
          <pc:docMk/>
          <pc:sldMk cId="4225116663" sldId="259"/>
        </pc:sldMkLst>
      </pc:sldChg>
      <pc:sldChg chg="add">
        <pc:chgData name="Asher Curtis" userId="35c297388724ba9a" providerId="LiveId" clId="{A4FC0AD2-B0F2-4A57-BDAF-7F9B57B5A19A}" dt="2026-10-12T01:46:01.987" v="217"/>
        <pc:sldMkLst>
          <pc:docMk/>
          <pc:sldMk cId="111107689" sldId="260"/>
        </pc:sldMkLst>
      </pc:sldChg>
      <pc:sldChg chg="add">
        <pc:chgData name="Asher Curtis" userId="35c297388724ba9a" providerId="LiveId" clId="{A4FC0AD2-B0F2-4A57-BDAF-7F9B57B5A19A}" dt="2026-10-12T01:46:01.987" v="217"/>
        <pc:sldMkLst>
          <pc:docMk/>
          <pc:sldMk cId="1046520948" sldId="261"/>
        </pc:sldMkLst>
      </pc:sldChg>
      <pc:sldChg chg="add">
        <pc:chgData name="Asher Curtis" userId="35c297388724ba9a" providerId="LiveId" clId="{A4FC0AD2-B0F2-4A57-BDAF-7F9B57B5A19A}" dt="2026-10-12T01:46:01.987" v="217"/>
        <pc:sldMkLst>
          <pc:docMk/>
          <pc:sldMk cId="3966451134" sldId="262"/>
        </pc:sldMkLst>
      </pc:sldChg>
      <pc:sldChg chg="modSp del mod">
        <pc:chgData name="Asher Curtis" userId="35c297388724ba9a" providerId="LiveId" clId="{A4FC0AD2-B0F2-4A57-BDAF-7F9B57B5A19A}" dt="2026-10-12T01:54:50.077" v="230" actId="47"/>
        <pc:sldMkLst>
          <pc:docMk/>
          <pc:sldMk cId="2931208946" sldId="278"/>
        </pc:sldMkLst>
        <pc:spChg chg="mod">
          <ac:chgData name="Asher Curtis" userId="35c297388724ba9a" providerId="LiveId" clId="{A4FC0AD2-B0F2-4A57-BDAF-7F9B57B5A19A}" dt="2026-10-12T01:41:37.918" v="121" actId="20577"/>
          <ac:spMkLst>
            <pc:docMk/>
            <pc:sldMk cId="2931208946" sldId="278"/>
            <ac:spMk id="2" creationId="{11EC96EB-8371-4B7E-A0C3-573FD660BBA7}"/>
          </ac:spMkLst>
        </pc:spChg>
        <pc:spChg chg="mod">
          <ac:chgData name="Asher Curtis" userId="35c297388724ba9a" providerId="LiveId" clId="{A4FC0AD2-B0F2-4A57-BDAF-7F9B57B5A19A}" dt="2026-10-12T01:46:39.187" v="228" actId="20577"/>
          <ac:spMkLst>
            <pc:docMk/>
            <pc:sldMk cId="2931208946" sldId="278"/>
            <ac:spMk id="5" creationId="{084B59F3-FA70-48A1-8B0F-551483EAAA2F}"/>
          </ac:spMkLst>
        </pc:spChg>
      </pc:sldChg>
      <pc:sldChg chg="modSp mod">
        <pc:chgData name="Asher Curtis" userId="35c297388724ba9a" providerId="LiveId" clId="{A4FC0AD2-B0F2-4A57-BDAF-7F9B57B5A19A}" dt="2026-10-12T01:43:19.213" v="216" actId="20577"/>
        <pc:sldMkLst>
          <pc:docMk/>
          <pc:sldMk cId="4272180523" sldId="300"/>
        </pc:sldMkLst>
        <pc:spChg chg="mod">
          <ac:chgData name="Asher Curtis" userId="35c297388724ba9a" providerId="LiveId" clId="{A4FC0AD2-B0F2-4A57-BDAF-7F9B57B5A19A}" dt="2026-10-12T01:43:19.213" v="216" actId="20577"/>
          <ac:spMkLst>
            <pc:docMk/>
            <pc:sldMk cId="4272180523" sldId="300"/>
            <ac:spMk id="2" creationId="{4BF555D3-14D1-2CA6-3E9F-FDB21F020B98}"/>
          </ac:spMkLst>
        </pc:spChg>
      </pc:sldChg>
      <pc:sldChg chg="modSp add mod">
        <pc:chgData name="Asher Curtis" userId="35c297388724ba9a" providerId="LiveId" clId="{A4FC0AD2-B0F2-4A57-BDAF-7F9B57B5A19A}" dt="2026-10-12T01:39:26.868" v="16" actId="6549"/>
        <pc:sldMkLst>
          <pc:docMk/>
          <pc:sldMk cId="3118862969" sldId="372"/>
        </pc:sldMkLst>
        <pc:spChg chg="mod">
          <ac:chgData name="Asher Curtis" userId="35c297388724ba9a" providerId="LiveId" clId="{A4FC0AD2-B0F2-4A57-BDAF-7F9B57B5A19A}" dt="2026-10-12T01:39:26.868" v="16" actId="6549"/>
          <ac:spMkLst>
            <pc:docMk/>
            <pc:sldMk cId="3118862969" sldId="372"/>
            <ac:spMk id="2" creationId="{3343B51B-0A83-EDC8-5496-64D3A58ABEEB}"/>
          </ac:spMkLst>
        </pc:spChg>
        <pc:spChg chg="mod">
          <ac:chgData name="Asher Curtis" userId="35c297388724ba9a" providerId="LiveId" clId="{A4FC0AD2-B0F2-4A57-BDAF-7F9B57B5A19A}" dt="2026-10-12T01:39:16.937" v="12" actId="20577"/>
          <ac:spMkLst>
            <pc:docMk/>
            <pc:sldMk cId="3118862969" sldId="372"/>
            <ac:spMk id="3" creationId="{8DD6B6A5-AB1F-874C-8C41-DE2C18593307}"/>
          </ac:spMkLst>
        </pc:spChg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3152376829" sldId="859"/>
        </pc:sldMkLst>
      </pc:sldChg>
      <pc:sldChg chg="del">
        <pc:chgData name="Asher Curtis" userId="35c297388724ba9a" providerId="LiveId" clId="{A4FC0AD2-B0F2-4A57-BDAF-7F9B57B5A19A}" dt="2026-10-12T01:42:09.152" v="123" actId="2696"/>
        <pc:sldMkLst>
          <pc:docMk/>
          <pc:sldMk cId="382477658" sldId="873"/>
        </pc:sldMkLst>
      </pc:sldChg>
      <pc:sldChg chg="add">
        <pc:chgData name="Asher Curtis" userId="35c297388724ba9a" providerId="LiveId" clId="{A4FC0AD2-B0F2-4A57-BDAF-7F9B57B5A19A}" dt="2026-10-12T01:42:17.454" v="124"/>
        <pc:sldMkLst>
          <pc:docMk/>
          <pc:sldMk cId="1421765229" sldId="873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3899184772" sldId="879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4023297246" sldId="880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1423827205" sldId="896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4030162361" sldId="899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2100177272" sldId="901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1484407016" sldId="902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1211127109" sldId="903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474629357" sldId="904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591258291" sldId="905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3773431859" sldId="906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2605712550" sldId="907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33983555" sldId="908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1655476984" sldId="909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1880885414" sldId="910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3256926708" sldId="911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164587029" sldId="912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3944041808" sldId="913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2992222390" sldId="914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3372416937" sldId="915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960739962" sldId="916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3590854050" sldId="917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3528514397" sldId="918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2424377462" sldId="920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459261355" sldId="922"/>
        </pc:sldMkLst>
      </pc:sldChg>
      <pc:sldChg chg="add">
        <pc:chgData name="Asher Curtis" userId="35c297388724ba9a" providerId="LiveId" clId="{A4FC0AD2-B0F2-4A57-BDAF-7F9B57B5A19A}" dt="2026-10-12T01:46:01.987" v="217"/>
        <pc:sldMkLst>
          <pc:docMk/>
          <pc:sldMk cId="0" sldId="1131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3673789896" sldId="1131"/>
        </pc:sldMkLst>
      </pc:sldChg>
      <pc:sldChg chg="add">
        <pc:chgData name="Asher Curtis" userId="35c297388724ba9a" providerId="LiveId" clId="{A4FC0AD2-B0F2-4A57-BDAF-7F9B57B5A19A}" dt="2026-10-12T01:46:08.697" v="218" actId="2890"/>
        <pc:sldMkLst>
          <pc:docMk/>
          <pc:sldMk cId="838195131" sldId="1132"/>
        </pc:sldMkLst>
      </pc:sldChg>
      <pc:sldChg chg="add">
        <pc:chgData name="Asher Curtis" userId="35c297388724ba9a" providerId="LiveId" clId="{A4FC0AD2-B0F2-4A57-BDAF-7F9B57B5A19A}" dt="2026-10-12T01:46:11.305" v="219" actId="2890"/>
        <pc:sldMkLst>
          <pc:docMk/>
          <pc:sldMk cId="711480873" sldId="1133"/>
        </pc:sldMkLst>
      </pc:sldChg>
      <pc:sldChg chg="add">
        <pc:chgData name="Asher Curtis" userId="35c297388724ba9a" providerId="LiveId" clId="{A4FC0AD2-B0F2-4A57-BDAF-7F9B57B5A19A}" dt="2026-10-12T01:46:14.183" v="220" actId="2890"/>
        <pc:sldMkLst>
          <pc:docMk/>
          <pc:sldMk cId="4233644121" sldId="1134"/>
        </pc:sldMkLst>
      </pc:sldChg>
      <pc:sldChg chg="add">
        <pc:chgData name="Asher Curtis" userId="35c297388724ba9a" providerId="LiveId" clId="{A4FC0AD2-B0F2-4A57-BDAF-7F9B57B5A19A}" dt="2026-10-12T01:46:31.505" v="221" actId="2890"/>
        <pc:sldMkLst>
          <pc:docMk/>
          <pc:sldMk cId="208062374" sldId="1135"/>
        </pc:sldMkLst>
      </pc:sldChg>
      <pc:sldChg chg="modSp add mod">
        <pc:chgData name="Asher Curtis" userId="35c297388724ba9a" providerId="LiveId" clId="{A4FC0AD2-B0F2-4A57-BDAF-7F9B57B5A19A}" dt="2026-10-12T01:57:05.837" v="258" actId="114"/>
        <pc:sldMkLst>
          <pc:docMk/>
          <pc:sldMk cId="3194383255" sldId="1136"/>
        </pc:sldMkLst>
        <pc:spChg chg="mod">
          <ac:chgData name="Asher Curtis" userId="35c297388724ba9a" providerId="LiveId" clId="{A4FC0AD2-B0F2-4A57-BDAF-7F9B57B5A19A}" dt="2026-10-12T01:57:05.837" v="258" actId="114"/>
          <ac:spMkLst>
            <pc:docMk/>
            <pc:sldMk cId="3194383255" sldId="1136"/>
            <ac:spMk id="2" creationId="{3343B51B-0A83-EDC8-5496-64D3A58ABEEB}"/>
          </ac:spMkLst>
        </pc:spChg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3664892757" sldId="1136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711708439" sldId="1158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1666654029" sldId="1159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1421970449" sldId="1160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1187461027" sldId="1161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2987137018" sldId="1162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603970790" sldId="1163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2738480129" sldId="1164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3601593719" sldId="1165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1982114712" sldId="1166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2697538180" sldId="1167"/>
        </pc:sldMkLst>
      </pc:sldChg>
      <pc:sldChg chg="del">
        <pc:chgData name="Asher Curtis" userId="35c297388724ba9a" providerId="LiveId" clId="{A4FC0AD2-B0F2-4A57-BDAF-7F9B57B5A19A}" dt="2026-10-12T01:41:54.850" v="122" actId="47"/>
        <pc:sldMkLst>
          <pc:docMk/>
          <pc:sldMk cId="541659567" sldId="1169"/>
        </pc:sldMkLst>
      </pc:sldChg>
      <pc:sldChg chg="del">
        <pc:chgData name="Asher Curtis" userId="35c297388724ba9a" providerId="LiveId" clId="{A4FC0AD2-B0F2-4A57-BDAF-7F9B57B5A19A}" dt="2026-10-12T01:42:29.206" v="125" actId="47"/>
        <pc:sldMkLst>
          <pc:docMk/>
          <pc:sldMk cId="1132239068" sldId="1170"/>
        </pc:sldMkLst>
      </pc:sldChg>
      <pc:sldMasterChg chg="delSldLayout">
        <pc:chgData name="Asher Curtis" userId="35c297388724ba9a" providerId="LiveId" clId="{A4FC0AD2-B0F2-4A57-BDAF-7F9B57B5A19A}" dt="2026-10-12T01:41:54.850" v="122" actId="47"/>
        <pc:sldMasterMkLst>
          <pc:docMk/>
          <pc:sldMasterMk cId="0" sldId="2147483648"/>
        </pc:sldMasterMkLst>
        <pc:sldLayoutChg chg="del">
          <pc:chgData name="Asher Curtis" userId="35c297388724ba9a" providerId="LiveId" clId="{A4FC0AD2-B0F2-4A57-BDAF-7F9B57B5A19A}" dt="2026-10-12T01:41:54.850" v="122" actId="47"/>
          <pc:sldLayoutMkLst>
            <pc:docMk/>
            <pc:sldMasterMk cId="0" sldId="2147483648"/>
            <pc:sldLayoutMk cId="1910893404" sldId="2147483730"/>
          </pc:sldLayoutMkLst>
        </pc:sldLayoutChg>
      </pc:sldMasterChg>
    </pc:docChg>
  </pc:docChgLst>
  <pc:docChgLst>
    <pc:chgData name="Asher Curtis" userId="494c4f5b-6d11-415a-9d9e-829c1135aa91" providerId="ADAL" clId="{FDEDEEF3-7275-4161-A24C-7071BE30F9A7}"/>
    <pc:docChg chg="addSld modSld sldOrd">
      <pc:chgData name="Asher Curtis" userId="494c4f5b-6d11-415a-9d9e-829c1135aa91" providerId="ADAL" clId="{FDEDEEF3-7275-4161-A24C-7071BE30F9A7}" dt="2026-10-05T17:08:03.245" v="4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4417D-1188-4C37-8002-C7B0954B38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9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638B2-D708-84E6-5042-DA2A22B40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A2C0C1-95E6-8B39-BDA5-CD64A1521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7A18C-EA97-A32C-730A-7DCEDE2D0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C44A3-7480-3F24-88AD-8313BCB57D0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629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alkin slide">
    <p:bg>
      <p:bgPr>
        <a:blipFill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Walkin slid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EDC79F-91AA-B3FB-6403-6121F91C5FC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-7969" y="163926"/>
            <a:ext cx="12192000" cy="53226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1" y="2895781"/>
            <a:ext cx="4609352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840783-3AB7-4D7E-82CD-FC31657F7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8FA88-52D3-47C2-90DE-627C0B136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t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7DFD003-31A4-8340-0A89-F3F70E0F5A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672DC9-106D-3DF9-16B9-F24BCF5E50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0223BA2-E77E-B0A1-9266-0D49F8CF83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38BED7-E369-0B67-7D56-7D3F31FC3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3D3F72-2015-4C6B-A20F-F5C3095135D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7315200" cy="2252796"/>
          </a:xfrm>
        </p:spPr>
        <p:txBody>
          <a:bodyPr/>
          <a:lstStyle>
            <a:lvl1pPr>
              <a:buNone/>
              <a:defRPr sz="1867" b="0" i="0"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 i="0"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 i="0"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 i="0"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 i="0"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6316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2E75EFE-336F-8122-928E-E0E85EA4E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316276" cy="584775"/>
          </a:xfrm>
        </p:spPr>
        <p:txBody>
          <a:bodyPr/>
          <a:lstStyle/>
          <a:p>
            <a:r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C6CCC-8AA2-B4C9-2718-27DD013B166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437968" y="0"/>
            <a:ext cx="47540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6592901" cy="2252796"/>
          </a:xfrm>
        </p:spPr>
        <p:txBody>
          <a:bodyPr/>
          <a:lstStyle>
            <a:lvl1pPr>
              <a:buNone/>
              <a:defRPr sz="1867" b="1">
                <a:solidFill>
                  <a:schemeClr val="tx1"/>
                </a:solidFill>
              </a:defRPr>
            </a:lvl1pPr>
            <a:lvl2pPr>
              <a:buNone/>
              <a:defRPr sz="1867">
                <a:solidFill>
                  <a:schemeClr val="tx1"/>
                </a:solidFill>
              </a:defRPr>
            </a:lvl2pPr>
            <a:lvl3pPr>
              <a:buNone/>
              <a:defRPr sz="1867">
                <a:solidFill>
                  <a:schemeClr val="tx1"/>
                </a:solidFill>
              </a:defRPr>
            </a:lvl3pPr>
            <a:lvl4pPr>
              <a:buNone/>
              <a:defRPr sz="1867">
                <a:solidFill>
                  <a:schemeClr val="tx1"/>
                </a:solidFill>
              </a:defRPr>
            </a:lvl4pPr>
            <a:lvl5pPr>
              <a:buNone/>
              <a:defRPr sz="1867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DEE5A-694C-C4D4-2519-94E57145AE4D}"/>
              </a:ext>
            </a:extLst>
          </p:cNvPr>
          <p:cNvSpPr>
            <a:spLocks noGrp="1"/>
          </p:cNvSpPr>
          <p:nvPr/>
        </p:nvSpPr>
        <p:spPr>
          <a:xfrm>
            <a:off x="8342490" y="0"/>
            <a:ext cx="3849511" cy="6858000"/>
          </a:xfrm>
          <a:prstGeom prst="rect">
            <a:avLst/>
          </a:prstGeom>
          <a:blipFill rotWithShape="1">
            <a:blip r:embed="rId2"/>
            <a:srcRect/>
            <a:stretch>
              <a:fillRect l="-102790" r="-64464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514D8-5214-F82C-BCBF-B5E202DCD6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576575" cy="584775"/>
          </a:xfrm>
        </p:spPr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5776-2479-4379-A703-2C22D497D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6A19D-20D7-4BE0-91CF-70BE1A5183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928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9F63A1E-80AC-873A-7B08-C7265BB5967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928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324E9C-60EB-28A4-B685-42B2774AEFA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8928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8CB4E0-D660-D5F2-909F-028F7EFFCD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70794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D09874F-B2CF-BD5A-EE3E-7444C4E16C8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70794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C492763-7F70-C5FA-0820-3577947AC99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928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DAFFA5-C05C-EA69-DBA3-676A18E8CEF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263396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EE20B9-CD1F-8C9B-BEA0-B9D319CCC2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63396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9EC0-41F0-4247-9C45-69A7F8DF6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E53213-570B-4A18-BD1C-150302F61DE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312126" y="1744133"/>
            <a:ext cx="5300133" cy="53348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06E4740-29FB-D70A-8FD0-D37379CFCD0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270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327B15-003C-B57F-47CD-422B70143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C5F2F5B-6F0D-D207-EBEE-C1FD4E77DD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8974" y="5822909"/>
            <a:ext cx="1220513" cy="64633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buNone/>
              <a:defRPr sz="1200"/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B892A-4F81-3DE8-DAB9-C9ACD1E4B2D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370667" y="0"/>
            <a:ext cx="98213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590903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167087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A43680B-0C4E-035C-8289-47EE40A3E9E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86595" y="1966666"/>
            <a:ext cx="9414933" cy="1990288"/>
          </a:xfrm>
        </p:spPr>
        <p:txBody>
          <a:bodyPr/>
          <a:lstStyle>
            <a:lvl1pPr marL="0" marR="0" indent="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None/>
              <a:defRPr sz="2400">
                <a:solidFill>
                  <a:schemeClr val="tx1"/>
                </a:solidFill>
              </a:defRPr>
            </a:lvl1pPr>
          </a:lstStyle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lvl="0">
              <a:buNone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B5C0D-562C-B668-B0FD-B003E2FB7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_t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A17-DAF9-681D-B819-7BDD9530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075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44413B94-6844-4A70-89C7-90215F30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r>
              <a:t>CLICK TO EDIT HEADER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49ED6-60C4-4512-8605-1E9E2FBF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927" y="1529769"/>
            <a:ext cx="10894141" cy="2375522"/>
          </a:xfrm>
          <a:prstGeom prst="rect">
            <a:avLst/>
          </a:prstGeom>
        </p:spPr>
        <p:txBody>
          <a:bodyPr vert="horz" wrap="square" lIns="137160" tIns="45720" rIns="91440" bIns="45720">
            <a:spAutoFit/>
          </a:bodyPr>
          <a:lstStyle/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CE893-6A75-F770-3EBA-345A9472F0A7}"/>
              </a:ext>
            </a:extLst>
          </p:cNvPr>
          <p:cNvSpPr>
            <a:spLocks noGrp="1"/>
          </p:cNvSpPr>
          <p:nvPr/>
        </p:nvSpPr>
        <p:spPr>
          <a:xfrm>
            <a:off x="381193" y="6409578"/>
            <a:ext cx="427498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3" b="0" i="0" spc="27">
                <a:solidFill>
                  <a:schemeClr val="tx1">
                    <a:lumMod val="65000"/>
                    <a:lumOff val="35000"/>
                  </a:schemeClr>
                </a:solidFill>
                <a:latin typeface="Uni Sans Book"/>
                <a:ea typeface="Uni Sans Book"/>
                <a:cs typeface="Uni Sans Book"/>
              </a:rPr>
              <a:t> FOSTER SCHOOL OF BUSINESS, UNIVERSITY OF WASHINGTON</a:t>
            </a:r>
            <a:endParaRPr sz="2133" b="0" spc="27" baseline="0">
              <a:solidFill>
                <a:schemeClr val="tx1">
                  <a:lumMod val="65000"/>
                  <a:lumOff val="35000"/>
                </a:schemeClr>
              </a:solidFill>
              <a:latin typeface="Uni Sans Book"/>
              <a:ea typeface="Uni Sans Book"/>
              <a:cs typeface="Uni Sans Boo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5DED1-6392-63AA-0761-1325CD3A98B5}"/>
              </a:ext>
            </a:extLst>
          </p:cNvPr>
          <p:cNvSpPr>
            <a:spLocks noGrp="1"/>
          </p:cNvSpPr>
          <p:nvPr/>
        </p:nvSpPr>
        <p:spPr>
          <a:xfrm>
            <a:off x="8243235" y="6409577"/>
            <a:ext cx="342734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933" b="0" i="0">
                <a:solidFill>
                  <a:schemeClr val="tx1">
                    <a:lumMod val="65000"/>
                    <a:lumOff val="35000"/>
                  </a:schemeClr>
                </a:solidFill>
                <a:latin typeface="Encode Sans Normal Medium"/>
                <a:ea typeface="Encode Sans Normal Medium"/>
                <a:cs typeface="Encode Sans Normal Medium"/>
              </a:rPr>
              <a:t>foster.uw.edu</a:t>
            </a:r>
            <a:endParaRPr sz="2133" b="0" i="0">
              <a:solidFill>
                <a:schemeClr val="tx1">
                  <a:lumMod val="65000"/>
                  <a:lumOff val="35000"/>
                </a:schemeClr>
              </a:solidFill>
              <a:latin typeface="Encode Sans Normal Medium"/>
              <a:ea typeface="Encode Sans Normal Medium"/>
              <a:cs typeface="Encode Sans Normal Medium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19E5F83-CC4C-4422-956B-0374695BFA28}"/>
              </a:ext>
            </a:extLst>
          </p:cNvPr>
          <p:cNvSpPr>
            <a:spLocks noGrp="1"/>
          </p:cNvSpPr>
          <p:nvPr/>
        </p:nvSpPr>
        <p:spPr>
          <a:xfrm>
            <a:off x="522515" y="6316617"/>
            <a:ext cx="11043559" cy="0"/>
          </a:xfrm>
          <a:prstGeom prst="line">
            <a:avLst/>
          </a:prstGeom>
          <a:ln>
            <a:solidFill>
              <a:srgbClr val="C09F29">
                <a:alpha val="34419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729" r:id="rId19"/>
  </p:sldLayoutIdLst>
  <p:txStyles>
    <p:titleStyle>
      <a:lvl1pPr algn="l" defTabSz="609585">
        <a:spcBef>
          <a:spcPct val="0"/>
        </a:spcBef>
        <a:spcAft>
          <a:spcPct val="0"/>
        </a:spcAft>
        <a:buNone/>
        <a:defRPr sz="3200" b="1" i="0" kern="1200">
          <a:solidFill>
            <a:srgbClr val="32006E"/>
          </a:solidFill>
          <a:latin typeface="Encode Sans Normal ExtraBold"/>
          <a:ea typeface="Encode Sans Normal ExtraBold"/>
          <a:cs typeface="Encode Sans Normal ExtraBold"/>
        </a:defRPr>
      </a:lvl1pPr>
      <a:lvl2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2pPr>
      <a:lvl3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3pPr>
      <a:lvl4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4pPr>
      <a:lvl5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5pPr>
      <a:lvl6pPr marL="609585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6pPr>
      <a:lvl7pPr marL="1219170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7pPr>
      <a:lvl8pPr marL="1828754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8pPr>
      <a:lvl9pPr marL="2438339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marL="0" indent="0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None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1pPr>
      <a:lvl2pPr marL="687900" indent="-23282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2pPr>
      <a:lvl3pPr marL="914377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3pPr>
      <a:lvl4pPr marL="1140855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4pPr>
      <a:lvl5pPr marL="1375799" indent="-234945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5pPr>
      <a:lvl6pPr marL="335271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marL="3962301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marL="457188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marL="5181470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585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17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75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33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792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50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093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678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171E04-8C84-4649-B7E3-F266075EC7BB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5727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3600" b="1" dirty="0">
                <a:solidFill>
                  <a:srgbClr val="FFFFFF"/>
                </a:solidFill>
                <a:latin typeface="Segoe UI"/>
              </a:rPr>
              <a:t>ETL: Cleaning and Transforming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64F9C-E20B-4CE2-B941-28E4B429B518}"/>
              </a:ext>
            </a:extLst>
          </p:cNvPr>
          <p:cNvSpPr>
            <a:spLocks noGrp="1"/>
          </p:cNvSpPr>
          <p:nvPr/>
        </p:nvSpPr>
        <p:spPr>
          <a:xfrm>
            <a:off x="609600" y="3679307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ACCTG 320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Accounting Systems and Analytics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E99166-AAF5-498F-B46D-82D42CECC71B}"/>
              </a:ext>
            </a:extLst>
          </p:cNvPr>
          <p:cNvSpPr>
            <a:spLocks noGrp="1"/>
          </p:cNvSpPr>
          <p:nvPr/>
        </p:nvSpPr>
        <p:spPr>
          <a:xfrm>
            <a:off x="609600" y="4757183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</a:rPr>
              <a:t>Class 05 | Autumn | 2026</a:t>
            </a:r>
            <a:endParaRPr sz="2400" b="1" dirty="0">
              <a:solidFill>
                <a:srgbClr val="B7A579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94885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F555D3-14D1-2CA6-3E9F-FDB21F020B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25279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dirty="0"/>
              <a:t>Data exercises:</a:t>
            </a:r>
          </a:p>
          <a:p>
            <a:pPr marL="1145100" lvl="1" indent="-457200">
              <a:buAutoNum type="arabicPeriod"/>
            </a:pPr>
            <a:r>
              <a:rPr lang="en-US" dirty="0"/>
              <a:t>Transforming messy text data (Case 3)</a:t>
            </a:r>
          </a:p>
          <a:p>
            <a:pPr marL="1145100" lvl="1" indent="-457200">
              <a:buAutoNum type="arabicPeriod"/>
            </a:pPr>
            <a:r>
              <a:rPr lang="en-US" dirty="0"/>
              <a:t>Bringing all the steps together (new Case 4 data)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57129C-F48B-B91A-202B-99600A6C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7218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91374-42B9-7709-86C9-825BB4381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C83751-1D92-6592-F4CB-BC77BB1B7E6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4653710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Key takeaway: </a:t>
            </a:r>
            <a:r>
              <a:rPr lang="en-US" b="1" dirty="0"/>
              <a:t>Transforming raw data into consistent, usable information is essential to producing reliable analytical evidence.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Different data problems require different transformations. Predictable formats can be transformed using consistent rules, while messy or inconsistent data require more flexible approaches and validation.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Tools like Power BI help us prepare data for analysis. Power Query allows us to extract, clean, and transform data through </a:t>
            </a:r>
            <a:r>
              <a:rPr lang="en-US" b="1" i="1" dirty="0"/>
              <a:t>repeatable steps</a:t>
            </a:r>
            <a:r>
              <a:rPr lang="en-US" dirty="0"/>
              <a:t>, making it easier to identify patterns and support business decisions.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2793B3-782F-9F9B-C22A-25588292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163588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16CCD-89C7-1CA0-AD26-B595C136A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7ECE47-2B44-5D4B-2174-AFB9F6F8677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25279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Data exercises: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Transforming messy text data (Case 3)</a:t>
            </a:r>
          </a:p>
          <a:p>
            <a:pPr marL="1145100" lvl="1" indent="-457200">
              <a:buAutoNum type="arabicPeriod"/>
            </a:pPr>
            <a:r>
              <a:rPr lang="en-US" dirty="0"/>
              <a:t>Bringing all the steps together (new Case 4 data)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B3884E-C958-1A55-6D3F-D5A1AEFAD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465247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BD955F-3E56-F9F6-E956-A633E463DB1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921278"/>
          </a:xfrm>
        </p:spPr>
        <p:txBody>
          <a:bodyPr/>
          <a:lstStyle/>
          <a:p>
            <a:r>
              <a:rPr lang="en-US" dirty="0"/>
              <a:t>A version of Case 2 ETL steps but with messy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Clean up the fields to separate text </a:t>
            </a:r>
            <a:r>
              <a:rPr lang="en-US"/>
              <a:t>and numerical data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9ACB3E-8F1A-932A-F2EB-42B35646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3</a:t>
            </a:r>
          </a:p>
        </p:txBody>
      </p:sp>
    </p:spTree>
    <p:extLst>
      <p:ext uri="{BB962C8B-B14F-4D97-AF65-F5344CB8AC3E}">
        <p14:creationId xmlns:p14="http://schemas.microsoft.com/office/powerpoint/2010/main" val="983300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B93500-7DA1-8466-1125-C4FC58B2093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583479" cy="3140475"/>
          </a:xfrm>
        </p:spPr>
        <p:txBody>
          <a:bodyPr/>
          <a:lstStyle/>
          <a:p>
            <a:r>
              <a:rPr lang="en-US" dirty="0"/>
              <a:t>All the steps from case 2 and 3 together in a single exercise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Question to answer: How many exceptions are there in the payroll data?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r>
              <a:rPr lang="en-US" dirty="0"/>
              <a:t>Answer 18.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find the answer: 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EmployeeCode</a:t>
            </a:r>
            <a:r>
              <a:rPr lang="en-US" dirty="0"/>
              <a:t> has the </a:t>
            </a:r>
            <a:r>
              <a:rPr lang="en-US" dirty="0" err="1"/>
              <a:t>pay_frequency</a:t>
            </a:r>
            <a:r>
              <a:rPr lang="en-US" dirty="0"/>
              <a:t> field it is messy like in Case 3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r>
              <a:rPr lang="en-US" dirty="0"/>
              <a:t>Plant data has the expected pay </a:t>
            </a:r>
            <a:r>
              <a:rPr lang="en-US" dirty="0" err="1"/>
              <a:t>frenquency</a:t>
            </a:r>
            <a:r>
              <a:rPr lang="en-US" dirty="0"/>
              <a:t> (Weekly or Monthly)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r>
              <a:rPr lang="en-US" dirty="0"/>
              <a:t>Find the cases where they do not match.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FD8DD5-26F1-0B41-CBC9-F95AAF91D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4</a:t>
            </a:r>
          </a:p>
        </p:txBody>
      </p:sp>
    </p:spTree>
    <p:extLst>
      <p:ext uri="{BB962C8B-B14F-4D97-AF65-F5344CB8AC3E}">
        <p14:creationId xmlns:p14="http://schemas.microsoft.com/office/powerpoint/2010/main" val="3996341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592B6-B60C-B44A-43CB-E6C766223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5FC747-AB9B-E250-34F4-903A9655B44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25279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Data exercises: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Transforming messy text data (Case 3)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Bringing all the steps together (new Case 4 data)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469C20-B665-6E3B-4ABB-E8DB8955C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261193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A0BE7-2587-1401-F081-C138A52DB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2CD327-58ED-70DB-F84C-2A0181655EF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25279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Data exercises: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Transforming messy text data (Case 3)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Bringing all the steps together (new Case 4 data)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5BB9DE-A4D4-1B3B-80C8-051E4B30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187027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2AFCD-F3E6-C34F-F83B-3DD755D6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B20D57-3A17-FEB1-8C5D-C69528CD61BE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8451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43B51B-0A83-EDC8-5496-64D3A58ABEE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3516732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Our key takeaway: </a:t>
            </a:r>
            <a:r>
              <a:rPr lang="en-US" b="1" dirty="0"/>
              <a:t>Understanding how data are connected is essential to producing reliable analytical evidence.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Tools like Power BI make relational data useful. Relationships, transformations, and visualizations allow us to explore data without always combining everything into one table.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D6B6A5-AB1F-874C-8C41-DE2C1859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118862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isual Representation of SQL Joins - CodeProject">
            <a:extLst>
              <a:ext uri="{FF2B5EF4-FFF2-40B4-BE49-F238E27FC236}">
                <a16:creationId xmlns:a16="http://schemas.microsoft.com/office/drawing/2014/main" id="{B74B300C-C7BE-4D73-810B-F66341D5B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25" y="0"/>
            <a:ext cx="87169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765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95978-DA2F-91B3-E043-F86B30BE5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BCF015-E6F3-EA99-B533-419D3991972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The importance of transforms</a:t>
            </a:r>
          </a:p>
          <a:p>
            <a:pPr marL="457200" indent="-457200">
              <a:buAutoNum type="arabicPeriod"/>
            </a:pPr>
            <a:r>
              <a:rPr lang="en-US" dirty="0"/>
              <a:t>Data exercises:</a:t>
            </a:r>
          </a:p>
          <a:p>
            <a:pPr marL="1145100" lvl="1" indent="-457200">
              <a:buAutoNum type="arabicPeriod"/>
            </a:pPr>
            <a:r>
              <a:rPr lang="en-US" dirty="0"/>
              <a:t>Transforming structured text data </a:t>
            </a:r>
          </a:p>
          <a:p>
            <a:pPr marL="1145100" lvl="1" indent="-457200">
              <a:buAutoNum type="arabicPeriod"/>
            </a:pPr>
            <a:r>
              <a:rPr lang="en-US" dirty="0"/>
              <a:t>Optional extension: Transforming messy text data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F4C78D-B937-9886-2C9E-335B50F97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21431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94B5A-31A3-F68C-51ED-8BC0C91F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0BCA0F-1EF2-B454-F782-E4E4BDF5DDB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2929392"/>
          </a:xfrm>
        </p:spPr>
        <p:txBody>
          <a:bodyPr/>
          <a:lstStyle/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dirty="0"/>
              <a:t>Raw data are rarely organized in the form needed to answer a business question.</a:t>
            </a:r>
          </a:p>
          <a:p>
            <a:pPr marL="342900" indent="-342900">
              <a:spcAft>
                <a:spcPts val="2000"/>
              </a:spcAft>
              <a:buFont typeface="Arial" panose="020B0604020202020204" pitchFamily="34" charset="0"/>
              <a:buChar char="•"/>
              <a:defRPr sz="2100"/>
            </a:pPr>
            <a:r>
              <a:rPr lang="en-US" dirty="0"/>
              <a:t>Transformation converts stored values into meaningful, consistent, analyzable fields.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F63C9C-EEF8-9578-C3D4-77101A20F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077218"/>
          </a:xfrm>
        </p:spPr>
        <p:txBody>
          <a:bodyPr/>
          <a:lstStyle/>
          <a:p>
            <a:r>
              <a:rPr lang="en-US" dirty="0"/>
              <a:t>Why do we transform data?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118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71750-200E-8900-123D-A7BD13A5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900EF4-7A14-7BBA-72E0-C21A3CB4C5D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400250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Extract: separate meaningful components from a combined field e.g., USA5612-12M.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Standardize: make equivalent values consistent (e.g., M and Mo for monthly pay).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Construct: combine attributes to create a useful Location–</a:t>
            </a:r>
            <a:r>
              <a:rPr lang="en-US" dirty="0" err="1"/>
              <a:t>PlantID</a:t>
            </a:r>
            <a:r>
              <a:rPr lang="en-US" dirty="0"/>
              <a:t> key (e.g., USA-12).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Validate: preserve source records, inspect errors, and test whether the transformation works for all formats.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Summarize: Counts of variables of interest (e.g., employees at each location)</a:t>
            </a:r>
          </a:p>
          <a:p>
            <a:endParaRPr lang="en-US" dirty="0"/>
          </a:p>
          <a:p>
            <a:r>
              <a:rPr lang="en-US" dirty="0"/>
              <a:t>Key point: every transformation depends on the source data we have and the data we want to use.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A04945-8043-0C6B-268C-1FBF40DB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077218"/>
          </a:xfrm>
        </p:spPr>
        <p:txBody>
          <a:bodyPr/>
          <a:lstStyle/>
          <a:p>
            <a:r>
              <a:rPr lang="en-US" dirty="0"/>
              <a:t>Transform data examples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739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B9AE-28E6-3D7D-9795-3FFAA58A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2A4ED4-3F79-3806-4EA6-13DD7D24A49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The importance of transforms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Data exercises: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Transforming structured text data </a:t>
            </a:r>
          </a:p>
          <a:p>
            <a:pPr marL="1145100" lvl="1" indent="-457200">
              <a:buAutoNum type="arabicPeriod"/>
            </a:pPr>
            <a:r>
              <a:rPr lang="en-US" dirty="0"/>
              <a:t>Optional extension: Transforming messy text data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F12D7B-6714-2B3A-3F0B-886027763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803877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ADEEBA-3319-5349-FFF9-4B612F9EC2B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96403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Update your datasets.io folder with git pull in the command prompt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Open </a:t>
            </a:r>
            <a:r>
              <a:rPr lang="en-US" dirty="0" err="1"/>
              <a:t>PowerBI</a:t>
            </a:r>
            <a:r>
              <a:rPr lang="en-US" dirty="0"/>
              <a:t> and read in the excel file Analytics_mindset_case_studies_ETL_Case2.xlsx (it should have two tables, employees and plants; read both)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Questions to answer:</a:t>
            </a:r>
            <a:r>
              <a:rPr lang="en-US" dirty="0"/>
              <a:t> which plant has the most employees? What types of employees does the company have at the most popular location?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C21246-D9DC-520A-BD36-B492CBEF7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labs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EAEBC7-99C3-3E7A-1731-A416DE8A4B78}"/>
              </a:ext>
            </a:extLst>
          </p:cNvPr>
          <p:cNvSpPr txBox="1"/>
          <p:nvPr/>
        </p:nvSpPr>
        <p:spPr>
          <a:xfrm>
            <a:off x="5748670" y="5708168"/>
            <a:ext cx="645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2"/>
                </a:solidFill>
              </a:rPr>
              <a:t>**Feel free to work ahead (see slides at end of slide deck)</a:t>
            </a:r>
          </a:p>
        </p:txBody>
      </p:sp>
    </p:spTree>
    <p:extLst>
      <p:ext uri="{BB962C8B-B14F-4D97-AF65-F5344CB8AC3E}">
        <p14:creationId xmlns:p14="http://schemas.microsoft.com/office/powerpoint/2010/main" val="2992087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5BF67-AE26-58B3-8343-AB4DE488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0B2AEF-02E7-03CC-BC24-8648D655B95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The importance of transforms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Data exercises: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Transforming structured text data 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Optional extension: Transforming messy text data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CC9415-126F-1ACA-3AFB-A8E99B4EE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9041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43B51B-0A83-EDC8-5496-64D3A58ABEE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599" y="1744134"/>
            <a:ext cx="9712569" cy="4653710"/>
          </a:xfrm>
        </p:spPr>
        <p:txBody>
          <a:bodyPr/>
          <a:lstStyle/>
          <a:p>
            <a:pPr>
              <a:spcAft>
                <a:spcPts val="700"/>
              </a:spcAft>
              <a:defRPr sz="2000"/>
            </a:pPr>
            <a:r>
              <a:rPr lang="en-US" dirty="0"/>
              <a:t>Today's key takeaway: </a:t>
            </a:r>
            <a:r>
              <a:rPr lang="en-US" b="1" dirty="0"/>
              <a:t>Transforming raw data into consistent, usable information is essential to producing reliable analytical evidence.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Different data problems require different transformations. Predictable formats can be transformed using consistent rules, while messy or inconsistent data require more flexible approaches and validation.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Tools like Power BI help us prepare data for analysis. Power Query allows us to extract, clean, and transform data through </a:t>
            </a:r>
            <a:r>
              <a:rPr lang="en-US" b="1" i="1" dirty="0"/>
              <a:t>repeatable steps</a:t>
            </a:r>
            <a:r>
              <a:rPr lang="en-US" dirty="0"/>
              <a:t>, making it easier to identify patterns and support business decisions.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D6B6A5-AB1F-874C-8C41-DE2C1859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194383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F9596-6BD0-7441-96D9-1F8868E04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FB9647-374A-22F4-A8AE-6FB199787E39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lang="en-US"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N</a:t>
            </a: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9C73F9-1885-3A3B-C346-36F1F6425F8D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US" sz="210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Next topic: </a:t>
            </a:r>
            <a:r>
              <a:rPr lang="en-US" b="1" dirty="0"/>
              <a:t>Transaction Analytics: Understanding Transactions</a:t>
            </a:r>
          </a:p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introduce transaction-level analytics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Consider how financial data can be analyzed to understand various business problems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42CC-6DCC-793F-7159-61467EE1CC0B}"/>
              </a:ext>
            </a:extLst>
          </p:cNvPr>
          <p:cNvSpPr>
            <a:spLocks noGrp="1"/>
          </p:cNvSpPr>
          <p:nvPr/>
        </p:nvSpPr>
        <p:spPr>
          <a:xfrm>
            <a:off x="723900" y="4172172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917B4C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917B4C"/>
                </a:solidFill>
                <a:latin typeface="Segoe UI"/>
                <a:ea typeface="Segoe UI"/>
                <a:cs typeface="Segoe UI"/>
              </a:rPr>
              <a:t>Thank you!</a:t>
            </a:r>
            <a:endParaRPr sz="2100" b="0" dirty="0">
              <a:solidFill>
                <a:srgbClr val="917B4C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8062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18B4DC-AF0F-9E94-6005-868DAB32604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9413358" cy="1796133"/>
          </a:xfrm>
        </p:spPr>
        <p:txBody>
          <a:bodyPr/>
          <a:lstStyle/>
          <a:p>
            <a:r>
              <a:rPr lang="en-US" dirty="0"/>
              <a:t>Clues and hints on the suggested workflow are on the following slides.</a:t>
            </a:r>
          </a:p>
          <a:p>
            <a:endParaRPr lang="en-US" dirty="0"/>
          </a:p>
          <a:p>
            <a:r>
              <a:rPr lang="en-US" dirty="0"/>
              <a:t>**See also the PowerBI_Cases_2_3_DAX_Cheat_Sheet.txt in today’s data folder for syntax suggestions.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7881E8-85F3-8C02-1187-ECDE2991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677684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/>
            </a:pPr>
            <a:r>
              <a:t>From raw data to analytical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/>
            </a:pPr>
            <a:r>
              <a:t>• Source: EmployeeCode, FirstName, LastName (597 employee records in each case).</a:t>
            </a:r>
          </a:p>
          <a:p>
            <a:pPr>
              <a:spcAft>
                <a:spcPts val="2000"/>
              </a:spcAft>
              <a:defRPr sz="2100"/>
            </a:pPr>
            <a:r>
              <a:t>• Transform: extract Location, EmpID, PlantID, PayPeriod; create Location–PlantID key.</a:t>
            </a:r>
          </a:p>
          <a:p>
            <a:pPr>
              <a:spcAft>
                <a:spcPts val="2000"/>
              </a:spcAft>
              <a:defRPr sz="2100"/>
            </a:pPr>
            <a:r>
              <a:t>• Analyze: employee counts by location, plant, or pay period.</a:t>
            </a:r>
          </a:p>
          <a:p>
            <a:pPr>
              <a:spcAft>
                <a:spcPts val="2000"/>
              </a:spcAft>
              <a:defRPr sz="2100"/>
            </a:pPr>
            <a:r>
              <a:t>• Power BI workflow: Get Data → Transform Data (Power Query) → Applied Steps → Close &amp; Apply → Visualize.</a:t>
            </a:r>
          </a:p>
          <a:p>
            <a:pPr>
              <a:spcAft>
                <a:spcPts val="2000"/>
              </a:spcAft>
              <a:defRPr sz="2100"/>
            </a:pPr>
            <a:r>
              <a:t>• Why retain EmployeeCode? It lets us reconcile the output to the original record.</a:t>
            </a:r>
          </a:p>
        </p:txBody>
      </p:sp>
    </p:spTree>
    <p:extLst>
      <p:ext uri="{BB962C8B-B14F-4D97-AF65-F5344CB8AC3E}">
        <p14:creationId xmlns:p14="http://schemas.microsoft.com/office/powerpoint/2010/main" val="1029077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/>
            </a:pPr>
            <a:r>
              <a:t>Exercise 1 — Structured text (ETL Case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/>
            </a:pPr>
            <a:r>
              <a:rPr dirty="0"/>
              <a:t>• Goal: extract four fields from </a:t>
            </a:r>
            <a:r>
              <a:rPr dirty="0" err="1"/>
              <a:t>EmployeeCode</a:t>
            </a:r>
            <a:r>
              <a:rPr dirty="0"/>
              <a:t> and construct a Location–</a:t>
            </a:r>
            <a:r>
              <a:rPr dirty="0" err="1"/>
              <a:t>PlantID</a:t>
            </a:r>
            <a:r>
              <a:rPr dirty="0"/>
              <a:t> key.</a:t>
            </a:r>
          </a:p>
          <a:p>
            <a:pPr>
              <a:spcAft>
                <a:spcPts val="2000"/>
              </a:spcAft>
              <a:defRPr sz="2100"/>
            </a:pPr>
            <a:r>
              <a:rPr dirty="0"/>
              <a:t>• Known rules: Location = 3 letters; </a:t>
            </a:r>
            <a:r>
              <a:rPr dirty="0" err="1"/>
              <a:t>EmpID</a:t>
            </a:r>
            <a:r>
              <a:rPr dirty="0"/>
              <a:t> = 4 digits; </a:t>
            </a:r>
            <a:r>
              <a:rPr dirty="0" err="1"/>
              <a:t>PlantID</a:t>
            </a:r>
            <a:r>
              <a:rPr dirty="0"/>
              <a:t> = 2 digits; </a:t>
            </a:r>
            <a:r>
              <a:rPr dirty="0" err="1"/>
              <a:t>PayPeriod</a:t>
            </a:r>
            <a:r>
              <a:rPr dirty="0"/>
              <a:t> = W or M.</a:t>
            </a:r>
          </a:p>
          <a:p>
            <a:pPr>
              <a:spcAft>
                <a:spcPts val="2000"/>
              </a:spcAft>
              <a:defRPr sz="2100"/>
            </a:pPr>
            <a:r>
              <a:rPr dirty="0"/>
              <a:t>• Power Query: use Extract First Characters, position/delimiter-based extraction, and Extract Last Characters.</a:t>
            </a:r>
          </a:p>
          <a:p>
            <a:pPr>
              <a:spcAft>
                <a:spcPts val="2000"/>
              </a:spcAft>
              <a:defRPr sz="2100"/>
            </a:pPr>
            <a:r>
              <a:rPr dirty="0"/>
              <a:t>• Create custom column: [Location] &amp; "-" &amp; [</a:t>
            </a:r>
            <a:r>
              <a:rPr dirty="0" err="1"/>
              <a:t>PlantID</a:t>
            </a:r>
            <a:r>
              <a:rPr dirty="0"/>
              <a:t>].</a:t>
            </a:r>
          </a:p>
          <a:p>
            <a:pPr>
              <a:spcAft>
                <a:spcPts val="2000"/>
              </a:spcAft>
              <a:defRPr sz="2100"/>
            </a:pPr>
            <a:r>
              <a:rPr dirty="0"/>
              <a:t>• Check: 597 rows remain; spot-check outputs; keep identifiers as Text.</a:t>
            </a:r>
            <a:endParaRPr lang="en-US" dirty="0"/>
          </a:p>
          <a:p>
            <a:pPr>
              <a:spcAft>
                <a:spcPts val="2000"/>
              </a:spcAft>
              <a:defRPr sz="2100"/>
            </a:pPr>
            <a:endParaRPr lang="en-US" dirty="0"/>
          </a:p>
          <a:p>
            <a:pPr>
              <a:spcAft>
                <a:spcPts val="2000"/>
              </a:spcAft>
              <a:defRPr sz="2100"/>
            </a:pPr>
            <a:r>
              <a:rPr lang="en-US" b="1" i="1" dirty="0">
                <a:solidFill>
                  <a:schemeClr val="tx2"/>
                </a:solidFill>
              </a:rPr>
              <a:t>If you are ahead, try using alternative formulas/approaches (see cheat sheet for this class).</a:t>
            </a:r>
            <a:endParaRPr b="1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116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/>
            </a:pPr>
            <a:r>
              <a:t>Case 2 — What Power Query is doing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/>
            </a:pPr>
            <a:r>
              <a:t>• Import the Case 2 worksheet and choose Transform Data.</a:t>
            </a:r>
          </a:p>
          <a:p>
            <a:pPr>
              <a:spcAft>
                <a:spcPts val="2000"/>
              </a:spcAft>
              <a:defRPr sz="2100"/>
            </a:pPr>
            <a:r>
              <a:t>• Inspect EmployeeCode before changing anything; confirm its data type is Text.</a:t>
            </a:r>
          </a:p>
          <a:p>
            <a:pPr>
              <a:spcAft>
                <a:spcPts val="2000"/>
              </a:spcAft>
              <a:defRPr sz="2100"/>
            </a:pPr>
            <a:r>
              <a:t>• Add extracted columns; review each operation in Applied Steps.</a:t>
            </a:r>
          </a:p>
          <a:p>
            <a:pPr>
              <a:spcAft>
                <a:spcPts val="2000"/>
              </a:spcAft>
              <a:defRPr sz="2100"/>
            </a:pPr>
            <a:r>
              <a:t>• A fixed-position rule works because the source follows a predictable format.</a:t>
            </a:r>
          </a:p>
          <a:p>
            <a:pPr>
              <a:spcAft>
                <a:spcPts val="2000"/>
              </a:spcAft>
              <a:defRPr sz="2100"/>
            </a:pPr>
            <a:r>
              <a:t>• Question: What would happen if Location became two or four letters?</a:t>
            </a:r>
          </a:p>
        </p:txBody>
      </p:sp>
    </p:spTree>
    <p:extLst>
      <p:ext uri="{BB962C8B-B14F-4D97-AF65-F5344CB8AC3E}">
        <p14:creationId xmlns:p14="http://schemas.microsoft.com/office/powerpoint/2010/main" val="111107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/>
            </a:pPr>
            <a:r>
              <a:t>Exercise 2 — Messy text (ETL Case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/>
            </a:pPr>
            <a:r>
              <a:t>• Same objective, less predictable EmployeeCode format; still 597 records.</a:t>
            </a:r>
          </a:p>
          <a:p>
            <a:pPr>
              <a:spcAft>
                <a:spcPts val="2000"/>
              </a:spcAft>
              <a:defRPr sz="2100"/>
            </a:pPr>
            <a:r>
              <a:t>• Changes: Location length varies; EmpID and PlantID have variable digits; PayPeriod may be W, M, or Mo.</a:t>
            </a:r>
          </a:p>
          <a:p>
            <a:pPr>
              <a:spcAft>
                <a:spcPts val="2000"/>
              </a:spcAft>
              <a:defRPr sz="2100"/>
            </a:pPr>
            <a:r>
              <a:t>• Fixed-character extraction from Case 2 may now produce incorrect results.</a:t>
            </a:r>
          </a:p>
          <a:p>
            <a:pPr>
              <a:spcAft>
                <a:spcPts val="2000"/>
              </a:spcAft>
              <a:defRPr sz="2100"/>
            </a:pPr>
            <a:r>
              <a:t>• Power Query approach: use delimiters and character patterns (Text.BeforeDelimiter, Text.AfterDelimiter, Text.Select), then normalize values.</a:t>
            </a:r>
          </a:p>
          <a:p>
            <a:pPr>
              <a:spcAft>
                <a:spcPts val="2000"/>
              </a:spcAft>
              <a:defRPr sz="2100"/>
            </a:pPr>
            <a:r>
              <a:t>• Question: Which assumptions in our Case 2 solution have failed?</a:t>
            </a:r>
          </a:p>
        </p:txBody>
      </p:sp>
    </p:spTree>
    <p:extLst>
      <p:ext uri="{BB962C8B-B14F-4D97-AF65-F5344CB8AC3E}">
        <p14:creationId xmlns:p14="http://schemas.microsoft.com/office/powerpoint/2010/main" val="1046520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/>
            </a:pPr>
            <a:r>
              <a:t>Case 3 — Build, test, and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789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/>
            </a:pPr>
            <a:r>
              <a:t>• Split around the dash; isolate letters and digits based on the actual code structure.</a:t>
            </a:r>
          </a:p>
          <a:p>
            <a:pPr>
              <a:spcAft>
                <a:spcPts val="2000"/>
              </a:spcAft>
              <a:defRPr sz="2100"/>
            </a:pPr>
            <a:r>
              <a:t>• Standardize M and Mo when both represent monthly pay.</a:t>
            </a:r>
          </a:p>
          <a:p>
            <a:pPr>
              <a:spcAft>
                <a:spcPts val="2000"/>
              </a:spcAft>
              <a:defRPr sz="2100"/>
            </a:pPr>
            <a:r>
              <a:t>• Create Location–PlantID key, retaining original EmployeeCode.</a:t>
            </a:r>
          </a:p>
          <a:p>
            <a:pPr>
              <a:spcAft>
                <a:spcPts val="2000"/>
              </a:spcAft>
              <a:defRPr sz="2100"/>
            </a:pPr>
            <a:r>
              <a:t>• Validate across different locations, ID lengths, and pay-period forms—not just one example.</a:t>
            </a:r>
          </a:p>
          <a:p>
            <a:pPr>
              <a:spcAft>
                <a:spcPts val="2000"/>
              </a:spcAft>
              <a:defRPr sz="2100"/>
            </a:pPr>
            <a:r>
              <a:t>• Close: visualize employee counts by location or pay period. When is a more flexible transformation worth the extra effort?</a:t>
            </a:r>
          </a:p>
        </p:txBody>
      </p:sp>
    </p:spTree>
    <p:extLst>
      <p:ext uri="{BB962C8B-B14F-4D97-AF65-F5344CB8AC3E}">
        <p14:creationId xmlns:p14="http://schemas.microsoft.com/office/powerpoint/2010/main" val="3966451134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8274</TotalTime>
  <Words>1296</Words>
  <Application>Microsoft Office PowerPoint</Application>
  <DocSecurity>0</DocSecurity>
  <PresentationFormat>Widescreen</PresentationFormat>
  <Paragraphs>136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Encode Sans Normal ExtraBold</vt:lpstr>
      <vt:lpstr>Encode Sans Normal Medium</vt:lpstr>
      <vt:lpstr>Open Sans</vt:lpstr>
      <vt:lpstr>Open Sans Light</vt:lpstr>
      <vt:lpstr>Segoe UI</vt:lpstr>
      <vt:lpstr>Uni Sans Book</vt:lpstr>
      <vt:lpstr>W Foster MBA Career Mgmt</vt:lpstr>
      <vt:lpstr>PowerPoint Presentation</vt:lpstr>
      <vt:lpstr>Agenda</vt:lpstr>
      <vt:lpstr>Review</vt:lpstr>
      <vt:lpstr>Agenda</vt:lpstr>
      <vt:lpstr>Case 3</vt:lpstr>
      <vt:lpstr>Case 4</vt:lpstr>
      <vt:lpstr>Agenda</vt:lpstr>
      <vt:lpstr>Agenda</vt:lpstr>
      <vt:lpstr>PowerPoint Presentation</vt:lpstr>
      <vt:lpstr>Review</vt:lpstr>
      <vt:lpstr>PowerPoint Presentation</vt:lpstr>
      <vt:lpstr>Agenda</vt:lpstr>
      <vt:lpstr>Why do we transform data? </vt:lpstr>
      <vt:lpstr>Transform data examples </vt:lpstr>
      <vt:lpstr>Agenda</vt:lpstr>
      <vt:lpstr>Remote labs</vt:lpstr>
      <vt:lpstr>Agenda</vt:lpstr>
      <vt:lpstr>Summary</vt:lpstr>
      <vt:lpstr>PowerPoint Presentation</vt:lpstr>
      <vt:lpstr>Appendix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Asher Curtis</cp:lastModifiedBy>
  <cp:revision>9</cp:revision>
  <dcterms:created xsi:type="dcterms:W3CDTF">2026-09-29T01:46:38Z</dcterms:created>
  <dcterms:modified xsi:type="dcterms:W3CDTF">2026-10-14T16:37:29Z</dcterms:modified>
</cp:coreProperties>
</file>