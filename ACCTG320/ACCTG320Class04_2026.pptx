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300" r:id="rId3"/>
    <p:sldId id="1132" r:id="rId4"/>
    <p:sldId id="1133" r:id="rId5"/>
    <p:sldId id="1134" r:id="rId6"/>
    <p:sldId id="1130" r:id="rId7"/>
    <p:sldId id="372" r:id="rId8"/>
    <p:sldId id="873" r:id="rId9"/>
    <p:sldId id="1137" r:id="rId10"/>
    <p:sldId id="1138" r:id="rId11"/>
    <p:sldId id="1131" r:id="rId12"/>
    <p:sldId id="257" r:id="rId13"/>
    <p:sldId id="258" r:id="rId14"/>
    <p:sldId id="259" r:id="rId15"/>
    <p:sldId id="260" r:id="rId16"/>
    <p:sldId id="261" r:id="rId17"/>
    <p:sldId id="262" r:id="rId18"/>
    <p:sldId id="1136" r:id="rId19"/>
    <p:sldId id="113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A4EA4C-9854-4083-860F-BA86D847A779}" v="10" dt="2026-10-12T01:56:42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35c297388724ba9a" providerId="LiveId" clId="{A4FC0AD2-B0F2-4A57-BDAF-7F9B57B5A19A}"/>
    <pc:docChg chg="addSld delSld modSld">
      <pc:chgData name="Asher Curtis" userId="35c297388724ba9a" providerId="LiveId" clId="{A4FC0AD2-B0F2-4A57-BDAF-7F9B57B5A19A}" dt="2026-10-12T01:57:05.837" v="258" actId="114"/>
      <pc:docMkLst>
        <pc:docMk/>
      </pc:docMkLst>
      <pc:sldChg chg="modSp mod">
        <pc:chgData name="Asher Curtis" userId="35c297388724ba9a" providerId="LiveId" clId="{A4FC0AD2-B0F2-4A57-BDAF-7F9B57B5A19A}" dt="2026-10-12T01:36:00.970" v="5" actId="20577"/>
        <pc:sldMkLst>
          <pc:docMk/>
          <pc:sldMk cId="4294885419" sldId="256"/>
        </pc:sldMkLst>
        <pc:spChg chg="mod">
          <ac:chgData name="Asher Curtis" userId="35c297388724ba9a" providerId="LiveId" clId="{A4FC0AD2-B0F2-4A57-BDAF-7F9B57B5A19A}" dt="2026-10-12T01:35:12.264" v="0" actId="20577"/>
          <ac:spMkLst>
            <pc:docMk/>
            <pc:sldMk cId="4294885419" sldId="256"/>
            <ac:spMk id="3" creationId="{25E99166-AAF5-498F-B46D-82D42CECC71B}"/>
          </ac:spMkLst>
        </pc:spChg>
        <pc:spChg chg="mod">
          <ac:chgData name="Asher Curtis" userId="35c297388724ba9a" providerId="LiveId" clId="{A4FC0AD2-B0F2-4A57-BDAF-7F9B57B5A19A}" dt="2026-10-12T01:36:00.970" v="5" actId="20577"/>
          <ac:spMkLst>
            <pc:docMk/>
            <pc:sldMk cId="4294885419" sldId="256"/>
            <ac:spMk id="4" creationId="{42171E04-8C84-4649-B7E3-F266075EC7BB}"/>
          </ac:spMkLst>
        </pc:spChg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0" sldId="257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0" sldId="258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0" sldId="259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0" sldId="260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0" sldId="261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0" sldId="262"/>
        </pc:sldMkLst>
      </pc:sldChg>
      <pc:sldChg chg="modSp del mod">
        <pc:chgData name="Asher Curtis" userId="35c297388724ba9a" providerId="LiveId" clId="{A4FC0AD2-B0F2-4A57-BDAF-7F9B57B5A19A}" dt="2026-10-12T01:54:50.077" v="230" actId="47"/>
        <pc:sldMkLst>
          <pc:docMk/>
          <pc:sldMk cId="2931208946" sldId="278"/>
        </pc:sldMkLst>
        <pc:spChg chg="mod">
          <ac:chgData name="Asher Curtis" userId="35c297388724ba9a" providerId="LiveId" clId="{A4FC0AD2-B0F2-4A57-BDAF-7F9B57B5A19A}" dt="2026-10-12T01:41:37.918" v="121" actId="20577"/>
          <ac:spMkLst>
            <pc:docMk/>
            <pc:sldMk cId="2931208946" sldId="278"/>
            <ac:spMk id="2" creationId="{11EC96EB-8371-4B7E-A0C3-573FD660BBA7}"/>
          </ac:spMkLst>
        </pc:spChg>
        <pc:spChg chg="mod">
          <ac:chgData name="Asher Curtis" userId="35c297388724ba9a" providerId="LiveId" clId="{A4FC0AD2-B0F2-4A57-BDAF-7F9B57B5A19A}" dt="2026-10-12T01:46:39.187" v="228" actId="20577"/>
          <ac:spMkLst>
            <pc:docMk/>
            <pc:sldMk cId="2931208946" sldId="278"/>
            <ac:spMk id="5" creationId="{084B59F3-FA70-48A1-8B0F-551483EAAA2F}"/>
          </ac:spMkLst>
        </pc:spChg>
      </pc:sldChg>
      <pc:sldChg chg="modSp mod">
        <pc:chgData name="Asher Curtis" userId="35c297388724ba9a" providerId="LiveId" clId="{A4FC0AD2-B0F2-4A57-BDAF-7F9B57B5A19A}" dt="2026-10-12T01:43:19.213" v="216" actId="20577"/>
        <pc:sldMkLst>
          <pc:docMk/>
          <pc:sldMk cId="4272180523" sldId="300"/>
        </pc:sldMkLst>
        <pc:spChg chg="mod">
          <ac:chgData name="Asher Curtis" userId="35c297388724ba9a" providerId="LiveId" clId="{A4FC0AD2-B0F2-4A57-BDAF-7F9B57B5A19A}" dt="2026-10-12T01:43:19.213" v="216" actId="20577"/>
          <ac:spMkLst>
            <pc:docMk/>
            <pc:sldMk cId="4272180523" sldId="300"/>
            <ac:spMk id="2" creationId="{4BF555D3-14D1-2CA6-3E9F-FDB21F020B98}"/>
          </ac:spMkLst>
        </pc:spChg>
      </pc:sldChg>
      <pc:sldChg chg="modSp add mod">
        <pc:chgData name="Asher Curtis" userId="35c297388724ba9a" providerId="LiveId" clId="{A4FC0AD2-B0F2-4A57-BDAF-7F9B57B5A19A}" dt="2026-10-12T01:39:26.868" v="16" actId="6549"/>
        <pc:sldMkLst>
          <pc:docMk/>
          <pc:sldMk cId="3118862969" sldId="372"/>
        </pc:sldMkLst>
        <pc:spChg chg="mod">
          <ac:chgData name="Asher Curtis" userId="35c297388724ba9a" providerId="LiveId" clId="{A4FC0AD2-B0F2-4A57-BDAF-7F9B57B5A19A}" dt="2026-10-12T01:39:26.868" v="16" actId="6549"/>
          <ac:spMkLst>
            <pc:docMk/>
            <pc:sldMk cId="3118862969" sldId="372"/>
            <ac:spMk id="2" creationId="{3343B51B-0A83-EDC8-5496-64D3A58ABEEB}"/>
          </ac:spMkLst>
        </pc:spChg>
        <pc:spChg chg="mod">
          <ac:chgData name="Asher Curtis" userId="35c297388724ba9a" providerId="LiveId" clId="{A4FC0AD2-B0F2-4A57-BDAF-7F9B57B5A19A}" dt="2026-10-12T01:39:16.937" v="12" actId="20577"/>
          <ac:spMkLst>
            <pc:docMk/>
            <pc:sldMk cId="3118862969" sldId="372"/>
            <ac:spMk id="3" creationId="{8DD6B6A5-AB1F-874C-8C41-DE2C18593307}"/>
          </ac:spMkLst>
        </pc:spChg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3152376829" sldId="859"/>
        </pc:sldMkLst>
      </pc:sldChg>
      <pc:sldChg chg="del">
        <pc:chgData name="Asher Curtis" userId="35c297388724ba9a" providerId="LiveId" clId="{A4FC0AD2-B0F2-4A57-BDAF-7F9B57B5A19A}" dt="2026-10-12T01:42:09.152" v="123" actId="2696"/>
        <pc:sldMkLst>
          <pc:docMk/>
          <pc:sldMk cId="382477658" sldId="873"/>
        </pc:sldMkLst>
      </pc:sldChg>
      <pc:sldChg chg="add">
        <pc:chgData name="Asher Curtis" userId="35c297388724ba9a" providerId="LiveId" clId="{A4FC0AD2-B0F2-4A57-BDAF-7F9B57B5A19A}" dt="2026-10-12T01:42:17.454" v="124"/>
        <pc:sldMkLst>
          <pc:docMk/>
          <pc:sldMk cId="1421765229" sldId="873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899184772" sldId="879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4023297246" sldId="880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423827205" sldId="896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4030162361" sldId="899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2100177272" sldId="901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484407016" sldId="902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211127109" sldId="903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474629357" sldId="904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591258291" sldId="905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773431859" sldId="906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2605712550" sldId="907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3983555" sldId="908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655476984" sldId="909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880885414" sldId="910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256926708" sldId="911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64587029" sldId="912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944041808" sldId="913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2992222390" sldId="914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372416937" sldId="915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960739962" sldId="916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590854050" sldId="917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528514397" sldId="918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2424377462" sldId="920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459261355" sldId="922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0" sldId="1131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3673789896" sldId="1131"/>
        </pc:sldMkLst>
      </pc:sldChg>
      <pc:sldChg chg="add">
        <pc:chgData name="Asher Curtis" userId="35c297388724ba9a" providerId="LiveId" clId="{A4FC0AD2-B0F2-4A57-BDAF-7F9B57B5A19A}" dt="2026-10-12T01:46:08.697" v="218" actId="2890"/>
        <pc:sldMkLst>
          <pc:docMk/>
          <pc:sldMk cId="838195131" sldId="1132"/>
        </pc:sldMkLst>
      </pc:sldChg>
      <pc:sldChg chg="add">
        <pc:chgData name="Asher Curtis" userId="35c297388724ba9a" providerId="LiveId" clId="{A4FC0AD2-B0F2-4A57-BDAF-7F9B57B5A19A}" dt="2026-10-12T01:46:11.305" v="219" actId="2890"/>
        <pc:sldMkLst>
          <pc:docMk/>
          <pc:sldMk cId="711480873" sldId="1133"/>
        </pc:sldMkLst>
      </pc:sldChg>
      <pc:sldChg chg="add">
        <pc:chgData name="Asher Curtis" userId="35c297388724ba9a" providerId="LiveId" clId="{A4FC0AD2-B0F2-4A57-BDAF-7F9B57B5A19A}" dt="2026-10-12T01:46:14.183" v="220" actId="2890"/>
        <pc:sldMkLst>
          <pc:docMk/>
          <pc:sldMk cId="4233644121" sldId="1134"/>
        </pc:sldMkLst>
      </pc:sldChg>
      <pc:sldChg chg="add">
        <pc:chgData name="Asher Curtis" userId="35c297388724ba9a" providerId="LiveId" clId="{A4FC0AD2-B0F2-4A57-BDAF-7F9B57B5A19A}" dt="2026-10-12T01:46:31.505" v="221" actId="2890"/>
        <pc:sldMkLst>
          <pc:docMk/>
          <pc:sldMk cId="208062374" sldId="1135"/>
        </pc:sldMkLst>
      </pc:sldChg>
      <pc:sldChg chg="modSp add mod">
        <pc:chgData name="Asher Curtis" userId="35c297388724ba9a" providerId="LiveId" clId="{A4FC0AD2-B0F2-4A57-BDAF-7F9B57B5A19A}" dt="2026-10-12T01:57:05.837" v="258" actId="114"/>
        <pc:sldMkLst>
          <pc:docMk/>
          <pc:sldMk cId="3194383255" sldId="1136"/>
        </pc:sldMkLst>
        <pc:spChg chg="mod">
          <ac:chgData name="Asher Curtis" userId="35c297388724ba9a" providerId="LiveId" clId="{A4FC0AD2-B0F2-4A57-BDAF-7F9B57B5A19A}" dt="2026-10-12T01:57:05.837" v="258" actId="114"/>
          <ac:spMkLst>
            <pc:docMk/>
            <pc:sldMk cId="3194383255" sldId="1136"/>
            <ac:spMk id="2" creationId="{3343B51B-0A83-EDC8-5496-64D3A58ABEEB}"/>
          </ac:spMkLst>
        </pc:spChg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3664892757" sldId="1136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711708439" sldId="1158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666654029" sldId="1159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421970449" sldId="1160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187461027" sldId="1161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2987137018" sldId="1162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603970790" sldId="1163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2738480129" sldId="1164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3601593719" sldId="1165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982114712" sldId="1166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2697538180" sldId="1167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541659567" sldId="1169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132239068" sldId="1170"/>
        </pc:sldMkLst>
      </pc:sldChg>
      <pc:sldMasterChg chg="delSldLayout">
        <pc:chgData name="Asher Curtis" userId="35c297388724ba9a" providerId="LiveId" clId="{A4FC0AD2-B0F2-4A57-BDAF-7F9B57B5A19A}" dt="2026-10-12T01:41:54.850" v="122" actId="47"/>
        <pc:sldMasterMkLst>
          <pc:docMk/>
          <pc:sldMasterMk cId="0" sldId="2147483648"/>
        </pc:sldMasterMkLst>
        <pc:sldLayoutChg chg="del">
          <pc:chgData name="Asher Curtis" userId="35c297388724ba9a" providerId="LiveId" clId="{A4FC0AD2-B0F2-4A57-BDAF-7F9B57B5A19A}" dt="2026-10-12T01:41:54.850" v="122" actId="47"/>
          <pc:sldLayoutMkLst>
            <pc:docMk/>
            <pc:sldMasterMk cId="0" sldId="2147483648"/>
            <pc:sldLayoutMk cId="1910893404" sldId="2147483730"/>
          </pc:sldLayoutMkLst>
        </pc:sldLayoutChg>
      </pc:sldMasterChg>
    </pc:docChg>
  </pc:docChgLst>
  <pc:docChgLst>
    <pc:chgData name="Asher Curtis" userId="494c4f5b-6d11-415a-9d9e-829c1135aa91" providerId="ADAL" clId="{FDEDEEF3-7275-4161-A24C-7071BE30F9A7}"/>
    <pc:docChg chg="addSld modSld sldOrd">
      <pc:chgData name="Asher Curtis" userId="494c4f5b-6d11-415a-9d9e-829c1135aa91" providerId="ADAL" clId="{FDEDEEF3-7275-4161-A24C-7071BE30F9A7}" dt="2026-10-05T17:08:03.245" v="4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9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38B2-D708-84E6-5042-DA2A22B4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2C0C1-95E6-8B39-BDA5-CD64A1521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7A18C-EA97-A32C-730A-7DCEDE2D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C44A3-7480-3F24-88AD-8313BCB57D0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629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ETL: Changing Fields</a:t>
            </a:r>
            <a:endParaRPr sz="36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320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Accounting Systems and Analytics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04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/>
              <a:t>The importance of transforms</a:t>
            </a:r>
          </a:p>
          <a:p>
            <a:pPr marL="457200" indent="-457200"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structured text data 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messy text data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4BAB9-0E18-69E0-3315-77CC9B00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810E08-F5B0-3D71-F1F8-5F8FFCC851C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/>
              <a:t>The importance of transforms</a:t>
            </a:r>
          </a:p>
          <a:p>
            <a:pPr marL="457200" indent="-457200"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structured text data 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messy text data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CA4771-A786-067E-6BD1-8590545D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3819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56AD-1BB8-DA04-7A72-B73063B7D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9C7D89-8E8D-4FEA-9A58-E457FFC2E0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/>
              <a:t>The importance of transforms</a:t>
            </a:r>
          </a:p>
          <a:p>
            <a:pPr marL="457200" indent="-457200"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structured text data 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messy text data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587D14-2BB0-B288-2110-D677ABD0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1148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2CF61-21E5-47DD-EF5C-5C176A04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C28BDA-274F-3AF9-1F71-D90B4398F3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/>
              <a:t>The importance of transforms</a:t>
            </a:r>
          </a:p>
          <a:p>
            <a:pPr marL="457200" indent="-457200"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structured text data 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messy text data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F92AFF-1E60-E03D-B452-15286B99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33644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AFCD-F3E6-C34F-F83B-3DD755D6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20D57-3A17-FEB1-8C5D-C69528CD61BE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8451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3516732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Our key takeaway: </a:t>
            </a:r>
            <a:r>
              <a:rPr lang="en-US" b="1" dirty="0"/>
              <a:t>Understanding how data are connected is essential to producing reliable analytical evidence.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Tools like Power BI make relational data useful. Relationships, transformations, and visualizations allow us to explore data without always combining everything into one table.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11886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sual Representation of SQL Joins - CodeProject">
            <a:extLst>
              <a:ext uri="{FF2B5EF4-FFF2-40B4-BE49-F238E27FC236}">
                <a16:creationId xmlns:a16="http://schemas.microsoft.com/office/drawing/2014/main" id="{B74B300C-C7BE-4D73-810B-F66341D5B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0"/>
            <a:ext cx="8716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765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61213E-84BB-2777-48B8-5E604A70512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39B62B-D5D7-2089-D965-3A1387BB5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2CC0272-9EBE-0354-B47C-B83F85EB33B3}"/>
              </a:ext>
            </a:extLst>
          </p:cNvPr>
          <p:cNvSpPr>
            <a:spLocks noGrp="1" noChangeAspect="1"/>
          </p:cNvSpPr>
          <p:nvPr>
            <p:ph type="pic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60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4B5A-31A3-F68C-51ED-8BC0C91F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0BCA0F-1EF2-B454-F782-E4E4BDF5DDB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2929392"/>
          </a:xfrm>
        </p:spPr>
        <p:txBody>
          <a:bodyPr/>
          <a:lstStyle/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dirty="0"/>
              <a:t>Raw data are rarely organized in the form needed to answer a business question.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dirty="0"/>
              <a:t>Transformation converts stored values into meaningful, consistent, analyzable fields.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F63C9C-EEF8-9578-C3D4-77101A20F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Why do we transform data?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118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Transformation is more than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Extract: separate meaningful components from a combined field.</a:t>
            </a:r>
          </a:p>
          <a:p>
            <a:pPr>
              <a:spcAft>
                <a:spcPts val="2000"/>
              </a:spcAft>
              <a:defRPr sz="2100"/>
            </a:pPr>
            <a:r>
              <a:t>• Standardize: make equivalent values consistent (e.g., M and Mo for monthly pay).</a:t>
            </a:r>
          </a:p>
          <a:p>
            <a:pPr>
              <a:spcAft>
                <a:spcPts val="2000"/>
              </a:spcAft>
              <a:defRPr sz="2100"/>
            </a:pPr>
            <a:r>
              <a:t>• Construct: combine attributes to create a useful Location–PlantID key (e.g., USA-12).</a:t>
            </a:r>
          </a:p>
          <a:p>
            <a:pPr>
              <a:spcAft>
                <a:spcPts val="2000"/>
              </a:spcAft>
              <a:defRPr sz="2100"/>
            </a:pPr>
            <a:r>
              <a:t>• Validate: preserve source records, inspect errors, and test whether the transformation works for all formats.</a:t>
            </a:r>
          </a:p>
          <a:p>
            <a:pPr>
              <a:spcAft>
                <a:spcPts val="2000"/>
              </a:spcAft>
              <a:defRPr sz="2100"/>
            </a:pPr>
            <a:r>
              <a:t>• Key point: every transformation depends on assumptions about the source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From raw data to analytical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Source: EmployeeCode, FirstName, LastName (597 employee records in each case).</a:t>
            </a:r>
          </a:p>
          <a:p>
            <a:pPr>
              <a:spcAft>
                <a:spcPts val="2000"/>
              </a:spcAft>
              <a:defRPr sz="2100"/>
            </a:pPr>
            <a:r>
              <a:t>• Transform: extract Location, EmpID, PlantID, PayPeriod; create Location–PlantID key.</a:t>
            </a:r>
          </a:p>
          <a:p>
            <a:pPr>
              <a:spcAft>
                <a:spcPts val="2000"/>
              </a:spcAft>
              <a:defRPr sz="2100"/>
            </a:pPr>
            <a:r>
              <a:t>• Analyze: employee counts by location, plant, or pay period.</a:t>
            </a:r>
          </a:p>
          <a:p>
            <a:pPr>
              <a:spcAft>
                <a:spcPts val="2000"/>
              </a:spcAft>
              <a:defRPr sz="2100"/>
            </a:pPr>
            <a:r>
              <a:t>• Power BI workflow: Get Data → Transform Data (Power Query) → Applied Steps → Close &amp; Apply → Visualize.</a:t>
            </a:r>
          </a:p>
          <a:p>
            <a:pPr>
              <a:spcAft>
                <a:spcPts val="2000"/>
              </a:spcAft>
              <a:defRPr sz="2100"/>
            </a:pPr>
            <a:r>
              <a:t>• Why retain EmployeeCode? It lets us reconcile the output to the original record.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Exercise 1 — Structured text (ETL Case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Goal: extract four fields from EmployeeCode and construct a Location–PlantID key.</a:t>
            </a:r>
          </a:p>
          <a:p>
            <a:pPr>
              <a:spcAft>
                <a:spcPts val="2000"/>
              </a:spcAft>
              <a:defRPr sz="2100"/>
            </a:pPr>
            <a:r>
              <a:t>• Known rules: Location = 3 letters; EmpID = 4 digits; PlantID = 2 digits; PayPeriod = W or M.</a:t>
            </a:r>
          </a:p>
          <a:p>
            <a:pPr>
              <a:spcAft>
                <a:spcPts val="2000"/>
              </a:spcAft>
              <a:defRPr sz="2100"/>
            </a:pPr>
            <a:r>
              <a:t>• Power Query: use Extract First Characters, position/delimiter-based extraction, and Extract Last Characters.</a:t>
            </a:r>
          </a:p>
          <a:p>
            <a:pPr>
              <a:spcAft>
                <a:spcPts val="2000"/>
              </a:spcAft>
              <a:defRPr sz="2100"/>
            </a:pPr>
            <a:r>
              <a:t>• Create custom column: [Location] &amp; "-" &amp; [PlantID].</a:t>
            </a:r>
          </a:p>
          <a:p>
            <a:pPr>
              <a:spcAft>
                <a:spcPts val="2000"/>
              </a:spcAft>
              <a:defRPr sz="2100"/>
            </a:pPr>
            <a:r>
              <a:t>• Check: 597 rows remain; spot-check outputs; keep identifiers as 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Case 2 — What Power Query is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Import the Case 2 worksheet and choose Transform Data.</a:t>
            </a:r>
          </a:p>
          <a:p>
            <a:pPr>
              <a:spcAft>
                <a:spcPts val="2000"/>
              </a:spcAft>
              <a:defRPr sz="2100"/>
            </a:pPr>
            <a:r>
              <a:t>• Inspect EmployeeCode before changing anything; confirm its data type is Text.</a:t>
            </a:r>
          </a:p>
          <a:p>
            <a:pPr>
              <a:spcAft>
                <a:spcPts val="2000"/>
              </a:spcAft>
              <a:defRPr sz="2100"/>
            </a:pPr>
            <a:r>
              <a:t>• Add extracted columns; review each operation in Applied Steps.</a:t>
            </a:r>
          </a:p>
          <a:p>
            <a:pPr>
              <a:spcAft>
                <a:spcPts val="2000"/>
              </a:spcAft>
              <a:defRPr sz="2100"/>
            </a:pPr>
            <a:r>
              <a:t>• A fixed-position rule works because the source follows a predictable format.</a:t>
            </a:r>
          </a:p>
          <a:p>
            <a:pPr>
              <a:spcAft>
                <a:spcPts val="2000"/>
              </a:spcAft>
              <a:defRPr sz="2100"/>
            </a:pPr>
            <a:r>
              <a:t>• Question: What would happen if Location became two or four letters?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Exercise 2 — Messy text (ETL Case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Same objective, less predictable EmployeeCode format; still 597 records.</a:t>
            </a:r>
          </a:p>
          <a:p>
            <a:pPr>
              <a:spcAft>
                <a:spcPts val="2000"/>
              </a:spcAft>
              <a:defRPr sz="2100"/>
            </a:pPr>
            <a:r>
              <a:t>• Changes: Location length varies; EmpID and PlantID have variable digits; PayPeriod may be W, M, or Mo.</a:t>
            </a:r>
          </a:p>
          <a:p>
            <a:pPr>
              <a:spcAft>
                <a:spcPts val="2000"/>
              </a:spcAft>
              <a:defRPr sz="2100"/>
            </a:pPr>
            <a:r>
              <a:t>• Fixed-character extraction from Case 2 may now produce incorrect results.</a:t>
            </a:r>
          </a:p>
          <a:p>
            <a:pPr>
              <a:spcAft>
                <a:spcPts val="2000"/>
              </a:spcAft>
              <a:defRPr sz="2100"/>
            </a:pPr>
            <a:r>
              <a:t>• Power Query approach: use delimiters and character patterns (Text.BeforeDelimiter, Text.AfterDelimiter, Text.Select), then normalize values.</a:t>
            </a:r>
          </a:p>
          <a:p>
            <a:pPr>
              <a:spcAft>
                <a:spcPts val="2000"/>
              </a:spcAft>
              <a:defRPr sz="2100"/>
            </a:pPr>
            <a:r>
              <a:t>• Question: Which assumptions in our Case 2 solution have failed?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Case 3 — Build, test, and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Split around the dash; isolate letters and digits based on the actual code structure.</a:t>
            </a:r>
          </a:p>
          <a:p>
            <a:pPr>
              <a:spcAft>
                <a:spcPts val="2000"/>
              </a:spcAft>
              <a:defRPr sz="2100"/>
            </a:pPr>
            <a:r>
              <a:t>• Standardize M and Mo when both represent monthly pay.</a:t>
            </a:r>
          </a:p>
          <a:p>
            <a:pPr>
              <a:spcAft>
                <a:spcPts val="2000"/>
              </a:spcAft>
              <a:defRPr sz="2100"/>
            </a:pPr>
            <a:r>
              <a:t>• Create Location–PlantID key, retaining original EmployeeCode.</a:t>
            </a:r>
          </a:p>
          <a:p>
            <a:pPr>
              <a:spcAft>
                <a:spcPts val="2000"/>
              </a:spcAft>
              <a:defRPr sz="2100"/>
            </a:pPr>
            <a:r>
              <a:t>• Validate across different locations, ID lengths, and pay-period forms—not just one example.</a:t>
            </a:r>
          </a:p>
          <a:p>
            <a:pPr>
              <a:spcAft>
                <a:spcPts val="2000"/>
              </a:spcAft>
              <a:defRPr sz="2100"/>
            </a:pPr>
            <a:r>
              <a:t>• Close: visualize employee counts by location or pay period. When is a more flexible transformation worth the extra effort?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65371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Transforming raw data into consistent, usable information is essential to producing reliable analytical evidence.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Different data problems require different transformations. Predictable formats can be transformed using consistent rules, while messy or inconsistent data require more flexible approaches and 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Tools like Power BI help us prepare data for analysis. Power Query allows us to extract, clean, and transform data through </a:t>
            </a:r>
            <a:r>
              <a:rPr lang="en-US" b="1" i="1" dirty="0"/>
              <a:t>repeatable steps</a:t>
            </a:r>
            <a:r>
              <a:rPr lang="en-US" dirty="0"/>
              <a:t>, making it easier to identify patterns and support business decisions.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94383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9596-6BD0-7441-96D9-1F8868E0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FB9647-374A-22F4-A8AE-6FB199787E39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C73F9-1885-3A3B-C346-36F1F6425F8D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ETL: Cleaning and Transforming Data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continue to work on transforming data to meet our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Consider additional calculations and formulas to transform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42CC-6DCC-793F-7159-61467EE1CC0B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8062374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8244</TotalTime>
  <Words>845</Words>
  <Application>Microsoft Office PowerPoint</Application>
  <DocSecurity>0</DocSecurity>
  <PresentationFormat>Widescreen</PresentationFormat>
  <Paragraphs>89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Agenda</vt:lpstr>
      <vt:lpstr>Agenda</vt:lpstr>
      <vt:lpstr>Agenda</vt:lpstr>
      <vt:lpstr>PowerPoint Presentation</vt:lpstr>
      <vt:lpstr>Review</vt:lpstr>
      <vt:lpstr>PowerPoint Presentation</vt:lpstr>
      <vt:lpstr>PowerPoint Presentation</vt:lpstr>
      <vt:lpstr>Why do we transform data?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6</cp:revision>
  <dcterms:created xsi:type="dcterms:W3CDTF">2026-09-29T01:46:38Z</dcterms:created>
  <dcterms:modified xsi:type="dcterms:W3CDTF">2026-10-12T17:19:47Z</dcterms:modified>
</cp:coreProperties>
</file>