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300" r:id="rId3"/>
    <p:sldId id="1132" r:id="rId4"/>
    <p:sldId id="1133" r:id="rId5"/>
    <p:sldId id="1134" r:id="rId6"/>
    <p:sldId id="1130" r:id="rId7"/>
    <p:sldId id="372" r:id="rId8"/>
    <p:sldId id="873" r:id="rId9"/>
    <p:sldId id="1131" r:id="rId10"/>
    <p:sldId id="257" r:id="rId11"/>
    <p:sldId id="258" r:id="rId12"/>
    <p:sldId id="259" r:id="rId13"/>
    <p:sldId id="260" r:id="rId14"/>
    <p:sldId id="261" r:id="rId15"/>
    <p:sldId id="262" r:id="rId16"/>
    <p:sldId id="1136" r:id="rId17"/>
    <p:sldId id="113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A4EA4C-9854-4083-860F-BA86D847A779}" v="10" dt="2026-10-12T01:56:42.6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158" autoAdjust="0"/>
  </p:normalViewPr>
  <p:slideViewPr>
    <p:cSldViewPr snapToGrid="0">
      <p:cViewPr varScale="1">
        <p:scale>
          <a:sx n="135" d="100"/>
          <a:sy n="135" d="100"/>
        </p:scale>
        <p:origin x="348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sher Curtis" userId="494c4f5b-6d11-415a-9d9e-829c1135aa91" providerId="ADAL" clId="{FDEDEEF3-7275-4161-A24C-7071BE30F9A7}"/>
    <pc:docChg chg="addSld modSld sldOrd">
      <pc:chgData name="Asher Curtis" userId="494c4f5b-6d11-415a-9d9e-829c1135aa91" providerId="ADAL" clId="{FDEDEEF3-7275-4161-A24C-7071BE30F9A7}" dt="2026-10-05T17:08:03.245" v="47"/>
      <pc:docMkLst>
        <pc:docMk/>
      </pc:docMkLst>
    </pc:docChg>
  </pc:docChgLst>
  <pc:docChgLst>
    <pc:chgData name="Asher Curtis" userId="35c297388724ba9a" providerId="LiveId" clId="{A4FC0AD2-B0F2-4A57-BDAF-7F9B57B5A19A}"/>
    <pc:docChg chg="addSld delSld modSld">
      <pc:chgData name="Asher Curtis" userId="35c297388724ba9a" providerId="LiveId" clId="{A4FC0AD2-B0F2-4A57-BDAF-7F9B57B5A19A}" dt="2026-10-12T01:57:05.837" v="258" actId="114"/>
      <pc:docMkLst>
        <pc:docMk/>
      </pc:docMkLst>
      <pc:sldChg chg="modSp mod">
        <pc:chgData name="Asher Curtis" userId="35c297388724ba9a" providerId="LiveId" clId="{A4FC0AD2-B0F2-4A57-BDAF-7F9B57B5A19A}" dt="2026-10-12T01:36:00.970" v="5" actId="20577"/>
        <pc:sldMkLst>
          <pc:docMk/>
          <pc:sldMk cId="4294885419" sldId="256"/>
        </pc:sldMkLst>
        <pc:spChg chg="mod">
          <ac:chgData name="Asher Curtis" userId="35c297388724ba9a" providerId="LiveId" clId="{A4FC0AD2-B0F2-4A57-BDAF-7F9B57B5A19A}" dt="2026-10-12T01:35:12.264" v="0" actId="20577"/>
          <ac:spMkLst>
            <pc:docMk/>
            <pc:sldMk cId="4294885419" sldId="256"/>
            <ac:spMk id="3" creationId="{25E99166-AAF5-498F-B46D-82D42CECC71B}"/>
          </ac:spMkLst>
        </pc:spChg>
        <pc:spChg chg="mod">
          <ac:chgData name="Asher Curtis" userId="35c297388724ba9a" providerId="LiveId" clId="{A4FC0AD2-B0F2-4A57-BDAF-7F9B57B5A19A}" dt="2026-10-12T01:36:00.970" v="5" actId="20577"/>
          <ac:spMkLst>
            <pc:docMk/>
            <pc:sldMk cId="4294885419" sldId="256"/>
            <ac:spMk id="4" creationId="{42171E04-8C84-4649-B7E3-F266075EC7BB}"/>
          </ac:spMkLst>
        </pc:spChg>
      </pc:sldChg>
      <pc:sldChg chg="add">
        <pc:chgData name="Asher Curtis" userId="35c297388724ba9a" providerId="LiveId" clId="{A4FC0AD2-B0F2-4A57-BDAF-7F9B57B5A19A}" dt="2026-10-12T01:46:01.987" v="217"/>
        <pc:sldMkLst>
          <pc:docMk/>
          <pc:sldMk cId="0" sldId="257"/>
        </pc:sldMkLst>
      </pc:sldChg>
      <pc:sldChg chg="add">
        <pc:chgData name="Asher Curtis" userId="35c297388724ba9a" providerId="LiveId" clId="{A4FC0AD2-B0F2-4A57-BDAF-7F9B57B5A19A}" dt="2026-10-12T01:46:01.987" v="217"/>
        <pc:sldMkLst>
          <pc:docMk/>
          <pc:sldMk cId="0" sldId="258"/>
        </pc:sldMkLst>
      </pc:sldChg>
      <pc:sldChg chg="add">
        <pc:chgData name="Asher Curtis" userId="35c297388724ba9a" providerId="LiveId" clId="{A4FC0AD2-B0F2-4A57-BDAF-7F9B57B5A19A}" dt="2026-10-12T01:46:01.987" v="217"/>
        <pc:sldMkLst>
          <pc:docMk/>
          <pc:sldMk cId="0" sldId="259"/>
        </pc:sldMkLst>
      </pc:sldChg>
      <pc:sldChg chg="add">
        <pc:chgData name="Asher Curtis" userId="35c297388724ba9a" providerId="LiveId" clId="{A4FC0AD2-B0F2-4A57-BDAF-7F9B57B5A19A}" dt="2026-10-12T01:46:01.987" v="217"/>
        <pc:sldMkLst>
          <pc:docMk/>
          <pc:sldMk cId="0" sldId="260"/>
        </pc:sldMkLst>
      </pc:sldChg>
      <pc:sldChg chg="add">
        <pc:chgData name="Asher Curtis" userId="35c297388724ba9a" providerId="LiveId" clId="{A4FC0AD2-B0F2-4A57-BDAF-7F9B57B5A19A}" dt="2026-10-12T01:46:01.987" v="217"/>
        <pc:sldMkLst>
          <pc:docMk/>
          <pc:sldMk cId="0" sldId="261"/>
        </pc:sldMkLst>
      </pc:sldChg>
      <pc:sldChg chg="add">
        <pc:chgData name="Asher Curtis" userId="35c297388724ba9a" providerId="LiveId" clId="{A4FC0AD2-B0F2-4A57-BDAF-7F9B57B5A19A}" dt="2026-10-12T01:46:01.987" v="217"/>
        <pc:sldMkLst>
          <pc:docMk/>
          <pc:sldMk cId="0" sldId="262"/>
        </pc:sldMkLst>
      </pc:sldChg>
      <pc:sldChg chg="modSp del mod">
        <pc:chgData name="Asher Curtis" userId="35c297388724ba9a" providerId="LiveId" clId="{A4FC0AD2-B0F2-4A57-BDAF-7F9B57B5A19A}" dt="2026-10-12T01:54:50.077" v="230" actId="47"/>
        <pc:sldMkLst>
          <pc:docMk/>
          <pc:sldMk cId="2931208946" sldId="278"/>
        </pc:sldMkLst>
        <pc:spChg chg="mod">
          <ac:chgData name="Asher Curtis" userId="35c297388724ba9a" providerId="LiveId" clId="{A4FC0AD2-B0F2-4A57-BDAF-7F9B57B5A19A}" dt="2026-10-12T01:41:37.918" v="121" actId="20577"/>
          <ac:spMkLst>
            <pc:docMk/>
            <pc:sldMk cId="2931208946" sldId="278"/>
            <ac:spMk id="2" creationId="{11EC96EB-8371-4B7E-A0C3-573FD660BBA7}"/>
          </ac:spMkLst>
        </pc:spChg>
        <pc:spChg chg="mod">
          <ac:chgData name="Asher Curtis" userId="35c297388724ba9a" providerId="LiveId" clId="{A4FC0AD2-B0F2-4A57-BDAF-7F9B57B5A19A}" dt="2026-10-12T01:46:39.187" v="228" actId="20577"/>
          <ac:spMkLst>
            <pc:docMk/>
            <pc:sldMk cId="2931208946" sldId="278"/>
            <ac:spMk id="5" creationId="{084B59F3-FA70-48A1-8B0F-551483EAAA2F}"/>
          </ac:spMkLst>
        </pc:spChg>
      </pc:sldChg>
      <pc:sldChg chg="modSp mod">
        <pc:chgData name="Asher Curtis" userId="35c297388724ba9a" providerId="LiveId" clId="{A4FC0AD2-B0F2-4A57-BDAF-7F9B57B5A19A}" dt="2026-10-12T01:43:19.213" v="216" actId="20577"/>
        <pc:sldMkLst>
          <pc:docMk/>
          <pc:sldMk cId="4272180523" sldId="300"/>
        </pc:sldMkLst>
        <pc:spChg chg="mod">
          <ac:chgData name="Asher Curtis" userId="35c297388724ba9a" providerId="LiveId" clId="{A4FC0AD2-B0F2-4A57-BDAF-7F9B57B5A19A}" dt="2026-10-12T01:43:19.213" v="216" actId="20577"/>
          <ac:spMkLst>
            <pc:docMk/>
            <pc:sldMk cId="4272180523" sldId="300"/>
            <ac:spMk id="2" creationId="{4BF555D3-14D1-2CA6-3E9F-FDB21F020B98}"/>
          </ac:spMkLst>
        </pc:spChg>
      </pc:sldChg>
      <pc:sldChg chg="modSp add mod">
        <pc:chgData name="Asher Curtis" userId="35c297388724ba9a" providerId="LiveId" clId="{A4FC0AD2-B0F2-4A57-BDAF-7F9B57B5A19A}" dt="2026-10-12T01:39:26.868" v="16" actId="6549"/>
        <pc:sldMkLst>
          <pc:docMk/>
          <pc:sldMk cId="3118862969" sldId="372"/>
        </pc:sldMkLst>
        <pc:spChg chg="mod">
          <ac:chgData name="Asher Curtis" userId="35c297388724ba9a" providerId="LiveId" clId="{A4FC0AD2-B0F2-4A57-BDAF-7F9B57B5A19A}" dt="2026-10-12T01:39:26.868" v="16" actId="6549"/>
          <ac:spMkLst>
            <pc:docMk/>
            <pc:sldMk cId="3118862969" sldId="372"/>
            <ac:spMk id="2" creationId="{3343B51B-0A83-EDC8-5496-64D3A58ABEEB}"/>
          </ac:spMkLst>
        </pc:spChg>
        <pc:spChg chg="mod">
          <ac:chgData name="Asher Curtis" userId="35c297388724ba9a" providerId="LiveId" clId="{A4FC0AD2-B0F2-4A57-BDAF-7F9B57B5A19A}" dt="2026-10-12T01:39:16.937" v="12" actId="20577"/>
          <ac:spMkLst>
            <pc:docMk/>
            <pc:sldMk cId="3118862969" sldId="372"/>
            <ac:spMk id="3" creationId="{8DD6B6A5-AB1F-874C-8C41-DE2C18593307}"/>
          </ac:spMkLst>
        </pc:spChg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3152376829" sldId="859"/>
        </pc:sldMkLst>
      </pc:sldChg>
      <pc:sldChg chg="del">
        <pc:chgData name="Asher Curtis" userId="35c297388724ba9a" providerId="LiveId" clId="{A4FC0AD2-B0F2-4A57-BDAF-7F9B57B5A19A}" dt="2026-10-12T01:42:09.152" v="123" actId="2696"/>
        <pc:sldMkLst>
          <pc:docMk/>
          <pc:sldMk cId="382477658" sldId="873"/>
        </pc:sldMkLst>
      </pc:sldChg>
      <pc:sldChg chg="add">
        <pc:chgData name="Asher Curtis" userId="35c297388724ba9a" providerId="LiveId" clId="{A4FC0AD2-B0F2-4A57-BDAF-7F9B57B5A19A}" dt="2026-10-12T01:42:17.454" v="124"/>
        <pc:sldMkLst>
          <pc:docMk/>
          <pc:sldMk cId="1421765229" sldId="873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3899184772" sldId="879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4023297246" sldId="880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1423827205" sldId="896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4030162361" sldId="899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2100177272" sldId="901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1484407016" sldId="902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1211127109" sldId="903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474629357" sldId="904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591258291" sldId="905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3773431859" sldId="906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2605712550" sldId="907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33983555" sldId="908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1655476984" sldId="909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1880885414" sldId="910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3256926708" sldId="911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164587029" sldId="912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3944041808" sldId="913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2992222390" sldId="914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3372416937" sldId="915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960739962" sldId="916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3590854050" sldId="917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3528514397" sldId="918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2424377462" sldId="920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459261355" sldId="922"/>
        </pc:sldMkLst>
      </pc:sldChg>
      <pc:sldChg chg="add">
        <pc:chgData name="Asher Curtis" userId="35c297388724ba9a" providerId="LiveId" clId="{A4FC0AD2-B0F2-4A57-BDAF-7F9B57B5A19A}" dt="2026-10-12T01:46:01.987" v="217"/>
        <pc:sldMkLst>
          <pc:docMk/>
          <pc:sldMk cId="0" sldId="1131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3673789896" sldId="1131"/>
        </pc:sldMkLst>
      </pc:sldChg>
      <pc:sldChg chg="add">
        <pc:chgData name="Asher Curtis" userId="35c297388724ba9a" providerId="LiveId" clId="{A4FC0AD2-B0F2-4A57-BDAF-7F9B57B5A19A}" dt="2026-10-12T01:46:08.697" v="218" actId="2890"/>
        <pc:sldMkLst>
          <pc:docMk/>
          <pc:sldMk cId="838195131" sldId="1132"/>
        </pc:sldMkLst>
      </pc:sldChg>
      <pc:sldChg chg="add">
        <pc:chgData name="Asher Curtis" userId="35c297388724ba9a" providerId="LiveId" clId="{A4FC0AD2-B0F2-4A57-BDAF-7F9B57B5A19A}" dt="2026-10-12T01:46:11.305" v="219" actId="2890"/>
        <pc:sldMkLst>
          <pc:docMk/>
          <pc:sldMk cId="711480873" sldId="1133"/>
        </pc:sldMkLst>
      </pc:sldChg>
      <pc:sldChg chg="add">
        <pc:chgData name="Asher Curtis" userId="35c297388724ba9a" providerId="LiveId" clId="{A4FC0AD2-B0F2-4A57-BDAF-7F9B57B5A19A}" dt="2026-10-12T01:46:14.183" v="220" actId="2890"/>
        <pc:sldMkLst>
          <pc:docMk/>
          <pc:sldMk cId="4233644121" sldId="1134"/>
        </pc:sldMkLst>
      </pc:sldChg>
      <pc:sldChg chg="add">
        <pc:chgData name="Asher Curtis" userId="35c297388724ba9a" providerId="LiveId" clId="{A4FC0AD2-B0F2-4A57-BDAF-7F9B57B5A19A}" dt="2026-10-12T01:46:31.505" v="221" actId="2890"/>
        <pc:sldMkLst>
          <pc:docMk/>
          <pc:sldMk cId="208062374" sldId="1135"/>
        </pc:sldMkLst>
      </pc:sldChg>
      <pc:sldChg chg="modSp add mod">
        <pc:chgData name="Asher Curtis" userId="35c297388724ba9a" providerId="LiveId" clId="{A4FC0AD2-B0F2-4A57-BDAF-7F9B57B5A19A}" dt="2026-10-12T01:57:05.837" v="258" actId="114"/>
        <pc:sldMkLst>
          <pc:docMk/>
          <pc:sldMk cId="3194383255" sldId="1136"/>
        </pc:sldMkLst>
        <pc:spChg chg="mod">
          <ac:chgData name="Asher Curtis" userId="35c297388724ba9a" providerId="LiveId" clId="{A4FC0AD2-B0F2-4A57-BDAF-7F9B57B5A19A}" dt="2026-10-12T01:57:05.837" v="258" actId="114"/>
          <ac:spMkLst>
            <pc:docMk/>
            <pc:sldMk cId="3194383255" sldId="1136"/>
            <ac:spMk id="2" creationId="{3343B51B-0A83-EDC8-5496-64D3A58ABEEB}"/>
          </ac:spMkLst>
        </pc:spChg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3664892757" sldId="1136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711708439" sldId="1158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1666654029" sldId="1159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1421970449" sldId="1160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1187461027" sldId="1161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2987137018" sldId="1162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603970790" sldId="1163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2738480129" sldId="1164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3601593719" sldId="1165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1982114712" sldId="1166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2697538180" sldId="1167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541659567" sldId="1169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1132239068" sldId="1170"/>
        </pc:sldMkLst>
      </pc:sldChg>
      <pc:sldMasterChg chg="delSldLayout">
        <pc:chgData name="Asher Curtis" userId="35c297388724ba9a" providerId="LiveId" clId="{A4FC0AD2-B0F2-4A57-BDAF-7F9B57B5A19A}" dt="2026-10-12T01:41:54.850" v="122" actId="47"/>
        <pc:sldMasterMkLst>
          <pc:docMk/>
          <pc:sldMasterMk cId="0" sldId="2147483648"/>
        </pc:sldMasterMkLst>
        <pc:sldLayoutChg chg="del">
          <pc:chgData name="Asher Curtis" userId="35c297388724ba9a" providerId="LiveId" clId="{A4FC0AD2-B0F2-4A57-BDAF-7F9B57B5A19A}" dt="2026-10-12T01:41:54.850" v="122" actId="47"/>
          <pc:sldLayoutMkLst>
            <pc:docMk/>
            <pc:sldMasterMk cId="0" sldId="2147483648"/>
            <pc:sldLayoutMk cId="1910893404" sldId="2147483730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84417D-1188-4C37-8002-C7B0954B380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6944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638B2-D708-84E6-5042-DA2A22B40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A2C0C1-95E6-8B39-BDA5-CD64A1521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67A18C-EA97-A32C-730A-7DCEDE2D07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C44A3-7480-3F24-88AD-8313BCB57D0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0629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Walkin slide">
    <p:bg>
      <p:bgPr>
        <a:blipFill rotWithShape="1">
          <a:blip r:embed="rId2"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9CFC0D3D-31F1-39A9-7186-66397F2588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4D2F92D-2232-B825-2B2D-AC671306A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7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Walkin slid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3EDC79F-91AA-B3FB-6403-6121F91C5FC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7969" y="163926"/>
            <a:ext cx="12192000" cy="532262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t>CLICK ICON TO ADD PICTURE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CFC0D3D-31F1-39A9-7186-66397F2588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1" y="2895781"/>
            <a:ext cx="4609352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4D2F92D-2232-B825-2B2D-AC671306A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11" name="Picture 4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C840783-3AB7-4D7E-82CD-FC31657F7CD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2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A38FA88-52D3-47C2-90DE-627C0B1361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11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_ta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37DFD003-31A4-8340-0A89-F3F70E0F5A5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672DC9-106D-3DF9-16B9-F24BCF5E50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8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Section header_purpl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40223BA2-E77E-B0A1-9266-0D49F8CF83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bg2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F38BED7-E369-0B67-7D56-7D3F31FC32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8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33D3F72-2015-4C6B-A20F-F5C3095135D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0" y="1744134"/>
            <a:ext cx="7315200" cy="2252796"/>
          </a:xfrm>
        </p:spPr>
        <p:txBody>
          <a:bodyPr/>
          <a:lstStyle>
            <a:lvl1pPr>
              <a:buNone/>
              <a:defRPr sz="1867" b="0" i="0"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 i="0"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 i="0"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 i="0"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 i="0">
                <a:latin typeface="Open Sans Light"/>
                <a:ea typeface="Open Sans Light"/>
                <a:cs typeface="Open Sans Light"/>
              </a:defRPr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41C90-5ECB-21EE-9F34-0F9BBB60AD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4F63E328-8C9C-DE2A-7308-E8BBCD69BEF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6316276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B2E75EFE-336F-8122-928E-E0E85EA4EA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5927" y="641802"/>
            <a:ext cx="6316276" cy="584775"/>
          </a:xfrm>
        </p:spPr>
        <p:txBody>
          <a:bodyPr/>
          <a:lstStyle/>
          <a:p>
            <a:r>
              <a:t>CLICK TO EDIT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0C6CCC-8AA2-B4C9-2718-27DD013B166E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7437968" y="0"/>
            <a:ext cx="4754033" cy="532262"/>
          </a:xfrm>
        </p:spPr>
        <p:txBody>
          <a:bodyPr/>
          <a:lstStyle/>
          <a:p>
            <a:r>
              <a:t>Click icon to add picture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4F63E328-8C9C-DE2A-7308-E8BBCD69BEF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0" y="1744134"/>
            <a:ext cx="6592901" cy="2252796"/>
          </a:xfrm>
        </p:spPr>
        <p:txBody>
          <a:bodyPr/>
          <a:lstStyle>
            <a:lvl1pPr>
              <a:buNone/>
              <a:defRPr sz="1867" b="1">
                <a:solidFill>
                  <a:schemeClr val="tx1"/>
                </a:solidFill>
              </a:defRPr>
            </a:lvl1pPr>
            <a:lvl2pPr>
              <a:buNone/>
              <a:defRPr sz="1867">
                <a:solidFill>
                  <a:schemeClr val="tx1"/>
                </a:solidFill>
              </a:defRPr>
            </a:lvl2pPr>
            <a:lvl3pPr>
              <a:buNone/>
              <a:defRPr sz="1867">
                <a:solidFill>
                  <a:schemeClr val="tx1"/>
                </a:solidFill>
              </a:defRPr>
            </a:lvl3pPr>
            <a:lvl4pPr>
              <a:buNone/>
              <a:defRPr sz="1867">
                <a:solidFill>
                  <a:schemeClr val="tx1"/>
                </a:solidFill>
              </a:defRPr>
            </a:lvl4pPr>
            <a:lvl5pPr>
              <a:buNone/>
              <a:defRPr sz="1867">
                <a:solidFill>
                  <a:schemeClr val="tx1"/>
                </a:solidFill>
              </a:defRPr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DEE5A-694C-C4D4-2519-94E57145AE4D}"/>
              </a:ext>
            </a:extLst>
          </p:cNvPr>
          <p:cNvSpPr>
            <a:spLocks noGrp="1"/>
          </p:cNvSpPr>
          <p:nvPr/>
        </p:nvSpPr>
        <p:spPr>
          <a:xfrm>
            <a:off x="8342490" y="0"/>
            <a:ext cx="3849511" cy="6858000"/>
          </a:xfrm>
          <a:prstGeom prst="rect">
            <a:avLst/>
          </a:prstGeom>
          <a:blipFill rotWithShape="1">
            <a:blip r:embed="rId2"/>
            <a:srcRect/>
            <a:stretch>
              <a:fillRect l="-102790" r="-64464"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sz="240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7514D8-5214-F82C-BCBF-B5E202DCD6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5927" y="641802"/>
            <a:ext cx="6576575" cy="584775"/>
          </a:xfrm>
        </p:spPr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D5776-2479-4379-A703-2C22D497D2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196A19D-20D7-4BE0-91CF-70BE1A51836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48928" y="2455592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9F63A1E-80AC-873A-7B08-C7265BB5967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648928" y="3451618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69324E9C-60EB-28A4-B685-42B2774AEFAF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648928" y="4013459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BD8CB4E0-D660-D5F2-909F-028F7EFFCD9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6270794" y="2455592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D09874F-B2CF-BD5A-EE3E-7444C4E16C8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70794" y="4013459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0C492763-7F70-C5FA-0820-3577947AC99F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648928" y="1884075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FDDAFFA5-C05C-EA69-DBA3-676A18E8CEF7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6263396" y="3451618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DFEE20B9-CD1F-8C9B-BEA0-B9D319CCC2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6263396" y="1884075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79EC0-41F0-4247-9C45-69A7F8DF62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9E53213-570B-4A18-BD1C-150302F61DED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6312126" y="1744133"/>
            <a:ext cx="5300133" cy="533480"/>
          </a:xfrm>
        </p:spPr>
        <p:txBody>
          <a:bodyPr/>
          <a:lstStyle/>
          <a:p>
            <a:r>
              <a:t>Click icon to add picture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406E4740-29FB-D70A-8FD0-D37379CFCD0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270276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327B15-003C-B57F-47CD-422B701435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CC5F2F5B-6F0D-D207-EBEE-C1FD4E77DD2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288974" y="5822909"/>
            <a:ext cx="1220513" cy="646331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buNone/>
              <a:defRPr sz="1200"/>
            </a:lvl1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5B892A-4F81-3DE8-DAB9-C9ACD1E4B2D0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370667" y="0"/>
            <a:ext cx="9821333" cy="532262"/>
          </a:xfrm>
        </p:spPr>
        <p:txBody>
          <a:bodyPr/>
          <a:lstStyle/>
          <a:p>
            <a:r>
              <a:t>Click icon to add picture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 Pur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1EFCB-4C82-A339-B669-A9027A837A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EEF7E41-47AD-7303-E02A-CD4A30B4D13F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590903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Q&amp;A Pur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1EFCB-4C82-A339-B669-A9027A837A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EEF7E41-47AD-7303-E02A-CD4A30B4D13F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167087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 Go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2">
            <a:extLst>
              <a:ext uri="{FF2B5EF4-FFF2-40B4-BE49-F238E27FC236}">
                <a16:creationId xmlns:a16="http://schemas.microsoft.com/office/drawing/2014/main" id="{2A43680B-0C4E-035C-8289-47EE40A3E9E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86595" y="1966666"/>
            <a:ext cx="9414933" cy="1990288"/>
          </a:xfrm>
        </p:spPr>
        <p:txBody>
          <a:bodyPr/>
          <a:lstStyle>
            <a:lvl1pPr marL="0" marR="0" indent="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None/>
              <a:defRPr sz="2400">
                <a:solidFill>
                  <a:schemeClr val="tx1"/>
                </a:solidFill>
              </a:defRPr>
            </a:lvl1pPr>
          </a:lstStyle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  <a:p>
            <a:pPr lvl="0">
              <a:buNone/>
            </a:pPr>
            <a:endParaRPr/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endParaRPr/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6B5C0D-562C-B668-B0FD-B003E2FB72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_purpl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hank You_ta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5BA17-DAF9-681D-B819-7BDD9530A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10759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44413B94-6844-4A70-89C7-90215F307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r>
              <a:t>CLICK TO EDIT HEADER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849ED6-60C4-4512-8605-1E9E2FBFD1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5927" y="1529769"/>
            <a:ext cx="10894141" cy="2375522"/>
          </a:xfrm>
          <a:prstGeom prst="rect">
            <a:avLst/>
          </a:prstGeom>
        </p:spPr>
        <p:txBody>
          <a:bodyPr vert="horz" wrap="square" lIns="137160" tIns="45720" rIns="91440" bIns="45720">
            <a:spAutoFit/>
          </a:bodyPr>
          <a:lstStyle/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DCE893-6A75-F770-3EBA-345A9472F0A7}"/>
              </a:ext>
            </a:extLst>
          </p:cNvPr>
          <p:cNvSpPr>
            <a:spLocks noGrp="1"/>
          </p:cNvSpPr>
          <p:nvPr/>
        </p:nvSpPr>
        <p:spPr>
          <a:xfrm>
            <a:off x="381193" y="6409578"/>
            <a:ext cx="4274987" cy="235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33" b="0" i="0" spc="27">
                <a:solidFill>
                  <a:schemeClr val="tx1">
                    <a:lumMod val="65000"/>
                    <a:lumOff val="35000"/>
                  </a:schemeClr>
                </a:solidFill>
                <a:latin typeface="Uni Sans Book"/>
                <a:ea typeface="Uni Sans Book"/>
                <a:cs typeface="Uni Sans Book"/>
              </a:rPr>
              <a:t> FOSTER SCHOOL OF BUSINESS, UNIVERSITY OF WASHINGTON</a:t>
            </a:r>
            <a:endParaRPr sz="2133" b="0" spc="27" baseline="0">
              <a:solidFill>
                <a:schemeClr val="tx1">
                  <a:lumMod val="65000"/>
                  <a:lumOff val="35000"/>
                </a:schemeClr>
              </a:solidFill>
              <a:latin typeface="Uni Sans Book"/>
              <a:ea typeface="Uni Sans Book"/>
              <a:cs typeface="Uni Sans Book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B5DED1-6392-63AA-0761-1325CD3A98B5}"/>
              </a:ext>
            </a:extLst>
          </p:cNvPr>
          <p:cNvSpPr>
            <a:spLocks noGrp="1"/>
          </p:cNvSpPr>
          <p:nvPr/>
        </p:nvSpPr>
        <p:spPr>
          <a:xfrm>
            <a:off x="8243235" y="6409577"/>
            <a:ext cx="3427347" cy="235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933" b="0" i="0">
                <a:solidFill>
                  <a:schemeClr val="tx1">
                    <a:lumMod val="65000"/>
                    <a:lumOff val="35000"/>
                  </a:schemeClr>
                </a:solidFill>
                <a:latin typeface="Encode Sans Normal Medium"/>
                <a:ea typeface="Encode Sans Normal Medium"/>
                <a:cs typeface="Encode Sans Normal Medium"/>
              </a:rPr>
              <a:t>foster.uw.edu</a:t>
            </a:r>
            <a:endParaRPr sz="2133" b="0" i="0">
              <a:solidFill>
                <a:schemeClr val="tx1">
                  <a:lumMod val="65000"/>
                  <a:lumOff val="35000"/>
                </a:schemeClr>
              </a:solidFill>
              <a:latin typeface="Encode Sans Normal Medium"/>
              <a:ea typeface="Encode Sans Normal Medium"/>
              <a:cs typeface="Encode Sans Normal Medium"/>
            </a:endParaRP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B19E5F83-CC4C-4422-956B-0374695BFA28}"/>
              </a:ext>
            </a:extLst>
          </p:cNvPr>
          <p:cNvSpPr>
            <a:spLocks noGrp="1"/>
          </p:cNvSpPr>
          <p:nvPr/>
        </p:nvSpPr>
        <p:spPr>
          <a:xfrm>
            <a:off x="522515" y="6316617"/>
            <a:ext cx="11043559" cy="0"/>
          </a:xfrm>
          <a:prstGeom prst="line">
            <a:avLst/>
          </a:prstGeom>
          <a:ln>
            <a:solidFill>
              <a:srgbClr val="C09F29">
                <a:alpha val="34419"/>
              </a:srgb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729" r:id="rId19"/>
  </p:sldLayoutIdLst>
  <p:txStyles>
    <p:titleStyle>
      <a:lvl1pPr algn="l" defTabSz="609585">
        <a:spcBef>
          <a:spcPct val="0"/>
        </a:spcBef>
        <a:spcAft>
          <a:spcPct val="0"/>
        </a:spcAft>
        <a:buNone/>
        <a:defRPr sz="3200" b="1" i="0" kern="1200">
          <a:solidFill>
            <a:srgbClr val="32006E"/>
          </a:solidFill>
          <a:latin typeface="Encode Sans Normal ExtraBold"/>
          <a:ea typeface="Encode Sans Normal ExtraBold"/>
          <a:cs typeface="Encode Sans Normal ExtraBold"/>
        </a:defRPr>
      </a:lvl1pPr>
      <a:lvl2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2pPr>
      <a:lvl3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3pPr>
      <a:lvl4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4pPr>
      <a:lvl5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5pPr>
      <a:lvl6pPr marL="609585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6pPr>
      <a:lvl7pPr marL="1219170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7pPr>
      <a:lvl8pPr marL="1828754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8pPr>
      <a:lvl9pPr marL="2438339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9pPr>
    </p:titleStyle>
    <p:bodyStyle>
      <a:lvl1pPr marL="0" indent="0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None/>
        <a:defRPr sz="2133" kern="1200">
          <a:solidFill>
            <a:schemeClr val="tx1"/>
          </a:solidFill>
          <a:latin typeface="Open Sans Light"/>
          <a:ea typeface="Open Sans Light"/>
          <a:cs typeface="Open Sans Light"/>
        </a:defRPr>
      </a:lvl1pPr>
      <a:lvl2pPr marL="687900" indent="-23282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2133" kern="1200">
          <a:solidFill>
            <a:schemeClr val="tx1"/>
          </a:solidFill>
          <a:latin typeface="Open Sans Light"/>
          <a:ea typeface="Open Sans Light"/>
          <a:cs typeface="Open Sans Light"/>
        </a:defRPr>
      </a:lvl2pPr>
      <a:lvl3pPr marL="914377" indent="-22647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3pPr>
      <a:lvl4pPr marL="1140855" indent="-22647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4pPr>
      <a:lvl5pPr marL="1375799" indent="-234945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5pPr>
      <a:lvl6pPr marL="3352716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6pPr>
      <a:lvl7pPr marL="3962301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7pPr>
      <a:lvl8pPr marL="4571886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8pPr>
      <a:lvl9pPr marL="5181470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marL="609585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219170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828754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4pPr>
      <a:lvl5pPr marL="2438339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5pPr>
      <a:lvl6pPr marL="3047924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6pPr>
      <a:lvl7pPr marL="3657509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7pPr>
      <a:lvl8pPr marL="4267093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8pPr>
      <a:lvl9pPr marL="4876678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pos="288">
          <p15:clr>
            <a:srgbClr val="F26B43"/>
          </p15:clr>
        </p15:guide>
        <p15:guide id="4" orient="horz" pos="279">
          <p15:clr>
            <a:srgbClr val="F26B43"/>
          </p15:clr>
        </p15:guide>
        <p15:guide id="5" orient="horz" pos="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2171E04-8C84-4649-B7E3-F266075EC7BB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572750" cy="800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lang="en-US" sz="40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ETL: Changing Fields</a:t>
            </a:r>
            <a:endParaRPr sz="3600" b="1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0B64F9C-E20B-4CE2-B941-28E4B429B518}"/>
              </a:ext>
            </a:extLst>
          </p:cNvPr>
          <p:cNvSpPr>
            <a:spLocks noGrp="1"/>
          </p:cNvSpPr>
          <p:nvPr/>
        </p:nvSpPr>
        <p:spPr>
          <a:xfrm>
            <a:off x="609600" y="3679307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ACCTG 320</a:t>
            </a:r>
          </a:p>
          <a:p>
            <a:pPr>
              <a:defRPr sz="24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Accounting Systems and Analytics</a:t>
            </a:r>
            <a:endParaRPr sz="2400" b="1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E99166-AAF5-498F-B46D-82D42CECC71B}"/>
              </a:ext>
            </a:extLst>
          </p:cNvPr>
          <p:cNvSpPr>
            <a:spLocks noGrp="1"/>
          </p:cNvSpPr>
          <p:nvPr/>
        </p:nvSpPr>
        <p:spPr>
          <a:xfrm>
            <a:off x="609600" y="4757183"/>
            <a:ext cx="1000125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B7A579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B7A579"/>
                </a:solidFill>
                <a:latin typeface="Segoe UI"/>
              </a:rPr>
              <a:t>Class 04 | Autumn | 2026</a:t>
            </a:r>
            <a:endParaRPr sz="2400" b="1" dirty="0">
              <a:solidFill>
                <a:srgbClr val="B7A579"/>
              </a:solidFill>
              <a:latin typeface="Segoe UI"/>
              <a:ea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4294885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F555D3-14D1-2CA6-3E9F-FDB21F020B9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69663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Review</a:t>
            </a:r>
          </a:p>
          <a:p>
            <a:pPr marL="457200" indent="-457200">
              <a:buAutoNum type="arabicPeriod"/>
            </a:pPr>
            <a:r>
              <a:rPr lang="en-US" dirty="0"/>
              <a:t>The importance of transforms</a:t>
            </a:r>
          </a:p>
          <a:p>
            <a:pPr marL="457200" indent="-457200">
              <a:buAutoNum type="arabicPeriod"/>
            </a:pPr>
            <a:r>
              <a:rPr lang="en-US" dirty="0"/>
              <a:t>Data exercises:</a:t>
            </a:r>
          </a:p>
          <a:p>
            <a:pPr marL="1145100" lvl="1" indent="-457200">
              <a:buAutoNum type="arabicPeriod"/>
            </a:pPr>
            <a:r>
              <a:rPr lang="en-US" dirty="0"/>
              <a:t>Transforming structured text data </a:t>
            </a:r>
          </a:p>
          <a:p>
            <a:pPr marL="1145100" lvl="1" indent="-457200">
              <a:buAutoNum type="arabicPeriod"/>
            </a:pPr>
            <a:r>
              <a:rPr lang="en-US" dirty="0"/>
              <a:t>Transforming messy text data</a:t>
            </a:r>
          </a:p>
          <a:p>
            <a:pPr marL="457200" indent="-457200">
              <a:buAutoNum type="arabicPeriod"/>
            </a:pPr>
            <a:r>
              <a:rPr lang="en-US" dirty="0"/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257129C-F48B-B91A-202B-99600A6CD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4272180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4BAB9-0E18-69E0-3315-77CC9B008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810E08-F5B0-3D71-F1F8-5F8FFCC851C1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69663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Review</a:t>
            </a:r>
          </a:p>
          <a:p>
            <a:pPr marL="457200" indent="-457200">
              <a:buAutoNum type="arabicPeriod"/>
            </a:pPr>
            <a:r>
              <a:rPr lang="en-US" dirty="0"/>
              <a:t>The importance of transforms</a:t>
            </a:r>
          </a:p>
          <a:p>
            <a:pPr marL="457200" indent="-457200">
              <a:buAutoNum type="arabicPeriod"/>
            </a:pPr>
            <a:r>
              <a:rPr lang="en-US" dirty="0"/>
              <a:t>Data exercises:</a:t>
            </a:r>
          </a:p>
          <a:p>
            <a:pPr marL="1145100" lvl="1" indent="-457200">
              <a:buAutoNum type="arabicPeriod"/>
            </a:pPr>
            <a:r>
              <a:rPr lang="en-US" dirty="0"/>
              <a:t>Transforming structured text data </a:t>
            </a:r>
          </a:p>
          <a:p>
            <a:pPr marL="1145100" lvl="1" indent="-457200">
              <a:buAutoNum type="arabicPeriod"/>
            </a:pPr>
            <a:r>
              <a:rPr lang="en-US" dirty="0"/>
              <a:t>Transforming messy text data</a:t>
            </a:r>
          </a:p>
          <a:p>
            <a:pPr marL="457200" indent="-457200">
              <a:buAutoNum type="arabicPeriod"/>
            </a:pPr>
            <a:r>
              <a:rPr lang="en-US" dirty="0"/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8CA4771-A786-067E-6BD1-8590545D9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8381951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D56AD-1BB8-DA04-7A72-B73063B7D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9C7D89-8E8D-4FEA-9A58-E457FFC2E051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69663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Review</a:t>
            </a:r>
          </a:p>
          <a:p>
            <a:pPr marL="457200" indent="-457200">
              <a:buAutoNum type="arabicPeriod"/>
            </a:pPr>
            <a:r>
              <a:rPr lang="en-US" dirty="0"/>
              <a:t>The importance of transforms</a:t>
            </a:r>
          </a:p>
          <a:p>
            <a:pPr marL="457200" indent="-457200">
              <a:buAutoNum type="arabicPeriod"/>
            </a:pPr>
            <a:r>
              <a:rPr lang="en-US" dirty="0"/>
              <a:t>Data exercises:</a:t>
            </a:r>
          </a:p>
          <a:p>
            <a:pPr marL="1145100" lvl="1" indent="-457200">
              <a:buAutoNum type="arabicPeriod"/>
            </a:pPr>
            <a:r>
              <a:rPr lang="en-US" dirty="0"/>
              <a:t>Transforming structured text data </a:t>
            </a:r>
          </a:p>
          <a:p>
            <a:pPr marL="1145100" lvl="1" indent="-457200">
              <a:buAutoNum type="arabicPeriod"/>
            </a:pPr>
            <a:r>
              <a:rPr lang="en-US" dirty="0"/>
              <a:t>Transforming messy text data</a:t>
            </a:r>
          </a:p>
          <a:p>
            <a:pPr marL="457200" indent="-457200">
              <a:buAutoNum type="arabicPeriod"/>
            </a:pPr>
            <a:r>
              <a:rPr lang="en-US" dirty="0"/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587D14-2BB0-B288-2110-D677ABD08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11480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2CF61-21E5-47DD-EF5C-5C176A041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7C28BDA-274F-3AF9-1F71-D90B4398F36C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69663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Review</a:t>
            </a:r>
          </a:p>
          <a:p>
            <a:pPr marL="457200" indent="-457200">
              <a:buAutoNum type="arabicPeriod"/>
            </a:pPr>
            <a:r>
              <a:rPr lang="en-US" dirty="0"/>
              <a:t>The importance of transforms</a:t>
            </a:r>
          </a:p>
          <a:p>
            <a:pPr marL="457200" indent="-457200">
              <a:buAutoNum type="arabicPeriod"/>
            </a:pPr>
            <a:r>
              <a:rPr lang="en-US" dirty="0"/>
              <a:t>Data exercises:</a:t>
            </a:r>
          </a:p>
          <a:p>
            <a:pPr marL="1145100" lvl="1" indent="-457200">
              <a:buAutoNum type="arabicPeriod"/>
            </a:pPr>
            <a:r>
              <a:rPr lang="en-US" dirty="0"/>
              <a:t>Transforming structured text data </a:t>
            </a:r>
          </a:p>
          <a:p>
            <a:pPr marL="1145100" lvl="1" indent="-457200">
              <a:buAutoNum type="arabicPeriod"/>
            </a:pPr>
            <a:r>
              <a:rPr lang="en-US" dirty="0"/>
              <a:t>Transforming messy text data</a:t>
            </a:r>
          </a:p>
          <a:p>
            <a:pPr marL="457200" indent="-457200">
              <a:buAutoNum type="arabicPeriod"/>
            </a:pPr>
            <a:r>
              <a:rPr lang="en-US" dirty="0"/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3F92AFF-1E60-E03D-B452-15286B99E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4233644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2AFCD-F3E6-C34F-F83B-3DD755D60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EB20D57-3A17-FEB1-8C5D-C69528CD61BE}"/>
              </a:ext>
            </a:extLst>
          </p:cNvPr>
          <p:cNvPicPr>
            <a:picLocks noGrp="1" noChangeAspect="1"/>
          </p:cNvPicPr>
          <p:nvPr>
            <p:ph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50" y="1171527"/>
            <a:ext cx="11950700" cy="397360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18451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43B51B-0A83-EDC8-5496-64D3A58ABEE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712569" cy="3516732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Our key takeaway: </a:t>
            </a:r>
            <a:r>
              <a:rPr lang="en-US" b="1" dirty="0"/>
              <a:t>Understanding how data are connected is essential to producing reliable analytical evidence.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endParaRPr lang="en-US" dirty="0"/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Tools like Power BI make relational data useful. Relationships, transformations, and visualizations allow us to explore data without always combining everything into one table.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D6B6A5-AB1F-874C-8C41-DE2C18593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118862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Visual Representation of SQL Joins - CodeProject">
            <a:extLst>
              <a:ext uri="{FF2B5EF4-FFF2-40B4-BE49-F238E27FC236}">
                <a16:creationId xmlns:a16="http://schemas.microsoft.com/office/drawing/2014/main" id="{B74B300C-C7BE-4D73-810B-F66341D5B0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6725" y="0"/>
            <a:ext cx="87169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17652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/>
            </a:pPr>
            <a:r>
              <a:t>Why do we transform data?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78992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100"/>
            </a:pPr>
            <a:r>
              <a:t>• Raw data are rarely organized in the form needed to answer a business question.</a:t>
            </a:r>
          </a:p>
          <a:p>
            <a:pPr>
              <a:spcAft>
                <a:spcPts val="2000"/>
              </a:spcAft>
              <a:defRPr sz="2100"/>
            </a:pPr>
            <a:r>
              <a:t>• Transformation converts stored values into meaningful, consistent, analyzable fields.</a:t>
            </a:r>
          </a:p>
          <a:p>
            <a:pPr>
              <a:spcAft>
                <a:spcPts val="2000"/>
              </a:spcAft>
              <a:defRPr sz="2100"/>
            </a:pPr>
            <a:r>
              <a:t>• Example: an EmployeeCode contains location, employee, plant, and pay-period information—but those attributes are not yet separate columns.</a:t>
            </a:r>
          </a:p>
          <a:p>
            <a:pPr>
              <a:spcAft>
                <a:spcPts val="2000"/>
              </a:spcAft>
              <a:defRPr sz="2100"/>
            </a:pPr>
            <a:r>
              <a:t>• Discussion: What questions become possible once these components are extracted?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/>
            </a:pPr>
            <a:r>
              <a:t>Transformation is more than cleaning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78992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100"/>
            </a:pPr>
            <a:r>
              <a:t>• Extract: separate meaningful components from a combined field.</a:t>
            </a:r>
          </a:p>
          <a:p>
            <a:pPr>
              <a:spcAft>
                <a:spcPts val="2000"/>
              </a:spcAft>
              <a:defRPr sz="2100"/>
            </a:pPr>
            <a:r>
              <a:t>• Standardize: make equivalent values consistent (e.g., M and Mo for monthly pay).</a:t>
            </a:r>
          </a:p>
          <a:p>
            <a:pPr>
              <a:spcAft>
                <a:spcPts val="2000"/>
              </a:spcAft>
              <a:defRPr sz="2100"/>
            </a:pPr>
            <a:r>
              <a:t>• Construct: combine attributes to create a useful Location–PlantID key (e.g., USA-12).</a:t>
            </a:r>
          </a:p>
          <a:p>
            <a:pPr>
              <a:spcAft>
                <a:spcPts val="2000"/>
              </a:spcAft>
              <a:defRPr sz="2100"/>
            </a:pPr>
            <a:r>
              <a:t>• Validate: preserve source records, inspect errors, and test whether the transformation works for all formats.</a:t>
            </a:r>
          </a:p>
          <a:p>
            <a:pPr>
              <a:spcAft>
                <a:spcPts val="2000"/>
              </a:spcAft>
              <a:defRPr sz="2100"/>
            </a:pPr>
            <a:r>
              <a:t>• Key point: every transformation depends on assumptions about the source data.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/>
            </a:pPr>
            <a:r>
              <a:t>From raw data to analytical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78992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100"/>
            </a:pPr>
            <a:r>
              <a:t>• Source: EmployeeCode, FirstName, LastName (597 employee records in each case).</a:t>
            </a:r>
          </a:p>
          <a:p>
            <a:pPr>
              <a:spcAft>
                <a:spcPts val="2000"/>
              </a:spcAft>
              <a:defRPr sz="2100"/>
            </a:pPr>
            <a:r>
              <a:t>• Transform: extract Location, EmpID, PlantID, PayPeriod; create Location–PlantID key.</a:t>
            </a:r>
          </a:p>
          <a:p>
            <a:pPr>
              <a:spcAft>
                <a:spcPts val="2000"/>
              </a:spcAft>
              <a:defRPr sz="2100"/>
            </a:pPr>
            <a:r>
              <a:t>• Analyze: employee counts by location, plant, or pay period.</a:t>
            </a:r>
          </a:p>
          <a:p>
            <a:pPr>
              <a:spcAft>
                <a:spcPts val="2000"/>
              </a:spcAft>
              <a:defRPr sz="2100"/>
            </a:pPr>
            <a:r>
              <a:t>• Power BI workflow: Get Data → Transform Data (Power Query) → Applied Steps → Close &amp; Apply → Visualize.</a:t>
            </a:r>
          </a:p>
          <a:p>
            <a:pPr>
              <a:spcAft>
                <a:spcPts val="2000"/>
              </a:spcAft>
              <a:defRPr sz="2100"/>
            </a:pPr>
            <a:r>
              <a:t>• Why retain EmployeeCode? It lets us reconcile the output to the original record.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/>
            </a:pPr>
            <a:r>
              <a:t>Exercise 1 — Structured text (ETL Case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78992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100"/>
            </a:pPr>
            <a:r>
              <a:t>• Goal: extract four fields from EmployeeCode and construct a Location–PlantID key.</a:t>
            </a:r>
          </a:p>
          <a:p>
            <a:pPr>
              <a:spcAft>
                <a:spcPts val="2000"/>
              </a:spcAft>
              <a:defRPr sz="2100"/>
            </a:pPr>
            <a:r>
              <a:t>• Known rules: Location = 3 letters; EmpID = 4 digits; PlantID = 2 digits; PayPeriod = W or M.</a:t>
            </a:r>
          </a:p>
          <a:p>
            <a:pPr>
              <a:spcAft>
                <a:spcPts val="2000"/>
              </a:spcAft>
              <a:defRPr sz="2100"/>
            </a:pPr>
            <a:r>
              <a:t>• Power Query: use Extract First Characters, position/delimiter-based extraction, and Extract Last Characters.</a:t>
            </a:r>
          </a:p>
          <a:p>
            <a:pPr>
              <a:spcAft>
                <a:spcPts val="2000"/>
              </a:spcAft>
              <a:defRPr sz="2100"/>
            </a:pPr>
            <a:r>
              <a:t>• Create custom column: [Location] &amp; "-" &amp; [PlantID].</a:t>
            </a:r>
          </a:p>
          <a:p>
            <a:pPr>
              <a:spcAft>
                <a:spcPts val="2000"/>
              </a:spcAft>
              <a:defRPr sz="2100"/>
            </a:pPr>
            <a:r>
              <a:t>• Check: 597 rows remain; spot-check outputs; keep identifiers as Text.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/>
            </a:pPr>
            <a:r>
              <a:t>Case 2 — What Power Query is doing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78992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100"/>
            </a:pPr>
            <a:r>
              <a:t>• Import the Case 2 worksheet and choose Transform Data.</a:t>
            </a:r>
          </a:p>
          <a:p>
            <a:pPr>
              <a:spcAft>
                <a:spcPts val="2000"/>
              </a:spcAft>
              <a:defRPr sz="2100"/>
            </a:pPr>
            <a:r>
              <a:t>• Inspect EmployeeCode before changing anything; confirm its data type is Text.</a:t>
            </a:r>
          </a:p>
          <a:p>
            <a:pPr>
              <a:spcAft>
                <a:spcPts val="2000"/>
              </a:spcAft>
              <a:defRPr sz="2100"/>
            </a:pPr>
            <a:r>
              <a:t>• Add extracted columns; review each operation in Applied Steps.</a:t>
            </a:r>
          </a:p>
          <a:p>
            <a:pPr>
              <a:spcAft>
                <a:spcPts val="2000"/>
              </a:spcAft>
              <a:defRPr sz="2100"/>
            </a:pPr>
            <a:r>
              <a:t>• A fixed-position rule works because the source follows a predictable format.</a:t>
            </a:r>
          </a:p>
          <a:p>
            <a:pPr>
              <a:spcAft>
                <a:spcPts val="2000"/>
              </a:spcAft>
              <a:defRPr sz="2100"/>
            </a:pPr>
            <a:r>
              <a:t>• Question: What would happen if Location became two or four letters?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/>
            </a:pPr>
            <a:r>
              <a:t>Exercise 2 — Messy text (ETL Case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78992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100"/>
            </a:pPr>
            <a:r>
              <a:t>• Same objective, less predictable EmployeeCode format; still 597 records.</a:t>
            </a:r>
          </a:p>
          <a:p>
            <a:pPr>
              <a:spcAft>
                <a:spcPts val="2000"/>
              </a:spcAft>
              <a:defRPr sz="2100"/>
            </a:pPr>
            <a:r>
              <a:t>• Changes: Location length varies; EmpID and PlantID have variable digits; PayPeriod may be W, M, or Mo.</a:t>
            </a:r>
          </a:p>
          <a:p>
            <a:pPr>
              <a:spcAft>
                <a:spcPts val="2000"/>
              </a:spcAft>
              <a:defRPr sz="2100"/>
            </a:pPr>
            <a:r>
              <a:t>• Fixed-character extraction from Case 2 may now produce incorrect results.</a:t>
            </a:r>
          </a:p>
          <a:p>
            <a:pPr>
              <a:spcAft>
                <a:spcPts val="2000"/>
              </a:spcAft>
              <a:defRPr sz="2100"/>
            </a:pPr>
            <a:r>
              <a:t>• Power Query approach: use delimiters and character patterns (Text.BeforeDelimiter, Text.AfterDelimiter, Text.Select), then normalize values.</a:t>
            </a:r>
          </a:p>
          <a:p>
            <a:pPr>
              <a:spcAft>
                <a:spcPts val="2000"/>
              </a:spcAft>
              <a:defRPr sz="2100"/>
            </a:pPr>
            <a:r>
              <a:t>• Question: Which assumptions in our Case 2 solution have failed?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/>
            </a:pPr>
            <a:r>
              <a:t>Case 3 — Build, test, and compare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78992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100"/>
            </a:pPr>
            <a:r>
              <a:t>• Split around the dash; isolate letters and digits based on the actual code structure.</a:t>
            </a:r>
          </a:p>
          <a:p>
            <a:pPr>
              <a:spcAft>
                <a:spcPts val="2000"/>
              </a:spcAft>
              <a:defRPr sz="2100"/>
            </a:pPr>
            <a:r>
              <a:t>• Standardize M and Mo when both represent monthly pay.</a:t>
            </a:r>
          </a:p>
          <a:p>
            <a:pPr>
              <a:spcAft>
                <a:spcPts val="2000"/>
              </a:spcAft>
              <a:defRPr sz="2100"/>
            </a:pPr>
            <a:r>
              <a:t>• Create Location–PlantID key, retaining original EmployeeCode.</a:t>
            </a:r>
          </a:p>
          <a:p>
            <a:pPr>
              <a:spcAft>
                <a:spcPts val="2000"/>
              </a:spcAft>
              <a:defRPr sz="2100"/>
            </a:pPr>
            <a:r>
              <a:t>• Validate across different locations, ID lengths, and pay-period forms—not just one example.</a:t>
            </a:r>
          </a:p>
          <a:p>
            <a:pPr>
              <a:spcAft>
                <a:spcPts val="2000"/>
              </a:spcAft>
              <a:defRPr sz="2100"/>
            </a:pPr>
            <a:r>
              <a:t>• Close: visualize employee counts by location or pay period. When is a more flexible transformation worth the extra effort?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43B51B-0A83-EDC8-5496-64D3A58ABEE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712569" cy="4653710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Today's key takeaway: </a:t>
            </a:r>
            <a:r>
              <a:rPr lang="en-US" b="1" dirty="0"/>
              <a:t>Transforming raw data into consistent, usable information is essential to producing reliable analytical evidence.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Different data problems require different transformations. Predictable formats can be transformed using consistent rules, while messy or inconsistent data require more flexible approaches and validation.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Tools like Power BI help us prepare data for analysis. Power Query allows us to extract, clean, and transform data through </a:t>
            </a:r>
            <a:r>
              <a:rPr lang="en-US" b="1" i="1" dirty="0"/>
              <a:t>repeatable steps</a:t>
            </a:r>
            <a:r>
              <a:rPr lang="en-US" dirty="0"/>
              <a:t>, making it easier to identify patterns and support business decisions.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D6B6A5-AB1F-874C-8C41-DE2C18593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31943832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F9596-6BD0-7441-96D9-1F8868E04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DFB9647-374A-22F4-A8AE-6FB199787E39}"/>
              </a:ext>
            </a:extLst>
          </p:cNvPr>
          <p:cNvSpPr>
            <a:spLocks noGrp="1"/>
          </p:cNvSpPr>
          <p:nvPr/>
        </p:nvSpPr>
        <p:spPr>
          <a:xfrm>
            <a:off x="628650" y="638175"/>
            <a:ext cx="108966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4B2E83"/>
                </a:solidFill>
                <a:latin typeface="Segoe UI"/>
                <a:ea typeface="Segoe UI"/>
                <a:cs typeface="Segoe UI"/>
              </a:defRPr>
            </a:pPr>
            <a:r>
              <a:rPr lang="en-US" sz="3000" b="1" dirty="0">
                <a:solidFill>
                  <a:srgbClr val="4B2E83"/>
                </a:solidFill>
                <a:latin typeface="Segoe UI"/>
                <a:ea typeface="Segoe UI"/>
                <a:cs typeface="Segoe UI"/>
              </a:rPr>
              <a:t>N</a:t>
            </a:r>
            <a:r>
              <a:rPr sz="3000" b="1" dirty="0">
                <a:solidFill>
                  <a:srgbClr val="4B2E83"/>
                </a:solidFill>
                <a:latin typeface="Segoe UI"/>
                <a:ea typeface="Segoe UI"/>
                <a:cs typeface="Segoe UI"/>
              </a:rPr>
              <a:t>ext steps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9C73F9-1885-3A3B-C346-36F1F6425F8D}"/>
              </a:ext>
            </a:extLst>
          </p:cNvPr>
          <p:cNvSpPr>
            <a:spLocks noGrp="1"/>
          </p:cNvSpPr>
          <p:nvPr/>
        </p:nvSpPr>
        <p:spPr>
          <a:xfrm>
            <a:off x="723900" y="1571625"/>
            <a:ext cx="106680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lang="en-US" sz="2100" dirty="0">
                <a:solidFill>
                  <a:srgbClr val="212529"/>
                </a:solidFill>
                <a:latin typeface="Segoe UI"/>
                <a:ea typeface="Segoe UI"/>
                <a:cs typeface="Segoe UI"/>
              </a:rPr>
              <a:t>Next topic: </a:t>
            </a:r>
            <a:r>
              <a:rPr lang="en-US" b="1" dirty="0"/>
              <a:t>ETL: Cleaning and Transforming Data</a:t>
            </a:r>
          </a:p>
          <a:p>
            <a:endParaRPr lang="en-US" b="1" dirty="0"/>
          </a:p>
          <a:p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will continue to work on transforming data to meet our needs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Consider additional calculations and formulas to transform data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AF42CC-6DCC-793F-7159-61467EE1CC0B}"/>
              </a:ext>
            </a:extLst>
          </p:cNvPr>
          <p:cNvSpPr>
            <a:spLocks noGrp="1"/>
          </p:cNvSpPr>
          <p:nvPr/>
        </p:nvSpPr>
        <p:spPr>
          <a:xfrm>
            <a:off x="723900" y="4172172"/>
            <a:ext cx="106680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100" b="0">
                <a:solidFill>
                  <a:srgbClr val="917B4C"/>
                </a:solidFill>
                <a:latin typeface="Segoe UI"/>
                <a:ea typeface="Segoe UI"/>
                <a:cs typeface="Segoe UI"/>
              </a:defRPr>
            </a:pPr>
            <a:r>
              <a:rPr lang="en-US" sz="2100" b="0" dirty="0">
                <a:solidFill>
                  <a:srgbClr val="917B4C"/>
                </a:solidFill>
                <a:latin typeface="Segoe UI"/>
                <a:ea typeface="Segoe UI"/>
                <a:cs typeface="Segoe UI"/>
              </a:rPr>
              <a:t>Thank you!</a:t>
            </a:r>
            <a:endParaRPr sz="2100" b="0" dirty="0">
              <a:solidFill>
                <a:srgbClr val="917B4C"/>
              </a:solidFill>
              <a:latin typeface="Segoe UI"/>
              <a:ea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08062374"/>
      </p:ext>
    </p:extLst>
  </p:cSld>
  <p:clrMapOvr>
    <a:masterClrMapping/>
  </p:clrMapOvr>
</p:sld>
</file>

<file path=ppt/theme/theme1.xml><?xml version="1.0" encoding="utf-8"?>
<a:theme xmlns:a="http://schemas.openxmlformats.org/drawingml/2006/main" name="W Foster MBA Career Mgmt">
  <a:themeElements>
    <a:clrScheme name="2024 FOSTER 2">
      <a:dk1>
        <a:srgbClr val="000000"/>
      </a:dk1>
      <a:lt1>
        <a:srgbClr val="FFFFFF"/>
      </a:lt1>
      <a:dk2>
        <a:srgbClr val="32006E"/>
      </a:dk2>
      <a:lt2>
        <a:srgbClr val="F5F5F9"/>
      </a:lt2>
      <a:accent1>
        <a:srgbClr val="B7A579"/>
      </a:accent1>
      <a:accent2>
        <a:srgbClr val="8C51FF"/>
      </a:accent2>
      <a:accent3>
        <a:srgbClr val="917B4C"/>
      </a:accent3>
      <a:accent4>
        <a:srgbClr val="000000"/>
      </a:accent4>
      <a:accent5>
        <a:srgbClr val="CACACA"/>
      </a:accent5>
      <a:accent6>
        <a:srgbClr val="E8E8E8"/>
      </a:accent6>
      <a:hlink>
        <a:srgbClr val="0000DE"/>
      </a:hlink>
      <a:folHlink>
        <a:srgbClr val="4B2E84"/>
      </a:folHlink>
    </a:clrScheme>
    <a:fontScheme name="Custom 1">
      <a:majorFont>
        <a:latin typeface="Encode Sans Normal"/>
        <a:ea typeface=""/>
        <a:cs typeface=""/>
      </a:majorFont>
      <a:minorFont>
        <a:latin typeface="Open Sans"/>
        <a:ea typeface=""/>
        <a:cs typeface=""/>
      </a:minorFont>
    </a:fontScheme>
    <a:fmtScheme name="2024 FOSTER 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 Foster MBA Career Mgmt">
  <a:themeElements>
    <a:clrScheme name="2024 FOSTER 2">
      <a:dk1>
        <a:srgbClr val="000000"/>
      </a:dk1>
      <a:lt1>
        <a:srgbClr val="FFFFFF"/>
      </a:lt1>
      <a:dk2>
        <a:srgbClr val="32006E"/>
      </a:dk2>
      <a:lt2>
        <a:srgbClr val="F5F5F9"/>
      </a:lt2>
      <a:accent1>
        <a:srgbClr val="B7A579"/>
      </a:accent1>
      <a:accent2>
        <a:srgbClr val="8C51FF"/>
      </a:accent2>
      <a:accent3>
        <a:srgbClr val="917B4C"/>
      </a:accent3>
      <a:accent4>
        <a:srgbClr val="000000"/>
      </a:accent4>
      <a:accent5>
        <a:srgbClr val="CACACA"/>
      </a:accent5>
      <a:accent6>
        <a:srgbClr val="E8E8E8"/>
      </a:accent6>
      <a:hlink>
        <a:srgbClr val="0000DE"/>
      </a:hlink>
      <a:folHlink>
        <a:srgbClr val="4B2E84"/>
      </a:folHlink>
    </a:clrScheme>
    <a:fontScheme name="Custom 1">
      <a:majorFont>
        <a:latin typeface="Encode Sans Normal"/>
        <a:ea typeface=""/>
        <a:cs typeface=""/>
      </a:majorFont>
      <a:minorFont>
        <a:latin typeface="Open Sans"/>
        <a:ea typeface=""/>
        <a:cs typeface=""/>
      </a:minorFont>
    </a:fontScheme>
    <a:fmtScheme name="2024 FOSTER 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f6b6dd5b-f02f-441a-99a0-162ac5060bd2}" enabled="0" method="" siteId="{f6b6dd5b-f02f-441a-99a0-162ac5060bd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8224</TotalTime>
  <Words>884</Words>
  <Application>Microsoft Office PowerPoint</Application>
  <DocSecurity>0</DocSecurity>
  <PresentationFormat>Widescreen</PresentationFormat>
  <Paragraphs>91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Arial</vt:lpstr>
      <vt:lpstr>Calibri</vt:lpstr>
      <vt:lpstr>Encode Sans Normal ExtraBold</vt:lpstr>
      <vt:lpstr>Encode Sans Normal Medium</vt:lpstr>
      <vt:lpstr>Open Sans</vt:lpstr>
      <vt:lpstr>Open Sans Light</vt:lpstr>
      <vt:lpstr>Segoe UI</vt:lpstr>
      <vt:lpstr>Uni Sans Book</vt:lpstr>
      <vt:lpstr>W Foster MBA Career Mgmt</vt:lpstr>
      <vt:lpstr>PowerPoint Presentation</vt:lpstr>
      <vt:lpstr>Agenda</vt:lpstr>
      <vt:lpstr>Agenda</vt:lpstr>
      <vt:lpstr>Agenda</vt:lpstr>
      <vt:lpstr>Agenda</vt:lpstr>
      <vt:lpstr>PowerPoint Presentation</vt:lpstr>
      <vt:lpstr>Review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Asher Curtis</cp:lastModifiedBy>
  <cp:revision>5</cp:revision>
  <dcterms:created xsi:type="dcterms:W3CDTF">2026-09-29T01:46:38Z</dcterms:created>
  <dcterms:modified xsi:type="dcterms:W3CDTF">2026-10-12T01:57:09Z</dcterms:modified>
</cp:coreProperties>
</file>