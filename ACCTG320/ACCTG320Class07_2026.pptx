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36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479713-0D50-44A6-B1F4-4082749E615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110-minute window includes a 10-minute break. Plain editable slides for integration into the existing course deck.</a:t>
            </a:r>
          </a:p>
          <a:p>
            <a:endParaRPr/>
          </a:p>
          <a:p>
            <a:r>
              <a:t>Course source: Classes 1–7.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segment timings rather than giving every slide equal time. Total: 110 minutes.</a:t>
            </a:r>
          </a:p>
          <a:p>
            <a:endParaRPr/>
          </a:p>
          <a:p>
            <a:r>
              <a:t>Course source: Class 7 session plan.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Course synthesis block: 15 minutes across slides 3–7. Ask where unreliable preparation can affect a business decision.</a:t>
            </a:r>
          </a:p>
          <a:p>
            <a:endParaRPr/>
          </a:p>
          <a:p>
            <a:r>
              <a:t>Course source: Class 1, slides 8, 20, 30; Class 2, slide 4.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for one example of a cleaning operation and one limitation that cleaning cannot resolve.</a:t>
            </a:r>
          </a:p>
          <a:p>
            <a:endParaRPr/>
          </a:p>
          <a:p>
            <a:r>
              <a:t>Course source: Class 2, slides 19–22, 25–38.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Distinguish Power BI relationships from physically joining tables. An unchanged total does not prove correct attribution.</a:t>
            </a:r>
          </a:p>
          <a:p>
            <a:endParaRPr/>
          </a:p>
          <a:p>
            <a:r>
              <a:t>Course source: Class 3, slides 7–15, 29–43.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Recall fixed-length codes versus variable-length codes. Successful execution does not establish correct extraction.</a:t>
            </a:r>
          </a:p>
          <a:p>
            <a:endParaRPr/>
          </a:p>
          <a:p>
            <a:r>
              <a:t>Course source: Class 4, slides 7–8, 15–19; Class 5, slides 3–6, 21–25.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slide deck reports 18 exceptions, but the present review does not independently verify that answer. Do not test recall of the count.</a:t>
            </a:r>
          </a:p>
          <a:p>
            <a:endParaRPr/>
          </a:p>
          <a:p>
            <a:r>
              <a:t>Course source: Class 5, slide 6; Classes 3–5 integrated lab.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method throughout both cases. Accept different recommendations when evidence and reasoning support them.</a:t>
            </a:r>
          </a:p>
          <a:p>
            <a:endParaRPr/>
          </a:p>
          <a:p>
            <a:r>
              <a:t>Course source: Classes 1–5; Classes 6–7 case application.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10-minute aggregate-results block: slides 9–10. Give 2 minutes individual inspection, then discuss. Workbook: Analytics_mindset_case_studies_FairfieldInc_Travel_expense_audit.twbx.</a:t>
            </a:r>
          </a:p>
          <a:p>
            <a:endParaRPr/>
          </a:p>
          <a:p>
            <a:r>
              <a:t>Course source: Classes 6–7: Fairfield travel-expense audit.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Display office and employee views live. Ask whether the validated route necessarily represents actual authorized travel. The policy and validation method must be checked in the case instructions.</a:t>
            </a:r>
          </a:p>
          <a:p>
            <a:endParaRPr/>
          </a:p>
          <a:p>
            <a:r>
              <a:t>Course source: Classes 6–7: Fairfield calculated fields and interpretation.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15-minute individual-investigation block: slides 11–12. Instructor observation: two largest discrepancies involve travel to each other’s locations; a third employee repeatedly adds ten miles. Demonstrate records in the workbook before discussing explanations. Do not infer intent from co-location alone.</a:t>
            </a:r>
          </a:p>
          <a:p>
            <a:endParaRPr/>
          </a:p>
          <a:p>
            <a:r>
              <a:t>Course source: Classes 6–7: Fairfield employee and line-item views.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name evidence: reimbursement policy, source claims, approved itineraries, route settings, business purpose, and explanations from relevant employees. Treat these as possible procedures, not facts established by the package.</a:t>
            </a:r>
          </a:p>
          <a:p>
            <a:endParaRPr/>
          </a:p>
          <a:p>
            <a:r>
              <a:t>Course source: Classes 6–7: Fairfield discussion.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10-minute worked-question block: slides 13–14. Allow 3 minutes individually, 2 minutes in pairs, then debrief. The table is synthetic, not a transcription of an actual employee’s claims. This exact question and exhibit will not be used on the exam.</a:t>
            </a:r>
          </a:p>
          <a:p>
            <a:endParaRPr/>
          </a:p>
          <a:p>
            <a:r>
              <a:t>Course source: Class 7 worked example; excluded from the midterm.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Illustrative rubric, 10 points: accurate pattern and calculation 3; plausible alternative 2; targeted follow-up and how it distinguishes explanations 3; appropriately bounded conclusion 2. Accept other evidence-consistent alternatives. Reveal only after students answer.</a:t>
            </a:r>
          </a:p>
          <a:p>
            <a:endParaRPr/>
          </a:p>
          <a:p>
            <a:r>
              <a:t>Course source: Class 7 worked example; Classes 1–5 analytical reasoning.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Elapsed time before break: 50 minutes. Resume at minute 60.</a:t>
            </a:r>
          </a:p>
          <a:p>
            <a:endParaRPr/>
          </a:p>
          <a:p>
            <a:r>
              <a:t>Course source: Class 7 session plan.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10-minute cost-neutrality block: slides 16–17. Workbook: Analytics_mindset_case_study_solutions_FairviewInc_Reimbursement_calculation_method.twbx. Distinguish $0.575 here from Fairfield’s $0.58. Historical neutrality assumes the same trip population.</a:t>
            </a:r>
          </a:p>
          <a:p>
            <a:endParaRPr/>
          </a:p>
          <a:p>
            <a:r>
              <a:t>Course source: Classes 6–7: Fairview reimbursement calculation method.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explain why a simple average of employee averages can be misleading when trip counts differ.</a:t>
            </a:r>
          </a:p>
          <a:p>
            <a:endParaRPr/>
          </a:p>
          <a:p>
            <a:r>
              <a:t>Course source: Classes 6–7: Fairview; Class 2 measurement and suitability.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15-minute individual-effects block: slides 18–20. Give students time to predict before calculating. Employee averages are $5.75, $17.25, $17.25. Their simple average is $13.4167.</a:t>
            </a:r>
          </a:p>
          <a:p>
            <a:endParaRPr/>
          </a:p>
          <a:p>
            <a:r>
              <a:t>Course source: Class 7 teaching example; Fairview application.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example assumes the listed average mileage and trip counts describe the same period and unchanged trips. Gain/loss is reimbursement relative to the existing policy, not profit or actual travel cost.</a:t>
            </a:r>
          </a:p>
          <a:p>
            <a:endParaRPr/>
          </a:p>
          <a:p>
            <a:r>
              <a:t>Course source: Class 7 teaching example; Class 2 denominators.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workbook’s “% of Employees Reimbursed” uses an average trip-level indicator; discuss what that calculation actually measures. Instructor confirms the 1899 dates are an intentional data error. Do not characterize them as harmless storage dates. Hour-level analysis needs validation too.</a:t>
            </a:r>
          </a:p>
          <a:p>
            <a:endParaRPr/>
          </a:p>
          <a:p>
            <a:r>
              <a:t>Course source: Classes 6–7: Fairview; Class 2 field interpretation.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15-minute policy-alternatives block: slides 21–22. This role information is hypothetical. Do not require students to favor a key employee. Consistent treatment based on required travel is also defensible.</a:t>
            </a:r>
          </a:p>
          <a:p>
            <a:endParaRPr/>
          </a:p>
          <a:p>
            <a:r>
              <a:t>Course source: Class 7 scenario extension; Class 1 business decision support.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Accept multiple recommendations. Ask each group for one option, one benefit, one cost or risk, and one missing input. Historical descriptive results do not establish behavioral responses.</a:t>
            </a:r>
          </a:p>
          <a:p>
            <a:endParaRPr/>
          </a:p>
          <a:p>
            <a:r>
              <a:t>Course source: Classes 6–7: Fairview; Classes 1–5 integrated reasoning.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10-minute block: slides 23–24. Working structure: 5 MC (7 min, 10 points); 2 conceptual short answers (10 min, 20 points); 2 visual labs (16 min, 30 points); Fairfield (9 min, 20 points); Fairview (8 min, 20 points); 10 min buffer. Do not announce as final unless instructor confirms. AI permissions have not been finalized.</a:t>
            </a:r>
          </a:p>
          <a:p>
            <a:endParaRPr/>
          </a:p>
          <a:p>
            <a:r>
              <a:t>Course source: Classes 1–7; midterm preparation.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 brief individual exit response, then address common questions. Confirm exam logistics and resource permissions orally only after finalizing them.</a:t>
            </a:r>
          </a:p>
          <a:p>
            <a:endParaRPr/>
          </a:p>
          <a:p>
            <a:r>
              <a:t>Course source: Classes 1–7 synthesis. Source decks: ACCTG320Class01_2026.pptx through ACCTG320Class05_2026.pptx. Case details derived from supplied Fairfield/Fairview packaged workbooks and instructor clarification. No external factual claims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Open Sans Light"/>
                <a:ea typeface="Open Sans Light"/>
                <a:cs typeface="Open Sans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Open Sans Light"/>
                <a:ea typeface="Open Sans Light"/>
                <a:cs typeface="Open Sans Light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tatic Title Slide"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1288368"/>
            <a:ext cx="10325100" cy="2308324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ct val="100000"/>
              </a:lnSpc>
              <a:spcBef>
                <a:spcPts val="0"/>
              </a:spcBef>
              <a:defRPr sz="7200" b="1" i="0" cap="none" spc="-40" baseline="0">
                <a:solidFill>
                  <a:schemeClr val="bg1"/>
                </a:solidFill>
                <a:latin typeface="Encode Sans Normal ExtraBold" panose="02000000000000000000" pitchFamily="2" charset="77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4007185"/>
            <a:ext cx="10350500" cy="577979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>
                    <a:lumMod val="90000"/>
                  </a:schemeClr>
                </a:solidFill>
                <a:latin typeface="Encode Sans Normal ExtraBold" panose="02000000000000000000" pitchFamily="2" charset="77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– ALL CAPS</a:t>
            </a:r>
          </a:p>
        </p:txBody>
      </p:sp>
      <p:pic>
        <p:nvPicPr>
          <p:cNvPr id="4" name="Picture 3" descr="White text on a dark background of a logo reading Foster School of Business, University of Washington">
            <a:extLst>
              <a:ext uri="{FF2B5EF4-FFF2-40B4-BE49-F238E27FC236}">
                <a16:creationId xmlns:a16="http://schemas.microsoft.com/office/drawing/2014/main" id="{972C56C5-2F0E-B13F-6B45-D0F73E9B1AB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9319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A18554-EEF4-17E3-DCD8-207944D46F91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6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Transaction Analytics: Understanding Transactions Part 2</a:t>
            </a:r>
          </a:p>
          <a:p>
            <a:pPr>
              <a:buNone/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endParaRPr sz="36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79F326-02BB-DBCF-DE46-8C56F2D1505A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320</a:t>
            </a:r>
          </a:p>
          <a:p>
            <a:pPr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Accounting Systems and Analytics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AA1C86-D28B-E54B-D242-81AA41ECF35A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Class 07 | Autumn | 2026</a:t>
            </a:r>
          </a:p>
        </p:txBody>
      </p:sp>
    </p:spTree>
    <p:extLst>
      <p:ext uri="{BB962C8B-B14F-4D97-AF65-F5344CB8AC3E}">
        <p14:creationId xmlns:p14="http://schemas.microsoft.com/office/powerpoint/2010/main" val="153964264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AEA3D4-8AF8-ECFB-3ED8-8BE4D1AD852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647274" cy="26838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b="1">
                <a:solidFill>
                  <a:schemeClr val="tx2"/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t>Data exercises both in Tableau:</a:t>
            </a:r>
          </a:p>
          <a:p>
            <a:pPr marL="1145100" lvl="1" indent="-457200">
              <a:buAutoNum type="arabicPeriod"/>
            </a:pPr>
            <a:r>
              <a:t>ETL for both cases</a:t>
            </a:r>
          </a:p>
          <a:p>
            <a:pPr marL="1145100" lvl="1" indent="-457200">
              <a:buAutoNum type="arabicPeriod"/>
            </a:pPr>
            <a:r>
              <a:t>Start visualizing data (use case documents as the guide), both cases</a:t>
            </a:r>
          </a:p>
          <a:p>
            <a:pPr marL="1145100" lvl="1" indent="-457200">
              <a:buAutoNum type="arabicPeriod"/>
            </a:pPr>
            <a:r>
              <a:t>Begin communicating insight</a:t>
            </a:r>
          </a:p>
          <a:p>
            <a:pPr marL="457200" indent="-457200">
              <a:buAutoNum type="arabicPeriod"/>
            </a:pPr>
            <a:r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4B3093-4852-91B4-5E49-C38E39EA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96452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/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3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/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3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5AD0F8-C351-1C10-54D1-F42EC6B0533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647274" cy="26838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b="1">
                <a:solidFill>
                  <a:schemeClr val="tx2"/>
                </a:solidFill>
              </a:rPr>
              <a:t>Data exercises both in Tableau:</a:t>
            </a:r>
          </a:p>
          <a:p>
            <a:pPr marL="1145100" lvl="1" indent="-457200">
              <a:buAutoNum type="arabicPeriod"/>
            </a:pPr>
            <a:r>
              <a:rPr b="1">
                <a:solidFill>
                  <a:schemeClr val="tx2"/>
                </a:solidFill>
              </a:rPr>
              <a:t>ETL for both cases</a:t>
            </a:r>
          </a:p>
          <a:p>
            <a:pPr marL="1145100" lvl="1" indent="-457200">
              <a:buAutoNum type="arabicPeriod"/>
            </a:pPr>
            <a:r>
              <a:rPr b="1">
                <a:solidFill>
                  <a:schemeClr val="tx2"/>
                </a:solidFill>
              </a:rPr>
              <a:t>Start visualizing data (use case documents as the guide), both cases</a:t>
            </a:r>
          </a:p>
          <a:p>
            <a:pPr marL="1145100" lvl="1" indent="-457200">
              <a:buAutoNum type="arabicPeriod"/>
            </a:pPr>
            <a:r>
              <a:t>Begin communicating insight</a:t>
            </a:r>
          </a:p>
          <a:p>
            <a:pPr marL="457200" indent="-457200">
              <a:buAutoNum type="arabicPeriod"/>
            </a:pPr>
            <a:r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E07DC8-954B-6904-1FD0-192FC4923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202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C83751-1D92-6592-F4CB-BC77BB1B7E6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2809231"/>
          </a:xfrm>
        </p:spPr>
        <p:txBody>
          <a:bodyPr/>
          <a:lstStyle/>
          <a:p>
            <a:pPr>
              <a:spcAft>
                <a:spcPts val="700"/>
              </a:spcAft>
              <a:buNone/>
              <a:defRPr sz="2000"/>
            </a:pPr>
            <a:r>
              <a:t>Key takeaway: </a:t>
            </a:r>
            <a:r>
              <a:rPr b="1"/>
              <a:t>We are working on gaining insight into various business processes by analyzing transaction level data.</a:t>
            </a:r>
            <a:r>
              <a:t> </a:t>
            </a:r>
          </a:p>
          <a:p>
            <a:pPr marL="342900" indent="-342900">
              <a:buFont typeface="Arial"/>
              <a:buChar char="•"/>
            </a:pPr>
            <a:endParaRPr/>
          </a:p>
          <a:p>
            <a:pPr marL="342900" indent="-342900">
              <a:buFont typeface="Arial"/>
              <a:buChar char="•"/>
            </a:pPr>
            <a:r>
              <a:t>Visualizing data and calculating key measures (sums, averages) and key filters, help us identify our answers and help communicate them.</a:t>
            </a:r>
          </a:p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2793B3-782F-9F9B-C22A-25588292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163588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/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51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FB9647-374A-22F4-A8AE-6FB199787E39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4B2E83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000" b="1">
                <a:solidFill>
                  <a:srgbClr val="4B2E83"/>
                </a:solidFill>
                <a:latin typeface="Encode Sans Normal ExtraBold"/>
                <a:ea typeface="Encode Sans Normal ExtraBold"/>
                <a:cs typeface="Encode Sans Normal ExtraBold"/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C73F9-1885-3A3B-C346-36F1F6425F8D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10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Next topic: </a:t>
            </a:r>
            <a:r>
              <a:rPr b="1"/>
              <a:t>Transaction Analytics: Understanding Transactions (continued in part 2)</a:t>
            </a:r>
          </a:p>
          <a:p>
            <a:endParaRPr b="1"/>
          </a:p>
          <a:p>
            <a:endParaRPr b="1"/>
          </a:p>
          <a:p>
            <a:pPr marL="285750" indent="-285750">
              <a:buFont typeface="Arial"/>
              <a:buChar char="•"/>
            </a:pPr>
            <a:r>
              <a:t>We will introduce transaction-level analytics </a:t>
            </a:r>
          </a:p>
          <a:p>
            <a:pPr marL="285750" indent="-285750">
              <a:buFont typeface="Arial"/>
              <a:buChar char="•"/>
            </a:pPr>
            <a:endParaRPr/>
          </a:p>
          <a:p>
            <a:pPr marL="285750" indent="-285750">
              <a:buFont typeface="Arial"/>
              <a:buChar char="•"/>
            </a:pPr>
            <a:r>
              <a:t>Consider how financial data can be analyzed to understand various business problems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42CC-6DCC-793F-7159-61467EE1CC0B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210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210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806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B511CCF-D892-4B61-A338-7EAC2023E590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ACCTG 320: From data to business decisions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681CA444-8CBE-459F-8ADE-E12A508AAC66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Class 7: course synthesis and Tableau case discussion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Fairfield travel-expense audit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Fairview reimbursement-policy evaluation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6200DE74-FCD2-4074-8469-625C4D158B93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1–7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ED164E6E-2D53-42EC-82A9-2BFBEBE2AE52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3891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9A56534-3820-43A8-9FF5-3D6A28BE7EE2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Today’s session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4CB58BBD-3133-427A-8DE3-0D153044AEC9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Course synthesis: 15 minutes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Fairfield aggregate results: 10 minutes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Fairfield individual investigation: 15 minutes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Worked question and discussion: 10 minutes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Break: 10 minutes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Fairview cost neutrality: 10 minutes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Fairview individual effects: 15 minutes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Fairview policy alternatives: 15 minutes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Exam preparation: 10 minutes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8EBB2B0E-B65F-40A2-BB80-BC5EF635811F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7 session plan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5626E6C7-AD3A-45B7-A1EB-B460BE2A9DEA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83363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A2A7F4-31A3-46A7-A346-7E5BDE915B0A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The course’s analytical journey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D04B9791-0838-41C5-8E15-4F2AA09B501B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Define the business question and the decision it supports.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Obtain data and establish what each record and field represents.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Prepare and connect the data using appropriate rules.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Analyze and communicate evidence, including limitations.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Recommend an action justified by that evidence.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DB28A19B-A5D3-4868-B8F3-4E7C0250286B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1, slides 8, 20, 30; Class 2, slide 4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2A662628-15EB-418E-BC91-8BE77E9E0CF2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89479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2C5D8DF-2D22-4622-87C8-7C3804176502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Data quality, measurement, and suitability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AB204C34-B521-4DE6-B4FE-5C7D3A935348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Quality: Is a recorded value wrong, missing, inconsistent, or duplicated?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Measurement: What does the field actually represent?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Suitability: Can these data answer the proposed question?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PPP: JobsReported alone does not establish jobs saved.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Scavenger hunt: opening a file does not establish correct interpretation.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03878C96-3856-42C7-8E7B-377AC1B3A195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2, slides 19–22, 25–38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BEB9D41A-4A88-40AF-B9B6-93D688F86B8B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0707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AA2863F-5CF5-48EA-9945-F94C6228DE55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Connecting records correctly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5AAEFFC5-A72D-4CA8-9058-208A4EAB07F3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Match entities using meaningful keys, rather than row position.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 composite key may be needed when an ID repeats across units.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Join type determines which records a physical join retains.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Cardinality determines how records can match.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Check missing matches, duplicate matches, counts, and amounts.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262284FC-C44C-4A1F-8893-E4CD07D369FB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3, slides 7–15, 29–43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05E0BFA7-8D4C-48B9-92B0-CD05CDD5008D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811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B1B73E-005B-417E-9013-9631561A66E5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Transformations and repeatable workflows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2B84B96-8CA1-4E22-BF73-31EE0D3BA9A4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Extract components according to the source structure.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Standardize equivalent values before comparing them.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Construct keys that identify the intended entity.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Retain source fields so transformations can be traced.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Refreshable steps save work, but changing inputs still require validation.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033C9B25-86AA-473B-B2B9-CD5DE280719E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4, slides 7–8, 15–19; Class 5, slides 3–6, 21–25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8626B1F5-6EC5-42CB-B154-EFEB365FF550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278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E9D0A5-D852-42C1-ADAB-4DBCEA3F38A0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From preparation to exception testing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0219445A-BA90-42E7-85B4-A55A305E8E69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Payroll example: extract and standardize pay frequency.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Connect each employee to the appropriate plant requirement.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Compare recorded and expected frequency.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Distinguish a representation difference from a substantive mismatch.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An exception identifies a record to investigate, not an established incorrect payment.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9F90E0A2-032C-4094-9D8E-484D86F21BCD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5, slide 6; Classes 3–5 integrated lab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0266935C-BFEA-4B92-8BEA-5B55BA5F9D75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18582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2AEC398-6764-401E-B6A0-4E5475BE3D72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A method for interpreting every visual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ED426BE6-266D-4A39-A29A-9978EE1824B5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Observation: What exactly does the evidence show?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Interpretation: What explanation is consistent with it?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Limitation: What remains unresolved?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Action: What should management do next, and why?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E01D83A1-30D0-438E-8E51-D498E5AFE6F1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1–5; Classes 6–7 case application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1C85D459-3601-4937-9492-7EB75DFDF836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76561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D9CB4B7-3797-4002-9903-0BE90529DA53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Fairfield: Begin with office-level evidence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AB1733DB-F715-4208-91C0-9F34F95A73F9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Open the completed travel-expense audit workbook.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Compare reported distance with validated distance by office.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Identify one observation supported by a specific comparison.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Which office would you investigate first, and why?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Would total discrepancy, discrepancy per claim, and reporting pattern suggest the same priority?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EFF1CD3C-516B-448F-BA71-578C76A14749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6–7: Fairfield travel-expense audit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E42AEE2D-E78C-42A8-87DA-96A3E466EE5F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39685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301BC31-246A-474E-B93E-46044A3CCEB1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Fairfield: What does a difference measure?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7009709C-3A0F-484B-A0AC-AD7F6AD4D413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Mileage difference = reported distance − validated distance.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Expense difference = mileage difference × the case rate ($0.58).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An aggregate net difference can offset positive and negative discrepancies.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 large difference and a strong rounding pattern are different findings.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Before interpreting “misreported,” establish how validation and policy define acceptable mileage.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B53FEF38-BE31-4284-BF1F-4B8A5971D60D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6–7: Fairfield calculated fields and interpretation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7A86F90A-E3D3-41B0-945C-4CE4E8005ED2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23306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8A03EE7-D81A-4DD5-8AD2-48912E233C7F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Fairfield: Drill down to individuals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F825A770-F13A-4F08-BB00-4BB428E7D15C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Compare total discrepancies across employees.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Inspect individual claims for the employees selected for review.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Is the difference occasional, repeated, or approximately constant?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Compare claim locations with employee locations where relevant.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What relationship would an office-level total conceal?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484F9C25-F556-4B79-8CBC-255304018E51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6–7: Fairfield employee and line-item views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02BDA4AE-AC28-419A-B0A4-C7ACE78DEA32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73837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793306-AE21-489E-9D73-B79223BD7CAD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Fairfield: Competing explanations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E8C0E8E-E767-4279-8F77-0FE4B4049565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 recurring difference may reflect a reporting rule, route convention, data issue, or intentional overstatement.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Claims involving another employee’s location reveal a relationship worth examining.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What records would distinguish authorized business travel from an unsupported claim?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Recommend a targeted procedure rather than an immediate allegation.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987913D5-0BAC-41B3-865B-448F6FC1A3C4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6–7: Fairfield discussion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EECE2660-0EBD-48CA-8819-A267C68F595A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7411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C9AC01F-3FBC-4925-BBD9-D775EC24198D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Worked question: A repeated mileage difference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730F2BE9-7663-402D-98A7-91CFE2AD57BE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15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Hypothetical claims illustrating the Fairfield reasoning task.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1. Describe the numerical pattern and support it with a calculation.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2. Give one plausible explanation other than deliberate overstatement.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3. Recommend evidence that could distinguish the explanations.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523875" y="3476625"/>
          <a:ext cx="11144250" cy="2143125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Claim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>
                      <a:solidFill>
                        <a:srgbClr val="B7A579"/>
                      </a:solidFill>
                      <a:prstDash val="soli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Reported miles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>
                      <a:solidFill>
                        <a:srgbClr val="B7A579"/>
                      </a:solidFill>
                      <a:prstDash val="soli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Validated miles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>
                      <a:solidFill>
                        <a:srgbClr val="B7A579"/>
                      </a:solidFill>
                      <a:prstDash val="soli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A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24.2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14.2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B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31.7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21.7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C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18.5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8.5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D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42.0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32.0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ource">
            <a:extLst>
              <a:ext uri="{FF2B5EF4-FFF2-40B4-BE49-F238E27FC236}">
                <a16:creationId xmlns:a16="http://schemas.microsoft.com/office/drawing/2014/main" id="{D4F9ADD1-C1B5-403E-B26D-5B5F8EED05D3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7 worked example; excluded from the midterm</a:t>
            </a:r>
          </a:p>
        </p:txBody>
      </p:sp>
      <p:sp>
        <p:nvSpPr>
          <p:cNvPr id="6" name="number">
            <a:extLst>
              <a:ext uri="{FF2B5EF4-FFF2-40B4-BE49-F238E27FC236}">
                <a16:creationId xmlns:a16="http://schemas.microsoft.com/office/drawing/2014/main" id="{D57F03D0-9861-41F2-82F6-AE1998D1E4D9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89307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E5B3752-5CF9-43B1-99EC-1A0084B3CB9B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Worked question: Illustrative reasoning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CE195088-0943-47F6-BF3C-D60325BF339B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All four reported distances exceed validated distances by 10 miles.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At $0.58 per mile, the four claims differ by $23.20 in total.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One explanation: an authorized trip segment is omitted from the validation route.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Check the policy, claim itinerary, and validation endpoints against source records.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The pattern supports targeted investigation; it does not establish intent.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814ABD77-E0AB-4EF3-BBED-657F6508513D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7 worked example; Classes 1–5 analytical reasoning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DD3E29E5-86F6-4A4C-B7FB-7B2013AB98A9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89211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B54BD9C-DFA1-4A9A-96B2-173136638A81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Break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3927D9C2-DA51-4C06-8A72-186BE50FDBBA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10 minutes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After the break: Does a cost-neutral reimbursement policy make business sense?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7893DD77-2BB9-4F4F-ACC6-6B79E512DB57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7 session plan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AA98481D-4018-4D71-BDCA-B9F12067E2CB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31348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E4FF01A-2B45-4A7F-8548-6ED7E8FE31A3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Fairview: Establish the company-level result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3ECAAF8E-23F2-4F50-B4EE-3A3DF695E6D2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Open the completed fixed-rate reimbursement workbook.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Current modeled reimbursement = mileage × $0.575.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Proposed reimbursement = fixed payment per trip.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Use the slider to find approximately unchanged total payments.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Explain why the trip-weighted average determines the neutral payment.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14DD9D9E-7682-4847-ACB4-3DFED55A35CC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6–7: Fairview reimbursement calculation method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F26E193A-1B0A-4A33-AFF1-7BDE8AC1BF62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97545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9ABE0D6-7629-4099-A115-8F971F0422C7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Fairview: What cost neutrality establishes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486768BB-D8E4-48B7-9564-3CBC8F419976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At the neutral payment, increases and decreases offset across the trip population.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Equal total payments do not imply equal payments for every employee.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An average across employees is not necessarily the average across trips.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Future trip volumes and distances may differ.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Payment neutrality alone excludes administrative costs and behavioral effects.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9E68BC4F-92F9-4DC0-A428-1F9DD14714C0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6–7: Fairview; Class 2 measurement and suitability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CB4F02E5-5BE3-4645-99B1-8BCF3D39FCE2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94118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2E0C3DD-AB16-4D94-A8FC-CDD82869E034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Teaching example: Neutral for whom?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8610CC10-7EEE-42DE-8209-3569D5F35A00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15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Hypothetical data, not the Fairview dataset. Current rate: $0.575 per mile.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Analyst 1 proposes $13.42, the rounded simple average of employee-average payments.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Analyst 2 proposes $8.05 per trip.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Which rate preserves total payments? Who gains or loses?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523875" y="3476625"/>
          <a:ext cx="11144250" cy="17145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Employee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>
                      <a:solidFill>
                        <a:srgbClr val="B7A579"/>
                      </a:solidFill>
                      <a:prstDash val="soli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Trips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>
                      <a:solidFill>
                        <a:srgbClr val="B7A579"/>
                      </a:solidFill>
                      <a:prstDash val="soli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Average miles per trip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>
                      <a:solidFill>
                        <a:srgbClr val="B7A579"/>
                      </a:solidFill>
                      <a:prstDash val="soli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A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80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B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30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C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10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30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ource">
            <a:extLst>
              <a:ext uri="{FF2B5EF4-FFF2-40B4-BE49-F238E27FC236}">
                <a16:creationId xmlns:a16="http://schemas.microsoft.com/office/drawing/2014/main" id="{23CF190F-E9F6-476C-8B54-205492A4885D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7 teaching example; Fairview application</a:t>
            </a:r>
          </a:p>
        </p:txBody>
      </p:sp>
      <p:sp>
        <p:nvSpPr>
          <p:cNvPr id="6" name="number">
            <a:extLst>
              <a:ext uri="{FF2B5EF4-FFF2-40B4-BE49-F238E27FC236}">
                <a16:creationId xmlns:a16="http://schemas.microsoft.com/office/drawing/2014/main" id="{B8B72C13-63EC-4A19-B647-B974C3EC6730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35469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C7F66BB-03A4-4892-BCD5-1E94D7AABDC5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Teaching example: Reconcile the payments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A65F80F7-517E-4D04-8AA5-ED8DBD3444FF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15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100 trips cover 1,400 miles. Current payments total $805.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The cost-neutral payment is $805 ÷ 100 = $8.05 per trip.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Payments increase on 80% of trips, but only one of three employees gains overall.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523875" y="3476625"/>
          <a:ext cx="11144250" cy="2143125"/>
        </p:xfrm>
        <a:graphic>
          <a:graphicData uri="http://schemas.openxmlformats.org/drawingml/2006/table">
            <a:tbl>
              <a:tblPr/>
              <a:tblGrid>
                <a:gridCol w="278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6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6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Employee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>
                      <a:solidFill>
                        <a:srgbClr val="B7A579"/>
                      </a:solidFill>
                      <a:prstDash val="soli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Current payment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>
                      <a:solidFill>
                        <a:srgbClr val="B7A579"/>
                      </a:solidFill>
                      <a:prstDash val="soli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Fixed payment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>
                      <a:solidFill>
                        <a:srgbClr val="B7A579"/>
                      </a:solidFill>
                      <a:prstDash val="soli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Change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>
                      <a:solidFill>
                        <a:srgbClr val="B7A579"/>
                      </a:solidFill>
                      <a:prstDash val="soli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A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$460.00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$644.00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+$184.00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B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$172.50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$80.50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−$92.00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C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$172.50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$80.50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−$92.00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Total</a:t>
                      </a:r>
                    </a:p>
                  </a:txBody>
                  <a:tcPr>
                    <a:lnL w="9525">
                      <a:solidFill>
                        <a:srgbClr val="B7A579"/>
                      </a:solidFill>
                      <a:prstDash val="soli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$805.00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$805.00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12529"/>
                          </a:solidFill>
                          <a:latin typeface="Open Sans Light"/>
                          <a:ea typeface="Open Sans Light"/>
                          <a:cs typeface="Open Sans Light"/>
                        </a:rPr>
                        <a:t>$0.00</a:t>
                      </a:r>
                    </a:p>
                  </a:txBody>
                  <a:tcPr>
                    <a:lnL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7A579"/>
                      </a:solidFill>
                      <a:prstDash val="solid"/>
                    </a:lnR>
                    <a:lnT w="9525" cap="flat" cmpd="sng" algn="ctr">
                      <a:solidFill>
                        <a:srgbClr val="B7A5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7A5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ource">
            <a:extLst>
              <a:ext uri="{FF2B5EF4-FFF2-40B4-BE49-F238E27FC236}">
                <a16:creationId xmlns:a16="http://schemas.microsoft.com/office/drawing/2014/main" id="{484DD404-140C-4007-AE45-7C77ECA1E352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7 teaching example; Class 2 denominators</a:t>
            </a:r>
          </a:p>
        </p:txBody>
      </p:sp>
      <p:sp>
        <p:nvSpPr>
          <p:cNvPr id="6" name="number">
            <a:extLst>
              <a:ext uri="{FF2B5EF4-FFF2-40B4-BE49-F238E27FC236}">
                <a16:creationId xmlns:a16="http://schemas.microsoft.com/office/drawing/2014/main" id="{C083FAC3-84B5-4E6B-BBD1-5A65B9A09B66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17898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1E375F2-56AC-47E2-8DAD-C10F1E0EB6CD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Fairview: Who is most affected?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85151302-1983-4FA9-98DA-F91B6A7D703D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Return to the workbook and inspect employee-level payment changes.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Compare total reductions with reductions per trip and percentage reductions.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 percentage of trips is not a percentage of employees.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To measure affected employees, first aggregate payments by employee.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Revisit the incorrect dates: what time-based conclusions remain supportable?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BB3C36F2-A26C-4C76-9623-72588EBA24E0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6–7: Fairview; Class 2 field interpretation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9CA6AEF1-5544-477B-9EEC-32B803B56F81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15001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9A0EA72-FB88-4909-BAD8-BB8585F03E5D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New evidence: Required travel and employee effects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8554FEFF-544A-45B9-8F89-CDF376A73961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In the hypothetical example, Employee B manages major customer accounts.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Their longer trips reflect an assigned sales territory.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Could reduced reimbursement discourage necessary visits or affect retention?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Would this change your recommendation? Explain using the evidence.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What additional information would you request?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559F3C02-463E-4ED9-874E-230AE9E0BFD8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 7 scenario extension; Class 1 business decision support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B8B396C4-C80E-4C7E-8450-65F74505537C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66060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3E5B92D-8842-4439-8E3C-2807DB5CDBD8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Fairview: Policy alternatives and trade-offs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0557493-38D0-4F5E-8F7B-8A807E7347EF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Options include a single rate, distance bands, mileage reimbursement, or targeted allowances.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Evaluate administrative effort, required travel, distributional effects, and incentives.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A mitigation payment changes the original cost-neutral calculation.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Recalculate the complete proposal, including supportable administrative savings.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State the evidence that would make you revise your recommendation.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FD4A81A3-0454-408B-9643-E775D0944333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6–7: Fairview; Classes 1–5 integrated reasoning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45D417B2-5F9D-4C66-AB2B-9C051A87BB0E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58979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023E43D-479D-4B84-BBF8-46915D47AF72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Midterm preparation: What strong answers demonstrate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D790DCF1-C667-4EED-AED8-BC641A63211B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Use supplied evidence and specific comparisons.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Show short calculations and identify the unit of analysis.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Explain why an issue affects the conclusion.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Separate observations, explanations, and recommendations.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Offer a proportionate next step and acknowledge a material limitation.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A3FF7F75-F23A-4C10-93B7-4C1D87A08D9D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1–7; midterm preparation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2309180B-56DB-4782-A80E-5A5DCE93527D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30420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9594231-8F9B-4AFE-A85F-C5686718A231}"/>
              </a:ext>
            </a:extLst>
          </p:cNvPr>
          <p:cNvSpPr>
            <a:spLocks noGrp="1"/>
          </p:cNvSpPr>
          <p:nvPr/>
        </p:nvSpPr>
        <p:spPr>
          <a:xfrm>
            <a:off x="625927" y="641802"/>
            <a:ext cx="10894141" cy="9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2pPr>
            <a:lvl3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3pPr>
            <a:lvl4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4pPr>
            <a:lvl5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5pPr>
            <a:lvl6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6pPr>
            <a:lvl7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7pPr>
            <a:lvl8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8pPr>
            <a:lvl9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9pPr>
          </a:lstStyle>
          <a:p>
            <a:pPr>
              <a:buNone/>
              <a:def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pPr>
            <a:r>
              <a:rPr sz="3200" b="1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rPr>
              <a:t>Closing check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4D8763E1-5069-4A52-8E11-537E6D64A975}"/>
              </a:ext>
            </a:extLst>
          </p:cNvPr>
          <p:cNvSpPr>
            <a:spLocks noGrp="1"/>
          </p:cNvSpPr>
          <p:nvPr/>
        </p:nvSpPr>
        <p:spPr>
          <a:xfrm>
            <a:off x="609600" y="1744134"/>
            <a:ext cx="10972800" cy="3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Which preparation decision could change an analytical result?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Which visual finding supports investigation but not a final conclusion?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How can an unchanged company total conceal consequential individual effects?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  <a:def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1867" b="0">
                <a:solidFill>
                  <a:srgbClr val="212529"/>
                </a:solidFill>
                <a:latin typeface="Open Sans Light"/>
                <a:ea typeface="Open Sans Light"/>
                <a:cs typeface="Open Sans Light"/>
              </a:rPr>
              <a:t>What question about the midterm remains unresolved?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BB0FF203-A9C0-41CD-A259-209BFE9BC20B}"/>
              </a:ext>
            </a:extLst>
          </p:cNvPr>
          <p:cNvSpPr>
            <a:spLocks noGrp="1"/>
          </p:cNvSpPr>
          <p:nvPr/>
        </p:nvSpPr>
        <p:spPr>
          <a:xfrm>
            <a:off x="609600" y="5910000"/>
            <a:ext cx="102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Classes 1–7 synthesis</a:t>
            </a:r>
          </a:p>
        </p:txBody>
      </p:sp>
      <p:sp>
        <p:nvSpPr>
          <p:cNvPr id="5" name="number">
            <a:extLst>
              <a:ext uri="{FF2B5EF4-FFF2-40B4-BE49-F238E27FC236}">
                <a16:creationId xmlns:a16="http://schemas.microsoft.com/office/drawing/2014/main" id="{C8D76519-B280-43F7-A9D3-240DDB7280B9}"/>
              </a:ext>
            </a:extLst>
          </p:cNvPr>
          <p:cNvSpPr>
            <a:spLocks noGrp="1"/>
          </p:cNvSpPr>
          <p:nvPr/>
        </p:nvSpPr>
        <p:spPr>
          <a:xfrm>
            <a:off x="11000000" y="5910000"/>
            <a:ext cx="500000" cy="2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lvl1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5pPr>
            <a:lvl6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6pPr>
            <a:lvl7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7pPr>
            <a:lvl8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8pPr>
            <a:lvl9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buNone/>
              <a:def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defRPr>
            </a:pPr>
            <a:r>
              <a:rPr sz="950" b="0">
                <a:solidFill>
                  <a:srgbClr val="917B4C"/>
                </a:solidFill>
                <a:latin typeface="Open Sans Light"/>
                <a:ea typeface="Open Sans Light"/>
                <a:cs typeface="Open Sans Light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2870231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 ExtraBold"/>
        <a:ea typeface=""/>
        <a:cs typeface=""/>
      </a:majorFont>
      <a:minorFont>
        <a:latin typeface="Open Sans Light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 ExtraBold"/>
        <a:ea typeface=""/>
        <a:cs typeface=""/>
      </a:majorFont>
      <a:minorFont>
        <a:latin typeface="Open Sans Light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3456</Words>
  <Application>Microsoft Office PowerPoint</Application>
  <DocSecurity>0</DocSecurity>
  <PresentationFormat>Widescreen</PresentationFormat>
  <Paragraphs>334</Paragraphs>
  <Slides>32</Slides>
  <Notes>32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Encode Sans Normal ExtraBold</vt:lpstr>
      <vt:lpstr>Open Sans Light</vt:lpstr>
      <vt:lpstr>Segoe UI</vt:lpstr>
      <vt:lpstr>W Foster MBA Career Mgmt</vt:lpstr>
      <vt:lpstr>PowerPoint Presentation</vt:lpstr>
      <vt:lpstr>Agenda</vt:lpstr>
      <vt:lpstr>PowerPoint Presentation</vt:lpstr>
      <vt:lpstr>PowerPoint Presentation</vt:lpstr>
      <vt:lpstr>Agenda</vt:lpstr>
      <vt:lpstr>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1</cp:revision>
  <dcterms:created xsi:type="dcterms:W3CDTF">2026-10-21T13:54:13Z</dcterms:created>
  <dcterms:modified xsi:type="dcterms:W3CDTF">2026-10-21T13:56:03Z</dcterms:modified>
</cp:coreProperties>
</file>