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363" r:id="rId2"/>
    <p:sldId id="257" r:id="rId3"/>
    <p:sldId id="258" r:id="rId4"/>
    <p:sldId id="266" r:id="rId5"/>
    <p:sldId id="267" r:id="rId6"/>
    <p:sldId id="268" r:id="rId7"/>
    <p:sldId id="269" r:id="rId8"/>
    <p:sldId id="270" r:id="rId9"/>
    <p:sldId id="364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367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365" r:id="rId26"/>
    <p:sldId id="263" r:id="rId27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479713-0D50-44A6-B1F4-4082749E615F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89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353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22028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41287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5544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39371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E9954-9C83-F470-2045-E29AEA2A3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6C7C8-A51F-E51E-BB2C-AA8903695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E051A-81F5-9D69-F141-0B4CAAE3A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08389-E23A-8143-CF24-BFA5F268EB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860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C5F2B-38A1-C6FC-FBE4-93E90940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FE34F-BDC9-261B-6D33-A050B2FE8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9D9C5-F97C-A39B-0A3D-D5B544756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14702-C3FF-48E2-880D-BB909533F65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59528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52E29-C11B-C358-70EE-B970F3B3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602AF-1337-4E71-DAA3-26983FD99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370678-1AE6-949D-9B21-E49A0493D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0041A-2771-A8CB-570F-A9795FD0DD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47324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54138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Open Sans Light"/>
                <a:ea typeface="Open Sans Light"/>
                <a:cs typeface="Open Sans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Open Sans Light"/>
                <a:ea typeface="Open Sans Light"/>
                <a:cs typeface="Open Sans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Open Sans Light"/>
                <a:ea typeface="Open Sans Light"/>
                <a:cs typeface="Open Sans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Open Sans Light"/>
                <a:ea typeface="Open Sans Light"/>
                <a:cs typeface="Open Sans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Open Sans Light"/>
                <a:ea typeface="Open Sans Light"/>
                <a:cs typeface="Open Sans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ic Title Slide">
    <p:bg>
      <p:bgPr>
        <a:blipFill dpi="0"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1288368"/>
            <a:ext cx="10325100" cy="2308324"/>
          </a:xfrm>
          <a:prstGeom prst="rect">
            <a:avLst/>
          </a:prstGeom>
        </p:spPr>
        <p:txBody>
          <a:bodyPr anchor="t" anchorCtr="0"/>
          <a:lstStyle>
            <a:lvl1pPr algn="l">
              <a:lnSpc>
                <a:spcPct val="100000"/>
              </a:lnSpc>
              <a:spcBef>
                <a:spcPts val="0"/>
              </a:spcBef>
              <a:defRPr sz="7200" b="1" i="0" cap="none" spc="-40" baseline="0">
                <a:solidFill>
                  <a:schemeClr val="bg1"/>
                </a:solidFill>
                <a:latin typeface="Encode Sans Normal ExtraBold" panose="02000000000000000000" pitchFamily="2" charset="77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4007185"/>
            <a:ext cx="10350500" cy="577979"/>
          </a:xfrm>
          <a:prstGeom prst="rect">
            <a:avLst/>
          </a:prstGeom>
        </p:spPr>
        <p:txBody>
          <a:bodyPr anchor="t" anchorCtr="0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>
                    <a:lumMod val="90000"/>
                  </a:schemeClr>
                </a:solidFill>
                <a:latin typeface="Encode Sans Normal ExtraBold" panose="02000000000000000000" pitchFamily="2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SUBTITLE – ALL CAPS</a:t>
            </a:r>
          </a:p>
        </p:txBody>
      </p:sp>
      <p:pic>
        <p:nvPicPr>
          <p:cNvPr id="4" name="Picture 3" descr="White text on a dark background of a logo reading Foster School of Business, University of Washington">
            <a:extLst>
              <a:ext uri="{FF2B5EF4-FFF2-40B4-BE49-F238E27FC236}">
                <a16:creationId xmlns:a16="http://schemas.microsoft.com/office/drawing/2014/main" id="{972C56C5-2F0E-B13F-6B45-D0F73E9B1AB2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59319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Open Sans Light"/>
                <a:ea typeface="Open Sans Light"/>
                <a:cs typeface="Open Sans Light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Open Sans Light"/>
              <a:ea typeface="Open Sans Light"/>
              <a:cs typeface="Open Sans Light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Open Sans Light"/>
                <a:ea typeface="Open Sans Light"/>
                <a:cs typeface="Open Sans Light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Open Sans Light"/>
              <a:ea typeface="Open Sans Light"/>
              <a:cs typeface="Open Sans Light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CA18554-EEF4-17E3-DCD8-207944D46F91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3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Transaction Analytics: Understanding Transactions Part 2</a:t>
            </a:r>
          </a:p>
          <a:p>
            <a:pPr>
              <a:buNone/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endParaRPr sz="36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79F326-02BB-DBCF-DE46-8C56F2D1505A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320</a:t>
            </a:r>
          </a:p>
          <a:p>
            <a:pPr>
              <a:buNone/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Accounting Systems and Analytics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AA1C86-D28B-E54B-D242-81AA41ECF35A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B7A579"/>
                </a:solidFill>
                <a:latin typeface="Segoe UI"/>
                <a:ea typeface="Segoe UI"/>
                <a:cs typeface="Segoe UI"/>
              </a:rPr>
              <a:t>Class 07 | Autumn | 2026</a:t>
            </a:r>
          </a:p>
        </p:txBody>
      </p:sp>
    </p:spTree>
    <p:extLst>
      <p:ext uri="{BB962C8B-B14F-4D97-AF65-F5344CB8AC3E}">
        <p14:creationId xmlns:p14="http://schemas.microsoft.com/office/powerpoint/2010/main" val="153964264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AEA3D4-8AF8-ECFB-3ED8-8BE4D1AD852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647274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b="1" dirty="0">
                <a:solidFill>
                  <a:schemeClr val="tx2"/>
                </a:solidFill>
              </a:rPr>
              <a:t>Review</a:t>
            </a:r>
            <a:r>
              <a:rPr lang="en-US" b="1" dirty="0">
                <a:solidFill>
                  <a:schemeClr val="tx2"/>
                </a:solidFill>
              </a:rPr>
              <a:t>/Synthesis of Course so far</a:t>
            </a:r>
            <a:endParaRPr b="1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dirty="0"/>
              <a:t>Data exercises both in Tableau</a:t>
            </a:r>
            <a:r>
              <a:rPr lang="en-US" dirty="0"/>
              <a:t> (prebuilt workbooks)</a:t>
            </a:r>
            <a:r>
              <a:rPr dirty="0"/>
              <a:t>:</a:t>
            </a:r>
          </a:p>
          <a:p>
            <a:pPr marL="1145100" lvl="1" indent="-457200">
              <a:buAutoNum type="arabicPeriod"/>
            </a:pPr>
            <a:r>
              <a:rPr lang="en-US" dirty="0"/>
              <a:t>C</a:t>
            </a:r>
            <a:r>
              <a:rPr dirty="0"/>
              <a:t>ommunicat</a:t>
            </a:r>
            <a:r>
              <a:rPr lang="en-US" dirty="0"/>
              <a:t>e</a:t>
            </a:r>
            <a:r>
              <a:rPr dirty="0"/>
              <a:t> </a:t>
            </a:r>
            <a:r>
              <a:rPr lang="en-US" dirty="0"/>
              <a:t>business </a:t>
            </a:r>
            <a:r>
              <a:rPr dirty="0"/>
              <a:t>insight</a:t>
            </a:r>
            <a:r>
              <a:rPr lang="en-US" dirty="0"/>
              <a:t> from visuals</a:t>
            </a:r>
          </a:p>
          <a:p>
            <a:pPr marL="1145100" lvl="1" indent="-457200">
              <a:buAutoNum type="arabicPeriod"/>
            </a:pPr>
            <a:r>
              <a:rPr lang="en-US" dirty="0"/>
              <a:t>Use data to support decisions/recommendations</a:t>
            </a:r>
            <a:endParaRPr dirty="0"/>
          </a:p>
          <a:p>
            <a:pPr marL="457200" indent="-457200">
              <a:buAutoNum type="arabicPeriod"/>
            </a:pPr>
            <a:r>
              <a:rPr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4B3093-4852-91B4-5E49-C38E39E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496452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/>
          <p:cNvPicPr>
            <a:picLocks noGrp="1" noChangeAspect="1"/>
          </p:cNvPicPr>
          <p:nvPr>
            <p:ph idx="11"/>
          </p:nvPr>
        </p:nvPicPr>
        <p:blipFill>
          <a:blip r:embed="rId3"/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30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0A2A7F4-31A3-46A7-A346-7E5BDE915B0A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The course’s analytical journey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D04B9791-0838-41C5-8E15-4F2AA09B501B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Define the business question and the decision it supports.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Obtain data and establish what each record and field represents.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Prepare and connect the data using appropriate rules.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Analyze and communicate evidence, including limitations.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Recommend an action justified by that evidence.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DB28A19B-A5D3-4868-B8F3-4E7C0250286B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1, slides 8, 20, 30; Class 2, slide 4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2A662628-15EB-418E-BC91-8BE77E9E0CF2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60296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2C5D8DF-2D22-4622-87C8-7C3804176502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Data quality, measurement, and suitability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B204C34-B521-4DE6-B4FE-5C7D3A935348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Quality: Is a recorded value wrong, missing, inconsistent, or duplicated?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Measurement: What does the field actually represent?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Suitability: Can these data answer the proposed question?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PPP: </a:t>
            </a:r>
            <a:r>
              <a:rPr sz="1867" b="0" dirty="0" err="1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JobsReported</a:t>
            </a: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 alone does not establish jobs saved.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Scavenger hunt: opening a file does not establish correct interpretation.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03878C96-3856-42C7-8E7B-377AC1B3A195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2, slides 19–22, 25–38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BEB9D41A-4A88-40AF-B9B6-93D688F86B8B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61019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AA2863F-5CF5-48EA-9945-F94C6228DE55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Connecting records correctly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5AAEFFC5-A72D-4CA8-9058-208A4EAB07F3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Match entities using meaningful keys, rather than row position.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 composite key may be needed when an ID repeats across units.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Join type determines which records a physical join retains.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Cardinality determines how records can match.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Check missing matches, duplicate matches, counts, and amounts.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262284FC-C44C-4A1F-8893-E4CD07D369FB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3, slides 7–15, 29–43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05E0BFA7-8D4C-48B9-92B0-CD05CDD5008D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33829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6B1B73E-005B-417E-9013-9631561A66E5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Transformations and repeatable workflows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92B84B96-8CA1-4E22-BF73-31EE0D3BA9A4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Extract components according to the source structure.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Standardize equivalent values before comparing them.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Construct keys that identify the intended entity.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Retain source fields so transformations can be traced.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Refreshable steps save work, but changing inputs still require validation.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033C9B25-86AA-473B-B2B9-CD5DE280719E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4, slides 7–8, 15–19; Class 5, slides 3–6, 21–25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8626B1F5-6EC5-42CB-B154-EFEB365FF550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28445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E9D0A5-D852-42C1-ADAB-4DBCEA3F38A0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From preparation to exception testing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0219445A-BA90-42E7-85B4-A55A305E8E69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Payroll example: extract and standardize pay frequency.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Connect each employee to the appropriate plant requirement.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Compare recorded and expected frequency.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Distinguish a representation difference from a substantive mismatch.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An exception identifies a record to investigate, not an established incorrect payment.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9F90E0A2-032C-4094-9D8E-484D86F21BCD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5, slide 6; Classes 3–5 integrated lab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0266935C-BFEA-4B92-8BEA-5B55BA5F9D75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54153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7DF3E-6CB5-F0F6-F179-3E9F1F4C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863BEF-0D3B-9CD4-4F14-F4C66000FC1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647274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dirty="0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/Synthesis of Course so far</a:t>
            </a:r>
            <a:endParaRPr dirty="0">
              <a:solidFill>
                <a:schemeClr val="bg1">
                  <a:lumMod val="65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b="1" dirty="0">
                <a:solidFill>
                  <a:schemeClr val="tx2"/>
                </a:solidFill>
              </a:rPr>
              <a:t>Data exercises both in Tableau</a:t>
            </a:r>
            <a:r>
              <a:rPr lang="en-US" b="1" dirty="0">
                <a:solidFill>
                  <a:schemeClr val="tx2"/>
                </a:solidFill>
              </a:rPr>
              <a:t> (prebuilt workbooks), for each case</a:t>
            </a:r>
            <a:r>
              <a:rPr b="1" dirty="0">
                <a:solidFill>
                  <a:schemeClr val="tx2"/>
                </a:solidFill>
              </a:rPr>
              <a:t>: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</a:t>
            </a:r>
            <a:r>
              <a:rPr b="1" dirty="0">
                <a:solidFill>
                  <a:schemeClr val="tx2"/>
                </a:solidFill>
              </a:rPr>
              <a:t>ommunicat</a:t>
            </a:r>
            <a:r>
              <a:rPr lang="en-US" b="1" dirty="0">
                <a:solidFill>
                  <a:schemeClr val="tx2"/>
                </a:solidFill>
              </a:rPr>
              <a:t>e</a:t>
            </a:r>
            <a:r>
              <a:rPr b="1" dirty="0">
                <a:solidFill>
                  <a:schemeClr val="tx2"/>
                </a:solidFill>
              </a:rPr>
              <a:t> </a:t>
            </a:r>
            <a:r>
              <a:rPr lang="en-US" b="1" dirty="0">
                <a:solidFill>
                  <a:schemeClr val="tx2"/>
                </a:solidFill>
              </a:rPr>
              <a:t>business </a:t>
            </a:r>
            <a:r>
              <a:rPr b="1" dirty="0">
                <a:solidFill>
                  <a:schemeClr val="tx2"/>
                </a:solidFill>
              </a:rPr>
              <a:t>insight</a:t>
            </a:r>
            <a:r>
              <a:rPr lang="en-US" b="1" dirty="0">
                <a:solidFill>
                  <a:schemeClr val="tx2"/>
                </a:solidFill>
              </a:rPr>
              <a:t> from visuals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Use data to support decisions/recommendations</a:t>
            </a:r>
            <a:endParaRPr b="1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355BA4-35F3-12F5-B62C-C24BF6348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13137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AEC398-6764-401E-B6A0-4E5475BE3D72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A method for interpreting every visual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D426BE6-266D-4A39-A29A-9978EE1824B5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Observation: What exactly does the evidence show?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Interpretation: What explanation is consistent with it?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Limitation: What remains unresolved?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Action: What should management do next, and why?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E01D83A1-30D0-438E-8E51-D498E5AFE6F1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1–5; Classes 6–7 case application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1C85D459-3601-4937-9492-7EB75DFDF836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76561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D9CB4B7-3797-4002-9903-0BE90529DA53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Fairfield</a:t>
            </a:r>
            <a:r>
              <a:rPr lang="en-US"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 audit</a:t>
            </a:r>
            <a:r>
              <a:rPr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: Begin with office-level evidence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B1733DB-F715-4208-91C0-9F34F95A73F9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Open the completed travel-expense audit workbook.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Compare reported distance with validated distance by office.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Identify one observation supported by a specific comparison.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Which office would you investigate first, and why?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Would total discrepancy, discrepancy per claim, and reporting pattern suggest the same priority?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EFF1CD3C-516B-448F-BA71-578C76A14749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Fairfield travel-expense audit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E42AEE2D-E78C-42A8-87DA-96A3E466EE5F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39685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01BC31-246A-474E-B93E-46044A3CCEB1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Fairfield</a:t>
            </a:r>
            <a:r>
              <a:rPr lang="en-US"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 audit</a:t>
            </a:r>
            <a:r>
              <a:rPr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:</a:t>
            </a:r>
            <a:r>
              <a:rPr lang="en-US"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 </a:t>
            </a:r>
            <a:r>
              <a:rPr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What does a difference measure?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7009709C-3A0F-484B-A0AC-AD7F6AD4D413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Mileage difference = reported distance − validated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Expense difference = mileage difference × the case rate ($0.58).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An aggregate net difference can offset positive and negative discrepancies.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 large difference and a strong rounding pattern are different findings.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Before interpreting “misreported,” establish how validation and policy define acceptable mileage.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B53FEF38-BE31-4284-BF1F-4B8A5971D60D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Fairfield calculated fields and interpretation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7A86F90A-E3D3-41B0-945C-4CE4E8005ED2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23306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8A03EE7-D81A-4DD5-8AD2-48912E233C7F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Fairfield: Drill down to individuals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F825A770-F13A-4F08-BB00-4BB428E7D15C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Compare total discrepancies across employees.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Inspect individual claims for the employees selected for review.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Is the difference occasional, repeated, or approximately constant?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Compare claim locations with employee locations where relevant.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What relationship would an office-level total conceal?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484F9C25-F556-4B79-8CBC-255304018E51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Fairfield employee and line-item views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02BDA4AE-AC28-419A-B0A4-C7ACE78DEA32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73837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793306-AE21-489E-9D73-B79223BD7CAD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Fairfield: Competing explanations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9E8C0E8E-E767-4279-8F77-0FE4B4049565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 recurring difference may reflect a reporting rule, route convention, data issue, or intentional overstatement.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Claims involving another employee’s location reveal a relationship worth examining.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What records would distinguish authorized business travel from an unsupported claim?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Recommend a targeted procedure rather than an immediate allegation.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987913D5-0BAC-41B3-865B-448F6FC1A3C4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Fairfield discussion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EECE2660-0EBD-48CA-8819-A267C68F595A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7411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9AC01F-3FBC-4925-BBD9-D775EC24198D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Worked question: A repeated mileage difference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730F2BE9-7663-402D-98A7-91CFE2AD57BE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15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Hypothetical claims illustrating the Fairfield reasoning task.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1. Describe the numerical pattern and support it with a calculation.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2. Give one plausible explanation other than deliberate overstatement.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3. Recommend evidence that could distinguish the explanations.</a:t>
            </a:r>
          </a:p>
        </p:txBody>
      </p:sp>
      <p:graphicFrame>
        <p:nvGraphicFramePr>
          <p:cNvPr id="10" name="Table 9"/>
          <p:cNvGraphicFramePr/>
          <p:nvPr/>
        </p:nvGraphicFramePr>
        <p:xfrm>
          <a:off x="523875" y="3476625"/>
          <a:ext cx="11144250" cy="2143125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Claim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Reported miles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Validated miles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A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24.2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14.2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B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31.7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21.7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C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18.5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8.5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D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42.0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dirty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32.0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ource">
            <a:extLst>
              <a:ext uri="{FF2B5EF4-FFF2-40B4-BE49-F238E27FC236}">
                <a16:creationId xmlns:a16="http://schemas.microsoft.com/office/drawing/2014/main" id="{D4F9ADD1-C1B5-403E-B26D-5B5F8EED05D3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7 worked example; excluded from the midterm</a:t>
            </a:r>
          </a:p>
        </p:txBody>
      </p:sp>
      <p:sp>
        <p:nvSpPr>
          <p:cNvPr id="6" name="number">
            <a:extLst>
              <a:ext uri="{FF2B5EF4-FFF2-40B4-BE49-F238E27FC236}">
                <a16:creationId xmlns:a16="http://schemas.microsoft.com/office/drawing/2014/main" id="{D57F03D0-9861-41F2-82F6-AE1998D1E4D9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89307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E5B3752-5CF9-43B1-99EC-1A0084B3CB9B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Worked question: Illustrative reasoning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CE195088-0943-47F6-BF3C-D60325BF339B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All four reported distances exceed validated distances by 10 miles.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At $0.58 per mile, the four claims differ by $23.20 in total.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One explanation: an authorized trip segment is omitted from the validation route.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Check the policy, claim itinerary, and validation endpoints against source records.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The pattern supports targeted investigation; it does not establish intent.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814ABD77-E0AB-4EF3-BBED-657F6508513D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7 worked example; Classes 1–5 analytical reasoning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DD3E29E5-86F6-4A4C-B7FB-7B2013AB98A9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8921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CC2EA-6234-C684-49E9-0D8D0E5CF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8AD469-5C18-5C28-ADA4-9EFC2D4B71F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647274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dirty="0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/Synthesis of Course so far</a:t>
            </a:r>
            <a:endParaRPr dirty="0">
              <a:solidFill>
                <a:schemeClr val="bg1">
                  <a:lumMod val="65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b="1" dirty="0">
                <a:solidFill>
                  <a:schemeClr val="tx2"/>
                </a:solidFill>
              </a:rPr>
              <a:t>Data exercises both in Tableau</a:t>
            </a:r>
            <a:r>
              <a:rPr lang="en-US" b="1" dirty="0">
                <a:solidFill>
                  <a:schemeClr val="tx2"/>
                </a:solidFill>
              </a:rPr>
              <a:t> (prebuilt workbooks), for each case</a:t>
            </a:r>
            <a:r>
              <a:rPr b="1" dirty="0">
                <a:solidFill>
                  <a:schemeClr val="tx2"/>
                </a:solidFill>
              </a:rPr>
              <a:t>: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</a:t>
            </a:r>
            <a:r>
              <a:rPr b="1" dirty="0">
                <a:solidFill>
                  <a:schemeClr val="tx2"/>
                </a:solidFill>
              </a:rPr>
              <a:t>ommunicat</a:t>
            </a:r>
            <a:r>
              <a:rPr lang="en-US" b="1" dirty="0">
                <a:solidFill>
                  <a:schemeClr val="tx2"/>
                </a:solidFill>
              </a:rPr>
              <a:t>e</a:t>
            </a:r>
            <a:r>
              <a:rPr b="1" dirty="0">
                <a:solidFill>
                  <a:schemeClr val="tx2"/>
                </a:solidFill>
              </a:rPr>
              <a:t> </a:t>
            </a:r>
            <a:r>
              <a:rPr lang="en-US" b="1" dirty="0">
                <a:solidFill>
                  <a:schemeClr val="tx2"/>
                </a:solidFill>
              </a:rPr>
              <a:t>business </a:t>
            </a:r>
            <a:r>
              <a:rPr b="1" dirty="0">
                <a:solidFill>
                  <a:schemeClr val="tx2"/>
                </a:solidFill>
              </a:rPr>
              <a:t>insight</a:t>
            </a:r>
            <a:r>
              <a:rPr lang="en-US" b="1" dirty="0">
                <a:solidFill>
                  <a:schemeClr val="tx2"/>
                </a:solidFill>
              </a:rPr>
              <a:t> from visuals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Use data to support decisions/recommendations</a:t>
            </a:r>
            <a:endParaRPr b="1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F5590E-4D9E-0FD0-0590-D191EA42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712494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E4FF01A-2B45-4A7F-8548-6ED7E8FE31A3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Fairview: Establish the company-level result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3ECAAF8E-23F2-4F50-B4EE-3A3DF695E6D2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Open the completed fixed-rate reimbursement workbook.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Current modeled reimbursement = mileage × $0.575.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Proposed reimbursement = fixed payment per trip.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Use the slider to find approximately unchanged total payments.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Explain why the trip-weighted average determines the neutral payment.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14DD9D9E-7682-4847-ACB4-3DFED55A35CC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Fairview reimbursement calculation method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F26E193A-1B0A-4A33-AFF1-7BDE8AC1BF62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97545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9ABE0D6-7629-4099-A115-8F971F0422C7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Fairview: What cost neutrality establishes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486768BB-D8E4-48B7-9564-3CBC8F419976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At the neutral payment, increases and decreases offset across the trip population.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Equal total payments do not imply equal payments for every employee.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An average across employees is not necessarily the average across trips.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Future trip volumes and distances may differ.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Payment neutrality alone excludes administrative costs and behavioral effects.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9E68BC4F-92F9-4DC0-A428-1F9DD14714C0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Fairview; Class 2 measurement and suitability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CB4F02E5-5BE3-4645-99B1-8BCF3D39FCE2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941188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2E0C3DD-AB16-4D94-A8FC-CDD82869E034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lang="en-US"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Example</a:t>
            </a:r>
            <a:r>
              <a:rPr sz="3200" b="1" dirty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: Neutral for whom?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8610CC10-7EEE-42DE-8209-3569D5F35A00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15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Hypothetical data, not the Fairview dataset. Current rate: $0.575 per mile.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Analyst 1 proposes $13.42, the rounded simple average of employee-average payments.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Analyst 2 proposes $8.05 per trip.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Which rate preserves total payments? Who gains or loses?</a:t>
            </a:r>
          </a:p>
        </p:txBody>
      </p:sp>
      <p:graphicFrame>
        <p:nvGraphicFramePr>
          <p:cNvPr id="10" name="Table 9"/>
          <p:cNvGraphicFramePr/>
          <p:nvPr/>
        </p:nvGraphicFramePr>
        <p:xfrm>
          <a:off x="523875" y="3476625"/>
          <a:ext cx="11144250" cy="1714500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Employee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Trips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Average miles per trip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A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80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10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B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10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30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C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10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dirty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30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ource">
            <a:extLst>
              <a:ext uri="{FF2B5EF4-FFF2-40B4-BE49-F238E27FC236}">
                <a16:creationId xmlns:a16="http://schemas.microsoft.com/office/drawing/2014/main" id="{23CF190F-E9F6-476C-8B54-205492A4885D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7 teaching example; Fairview application</a:t>
            </a:r>
          </a:p>
        </p:txBody>
      </p:sp>
      <p:sp>
        <p:nvSpPr>
          <p:cNvPr id="6" name="number">
            <a:extLst>
              <a:ext uri="{FF2B5EF4-FFF2-40B4-BE49-F238E27FC236}">
                <a16:creationId xmlns:a16="http://schemas.microsoft.com/office/drawing/2014/main" id="{B8B72C13-63EC-4A19-B647-B974C3EC6730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35469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C7F66BB-03A4-4892-BCD5-1E94D7AABDC5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Teaching example: Reconcile the payments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65F80F7-517E-4D04-8AA5-ED8DBD3444FF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15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100 trips cover 1,400 miles. Current payments total $805.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The cost-neutral payment is $805 ÷ 100 = $8.05 per trip.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Payments increase on 80% of trips, but only one of three employees gains overall.</a:t>
            </a:r>
          </a:p>
        </p:txBody>
      </p:sp>
      <p:graphicFrame>
        <p:nvGraphicFramePr>
          <p:cNvPr id="10" name="Table 9"/>
          <p:cNvGraphicFramePr/>
          <p:nvPr/>
        </p:nvGraphicFramePr>
        <p:xfrm>
          <a:off x="523875" y="3476625"/>
          <a:ext cx="11144252" cy="2143125"/>
        </p:xfrm>
        <a:graphic>
          <a:graphicData uri="http://schemas.openxmlformats.org/drawingml/2006/table">
            <a:tbl>
              <a:tblPr/>
              <a:tblGrid>
                <a:gridCol w="27860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60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60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60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Employee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Current payment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Fixed payment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FFFFFF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Change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>
                      <a:solidFill>
                        <a:srgbClr val="B7A579"/>
                      </a:solidFill>
                      <a:prstDash val="soli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A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$460.00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$644.00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+$184.00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B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$172.50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$80.50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−$92.00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C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$172.50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$80.50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−$92.00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Total</a:t>
                      </a:r>
                    </a:p>
                  </a:txBody>
                  <a:tcPr>
                    <a:lnL w="9525">
                      <a:solidFill>
                        <a:srgbClr val="B7A579"/>
                      </a:solidFill>
                      <a:prstDash val="soli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$805.00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$805.00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dirty="0">
                          <a:solidFill>
                            <a:srgbClr val="212529"/>
                          </a:solidFill>
                          <a:latin typeface="Open Sans Light"/>
                          <a:ea typeface="Open Sans Light"/>
                          <a:cs typeface="Open Sans Light"/>
                        </a:rPr>
                        <a:t>$0.00</a:t>
                      </a:r>
                    </a:p>
                  </a:txBody>
                  <a:tcPr>
                    <a:lnL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7A579"/>
                      </a:solidFill>
                      <a:prstDash val="solid"/>
                    </a:lnR>
                    <a:lnT w="9525" cap="flat" cmpd="sng" algn="ctr">
                      <a:solidFill>
                        <a:srgbClr val="B7A5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7A5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ource">
            <a:extLst>
              <a:ext uri="{FF2B5EF4-FFF2-40B4-BE49-F238E27FC236}">
                <a16:creationId xmlns:a16="http://schemas.microsoft.com/office/drawing/2014/main" id="{484DD404-140C-4007-AE45-7C77ECA1E352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7 teaching example; Class 2 denominators</a:t>
            </a:r>
          </a:p>
        </p:txBody>
      </p:sp>
      <p:sp>
        <p:nvSpPr>
          <p:cNvPr id="6" name="number">
            <a:extLst>
              <a:ext uri="{FF2B5EF4-FFF2-40B4-BE49-F238E27FC236}">
                <a16:creationId xmlns:a16="http://schemas.microsoft.com/office/drawing/2014/main" id="{C083FAC3-84B5-4E6B-BBD1-5A65B9A09B66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178981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1E375F2-56AC-47E2-8DAD-C10F1E0EB6CD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Fairview: Who is most affected?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85151302-1983-4FA9-98DA-F91B6A7D703D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Return to the workbook and inspect employee-level payment changes.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Compare total reductions with reductions per trip and percentage reductions.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 percentage of trips is not a percentage of employees.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To measure affected employees, first aggregate payments by employee.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BB3C36F2-A26C-4C76-9623-72588EBA24E0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Fairview; Class 2 field interpretation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9CA6AEF1-5544-477B-9EEC-32B803B56F81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15001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9A0EA72-FB88-4909-BAD8-BB8585F03E5D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New evidence: Required travel and employee effects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8554FEFF-544A-45B9-8F89-CDF376A73961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In the hypothetical example, Employee B manages major customer accounts.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Their longer trips reflect an assigned sales territory.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Could reduced reimbursement discourage necessary visits or affect retention?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Would this change your recommendation? Explain using the evidence.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What additional information would you request?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559F3C02-463E-4ED9-874E-230AE9E0BFD8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 7 scenario extension; Class 1 business decision support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B8B396C4-C80E-4C7E-8450-65F74505537C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66060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E5B92D-8842-4439-8E3C-2807DB5CDBD8}"/>
              </a:ext>
            </a:extLst>
          </p:cNvPr>
          <p:cNvSpPr>
            <a:spLocks noGrp="1"/>
          </p:cNvSpPr>
          <p:nvPr/>
        </p:nvSpPr>
        <p:spPr>
          <a:xfrm>
            <a:off x="625927" y="641802"/>
            <a:ext cx="10894141" cy="9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2pPr>
            <a:lvl3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3pPr>
            <a:lvl4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4pPr>
            <a:lvl5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5pPr>
            <a:lvl6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6pPr>
            <a:lvl7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7pPr>
            <a:lvl8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8pPr>
            <a:lvl9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9pPr>
          </a:lstStyle>
          <a:p>
            <a:pPr>
              <a:buNone/>
              <a:def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200" b="1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rPr>
              <a:t>Fairview: Policy alternatives and trade-offs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90557493-38D0-4F5E-8F7B-8A807E7347EF}"/>
              </a:ext>
            </a:extLst>
          </p:cNvPr>
          <p:cNvSpPr>
            <a:spLocks noGrp="1"/>
          </p:cNvSpPr>
          <p:nvPr/>
        </p:nvSpPr>
        <p:spPr>
          <a:xfrm>
            <a:off x="609600" y="1744134"/>
            <a:ext cx="10972800" cy="3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Options include a single rate, distance bands, mileage reimbursement, or targeted allowances.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Evaluate administrative effort, required travel, distributional effects, and incentives.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A mitigation payment changes the original cost-neutral calculation.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Recalculate the complete proposal, including supportable administrative savings.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  <a:def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1867" b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State the evidence that would make you revise your recommendation.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FD4A81A3-0454-408B-9643-E775D0944333}"/>
              </a:ext>
            </a:extLst>
          </p:cNvPr>
          <p:cNvSpPr>
            <a:spLocks noGrp="1"/>
          </p:cNvSpPr>
          <p:nvPr/>
        </p:nvSpPr>
        <p:spPr>
          <a:xfrm>
            <a:off x="609600" y="5910000"/>
            <a:ext cx="102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Classes 6–7: Fairview; Classes 1–5 integrated reasoning</a:t>
            </a:r>
          </a:p>
        </p:txBody>
      </p:sp>
      <p:sp>
        <p:nvSpPr>
          <p:cNvPr id="5" name="number">
            <a:extLst>
              <a:ext uri="{FF2B5EF4-FFF2-40B4-BE49-F238E27FC236}">
                <a16:creationId xmlns:a16="http://schemas.microsoft.com/office/drawing/2014/main" id="{45D417B2-5F9D-4C66-AB2B-9C051A87BB0E}"/>
              </a:ext>
            </a:extLst>
          </p:cNvPr>
          <p:cNvSpPr>
            <a:spLocks noGrp="1"/>
          </p:cNvSpPr>
          <p:nvPr/>
        </p:nvSpPr>
        <p:spPr>
          <a:xfrm>
            <a:off x="11000000" y="5910000"/>
            <a:ext cx="500000" cy="2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lvl1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5pPr>
            <a:lvl6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6pPr>
            <a:lvl7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7pPr>
            <a:lvl8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8pPr>
            <a:lvl9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lvl9pPr>
          </a:lstStyle>
          <a:p>
            <a:pPr>
              <a:buNone/>
              <a:def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95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558979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BD007-4D74-D2F9-FA5C-00B42AA39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E14120-5036-3777-A938-B8BF9AD4699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647274" cy="225279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dirty="0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/Synthesis of Course so far</a:t>
            </a:r>
            <a:endParaRPr dirty="0">
              <a:solidFill>
                <a:schemeClr val="bg1">
                  <a:lumMod val="65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b="1" dirty="0">
                <a:solidFill>
                  <a:schemeClr val="tx2"/>
                </a:solidFill>
              </a:rPr>
              <a:t>Data exercises both in Tableau</a:t>
            </a:r>
            <a:r>
              <a:rPr lang="en-US" b="1" dirty="0">
                <a:solidFill>
                  <a:schemeClr val="tx2"/>
                </a:solidFill>
              </a:rPr>
              <a:t> (prebuilt workbooks), for each case</a:t>
            </a:r>
            <a:r>
              <a:rPr b="1" dirty="0">
                <a:solidFill>
                  <a:schemeClr val="tx2"/>
                </a:solidFill>
              </a:rPr>
              <a:t>: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</a:t>
            </a:r>
            <a:r>
              <a:rPr b="1" dirty="0">
                <a:solidFill>
                  <a:schemeClr val="tx2"/>
                </a:solidFill>
              </a:rPr>
              <a:t>ommunicat</a:t>
            </a:r>
            <a:r>
              <a:rPr lang="en-US" b="1" dirty="0">
                <a:solidFill>
                  <a:schemeClr val="tx2"/>
                </a:solidFill>
              </a:rPr>
              <a:t>e</a:t>
            </a:r>
            <a:r>
              <a:rPr b="1" dirty="0">
                <a:solidFill>
                  <a:schemeClr val="tx2"/>
                </a:solidFill>
              </a:rPr>
              <a:t> </a:t>
            </a:r>
            <a:r>
              <a:rPr lang="en-US" b="1" dirty="0">
                <a:solidFill>
                  <a:schemeClr val="tx2"/>
                </a:solidFill>
              </a:rPr>
              <a:t>business </a:t>
            </a:r>
            <a:r>
              <a:rPr b="1" dirty="0">
                <a:solidFill>
                  <a:schemeClr val="tx2"/>
                </a:solidFill>
              </a:rPr>
              <a:t>insight</a:t>
            </a:r>
            <a:r>
              <a:rPr lang="en-US" b="1" dirty="0">
                <a:solidFill>
                  <a:schemeClr val="tx2"/>
                </a:solidFill>
              </a:rPr>
              <a:t> from visuals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Use data to support decisions/recommendations</a:t>
            </a:r>
            <a:endParaRPr b="1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084EED-F226-8995-1E99-87A577508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1136978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FB9647-374A-22F4-A8AE-6FB199787E39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000" b="1">
                <a:solidFill>
                  <a:srgbClr val="4B2E83"/>
                </a:solidFill>
                <a:latin typeface="Encode Sans Normal ExtraBold"/>
                <a:ea typeface="Encode Sans Normal ExtraBold"/>
                <a:cs typeface="Encode Sans Normal ExtraBold"/>
              </a:defRPr>
            </a:pPr>
            <a:r>
              <a:rPr sz="3000" b="1">
                <a:solidFill>
                  <a:srgbClr val="4B2E83"/>
                </a:solidFill>
                <a:latin typeface="Encode Sans Normal ExtraBold"/>
                <a:ea typeface="Encode Sans Normal ExtraBold"/>
                <a:cs typeface="Encode Sans Normal ExtraBold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9C73F9-1885-3A3B-C346-36F1F6425F8D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dirty="0">
                <a:solidFill>
                  <a:srgbClr val="212529"/>
                </a:solidFill>
                <a:latin typeface="Open Sans Light"/>
                <a:ea typeface="Open Sans Light"/>
                <a:cs typeface="Open Sans Light"/>
              </a:rPr>
              <a:t>Next topic: </a:t>
            </a:r>
            <a:r>
              <a:rPr lang="en-US" b="1" dirty="0"/>
              <a:t>Midterm (then more analytics cases)</a:t>
            </a:r>
            <a:endParaRPr b="1" dirty="0"/>
          </a:p>
          <a:p>
            <a:endParaRPr b="1" dirty="0"/>
          </a:p>
          <a:p>
            <a:endParaRPr b="1" dirty="0"/>
          </a:p>
          <a:p>
            <a:pPr marL="285750" indent="-285750">
              <a:buFont typeface="Arial"/>
              <a:buChar char="•"/>
            </a:pPr>
            <a:r>
              <a:rPr dirty="0"/>
              <a:t>We will </a:t>
            </a:r>
            <a:r>
              <a:rPr lang="en-US" dirty="0"/>
              <a:t>continue to use </a:t>
            </a:r>
            <a:r>
              <a:rPr dirty="0"/>
              <a:t>analytics </a:t>
            </a:r>
            <a:r>
              <a:rPr lang="en-US" dirty="0"/>
              <a:t>to better understand business problems</a:t>
            </a:r>
            <a:r>
              <a:rPr lang="en-US"/>
              <a:t>/decisions</a:t>
            </a:r>
            <a:endParaRPr dirty="0"/>
          </a:p>
          <a:p>
            <a:pPr marL="285750" indent="-285750">
              <a:buFont typeface="Arial"/>
              <a:buChar char="•"/>
            </a:pPr>
            <a:endParaRPr dirty="0"/>
          </a:p>
          <a:p>
            <a:pPr marL="285750" indent="-285750">
              <a:buFont typeface="Arial"/>
              <a:buChar char="•"/>
            </a:pPr>
            <a:r>
              <a:rPr dirty="0"/>
              <a:t>Consider how financial </a:t>
            </a:r>
            <a:r>
              <a:rPr lang="en-US" dirty="0"/>
              <a:t>and other </a:t>
            </a:r>
            <a:r>
              <a:rPr dirty="0"/>
              <a:t>data can be analyzed to understand various business problems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AF42CC-6DCC-793F-7159-61467EE1CC0B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buNone/>
              <a:defRPr sz="210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defRPr>
            </a:pPr>
            <a:r>
              <a:rPr sz="2100" b="0">
                <a:solidFill>
                  <a:srgbClr val="917B4C"/>
                </a:solidFill>
                <a:latin typeface="Open Sans Light"/>
                <a:ea typeface="Open Sans Light"/>
                <a:cs typeface="Open Sans Light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465684473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 ExtraBold"/>
        <a:ea typeface=""/>
        <a:cs typeface=""/>
      </a:majorFont>
      <a:minorFont>
        <a:latin typeface="Open Sans Light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 ExtraBold"/>
        <a:ea typeface=""/>
        <a:cs typeface=""/>
      </a:majorFont>
      <a:minorFont>
        <a:latin typeface="Open Sans Light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1518</Words>
  <Application>Microsoft Office PowerPoint</Application>
  <DocSecurity>0</DocSecurity>
  <PresentationFormat>Widescreen</PresentationFormat>
  <Paragraphs>229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Encode Sans Normal ExtraBold</vt:lpstr>
      <vt:lpstr>Open Sans Light</vt:lpstr>
      <vt:lpstr>Segoe UI</vt:lpstr>
      <vt:lpstr>W Foster MBA Career Mgmt</vt:lpstr>
      <vt:lpstr>PowerPoint Presentation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5</cp:revision>
  <dcterms:created xsi:type="dcterms:W3CDTF">2026-10-21T13:54:13Z</dcterms:created>
  <dcterms:modified xsi:type="dcterms:W3CDTF">2026-10-21T20:21:56Z</dcterms:modified>
</cp:coreProperties>
</file>