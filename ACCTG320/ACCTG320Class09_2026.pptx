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63" r:id="rId2"/>
    <p:sldId id="257" r:id="rId3"/>
    <p:sldId id="258" r:id="rId4"/>
    <p:sldId id="266" r:id="rId5"/>
    <p:sldId id="364" r:id="rId6"/>
    <p:sldId id="365" r:id="rId7"/>
    <p:sldId id="366" r:id="rId8"/>
    <p:sldId id="367" r:id="rId9"/>
    <p:sldId id="368" r:id="rId10"/>
    <p:sldId id="263" r:id="rId1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353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DBADB-1C71-6095-1C59-747FD78CC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5A3E2-56C0-DB2B-1A2F-86A284743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929CD-2FD2-0475-CC3D-6CD74BF52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27193-F11F-AD37-6887-E3B7249BE54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1393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5413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ic Title Slide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1288368"/>
            <a:ext cx="10325100" cy="2308324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ct val="100000"/>
              </a:lnSpc>
              <a:spcBef>
                <a:spcPts val="0"/>
              </a:spcBef>
              <a:defRPr sz="7200" b="1" i="0" cap="none" spc="-40" baseline="0">
                <a:solidFill>
                  <a:schemeClr val="bg1"/>
                </a:solidFill>
                <a:latin typeface="Encode Sans Normal ExtraBold" panose="02000000000000000000" pitchFamily="2" charset="77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4007185"/>
            <a:ext cx="10350500" cy="577979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>
                    <a:lumMod val="90000"/>
                  </a:schemeClr>
                </a:solidFill>
                <a:latin typeface="Encode Sans Normal ExtraBold" panose="02000000000000000000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– ALL CAPS</a:t>
            </a:r>
          </a:p>
        </p:txBody>
      </p:sp>
      <p:pic>
        <p:nvPicPr>
          <p:cNvPr id="4" name="Picture 3" descr="White text on a dark background of a logo reading Foster School of Business, University of Washington">
            <a:extLst>
              <a:ext uri="{FF2B5EF4-FFF2-40B4-BE49-F238E27FC236}">
                <a16:creationId xmlns:a16="http://schemas.microsoft.com/office/drawing/2014/main" id="{972C56C5-2F0E-B13F-6B45-D0F73E9B1AB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9319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fprod-hcs.foster.uw.edu/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18554-EEF4-17E3-DCD8-207944D46F91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3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Integrating Analytical Skills 1</a:t>
            </a:r>
            <a:endParaRPr sz="36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79F326-02BB-DBCF-DE46-8C56F2D1505A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320</a:t>
            </a:r>
          </a:p>
          <a:p>
            <a:pPr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Accounting Systems and Analytics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AA1C86-D28B-E54B-D242-81AA41ECF35A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Class 0</a:t>
            </a:r>
            <a:r>
              <a:rPr lang="en-US"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9</a:t>
            </a:r>
            <a:r>
              <a:rPr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 | Autumn | 2026</a:t>
            </a:r>
          </a:p>
        </p:txBody>
      </p:sp>
    </p:spTree>
    <p:extLst>
      <p:ext uri="{BB962C8B-B14F-4D97-AF65-F5344CB8AC3E}">
        <p14:creationId xmlns:p14="http://schemas.microsoft.com/office/powerpoint/2010/main" val="153964264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AEA3D4-8AF8-ECFB-3ED8-8BE4D1AD852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647274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b="1" dirty="0">
                <a:solidFill>
                  <a:schemeClr val="tx2"/>
                </a:solidFill>
              </a:rPr>
              <a:t>Review</a:t>
            </a:r>
            <a:r>
              <a:rPr lang="en-US" b="1" dirty="0">
                <a:solidFill>
                  <a:schemeClr val="tx2"/>
                </a:solidFill>
              </a:rPr>
              <a:t>/Overview of workflows</a:t>
            </a:r>
            <a:endParaRPr b="1" dirty="0">
              <a:solidFill>
                <a:schemeClr val="tx2"/>
              </a:solidFill>
            </a:endParaRPr>
          </a:p>
          <a:p>
            <a:pPr marL="457200" indent="-457200">
              <a:buAutoNum type="arabicPeriod"/>
            </a:pPr>
            <a:r>
              <a:rPr lang="en-US" dirty="0"/>
              <a:t>Labs</a:t>
            </a:r>
            <a:r>
              <a:rPr dirty="0"/>
              <a:t>:</a:t>
            </a:r>
          </a:p>
          <a:p>
            <a:pPr marL="1145100" lvl="1" indent="-457200">
              <a:buAutoNum type="arabicPeriod"/>
            </a:pPr>
            <a:r>
              <a:rPr lang="en-US" dirty="0"/>
              <a:t>Introduction to Alteryx</a:t>
            </a:r>
          </a:p>
          <a:p>
            <a:pPr marL="1145100" lvl="1" indent="-457200">
              <a:buAutoNum type="arabicPeriod"/>
            </a:pPr>
            <a:r>
              <a:rPr lang="en-US" dirty="0"/>
              <a:t>Data quality revisions in Alteryx</a:t>
            </a:r>
          </a:p>
          <a:p>
            <a:pPr marL="1145100" lvl="1" indent="-457200">
              <a:buAutoNum type="arabicPeriod"/>
            </a:pPr>
            <a:r>
              <a:rPr lang="en-US" dirty="0"/>
              <a:t>Time permitting additional Alteryx exercise</a:t>
            </a:r>
            <a:endParaRPr dirty="0"/>
          </a:p>
          <a:p>
            <a:pPr marL="457200" indent="-457200">
              <a:buAutoNum type="arabicPeriod"/>
            </a:pPr>
            <a:r>
              <a:rPr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4B3093-4852-91B4-5E49-C38E39EA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96452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/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3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A2A7F4-31A3-46A7-A346-7E5BDE915B0A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The course’s analytical journey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D04B9791-0838-41C5-8E15-4F2AA09B501B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Define the business question and the decision it supports.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Obtain data and establish what each record and field represents.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Prepare and connect the data using appropriate rules.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Analyze and communicate evidence, including limitations.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Recommend an action justified by that evidence.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2A662628-15EB-418E-BC91-8BE77E9E0CF2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6029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6C26B7-38BD-AD64-D87E-CC448C025B4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77438"/>
          </a:xfrm>
        </p:spPr>
        <p:txBody>
          <a:bodyPr/>
          <a:lstStyle/>
          <a:p>
            <a:r>
              <a:rPr lang="en-US" dirty="0"/>
              <a:t>Data Analytics, is a sequence of task, or a workflow: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1F3247-7271-1154-46A4-8A690878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Analytic Workflows 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9C86BAC-0881-151C-69F1-DA327080D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372" b="41910"/>
          <a:stretch>
            <a:fillRect/>
          </a:stretch>
        </p:blipFill>
        <p:spPr>
          <a:xfrm>
            <a:off x="241300" y="2381249"/>
            <a:ext cx="11950700" cy="13398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259213-E046-692D-F518-60F60042B4D8}"/>
              </a:ext>
            </a:extLst>
          </p:cNvPr>
          <p:cNvSpPr txBox="1"/>
          <p:nvPr/>
        </p:nvSpPr>
        <p:spPr>
          <a:xfrm>
            <a:off x="625927" y="390787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Examples of workflows: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Combine monthly transaction files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Bank reconciliation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Duplicate invoice screening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Accounts receivable aging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Budget-to-actual analysis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Sales and gross-margin analysis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Employee expense compliance</a:t>
            </a:r>
          </a:p>
        </p:txBody>
      </p:sp>
    </p:spTree>
    <p:extLst>
      <p:ext uri="{BB962C8B-B14F-4D97-AF65-F5344CB8AC3E}">
        <p14:creationId xmlns:p14="http://schemas.microsoft.com/office/powerpoint/2010/main" val="192664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540537-43CF-DC29-49E6-3CF90A8A641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867900" cy="908454"/>
          </a:xfrm>
        </p:spPr>
        <p:txBody>
          <a:bodyPr/>
          <a:lstStyle/>
          <a:p>
            <a:r>
              <a:rPr lang="en-US" dirty="0"/>
              <a:t>Alteryx brings data preparation and analysis into a visual workflow, allowing us to connect analytical steps in a logical sequence that is easy to follow, check, and repeat.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A0C012-71BB-4F66-3F67-B2178869A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Alteryx?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F81F6-DE50-8D82-8387-1349A0F3EA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548"/>
          <a:stretch>
            <a:fillRect/>
          </a:stretch>
        </p:blipFill>
        <p:spPr>
          <a:xfrm>
            <a:off x="704072" y="2995518"/>
            <a:ext cx="10737850" cy="278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3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F6A81F-C10B-9065-63D4-0CB5431E0A8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153650" cy="2670988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Suggest tools:</a:t>
            </a:r>
            <a:r>
              <a:rPr lang="en-US" dirty="0"/>
              <a:t> Describe your task and ask which Alteryx tool could help.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Guide setup:</a:t>
            </a:r>
            <a:r>
              <a:rPr lang="en-US" dirty="0"/>
              <a:t> Ask how to configure a tool or write a formula.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Help debug:</a:t>
            </a:r>
            <a:r>
              <a:rPr lang="en-US" dirty="0"/>
              <a:t> Share an error message or unexpected result to identify possible causes and checks.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132BDC-7F20-D51E-510F-2220835A7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Gen AI tools assist with Alteryx?</a:t>
            </a:r>
          </a:p>
        </p:txBody>
      </p:sp>
    </p:spTree>
    <p:extLst>
      <p:ext uri="{BB962C8B-B14F-4D97-AF65-F5344CB8AC3E}">
        <p14:creationId xmlns:p14="http://schemas.microsoft.com/office/powerpoint/2010/main" val="190411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7AD4B-227C-B239-77A7-E3B86B8C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9C63E6-526D-DAA3-AAB4-4784C8C1DF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647274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dirty="0">
                <a:solidFill>
                  <a:schemeClr val="bg1">
                    <a:lumMod val="65000"/>
                  </a:schemeClr>
                </a:solidFill>
              </a:rPr>
              <a:t>Review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/Overview of workflows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Labs</a:t>
            </a:r>
            <a:r>
              <a:rPr b="1" dirty="0">
                <a:solidFill>
                  <a:schemeClr val="tx2"/>
                </a:solidFill>
              </a:rPr>
              <a:t>: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Introduction to Alteryx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Data quality revisions in Alteryx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Time permitting additional Alteryx exercise</a:t>
            </a:r>
            <a:endParaRPr b="1" dirty="0">
              <a:solidFill>
                <a:schemeClr val="tx2"/>
              </a:solidFill>
            </a:endParaRPr>
          </a:p>
          <a:p>
            <a:pPr marL="457200" indent="-457200">
              <a:buAutoNum type="arabicPeriod"/>
            </a:pPr>
            <a:r>
              <a:rPr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A8AC3D-7220-FC3E-6ACC-071141A7C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76060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86300F-689E-2391-AFF3-290EAE40A48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77438"/>
          </a:xfrm>
        </p:spPr>
        <p:txBody>
          <a:bodyPr/>
          <a:lstStyle/>
          <a:p>
            <a:r>
              <a:rPr lang="en-US">
                <a:hlinkClick r:id="rId2"/>
              </a:rPr>
              <a:t>https://fprod-hcs.foster.uw.edu/</a:t>
            </a:r>
            <a:r>
              <a:rPr lang="en-US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A16075-D8FC-46A9-7C2C-C6B37776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Labs</a:t>
            </a:r>
          </a:p>
        </p:txBody>
      </p:sp>
    </p:spTree>
    <p:extLst>
      <p:ext uri="{BB962C8B-B14F-4D97-AF65-F5344CB8AC3E}">
        <p14:creationId xmlns:p14="http://schemas.microsoft.com/office/powerpoint/2010/main" val="482232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FB9647-374A-22F4-A8AE-6FB199787E39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4B2E83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000" b="1">
                <a:solidFill>
                  <a:srgbClr val="4B2E83"/>
                </a:solidFill>
                <a:latin typeface="Encode Sans Normal ExtraBold"/>
                <a:ea typeface="Encode Sans Normal ExtraBold"/>
                <a:cs typeface="Encode Sans Normal ExtraBold"/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C73F9-1885-3A3B-C346-36F1F6425F8D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10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Next topic: </a:t>
            </a:r>
            <a:r>
              <a:rPr lang="en-US" b="1" dirty="0"/>
              <a:t>Integrating Analytical Skills 2</a:t>
            </a:r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pPr marL="285750" indent="-285750">
              <a:buFont typeface="Arial"/>
              <a:buChar char="•"/>
            </a:pPr>
            <a:r>
              <a:rPr dirty="0"/>
              <a:t>We will </a:t>
            </a:r>
            <a:r>
              <a:rPr lang="en-US" dirty="0"/>
              <a:t>continue to use Alteryx workflows to better understand business problems/decisions</a:t>
            </a:r>
            <a:endParaRPr dirty="0"/>
          </a:p>
          <a:p>
            <a:pPr marL="285750" indent="-285750">
              <a:buFont typeface="Arial"/>
              <a:buChar char="•"/>
            </a:pPr>
            <a:endParaRPr dirty="0"/>
          </a:p>
          <a:p>
            <a:pPr marL="285750" indent="-285750">
              <a:buFont typeface="Arial"/>
              <a:buChar char="•"/>
            </a:pPr>
            <a:r>
              <a:rPr dirty="0"/>
              <a:t>Consider how financial </a:t>
            </a:r>
            <a:r>
              <a:rPr lang="en-US" dirty="0"/>
              <a:t>and other </a:t>
            </a:r>
            <a:r>
              <a:rPr dirty="0"/>
              <a:t>data can be analyzed to understand various business problems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42CC-6DCC-793F-7159-61467EE1CC0B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210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210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465684473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 ExtraBold"/>
        <a:ea typeface=""/>
        <a:cs typeface=""/>
      </a:majorFont>
      <a:minorFont>
        <a:latin typeface="Open Sans Light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 ExtraBold"/>
        <a:ea typeface=""/>
        <a:cs typeface=""/>
      </a:majorFont>
      <a:minorFont>
        <a:latin typeface="Open Sans Light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300</Words>
  <Application>Microsoft Office PowerPoint</Application>
  <DocSecurity>0</DocSecurity>
  <PresentationFormat>Widescreen</PresentationFormat>
  <Paragraphs>53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Encode Sans Normal ExtraBold</vt:lpstr>
      <vt:lpstr>Open Sans Light</vt:lpstr>
      <vt:lpstr>Segoe UI</vt:lpstr>
      <vt:lpstr>W Foster MBA Career Mgmt</vt:lpstr>
      <vt:lpstr>PowerPoint Presentation</vt:lpstr>
      <vt:lpstr>Agenda</vt:lpstr>
      <vt:lpstr>PowerPoint Presentation</vt:lpstr>
      <vt:lpstr>PowerPoint Presentation</vt:lpstr>
      <vt:lpstr>Data Analytic Workflows </vt:lpstr>
      <vt:lpstr>Why Alteryx?</vt:lpstr>
      <vt:lpstr>How Can Gen AI tools assist with Alteryx?</vt:lpstr>
      <vt:lpstr>Agenda</vt:lpstr>
      <vt:lpstr>Labs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6</cp:revision>
  <dcterms:created xsi:type="dcterms:W3CDTF">2026-10-21T13:54:13Z</dcterms:created>
  <dcterms:modified xsi:type="dcterms:W3CDTF">2026-10-28T20:04:29Z</dcterms:modified>
</cp:coreProperties>
</file>