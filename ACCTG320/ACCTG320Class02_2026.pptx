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0"/>
  </p:notesMasterIdLst>
  <p:sldIdLst>
    <p:sldId id="256" r:id="rId2"/>
    <p:sldId id="300" r:id="rId3"/>
    <p:sldId id="1130" r:id="rId4"/>
    <p:sldId id="1131" r:id="rId5"/>
    <p:sldId id="1135" r:id="rId6"/>
    <p:sldId id="1136" r:id="rId7"/>
    <p:sldId id="336" r:id="rId8"/>
    <p:sldId id="337" r:id="rId9"/>
    <p:sldId id="338" r:id="rId10"/>
    <p:sldId id="341" r:id="rId11"/>
    <p:sldId id="343" r:id="rId12"/>
    <p:sldId id="1134" r:id="rId13"/>
    <p:sldId id="344" r:id="rId14"/>
    <p:sldId id="1132" r:id="rId15"/>
    <p:sldId id="345" r:id="rId16"/>
    <p:sldId id="346" r:id="rId17"/>
    <p:sldId id="347" r:id="rId18"/>
    <p:sldId id="1133" r:id="rId19"/>
    <p:sldId id="1137" r:id="rId20"/>
    <p:sldId id="1138" r:id="rId21"/>
    <p:sldId id="351" r:id="rId22"/>
    <p:sldId id="1139" r:id="rId23"/>
    <p:sldId id="353" r:id="rId24"/>
    <p:sldId id="350" r:id="rId25"/>
    <p:sldId id="355" r:id="rId26"/>
    <p:sldId id="1140" r:id="rId27"/>
    <p:sldId id="1141" r:id="rId28"/>
    <p:sldId id="1142" r:id="rId29"/>
    <p:sldId id="1143" r:id="rId30"/>
    <p:sldId id="1144" r:id="rId31"/>
    <p:sldId id="1145" r:id="rId32"/>
    <p:sldId id="1146" r:id="rId33"/>
    <p:sldId id="1147" r:id="rId34"/>
    <p:sldId id="1148" r:id="rId35"/>
    <p:sldId id="1120" r:id="rId36"/>
    <p:sldId id="372" r:id="rId37"/>
    <p:sldId id="1149" r:id="rId38"/>
    <p:sldId id="278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E06FA9-A047-477D-84EB-579E635408FB}" v="45" dt="2026-10-05T17:08:03.2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5158" autoAdjust="0"/>
  </p:normalViewPr>
  <p:slideViewPr>
    <p:cSldViewPr snapToGrid="0">
      <p:cViewPr varScale="1">
        <p:scale>
          <a:sx n="109" d="100"/>
          <a:sy n="109" d="100"/>
        </p:scale>
        <p:origin x="126" y="6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sher Curtis" userId="494c4f5b-6d11-415a-9d9e-829c1135aa91" providerId="ADAL" clId="{FDEDEEF3-7275-4161-A24C-7071BE30F9A7}"/>
    <pc:docChg chg="addSld modSld sldOrd">
      <pc:chgData name="Asher Curtis" userId="494c4f5b-6d11-415a-9d9e-829c1135aa91" providerId="ADAL" clId="{FDEDEEF3-7275-4161-A24C-7071BE30F9A7}" dt="2026-10-05T17:08:03.245" v="47"/>
      <pc:docMkLst>
        <pc:docMk/>
      </pc:docMkLst>
      <pc:sldChg chg="modSp add">
        <pc:chgData name="Asher Curtis" userId="494c4f5b-6d11-415a-9d9e-829c1135aa91" providerId="ADAL" clId="{FDEDEEF3-7275-4161-A24C-7071BE30F9A7}" dt="2026-10-05T17:08:03.245" v="47"/>
        <pc:sldMkLst>
          <pc:docMk/>
          <pc:sldMk cId="2931208946" sldId="278"/>
        </pc:sldMkLst>
        <pc:spChg chg="mod">
          <ac:chgData name="Asher Curtis" userId="494c4f5b-6d11-415a-9d9e-829c1135aa91" providerId="ADAL" clId="{FDEDEEF3-7275-4161-A24C-7071BE30F9A7}" dt="2026-10-05T17:08:03.245" v="47"/>
          <ac:spMkLst>
            <pc:docMk/>
            <pc:sldMk cId="2931208946" sldId="278"/>
            <ac:spMk id="2" creationId="{11EC96EB-8371-4B7E-A0C3-573FD660BBA7}"/>
          </ac:spMkLst>
        </pc:spChg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3378577839" sldId="334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3937551633" sldId="336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1714388298" sldId="337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1460355075" sldId="338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4175343837" sldId="339"/>
        </pc:sldMkLst>
      </pc:sldChg>
      <pc:sldChg chg="modSp add">
        <pc:chgData name="Asher Curtis" userId="494c4f5b-6d11-415a-9d9e-829c1135aa91" providerId="ADAL" clId="{FDEDEEF3-7275-4161-A24C-7071BE30F9A7}" dt="2026-10-05T16:46:58.503" v="4"/>
        <pc:sldMkLst>
          <pc:docMk/>
          <pc:sldMk cId="3478850183" sldId="341"/>
        </pc:sldMkLst>
        <pc:spChg chg="mod">
          <ac:chgData name="Asher Curtis" userId="494c4f5b-6d11-415a-9d9e-829c1135aa91" providerId="ADAL" clId="{FDEDEEF3-7275-4161-A24C-7071BE30F9A7}" dt="2026-10-05T16:46:58.503" v="4"/>
          <ac:spMkLst>
            <pc:docMk/>
            <pc:sldMk cId="3478850183" sldId="341"/>
            <ac:spMk id="2" creationId="{DB1AF3DF-94A1-296D-E13F-6C24C69979F9}"/>
          </ac:spMkLst>
        </pc:spChg>
        <pc:spChg chg="mod">
          <ac:chgData name="Asher Curtis" userId="494c4f5b-6d11-415a-9d9e-829c1135aa91" providerId="ADAL" clId="{FDEDEEF3-7275-4161-A24C-7071BE30F9A7}" dt="2026-10-05T16:46:43.517" v="3"/>
          <ac:spMkLst>
            <pc:docMk/>
            <pc:sldMk cId="3478850183" sldId="341"/>
            <ac:spMk id="3" creationId="{DEC54E1B-7C39-8D5C-DF40-8E60EC503331}"/>
          </ac:spMkLst>
        </pc:spChg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866056707" sldId="342"/>
        </pc:sldMkLst>
      </pc:sldChg>
      <pc:sldChg chg="modSp add">
        <pc:chgData name="Asher Curtis" userId="494c4f5b-6d11-415a-9d9e-829c1135aa91" providerId="ADAL" clId="{FDEDEEF3-7275-4161-A24C-7071BE30F9A7}" dt="2026-10-05T16:47:37.320" v="5"/>
        <pc:sldMkLst>
          <pc:docMk/>
          <pc:sldMk cId="4136147729" sldId="343"/>
        </pc:sldMkLst>
        <pc:spChg chg="mod">
          <ac:chgData name="Asher Curtis" userId="494c4f5b-6d11-415a-9d9e-829c1135aa91" providerId="ADAL" clId="{FDEDEEF3-7275-4161-A24C-7071BE30F9A7}" dt="2026-10-05T16:47:37.320" v="5"/>
          <ac:spMkLst>
            <pc:docMk/>
            <pc:sldMk cId="4136147729" sldId="343"/>
            <ac:spMk id="2" creationId="{2FAA8BF6-4F80-D511-E11B-B2A9A795C113}"/>
          </ac:spMkLst>
        </pc:spChg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2578865972" sldId="344"/>
        </pc:sldMkLst>
      </pc:sldChg>
      <pc:sldChg chg="modSp add">
        <pc:chgData name="Asher Curtis" userId="494c4f5b-6d11-415a-9d9e-829c1135aa91" providerId="ADAL" clId="{FDEDEEF3-7275-4161-A24C-7071BE30F9A7}" dt="2026-10-05T16:49:40.153" v="8"/>
        <pc:sldMkLst>
          <pc:docMk/>
          <pc:sldMk cId="231464039" sldId="345"/>
        </pc:sldMkLst>
        <pc:spChg chg="mod">
          <ac:chgData name="Asher Curtis" userId="494c4f5b-6d11-415a-9d9e-829c1135aa91" providerId="ADAL" clId="{FDEDEEF3-7275-4161-A24C-7071BE30F9A7}" dt="2026-10-05T16:49:40.153" v="8"/>
          <ac:spMkLst>
            <pc:docMk/>
            <pc:sldMk cId="231464039" sldId="345"/>
            <ac:spMk id="2" creationId="{DF83CEC4-F579-D01E-8F0D-CAD348705565}"/>
          </ac:spMkLst>
        </pc:spChg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3376092559" sldId="346"/>
        </pc:sldMkLst>
      </pc:sldChg>
      <pc:sldChg chg="modSp add">
        <pc:chgData name="Asher Curtis" userId="494c4f5b-6d11-415a-9d9e-829c1135aa91" providerId="ADAL" clId="{FDEDEEF3-7275-4161-A24C-7071BE30F9A7}" dt="2026-10-05T16:50:21.621" v="9"/>
        <pc:sldMkLst>
          <pc:docMk/>
          <pc:sldMk cId="2763889586" sldId="347"/>
        </pc:sldMkLst>
        <pc:spChg chg="mod">
          <ac:chgData name="Asher Curtis" userId="494c4f5b-6d11-415a-9d9e-829c1135aa91" providerId="ADAL" clId="{FDEDEEF3-7275-4161-A24C-7071BE30F9A7}" dt="2026-10-05T16:50:21.621" v="9"/>
          <ac:spMkLst>
            <pc:docMk/>
            <pc:sldMk cId="2763889586" sldId="347"/>
            <ac:spMk id="2" creationId="{3481E8EC-66F7-57D2-FA7B-FB9D475A9AC3}"/>
          </ac:spMkLst>
        </pc:spChg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4000959900" sldId="348"/>
        </pc:sldMkLst>
      </pc:sldChg>
      <pc:sldChg chg="add ord">
        <pc:chgData name="Asher Curtis" userId="494c4f5b-6d11-415a-9d9e-829c1135aa91" providerId="ADAL" clId="{FDEDEEF3-7275-4161-A24C-7071BE30F9A7}" dt="2026-10-05T16:55:00.836" v="18"/>
        <pc:sldMkLst>
          <pc:docMk/>
          <pc:sldMk cId="648968488" sldId="350"/>
        </pc:sldMkLst>
      </pc:sldChg>
      <pc:sldChg chg="modSp add">
        <pc:chgData name="Asher Curtis" userId="494c4f5b-6d11-415a-9d9e-829c1135aa91" providerId="ADAL" clId="{FDEDEEF3-7275-4161-A24C-7071BE30F9A7}" dt="2026-10-05T16:55:58.402" v="20"/>
        <pc:sldMkLst>
          <pc:docMk/>
          <pc:sldMk cId="214262798" sldId="351"/>
        </pc:sldMkLst>
        <pc:spChg chg="mod">
          <ac:chgData name="Asher Curtis" userId="494c4f5b-6d11-415a-9d9e-829c1135aa91" providerId="ADAL" clId="{FDEDEEF3-7275-4161-A24C-7071BE30F9A7}" dt="2026-10-05T16:55:58.402" v="20"/>
          <ac:spMkLst>
            <pc:docMk/>
            <pc:sldMk cId="214262798" sldId="351"/>
            <ac:spMk id="2" creationId="{22D8281C-7228-5713-F354-9EDFB0A67E92}"/>
          </ac:spMkLst>
        </pc:spChg>
        <pc:spChg chg="mod">
          <ac:chgData name="Asher Curtis" userId="494c4f5b-6d11-415a-9d9e-829c1135aa91" providerId="ADAL" clId="{FDEDEEF3-7275-4161-A24C-7071BE30F9A7}" dt="2026-10-05T16:55:36.507" v="19"/>
          <ac:spMkLst>
            <pc:docMk/>
            <pc:sldMk cId="214262798" sldId="351"/>
            <ac:spMk id="3" creationId="{BB04BE2B-750E-CE7F-1B2E-77776633540E}"/>
          </ac:spMkLst>
        </pc:spChg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3658075713" sldId="352"/>
        </pc:sldMkLst>
      </pc:sldChg>
      <pc:sldChg chg="modSp add ord">
        <pc:chgData name="Asher Curtis" userId="494c4f5b-6d11-415a-9d9e-829c1135aa91" providerId="ADAL" clId="{FDEDEEF3-7275-4161-A24C-7071BE30F9A7}" dt="2026-10-05T16:57:10.842" v="25"/>
        <pc:sldMkLst>
          <pc:docMk/>
          <pc:sldMk cId="4187797775" sldId="353"/>
        </pc:sldMkLst>
        <pc:spChg chg="mod">
          <ac:chgData name="Asher Curtis" userId="494c4f5b-6d11-415a-9d9e-829c1135aa91" providerId="ADAL" clId="{FDEDEEF3-7275-4161-A24C-7071BE30F9A7}" dt="2026-10-05T16:57:10.842" v="25"/>
          <ac:spMkLst>
            <pc:docMk/>
            <pc:sldMk cId="4187797775" sldId="353"/>
            <ac:spMk id="2" creationId="{74041510-8738-EC74-33BF-9871C34D3A6D}"/>
          </ac:spMkLst>
        </pc:spChg>
        <pc:spChg chg="mod">
          <ac:chgData name="Asher Curtis" userId="494c4f5b-6d11-415a-9d9e-829c1135aa91" providerId="ADAL" clId="{FDEDEEF3-7275-4161-A24C-7071BE30F9A7}" dt="2026-10-05T16:56:58.925" v="24"/>
          <ac:spMkLst>
            <pc:docMk/>
            <pc:sldMk cId="4187797775" sldId="353"/>
            <ac:spMk id="3" creationId="{AB281A72-B9B6-DD2C-13CB-45282611B429}"/>
          </ac:spMkLst>
        </pc:spChg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1192364682" sldId="355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690138176" sldId="356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1931783138" sldId="357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2010977493" sldId="358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75164100" sldId="359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2043434820" sldId="360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1537338311" sldId="361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517829881" sldId="362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2503853540" sldId="363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2999793650" sldId="364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3904992661" sldId="365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2143173257" sldId="366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107656901" sldId="367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250468866" sldId="368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4205244047" sldId="369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3118862969" sldId="372"/>
        </pc:sldMkLst>
      </pc:sldChg>
      <pc:sldChg chg="ord">
        <pc:chgData name="Asher Curtis" userId="494c4f5b-6d11-415a-9d9e-829c1135aa91" providerId="ADAL" clId="{FDEDEEF3-7275-4161-A24C-7071BE30F9A7}" dt="2026-10-05T17:06:05.286" v="43"/>
        <pc:sldMkLst>
          <pc:docMk/>
          <pc:sldMk cId="1455551533" sldId="1120"/>
        </pc:sldMkLst>
      </pc:sldChg>
      <pc:sldChg chg="modSp">
        <pc:chgData name="Asher Curtis" userId="494c4f5b-6d11-415a-9d9e-829c1135aa91" providerId="ADAL" clId="{FDEDEEF3-7275-4161-A24C-7071BE30F9A7}" dt="2026-10-05T16:43:30.634" v="2"/>
        <pc:sldMkLst>
          <pc:docMk/>
          <pc:sldMk cId="3673789896" sldId="1131"/>
        </pc:sldMkLst>
        <pc:spChg chg="mod">
          <ac:chgData name="Asher Curtis" userId="494c4f5b-6d11-415a-9d9e-829c1135aa91" providerId="ADAL" clId="{FDEDEEF3-7275-4161-A24C-7071BE30F9A7}" dt="2026-10-05T16:43:30.634" v="2"/>
          <ac:spMkLst>
            <pc:docMk/>
            <pc:sldMk cId="3673789896" sldId="1131"/>
            <ac:spMk id="2" creationId="{A56D0D0D-4734-4CCF-250D-F64DB8911878}"/>
          </ac:spMkLst>
        </pc:spChg>
        <pc:spChg chg="mod">
          <ac:chgData name="Asher Curtis" userId="494c4f5b-6d11-415a-9d9e-829c1135aa91" providerId="ADAL" clId="{FDEDEEF3-7275-4161-A24C-7071BE30F9A7}" dt="2026-10-05T16:43:21.041" v="1"/>
          <ac:spMkLst>
            <pc:docMk/>
            <pc:sldMk cId="3673789896" sldId="1131"/>
            <ac:spMk id="3" creationId="{3BADF26F-7B95-A640-7C84-935AE975931E}"/>
          </ac:spMkLst>
        </pc:spChg>
      </pc:sldChg>
      <pc:sldChg chg="modSp">
        <pc:chgData name="Asher Curtis" userId="494c4f5b-6d11-415a-9d9e-829c1135aa91" providerId="ADAL" clId="{FDEDEEF3-7275-4161-A24C-7071BE30F9A7}" dt="2026-10-05T16:48:38.334" v="7"/>
        <pc:sldMkLst>
          <pc:docMk/>
          <pc:sldMk cId="2796987374" sldId="1132"/>
        </pc:sldMkLst>
        <pc:spChg chg="mod">
          <ac:chgData name="Asher Curtis" userId="494c4f5b-6d11-415a-9d9e-829c1135aa91" providerId="ADAL" clId="{FDEDEEF3-7275-4161-A24C-7071BE30F9A7}" dt="2026-10-05T16:48:38.334" v="7"/>
          <ac:spMkLst>
            <pc:docMk/>
            <pc:sldMk cId="2796987374" sldId="1132"/>
            <ac:spMk id="2" creationId="{BFBC4FEE-24A0-865D-46E8-97B87FFCF38D}"/>
          </ac:spMkLst>
        </pc:spChg>
        <pc:spChg chg="mod">
          <ac:chgData name="Asher Curtis" userId="494c4f5b-6d11-415a-9d9e-829c1135aa91" providerId="ADAL" clId="{FDEDEEF3-7275-4161-A24C-7071BE30F9A7}" dt="2026-10-05T16:48:29.626" v="6"/>
          <ac:spMkLst>
            <pc:docMk/>
            <pc:sldMk cId="2796987374" sldId="1132"/>
            <ac:spMk id="3" creationId="{93B99587-BA9E-3299-C7EA-26B6FA3697BA}"/>
          </ac:spMkLst>
        </pc:spChg>
      </pc:sldChg>
      <pc:sldChg chg="modSp">
        <pc:chgData name="Asher Curtis" userId="494c4f5b-6d11-415a-9d9e-829c1135aa91" providerId="ADAL" clId="{FDEDEEF3-7275-4161-A24C-7071BE30F9A7}" dt="2026-10-05T16:50:49.331" v="11"/>
        <pc:sldMkLst>
          <pc:docMk/>
          <pc:sldMk cId="1097855249" sldId="1133"/>
        </pc:sldMkLst>
        <pc:spChg chg="mod">
          <ac:chgData name="Asher Curtis" userId="494c4f5b-6d11-415a-9d9e-829c1135aa91" providerId="ADAL" clId="{FDEDEEF3-7275-4161-A24C-7071BE30F9A7}" dt="2026-10-05T16:50:49.331" v="11"/>
          <ac:spMkLst>
            <pc:docMk/>
            <pc:sldMk cId="1097855249" sldId="1133"/>
            <ac:spMk id="2" creationId="{CBCF8E38-FB6A-4D37-880C-6C6168E58E06}"/>
          </ac:spMkLst>
        </pc:spChg>
        <pc:spChg chg="mod">
          <ac:chgData name="Asher Curtis" userId="494c4f5b-6d11-415a-9d9e-829c1135aa91" providerId="ADAL" clId="{FDEDEEF3-7275-4161-A24C-7071BE30F9A7}" dt="2026-10-05T16:50:43.022" v="10"/>
          <ac:spMkLst>
            <pc:docMk/>
            <pc:sldMk cId="1097855249" sldId="1133"/>
            <ac:spMk id="3" creationId="{CDCB80BB-3A9B-B3E8-557B-74E249407FAB}"/>
          </ac:spMkLst>
        </pc:spChg>
      </pc:sldChg>
      <pc:sldChg chg="add">
        <pc:chgData name="Asher Curtis" userId="494c4f5b-6d11-415a-9d9e-829c1135aa91" providerId="ADAL" clId="{FDEDEEF3-7275-4161-A24C-7071BE30F9A7}" dt="2026-10-05T16:51:18.169" v="12"/>
        <pc:sldMkLst>
          <pc:docMk/>
          <pc:sldMk cId="573686824" sldId="1134"/>
        </pc:sldMkLst>
      </pc:sldChg>
      <pc:sldChg chg="add">
        <pc:chgData name="Asher Curtis" userId="494c4f5b-6d11-415a-9d9e-829c1135aa91" providerId="ADAL" clId="{FDEDEEF3-7275-4161-A24C-7071BE30F9A7}" dt="2026-10-05T16:51:54.515" v="13"/>
        <pc:sldMkLst>
          <pc:docMk/>
          <pc:sldMk cId="1600381993" sldId="1135"/>
        </pc:sldMkLst>
      </pc:sldChg>
      <pc:sldChg chg="add">
        <pc:chgData name="Asher Curtis" userId="494c4f5b-6d11-415a-9d9e-829c1135aa91" providerId="ADAL" clId="{FDEDEEF3-7275-4161-A24C-7071BE30F9A7}" dt="2026-10-05T16:52:25.451" v="14"/>
        <pc:sldMkLst>
          <pc:docMk/>
          <pc:sldMk cId="3664892757" sldId="1136"/>
        </pc:sldMkLst>
      </pc:sldChg>
      <pc:sldChg chg="add">
        <pc:chgData name="Asher Curtis" userId="494c4f5b-6d11-415a-9d9e-829c1135aa91" providerId="ADAL" clId="{FDEDEEF3-7275-4161-A24C-7071BE30F9A7}" dt="2026-10-05T16:53:33.495" v="15"/>
        <pc:sldMkLst>
          <pc:docMk/>
          <pc:sldMk cId="2427499103" sldId="1137"/>
        </pc:sldMkLst>
      </pc:sldChg>
      <pc:sldChg chg="modSp">
        <pc:chgData name="Asher Curtis" userId="494c4f5b-6d11-415a-9d9e-829c1135aa91" providerId="ADAL" clId="{FDEDEEF3-7275-4161-A24C-7071BE30F9A7}" dt="2026-10-05T16:54:37.426" v="17"/>
        <pc:sldMkLst>
          <pc:docMk/>
          <pc:sldMk cId="2892653519" sldId="1138"/>
        </pc:sldMkLst>
        <pc:spChg chg="mod">
          <ac:chgData name="Asher Curtis" userId="494c4f5b-6d11-415a-9d9e-829c1135aa91" providerId="ADAL" clId="{FDEDEEF3-7275-4161-A24C-7071BE30F9A7}" dt="2026-10-05T16:54:37.426" v="17"/>
          <ac:spMkLst>
            <pc:docMk/>
            <pc:sldMk cId="2892653519" sldId="1138"/>
            <ac:spMk id="2" creationId="{8D63C6EE-73EA-353E-5FDB-E6FEC2348ADB}"/>
          </ac:spMkLst>
        </pc:spChg>
        <pc:spChg chg="mod">
          <ac:chgData name="Asher Curtis" userId="494c4f5b-6d11-415a-9d9e-829c1135aa91" providerId="ADAL" clId="{FDEDEEF3-7275-4161-A24C-7071BE30F9A7}" dt="2026-10-05T16:54:29.608" v="16"/>
          <ac:spMkLst>
            <pc:docMk/>
            <pc:sldMk cId="2892653519" sldId="1138"/>
            <ac:spMk id="3" creationId="{359C6433-44DE-AD9B-FC3F-7718CA26ED34}"/>
          </ac:spMkLst>
        </pc:spChg>
      </pc:sldChg>
      <pc:sldChg chg="modSp">
        <pc:chgData name="Asher Curtis" userId="494c4f5b-6d11-415a-9d9e-829c1135aa91" providerId="ADAL" clId="{FDEDEEF3-7275-4161-A24C-7071BE30F9A7}" dt="2026-10-05T16:56:15.473" v="22"/>
        <pc:sldMkLst>
          <pc:docMk/>
          <pc:sldMk cId="1826359152" sldId="1139"/>
        </pc:sldMkLst>
        <pc:spChg chg="mod">
          <ac:chgData name="Asher Curtis" userId="494c4f5b-6d11-415a-9d9e-829c1135aa91" providerId="ADAL" clId="{FDEDEEF3-7275-4161-A24C-7071BE30F9A7}" dt="2026-10-05T16:56:15.473" v="22"/>
          <ac:spMkLst>
            <pc:docMk/>
            <pc:sldMk cId="1826359152" sldId="1139"/>
            <ac:spMk id="2" creationId="{D8362B64-7873-EF13-B2D2-5E5621176E4F}"/>
          </ac:spMkLst>
        </pc:spChg>
        <pc:spChg chg="mod">
          <ac:chgData name="Asher Curtis" userId="494c4f5b-6d11-415a-9d9e-829c1135aa91" providerId="ADAL" clId="{FDEDEEF3-7275-4161-A24C-7071BE30F9A7}" dt="2026-10-05T16:56:09.611" v="21"/>
          <ac:spMkLst>
            <pc:docMk/>
            <pc:sldMk cId="1826359152" sldId="1139"/>
            <ac:spMk id="3" creationId="{F5BC630C-9C48-3631-5007-725DD054B0E1}"/>
          </ac:spMkLst>
        </pc:spChg>
      </pc:sldChg>
      <pc:sldChg chg="modSp">
        <pc:chgData name="Asher Curtis" userId="494c4f5b-6d11-415a-9d9e-829c1135aa91" providerId="ADAL" clId="{FDEDEEF3-7275-4161-A24C-7071BE30F9A7}" dt="2026-10-05T17:00:33.689" v="27"/>
        <pc:sldMkLst>
          <pc:docMk/>
          <pc:sldMk cId="2301911582" sldId="1140"/>
        </pc:sldMkLst>
        <pc:spChg chg="mod">
          <ac:chgData name="Asher Curtis" userId="494c4f5b-6d11-415a-9d9e-829c1135aa91" providerId="ADAL" clId="{FDEDEEF3-7275-4161-A24C-7071BE30F9A7}" dt="2026-10-05T17:00:33.689" v="27"/>
          <ac:spMkLst>
            <pc:docMk/>
            <pc:sldMk cId="2301911582" sldId="1140"/>
            <ac:spMk id="2" creationId="{A90ABC42-562F-31AA-E148-D7F7DDEDDBF7}"/>
          </ac:spMkLst>
        </pc:spChg>
        <pc:spChg chg="mod">
          <ac:chgData name="Asher Curtis" userId="494c4f5b-6d11-415a-9d9e-829c1135aa91" providerId="ADAL" clId="{FDEDEEF3-7275-4161-A24C-7071BE30F9A7}" dt="2026-10-05T17:00:20.116" v="26"/>
          <ac:spMkLst>
            <pc:docMk/>
            <pc:sldMk cId="2301911582" sldId="1140"/>
            <ac:spMk id="3" creationId="{AF33E22B-DC7B-DE10-65CE-D761BC6DE097}"/>
          </ac:spMkLst>
        </pc:spChg>
      </pc:sldChg>
      <pc:sldChg chg="modSp">
        <pc:chgData name="Asher Curtis" userId="494c4f5b-6d11-415a-9d9e-829c1135aa91" providerId="ADAL" clId="{FDEDEEF3-7275-4161-A24C-7071BE30F9A7}" dt="2026-10-05T17:01:04.250" v="29"/>
        <pc:sldMkLst>
          <pc:docMk/>
          <pc:sldMk cId="2309969376" sldId="1141"/>
        </pc:sldMkLst>
        <pc:spChg chg="mod">
          <ac:chgData name="Asher Curtis" userId="494c4f5b-6d11-415a-9d9e-829c1135aa91" providerId="ADAL" clId="{FDEDEEF3-7275-4161-A24C-7071BE30F9A7}" dt="2026-10-05T17:01:04.250" v="29"/>
          <ac:spMkLst>
            <pc:docMk/>
            <pc:sldMk cId="2309969376" sldId="1141"/>
            <ac:spMk id="2" creationId="{7885031A-49FB-94DE-2031-6DD52CA4E315}"/>
          </ac:spMkLst>
        </pc:spChg>
        <pc:spChg chg="mod">
          <ac:chgData name="Asher Curtis" userId="494c4f5b-6d11-415a-9d9e-829c1135aa91" providerId="ADAL" clId="{FDEDEEF3-7275-4161-A24C-7071BE30F9A7}" dt="2026-10-05T17:00:57.367" v="28"/>
          <ac:spMkLst>
            <pc:docMk/>
            <pc:sldMk cId="2309969376" sldId="1141"/>
            <ac:spMk id="3" creationId="{8F6EF753-5591-ACFA-AB76-ABCBDC2F66D8}"/>
          </ac:spMkLst>
        </pc:spChg>
      </pc:sldChg>
      <pc:sldChg chg="modSp">
        <pc:chgData name="Asher Curtis" userId="494c4f5b-6d11-415a-9d9e-829c1135aa91" providerId="ADAL" clId="{FDEDEEF3-7275-4161-A24C-7071BE30F9A7}" dt="2026-10-05T17:01:30.949" v="31"/>
        <pc:sldMkLst>
          <pc:docMk/>
          <pc:sldMk cId="2184928548" sldId="1142"/>
        </pc:sldMkLst>
        <pc:spChg chg="mod">
          <ac:chgData name="Asher Curtis" userId="494c4f5b-6d11-415a-9d9e-829c1135aa91" providerId="ADAL" clId="{FDEDEEF3-7275-4161-A24C-7071BE30F9A7}" dt="2026-10-05T17:01:30.949" v="31"/>
          <ac:spMkLst>
            <pc:docMk/>
            <pc:sldMk cId="2184928548" sldId="1142"/>
            <ac:spMk id="2" creationId="{449671E0-8E11-C908-31E6-1006EC562D4B}"/>
          </ac:spMkLst>
        </pc:spChg>
        <pc:spChg chg="mod">
          <ac:chgData name="Asher Curtis" userId="494c4f5b-6d11-415a-9d9e-829c1135aa91" providerId="ADAL" clId="{FDEDEEF3-7275-4161-A24C-7071BE30F9A7}" dt="2026-10-05T17:01:23.354" v="30"/>
          <ac:spMkLst>
            <pc:docMk/>
            <pc:sldMk cId="2184928548" sldId="1142"/>
            <ac:spMk id="3" creationId="{BDE9A92C-9DB1-67B7-323E-4B839851CD0B}"/>
          </ac:spMkLst>
        </pc:spChg>
      </pc:sldChg>
      <pc:sldChg chg="modSp">
        <pc:chgData name="Asher Curtis" userId="494c4f5b-6d11-415a-9d9e-829c1135aa91" providerId="ADAL" clId="{FDEDEEF3-7275-4161-A24C-7071BE30F9A7}" dt="2026-10-05T17:02:15.566" v="33"/>
        <pc:sldMkLst>
          <pc:docMk/>
          <pc:sldMk cId="3969760023" sldId="1143"/>
        </pc:sldMkLst>
        <pc:spChg chg="mod">
          <ac:chgData name="Asher Curtis" userId="494c4f5b-6d11-415a-9d9e-829c1135aa91" providerId="ADAL" clId="{FDEDEEF3-7275-4161-A24C-7071BE30F9A7}" dt="2026-10-05T17:02:15.566" v="33"/>
          <ac:spMkLst>
            <pc:docMk/>
            <pc:sldMk cId="3969760023" sldId="1143"/>
            <ac:spMk id="2" creationId="{FC02F52B-5012-BC18-868A-BD974683AB6D}"/>
          </ac:spMkLst>
        </pc:spChg>
        <pc:spChg chg="mod">
          <ac:chgData name="Asher Curtis" userId="494c4f5b-6d11-415a-9d9e-829c1135aa91" providerId="ADAL" clId="{FDEDEEF3-7275-4161-A24C-7071BE30F9A7}" dt="2026-10-05T17:02:07.038" v="32"/>
          <ac:spMkLst>
            <pc:docMk/>
            <pc:sldMk cId="3969760023" sldId="1143"/>
            <ac:spMk id="3" creationId="{D88865D3-8728-3668-400F-E54DAEA81477}"/>
          </ac:spMkLst>
        </pc:spChg>
      </pc:sldChg>
      <pc:sldChg chg="modSp">
        <pc:chgData name="Asher Curtis" userId="494c4f5b-6d11-415a-9d9e-829c1135aa91" providerId="ADAL" clId="{FDEDEEF3-7275-4161-A24C-7071BE30F9A7}" dt="2026-10-05T17:03:16.684" v="35"/>
        <pc:sldMkLst>
          <pc:docMk/>
          <pc:sldMk cId="2988106732" sldId="1144"/>
        </pc:sldMkLst>
        <pc:spChg chg="mod">
          <ac:chgData name="Asher Curtis" userId="494c4f5b-6d11-415a-9d9e-829c1135aa91" providerId="ADAL" clId="{FDEDEEF3-7275-4161-A24C-7071BE30F9A7}" dt="2026-10-05T17:03:16.684" v="35"/>
          <ac:spMkLst>
            <pc:docMk/>
            <pc:sldMk cId="2988106732" sldId="1144"/>
            <ac:spMk id="2" creationId="{322E8C95-4276-36C8-3163-D5E141872E28}"/>
          </ac:spMkLst>
        </pc:spChg>
        <pc:spChg chg="mod">
          <ac:chgData name="Asher Curtis" userId="494c4f5b-6d11-415a-9d9e-829c1135aa91" providerId="ADAL" clId="{FDEDEEF3-7275-4161-A24C-7071BE30F9A7}" dt="2026-10-05T17:03:10.568" v="34"/>
          <ac:spMkLst>
            <pc:docMk/>
            <pc:sldMk cId="2988106732" sldId="1144"/>
            <ac:spMk id="3" creationId="{BFF87117-6B26-B74E-5CAB-170A86F5CC5C}"/>
          </ac:spMkLst>
        </pc:spChg>
      </pc:sldChg>
      <pc:sldChg chg="modSp">
        <pc:chgData name="Asher Curtis" userId="494c4f5b-6d11-415a-9d9e-829c1135aa91" providerId="ADAL" clId="{FDEDEEF3-7275-4161-A24C-7071BE30F9A7}" dt="2026-10-05T17:03:34.152" v="37"/>
        <pc:sldMkLst>
          <pc:docMk/>
          <pc:sldMk cId="3701488257" sldId="1145"/>
        </pc:sldMkLst>
        <pc:spChg chg="mod">
          <ac:chgData name="Asher Curtis" userId="494c4f5b-6d11-415a-9d9e-829c1135aa91" providerId="ADAL" clId="{FDEDEEF3-7275-4161-A24C-7071BE30F9A7}" dt="2026-10-05T17:03:34.152" v="37"/>
          <ac:spMkLst>
            <pc:docMk/>
            <pc:sldMk cId="3701488257" sldId="1145"/>
            <ac:spMk id="2" creationId="{DC85E8FF-ADEB-13BD-5B0C-D9A8A62F716C}"/>
          </ac:spMkLst>
        </pc:spChg>
        <pc:spChg chg="mod">
          <ac:chgData name="Asher Curtis" userId="494c4f5b-6d11-415a-9d9e-829c1135aa91" providerId="ADAL" clId="{FDEDEEF3-7275-4161-A24C-7071BE30F9A7}" dt="2026-10-05T17:03:27.864" v="36"/>
          <ac:spMkLst>
            <pc:docMk/>
            <pc:sldMk cId="3701488257" sldId="1145"/>
            <ac:spMk id="3" creationId="{EA6032D2-8CC2-7D19-D541-65BB612B88F2}"/>
          </ac:spMkLst>
        </pc:spChg>
      </pc:sldChg>
      <pc:sldChg chg="modSp">
        <pc:chgData name="Asher Curtis" userId="494c4f5b-6d11-415a-9d9e-829c1135aa91" providerId="ADAL" clId="{FDEDEEF3-7275-4161-A24C-7071BE30F9A7}" dt="2026-10-05T17:04:03.058" v="40"/>
        <pc:sldMkLst>
          <pc:docMk/>
          <pc:sldMk cId="1487318198" sldId="1146"/>
        </pc:sldMkLst>
        <pc:spChg chg="mod">
          <ac:chgData name="Asher Curtis" userId="494c4f5b-6d11-415a-9d9e-829c1135aa91" providerId="ADAL" clId="{FDEDEEF3-7275-4161-A24C-7071BE30F9A7}" dt="2026-10-05T17:04:03.058" v="40"/>
          <ac:spMkLst>
            <pc:docMk/>
            <pc:sldMk cId="1487318198" sldId="1146"/>
            <ac:spMk id="2" creationId="{1122F0E0-C87E-38D8-2420-E10B5B9F3DB2}"/>
          </ac:spMkLst>
        </pc:spChg>
        <pc:spChg chg="mod">
          <ac:chgData name="Asher Curtis" userId="494c4f5b-6d11-415a-9d9e-829c1135aa91" providerId="ADAL" clId="{FDEDEEF3-7275-4161-A24C-7071BE30F9A7}" dt="2026-10-05T17:03:58.324" v="39"/>
          <ac:spMkLst>
            <pc:docMk/>
            <pc:sldMk cId="1487318198" sldId="1146"/>
            <ac:spMk id="3" creationId="{47021C91-D319-11A8-8404-6D0A6A4839CA}"/>
          </ac:spMkLst>
        </pc:spChg>
      </pc:sldChg>
      <pc:sldChg chg="modSp">
        <pc:chgData name="Asher Curtis" userId="494c4f5b-6d11-415a-9d9e-829c1135aa91" providerId="ADAL" clId="{FDEDEEF3-7275-4161-A24C-7071BE30F9A7}" dt="2026-10-05T17:04:49.977" v="42"/>
        <pc:sldMkLst>
          <pc:docMk/>
          <pc:sldMk cId="2451593707" sldId="1147"/>
        </pc:sldMkLst>
        <pc:spChg chg="mod">
          <ac:chgData name="Asher Curtis" userId="494c4f5b-6d11-415a-9d9e-829c1135aa91" providerId="ADAL" clId="{FDEDEEF3-7275-4161-A24C-7071BE30F9A7}" dt="2026-10-05T17:04:42.479" v="41"/>
          <ac:spMkLst>
            <pc:docMk/>
            <pc:sldMk cId="2451593707" sldId="1147"/>
            <ac:spMk id="2" creationId="{D4E6B257-B911-A205-8FCC-3C460AFBA62F}"/>
          </ac:spMkLst>
        </pc:spChg>
        <pc:spChg chg="mod">
          <ac:chgData name="Asher Curtis" userId="494c4f5b-6d11-415a-9d9e-829c1135aa91" providerId="ADAL" clId="{FDEDEEF3-7275-4161-A24C-7071BE30F9A7}" dt="2026-10-05T17:04:49.977" v="42"/>
          <ac:spMkLst>
            <pc:docMk/>
            <pc:sldMk cId="2451593707" sldId="1147"/>
            <ac:spMk id="3" creationId="{81E5B3D8-4E84-5B38-8791-D626A94CBC30}"/>
          </ac:spMkLst>
        </pc:spChg>
      </pc:sldChg>
      <pc:sldChg chg="add">
        <pc:chgData name="Asher Curtis" userId="494c4f5b-6d11-415a-9d9e-829c1135aa91" providerId="ADAL" clId="{FDEDEEF3-7275-4161-A24C-7071BE30F9A7}" dt="2026-10-05T17:06:15.539" v="44"/>
        <pc:sldMkLst>
          <pc:docMk/>
          <pc:sldMk cId="3356689884" sldId="1148"/>
        </pc:sldMkLst>
      </pc:sldChg>
      <pc:sldChg chg="modSp">
        <pc:chgData name="Asher Curtis" userId="494c4f5b-6d11-415a-9d9e-829c1135aa91" providerId="ADAL" clId="{FDEDEEF3-7275-4161-A24C-7071BE30F9A7}" dt="2026-10-05T17:07:24.170" v="46"/>
        <pc:sldMkLst>
          <pc:docMk/>
          <pc:sldMk cId="1402196545" sldId="1149"/>
        </pc:sldMkLst>
        <pc:spChg chg="mod">
          <ac:chgData name="Asher Curtis" userId="494c4f5b-6d11-415a-9d9e-829c1135aa91" providerId="ADAL" clId="{FDEDEEF3-7275-4161-A24C-7071BE30F9A7}" dt="2026-10-05T17:07:24.170" v="46"/>
          <ac:spMkLst>
            <pc:docMk/>
            <pc:sldMk cId="1402196545" sldId="1149"/>
            <ac:spMk id="2" creationId="{290405AF-846B-3915-EA04-D3FF5948315F}"/>
          </ac:spMkLst>
        </pc:spChg>
        <pc:spChg chg="mod">
          <ac:chgData name="Asher Curtis" userId="494c4f5b-6d11-415a-9d9e-829c1135aa91" providerId="ADAL" clId="{FDEDEEF3-7275-4161-A24C-7071BE30F9A7}" dt="2026-10-05T17:07:18.092" v="45"/>
          <ac:spMkLst>
            <pc:docMk/>
            <pc:sldMk cId="1402196545" sldId="1149"/>
            <ac:spMk id="3" creationId="{045C3A78-3017-E157-7DDF-AF7BB4BC0C7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Walkin slide">
    <p:bg>
      <p:bgPr>
        <a:blipFill rotWithShape="1">
          <a:blip r:embed="rId2"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2">
            <a:extLst>
              <a:ext uri="{FF2B5EF4-FFF2-40B4-BE49-F238E27FC236}">
                <a16:creationId xmlns:a16="http://schemas.microsoft.com/office/drawing/2014/main" id="{9CFC0D3D-31F1-39A9-7186-66397F2588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4D2F92D-2232-B825-2B2D-AC671306A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7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Walkin slide">
    <p:bg>
      <p:bgPr>
        <a:solidFill>
          <a:srgbClr val="32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3EDC79F-91AA-B3FB-6403-6121F91C5FC6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7969" y="163926"/>
            <a:ext cx="12192000" cy="532262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t>CLICK ICON TO ADD PICTURE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9CFC0D3D-31F1-39A9-7186-66397F2588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1" y="2895781"/>
            <a:ext cx="4609352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4D2F92D-2232-B825-2B2D-AC671306A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11" name="Picture 4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C840783-3AB7-4D7E-82CD-FC31657F7CD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accent2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A38FA88-52D3-47C2-90DE-627C0B1361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11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_ta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2">
            <a:extLst>
              <a:ext uri="{FF2B5EF4-FFF2-40B4-BE49-F238E27FC236}">
                <a16:creationId xmlns:a16="http://schemas.microsoft.com/office/drawing/2014/main" id="{37DFD003-31A4-8340-0A89-F3F70E0F5A5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672DC9-106D-3DF9-16B9-F24BCF5E50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8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Section header_purple">
    <p:bg>
      <p:bgPr>
        <a:solidFill>
          <a:srgbClr val="32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2">
            <a:extLst>
              <a:ext uri="{FF2B5EF4-FFF2-40B4-BE49-F238E27FC236}">
                <a16:creationId xmlns:a16="http://schemas.microsoft.com/office/drawing/2014/main" id="{40223BA2-E77E-B0A1-9266-0D49F8CF83D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bg2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F38BED7-E369-0B67-7D56-7D3F31FC32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8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33D3F72-2015-4C6B-A20F-F5C3095135D9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0" y="1744134"/>
            <a:ext cx="7315200" cy="2252796"/>
          </a:xfrm>
        </p:spPr>
        <p:txBody>
          <a:bodyPr/>
          <a:lstStyle>
            <a:lvl1pPr>
              <a:buNone/>
              <a:defRPr sz="1867" b="0" i="0"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1867" b="0" i="0"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1867" b="0" i="0"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1867" b="0" i="0"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1867" b="0" i="0">
                <a:latin typeface="Open Sans Light"/>
                <a:ea typeface="Open Sans Light"/>
                <a:cs typeface="Open Sans Light"/>
              </a:defRPr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41C90-5ECB-21EE-9F34-0F9BBB60AD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4F63E328-8C9C-DE2A-7308-E8BBCD69BEF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6316276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B2E75EFE-336F-8122-928E-E0E85EA4EA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5927" y="641802"/>
            <a:ext cx="6316276" cy="584775"/>
          </a:xfrm>
        </p:spPr>
        <p:txBody>
          <a:bodyPr/>
          <a:lstStyle/>
          <a:p>
            <a:r>
              <a:t>CLICK TO EDIT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0C6CCC-8AA2-B4C9-2718-27DD013B166E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7437968" y="0"/>
            <a:ext cx="4754033" cy="532262"/>
          </a:xfrm>
        </p:spPr>
        <p:txBody>
          <a:bodyPr/>
          <a:lstStyle/>
          <a:p>
            <a:r>
              <a:t>Click icon to add picture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4F63E328-8C9C-DE2A-7308-E8BBCD69BEF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0" y="1744134"/>
            <a:ext cx="6592901" cy="2252796"/>
          </a:xfrm>
        </p:spPr>
        <p:txBody>
          <a:bodyPr/>
          <a:lstStyle>
            <a:lvl1pPr>
              <a:buNone/>
              <a:defRPr sz="1867" b="1">
                <a:solidFill>
                  <a:schemeClr val="tx1"/>
                </a:solidFill>
              </a:defRPr>
            </a:lvl1pPr>
            <a:lvl2pPr>
              <a:buNone/>
              <a:defRPr sz="1867">
                <a:solidFill>
                  <a:schemeClr val="tx1"/>
                </a:solidFill>
              </a:defRPr>
            </a:lvl2pPr>
            <a:lvl3pPr>
              <a:buNone/>
              <a:defRPr sz="1867">
                <a:solidFill>
                  <a:schemeClr val="tx1"/>
                </a:solidFill>
              </a:defRPr>
            </a:lvl3pPr>
            <a:lvl4pPr>
              <a:buNone/>
              <a:defRPr sz="1867">
                <a:solidFill>
                  <a:schemeClr val="tx1"/>
                </a:solidFill>
              </a:defRPr>
            </a:lvl4pPr>
            <a:lvl5pPr>
              <a:buNone/>
              <a:defRPr sz="1867">
                <a:solidFill>
                  <a:schemeClr val="tx1"/>
                </a:solidFill>
              </a:defRPr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DEE5A-694C-C4D4-2519-94E57145AE4D}"/>
              </a:ext>
            </a:extLst>
          </p:cNvPr>
          <p:cNvSpPr>
            <a:spLocks noGrp="1"/>
          </p:cNvSpPr>
          <p:nvPr/>
        </p:nvSpPr>
        <p:spPr>
          <a:xfrm>
            <a:off x="8342490" y="0"/>
            <a:ext cx="3849511" cy="6858000"/>
          </a:xfrm>
          <a:prstGeom prst="rect">
            <a:avLst/>
          </a:prstGeom>
          <a:blipFill rotWithShape="1">
            <a:blip r:embed="rId2"/>
            <a:srcRect/>
            <a:stretch>
              <a:fillRect l="-102790" r="-64464"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sz="240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E7514D8-5214-F82C-BCBF-B5E202DCD6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5927" y="641802"/>
            <a:ext cx="6576575" cy="584775"/>
          </a:xfrm>
        </p:spPr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D5776-2479-4379-A703-2C22D497D2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196A19D-20D7-4BE0-91CF-70BE1A51836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48928" y="2455592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9F63A1E-80AC-873A-7B08-C7265BB5967D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648928" y="3451618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69324E9C-60EB-28A4-B685-42B2774AEFAF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648928" y="4013459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BD8CB4E0-D660-D5F2-909F-028F7EFFCD95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6270794" y="2455592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D09874F-B2CF-BD5A-EE3E-7444C4E16C8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70794" y="4013459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0C492763-7F70-C5FA-0820-3577947AC99F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648928" y="1884075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FDDAFFA5-C05C-EA69-DBA3-676A18E8CEF7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6263396" y="3451618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DFEE20B9-CD1F-8C9B-BEA0-B9D319CCC2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6263396" y="1884075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79EC0-41F0-4247-9C45-69A7F8DF62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9E53213-570B-4A18-BD1C-150302F61DED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6312126" y="1744133"/>
            <a:ext cx="5300133" cy="533480"/>
          </a:xfrm>
        </p:spPr>
        <p:txBody>
          <a:bodyPr/>
          <a:lstStyle/>
          <a:p>
            <a:r>
              <a:t>Click icon to add picture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406E4740-29FB-D70A-8FD0-D37379CFCD0D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5270276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327B15-003C-B57F-47CD-422B701435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CC5F2F5B-6F0D-D207-EBEE-C1FD4E77DD2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288974" y="5822909"/>
            <a:ext cx="1220513" cy="646331"/>
          </a:xfrm>
        </p:spPr>
        <p:txBody>
          <a:bodyPr wrap="square">
            <a:spAutoFit/>
          </a:bodyPr>
          <a:lstStyle>
            <a:lvl1pPr>
              <a:lnSpc>
                <a:spcPct val="100000"/>
              </a:lnSpc>
              <a:buNone/>
              <a:defRPr sz="1200"/>
            </a:lvl1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05B892A-4F81-3DE8-DAB9-C9ACD1E4B2D0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370667" y="0"/>
            <a:ext cx="9821333" cy="532262"/>
          </a:xfrm>
        </p:spPr>
        <p:txBody>
          <a:bodyPr/>
          <a:lstStyle/>
          <a:p>
            <a:r>
              <a:t>Click icon to add picture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&amp;A Purp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1EFCB-4C82-A339-B669-A9027A837A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EEF7E41-47AD-7303-E02A-CD4A30B4D13F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5590903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Q&amp;A Purp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1EFCB-4C82-A339-B669-A9027A837A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EEF7E41-47AD-7303-E02A-CD4A30B4D13F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5167087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&amp;A Gol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2">
            <a:extLst>
              <a:ext uri="{FF2B5EF4-FFF2-40B4-BE49-F238E27FC236}">
                <a16:creationId xmlns:a16="http://schemas.microsoft.com/office/drawing/2014/main" id="{2A43680B-0C4E-035C-8289-47EE40A3E9E9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586595" y="1966666"/>
            <a:ext cx="9414933" cy="1990288"/>
          </a:xfrm>
        </p:spPr>
        <p:txBody>
          <a:bodyPr/>
          <a:lstStyle>
            <a:lvl1pPr marL="0" marR="0" indent="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None/>
              <a:defRPr sz="2400">
                <a:solidFill>
                  <a:schemeClr val="tx1"/>
                </a:solidFill>
              </a:defRPr>
            </a:lvl1pPr>
          </a:lstStyle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r>
              <a:t>Optional list of considerations</a:t>
            </a:r>
          </a:p>
          <a:p>
            <a:pPr lvl="0">
              <a:buNone/>
            </a:pPr>
            <a:endParaRPr/>
          </a:p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r>
              <a:t>Optional list of considerations</a:t>
            </a:r>
          </a:p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endParaRPr/>
          </a:p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r>
              <a:t>Optional list of considerations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6B5C0D-562C-B668-B0FD-B003E2FB72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_purple">
    <p:bg>
      <p:bgPr>
        <a:solidFill>
          <a:srgbClr val="32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hank You_ta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5BA17-DAF9-681D-B819-7BDD9530A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10759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44413B94-6844-4A70-89C7-90215F307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r>
              <a:t>CLICK TO EDIT HEADER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8849ED6-60C4-4512-8605-1E9E2FBFD1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5927" y="1529769"/>
            <a:ext cx="10894141" cy="2375522"/>
          </a:xfrm>
          <a:prstGeom prst="rect">
            <a:avLst/>
          </a:prstGeom>
        </p:spPr>
        <p:txBody>
          <a:bodyPr vert="horz" wrap="square" lIns="137160" tIns="45720" rIns="91440" bIns="45720">
            <a:spAutoFit/>
          </a:bodyPr>
          <a:lstStyle/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7DCE893-6A75-F770-3EBA-345A9472F0A7}"/>
              </a:ext>
            </a:extLst>
          </p:cNvPr>
          <p:cNvSpPr>
            <a:spLocks noGrp="1"/>
          </p:cNvSpPr>
          <p:nvPr/>
        </p:nvSpPr>
        <p:spPr>
          <a:xfrm>
            <a:off x="381193" y="6409578"/>
            <a:ext cx="4274987" cy="235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33" b="0" i="0" spc="27">
                <a:solidFill>
                  <a:schemeClr val="tx1">
                    <a:lumMod val="65000"/>
                    <a:lumOff val="35000"/>
                  </a:schemeClr>
                </a:solidFill>
                <a:latin typeface="Uni Sans Book"/>
                <a:ea typeface="Uni Sans Book"/>
                <a:cs typeface="Uni Sans Book"/>
              </a:rPr>
              <a:t> FOSTER SCHOOL OF BUSINESS, UNIVERSITY OF WASHINGTON</a:t>
            </a:r>
            <a:endParaRPr sz="2133" b="0" spc="27" baseline="0">
              <a:solidFill>
                <a:schemeClr val="tx1">
                  <a:lumMod val="65000"/>
                  <a:lumOff val="35000"/>
                </a:schemeClr>
              </a:solidFill>
              <a:latin typeface="Uni Sans Book"/>
              <a:ea typeface="Uni Sans Book"/>
              <a:cs typeface="Uni Sans Book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B5DED1-6392-63AA-0761-1325CD3A98B5}"/>
              </a:ext>
            </a:extLst>
          </p:cNvPr>
          <p:cNvSpPr>
            <a:spLocks noGrp="1"/>
          </p:cNvSpPr>
          <p:nvPr/>
        </p:nvSpPr>
        <p:spPr>
          <a:xfrm>
            <a:off x="8243235" y="6409577"/>
            <a:ext cx="3427347" cy="235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933" b="0" i="0">
                <a:solidFill>
                  <a:schemeClr val="tx1">
                    <a:lumMod val="65000"/>
                    <a:lumOff val="35000"/>
                  </a:schemeClr>
                </a:solidFill>
                <a:latin typeface="Encode Sans Normal Medium"/>
                <a:ea typeface="Encode Sans Normal Medium"/>
                <a:cs typeface="Encode Sans Normal Medium"/>
              </a:rPr>
              <a:t>foster.uw.edu</a:t>
            </a:r>
            <a:endParaRPr sz="2133" b="0" i="0">
              <a:solidFill>
                <a:schemeClr val="tx1">
                  <a:lumMod val="65000"/>
                  <a:lumOff val="35000"/>
                </a:schemeClr>
              </a:solidFill>
              <a:latin typeface="Encode Sans Normal Medium"/>
              <a:ea typeface="Encode Sans Normal Medium"/>
              <a:cs typeface="Encode Sans Normal Medium"/>
            </a:endParaRPr>
          </a:p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B19E5F83-CC4C-4422-956B-0374695BFA28}"/>
              </a:ext>
            </a:extLst>
          </p:cNvPr>
          <p:cNvSpPr>
            <a:spLocks noGrp="1"/>
          </p:cNvSpPr>
          <p:nvPr/>
        </p:nvSpPr>
        <p:spPr>
          <a:xfrm>
            <a:off x="522515" y="6316617"/>
            <a:ext cx="11043559" cy="0"/>
          </a:xfrm>
          <a:prstGeom prst="line">
            <a:avLst/>
          </a:prstGeom>
          <a:ln>
            <a:solidFill>
              <a:srgbClr val="C09F29">
                <a:alpha val="34419"/>
              </a:srgb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729" r:id="rId19"/>
  </p:sldLayoutIdLst>
  <p:txStyles>
    <p:titleStyle>
      <a:lvl1pPr algn="l" defTabSz="609585">
        <a:spcBef>
          <a:spcPct val="0"/>
        </a:spcBef>
        <a:spcAft>
          <a:spcPct val="0"/>
        </a:spcAft>
        <a:buNone/>
        <a:defRPr sz="3200" b="1" i="0" kern="1200">
          <a:solidFill>
            <a:srgbClr val="32006E"/>
          </a:solidFill>
          <a:latin typeface="Encode Sans Normal ExtraBold"/>
          <a:ea typeface="Encode Sans Normal ExtraBold"/>
          <a:cs typeface="Encode Sans Normal ExtraBold"/>
        </a:defRPr>
      </a:lvl1pPr>
      <a:lvl2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2pPr>
      <a:lvl3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3pPr>
      <a:lvl4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4pPr>
      <a:lvl5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5pPr>
      <a:lvl6pPr marL="609585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6pPr>
      <a:lvl7pPr marL="1219170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7pPr>
      <a:lvl8pPr marL="1828754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8pPr>
      <a:lvl9pPr marL="2438339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9pPr>
    </p:titleStyle>
    <p:bodyStyle>
      <a:lvl1pPr marL="0" indent="0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None/>
        <a:defRPr sz="2133" kern="1200">
          <a:solidFill>
            <a:schemeClr val="tx1"/>
          </a:solidFill>
          <a:latin typeface="Open Sans Light"/>
          <a:ea typeface="Open Sans Light"/>
          <a:cs typeface="Open Sans Light"/>
        </a:defRPr>
      </a:lvl1pPr>
      <a:lvl2pPr marL="687900" indent="-232828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2133" kern="1200">
          <a:solidFill>
            <a:schemeClr val="tx1"/>
          </a:solidFill>
          <a:latin typeface="Open Sans Light"/>
          <a:ea typeface="Open Sans Light"/>
          <a:cs typeface="Open Sans Light"/>
        </a:defRPr>
      </a:lvl2pPr>
      <a:lvl3pPr marL="914377" indent="-226478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1867" kern="1200">
          <a:solidFill>
            <a:schemeClr val="tx1"/>
          </a:solidFill>
          <a:latin typeface="Open Sans Light"/>
          <a:ea typeface="Open Sans Light"/>
          <a:cs typeface="Open Sans Light"/>
        </a:defRPr>
      </a:lvl3pPr>
      <a:lvl4pPr marL="1140855" indent="-226478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1867" kern="1200">
          <a:solidFill>
            <a:schemeClr val="tx1"/>
          </a:solidFill>
          <a:latin typeface="Open Sans Light"/>
          <a:ea typeface="Open Sans Light"/>
          <a:cs typeface="Open Sans Light"/>
        </a:defRPr>
      </a:lvl4pPr>
      <a:lvl5pPr marL="1375799" indent="-234945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1867" kern="1200">
          <a:solidFill>
            <a:schemeClr val="tx1"/>
          </a:solidFill>
          <a:latin typeface="Open Sans Light"/>
          <a:ea typeface="Open Sans Light"/>
          <a:cs typeface="Open Sans Light"/>
        </a:defRPr>
      </a:lvl5pPr>
      <a:lvl6pPr marL="3352716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6pPr>
      <a:lvl7pPr marL="3962301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7pPr>
      <a:lvl8pPr marL="4571886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8pPr>
      <a:lvl9pPr marL="5181470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marL="609585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219170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828754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4pPr>
      <a:lvl5pPr marL="2438339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5pPr>
      <a:lvl6pPr marL="3047924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6pPr>
      <a:lvl7pPr marL="3657509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7pPr>
      <a:lvl8pPr marL="4267093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8pPr>
      <a:lvl9pPr marL="4876678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pos="288">
          <p15:clr>
            <a:srgbClr val="F26B43"/>
          </p15:clr>
        </p15:guide>
        <p15:guide id="4" orient="horz" pos="279">
          <p15:clr>
            <a:srgbClr val="F26B43"/>
          </p15:clr>
        </p15:guide>
        <p15:guide id="5" orient="horz" pos="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2171E04-8C84-4649-B7E3-F266075EC7BB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10572750" cy="800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lang="en-US" sz="40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Data Quality</a:t>
            </a:r>
            <a:endParaRPr sz="3600" b="1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0B64F9C-E20B-4CE2-B941-28E4B429B518}"/>
              </a:ext>
            </a:extLst>
          </p:cNvPr>
          <p:cNvSpPr>
            <a:spLocks noGrp="1"/>
          </p:cNvSpPr>
          <p:nvPr/>
        </p:nvSpPr>
        <p:spPr>
          <a:xfrm>
            <a:off x="609600" y="3679307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lang="en-US" sz="24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ACCTG 320</a:t>
            </a:r>
          </a:p>
          <a:p>
            <a:pPr>
              <a:defRPr sz="24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lang="en-US" sz="24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Accounting Systems and Analytics</a:t>
            </a:r>
            <a:endParaRPr sz="2400" b="1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E99166-AAF5-498F-B46D-82D42CECC71B}"/>
              </a:ext>
            </a:extLst>
          </p:cNvPr>
          <p:cNvSpPr>
            <a:spLocks noGrp="1"/>
          </p:cNvSpPr>
          <p:nvPr/>
        </p:nvSpPr>
        <p:spPr>
          <a:xfrm>
            <a:off x="609600" y="4757183"/>
            <a:ext cx="1000125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B7A579"/>
                </a:solidFill>
                <a:latin typeface="Segoe UI"/>
                <a:ea typeface="Segoe UI"/>
                <a:cs typeface="Segoe UI"/>
              </a:defRPr>
            </a:pPr>
            <a:r>
              <a:rPr lang="en-US" sz="2400" b="1" dirty="0">
                <a:solidFill>
                  <a:srgbClr val="B7A579"/>
                </a:solidFill>
                <a:latin typeface="Segoe UI"/>
              </a:rPr>
              <a:t>Class 02 | Autumn | 2026</a:t>
            </a:r>
            <a:endParaRPr sz="2400" b="1" dirty="0">
              <a:solidFill>
                <a:srgbClr val="B7A579"/>
              </a:solidFill>
              <a:latin typeface="Segoe UI"/>
              <a:ea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4294885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F555D3-14D1-2CA6-3E9F-FDB21F020B98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2696636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Review</a:t>
            </a:r>
          </a:p>
          <a:p>
            <a:pPr marL="457200" indent="-457200">
              <a:buAutoNum type="arabicPeriod"/>
            </a:pPr>
            <a:r>
              <a:rPr lang="en-US" dirty="0"/>
              <a:t>Why is data quality important?</a:t>
            </a:r>
          </a:p>
          <a:p>
            <a:pPr marL="457200" indent="-457200">
              <a:buAutoNum type="arabicPeriod"/>
            </a:pPr>
            <a:r>
              <a:rPr lang="en-US" dirty="0"/>
              <a:t>Data Exercises:</a:t>
            </a:r>
          </a:p>
          <a:p>
            <a:pPr marL="1145100" lvl="1" indent="-457200">
              <a:buAutoNum type="arabicPeriod"/>
            </a:pPr>
            <a:r>
              <a:rPr lang="en-US" dirty="0"/>
              <a:t>Scavenger hunt</a:t>
            </a:r>
          </a:p>
          <a:p>
            <a:pPr marL="1145100" lvl="1" indent="-457200">
              <a:buAutoNum type="arabicPeriod"/>
            </a:pPr>
            <a:r>
              <a:rPr lang="en-US" dirty="0"/>
              <a:t>PPP loan data</a:t>
            </a:r>
          </a:p>
          <a:p>
            <a:pPr marL="457200" indent="-457200">
              <a:buAutoNum type="arabicPeriod"/>
            </a:pPr>
            <a:r>
              <a:rPr lang="en-US" dirty="0"/>
              <a:t>Conclusion and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257129C-F48B-B91A-202B-99600A6CD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42721805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2AFCD-F3E6-C34F-F83B-3DD755D60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EB20D57-3A17-FEB1-8C5D-C69528CD61BE}"/>
              </a:ext>
            </a:extLst>
          </p:cNvPr>
          <p:cNvPicPr>
            <a:picLocks noGrp="1" noChangeAspect="1"/>
          </p:cNvPicPr>
          <p:nvPr>
            <p:ph idx="1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650" y="1171527"/>
            <a:ext cx="11950700" cy="397360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18451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6D0D0D-4734-4CCF-250D-F64DB8911878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9536723" cy="2734467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b="1" dirty="0"/>
              <a:t>Question → Data → Prepare → Analyze → Visualize → Business Decision</a:t>
            </a:r>
          </a:p>
          <a:p>
            <a:pPr>
              <a:spcAft>
                <a:spcPts val="800"/>
              </a:spcAft>
              <a:defRPr sz="2000"/>
            </a:pPr>
            <a:endParaRPr lang="en-US" b="1" dirty="0"/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Analytics is not simply applying a tool to a dataset.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The objective is to develop evidence that helps answer a business question.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BADF26F-7B95-A640-7C84-935AE9759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Review: What are we trying to do?</a:t>
            </a:r>
          </a:p>
        </p:txBody>
      </p:sp>
    </p:spTree>
    <p:extLst>
      <p:ext uri="{BB962C8B-B14F-4D97-AF65-F5344CB8AC3E}">
        <p14:creationId xmlns:p14="http://schemas.microsoft.com/office/powerpoint/2010/main" val="36737898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3DF53-392D-1497-5BFB-BEA556A72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FCCAB9-7788-C16F-8773-A743B9ADF8D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2696636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Review</a:t>
            </a:r>
          </a:p>
          <a:p>
            <a:pPr marL="457200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Why is data quality important?</a:t>
            </a:r>
          </a:p>
          <a:p>
            <a:pPr marL="457200" indent="-457200">
              <a:buAutoNum type="arabicPeriod"/>
            </a:pPr>
            <a:r>
              <a:rPr lang="en-US" dirty="0"/>
              <a:t>Data Exercises:</a:t>
            </a:r>
          </a:p>
          <a:p>
            <a:pPr marL="1145100" lvl="1" indent="-457200">
              <a:buAutoNum type="arabicPeriod"/>
            </a:pPr>
            <a:r>
              <a:rPr lang="en-US" dirty="0"/>
              <a:t>Scavenger hunt</a:t>
            </a:r>
          </a:p>
          <a:p>
            <a:pPr marL="1145100" lvl="1" indent="-457200">
              <a:buAutoNum type="arabicPeriod"/>
            </a:pPr>
            <a:r>
              <a:rPr lang="en-US" dirty="0"/>
              <a:t>PPP loan data</a:t>
            </a:r>
          </a:p>
          <a:p>
            <a:pPr marL="457200" indent="-457200">
              <a:buAutoNum type="arabicPeriod"/>
            </a:pPr>
            <a:r>
              <a:rPr lang="en-US" dirty="0"/>
              <a:t>Conclusion and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9DA360-EBBE-C82D-DF28-C51BA58F7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1600381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C568E-9FBC-747A-CAA7-10E469588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EABCEAD-B910-C9CA-6E25-48FF9CA4C07A}"/>
              </a:ext>
            </a:extLst>
          </p:cNvPr>
          <p:cNvPicPr>
            <a:picLocks noGrp="1" noChangeAspect="1"/>
          </p:cNvPicPr>
          <p:nvPr>
            <p:ph idx="1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650" y="1171527"/>
            <a:ext cx="11950700" cy="397360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6648927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CDF9DEA-0C5F-7324-3E86-A6A724716277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2456311"/>
            <a:ext cx="7315200" cy="3234603"/>
          </a:xfrm>
        </p:spPr>
        <p:txBody>
          <a:bodyPr/>
          <a:lstStyle/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The data we would ideally collect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The data that actually exist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The data that we can access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The data that we can correctly interpret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The data that are suitable for our analytical question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956E1DC-0C72-B7A3-951D-3F6903550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1077218"/>
          </a:xfrm>
        </p:spPr>
        <p:txBody>
          <a:bodyPr/>
          <a:lstStyle/>
          <a:p>
            <a:r>
              <a:rPr lang="en-US" dirty="0"/>
              <a:t>A complication:</a:t>
            </a:r>
            <a:br>
              <a:rPr lang="en-US" dirty="0"/>
            </a:br>
            <a:r>
              <a:rPr lang="en-US" dirty="0"/>
              <a:t>The data we want is not always the data we have</a:t>
            </a:r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7BE83AF3-2932-75B0-A647-F2212CB5CD9A}"/>
              </a:ext>
            </a:extLst>
          </p:cNvPr>
          <p:cNvSpPr/>
          <p:nvPr/>
        </p:nvSpPr>
        <p:spPr>
          <a:xfrm>
            <a:off x="7649308" y="2312377"/>
            <a:ext cx="404446" cy="2813538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197A9C-D64D-B086-E940-8E6A052DD708}"/>
              </a:ext>
            </a:extLst>
          </p:cNvPr>
          <p:cNvSpPr txBox="1"/>
          <p:nvPr/>
        </p:nvSpPr>
        <p:spPr>
          <a:xfrm>
            <a:off x="8260373" y="3519091"/>
            <a:ext cx="338943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/>
            </a:pPr>
            <a:r>
              <a:rPr lang="en-US" sz="2000" b="1" dirty="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These may all be different.</a:t>
            </a:r>
          </a:p>
        </p:txBody>
      </p:sp>
    </p:spTree>
    <p:extLst>
      <p:ext uri="{BB962C8B-B14F-4D97-AF65-F5344CB8AC3E}">
        <p14:creationId xmlns:p14="http://schemas.microsoft.com/office/powerpoint/2010/main" val="3937551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53E27F-1CE7-13CC-846A-28BE7A25CE20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9721362" cy="3234603"/>
          </a:xfrm>
        </p:spPr>
        <p:txBody>
          <a:bodyPr/>
          <a:lstStyle/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b="1" dirty="0"/>
              <a:t>Extract — obtain data from its source.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b="1" dirty="0"/>
              <a:t>Transform — clean, combine, standardize, validate, and restructure data.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b="1" dirty="0"/>
              <a:t>Load — place the resulting data where it can be used for analysis or storage.</a:t>
            </a:r>
          </a:p>
          <a:p>
            <a:pPr>
              <a:spcAft>
                <a:spcPts val="700"/>
              </a:spcAft>
              <a:defRPr sz="2000"/>
            </a:pPr>
            <a:endParaRPr lang="en-US" dirty="0"/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ETL is a process, not a particular software product.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8B517D-761A-ED1C-5D66-6B2ABF7B3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ETL: from available data to usable evidence</a:t>
            </a:r>
          </a:p>
        </p:txBody>
      </p:sp>
    </p:spTree>
    <p:extLst>
      <p:ext uri="{BB962C8B-B14F-4D97-AF65-F5344CB8AC3E}">
        <p14:creationId xmlns:p14="http://schemas.microsoft.com/office/powerpoint/2010/main" val="17143882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49B0204-E059-71A8-3DD8-E1C88E73B8DA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10635762" cy="2039404"/>
          </a:xfrm>
        </p:spPr>
        <p:txBody>
          <a:bodyPr/>
          <a:lstStyle/>
          <a:p>
            <a:pPr>
              <a:spcAft>
                <a:spcPts val="700"/>
              </a:spcAft>
              <a:defRPr sz="2000"/>
            </a:pPr>
            <a:r>
              <a:rPr lang="en-US" dirty="0"/>
              <a:t>Different sources require different ways of obtaining and interpreting data: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Files e.g.: spreadsheets, text files, exports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Databases , Websites and APIs, Documents and other less structured sources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8C50D0-6CB1-1EC3-647B-DEB29ACCD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Extract is an interface problem</a:t>
            </a:r>
          </a:p>
        </p:txBody>
      </p:sp>
    </p:spTree>
    <p:extLst>
      <p:ext uri="{BB962C8B-B14F-4D97-AF65-F5344CB8AC3E}">
        <p14:creationId xmlns:p14="http://schemas.microsoft.com/office/powerpoint/2010/main" val="14603550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1AF3DF-94A1-296D-E13F-6C24C69979F9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9255369" cy="4200702"/>
          </a:xfrm>
        </p:spPr>
        <p:txBody>
          <a:bodyPr/>
          <a:lstStyle/>
          <a:p>
            <a:pPr>
              <a:spcAft>
                <a:spcPts val="700"/>
              </a:spcAft>
              <a:defRPr sz="2000"/>
            </a:pPr>
            <a:r>
              <a:rPr lang="en-US" dirty="0"/>
              <a:t>What type of file is it?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What application or language can interpret it?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Does the file require particular options?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Delimiter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Encoding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Version or schema</a:t>
            </a:r>
          </a:p>
          <a:p>
            <a:pPr>
              <a:spcAft>
                <a:spcPts val="800"/>
              </a:spcAft>
              <a:defRPr sz="2000"/>
            </a:pPr>
            <a:r>
              <a:rPr lang="en-US" b="1" dirty="0"/>
              <a:t>A file extension is a useful clue — but the extension is not the data itself.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C54E1B-7C39-8D5C-DF40-8E60EC503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Before we analyze data, we have to open it</a:t>
            </a:r>
          </a:p>
        </p:txBody>
      </p:sp>
    </p:spTree>
    <p:extLst>
      <p:ext uri="{BB962C8B-B14F-4D97-AF65-F5344CB8AC3E}">
        <p14:creationId xmlns:p14="http://schemas.microsoft.com/office/powerpoint/2010/main" val="34788501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FAA8BF6-4F80-D511-E11B-B2A9A795C113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10706100" cy="4639283"/>
          </a:xfrm>
        </p:spPr>
        <p:txBody>
          <a:bodyPr/>
          <a:lstStyle/>
          <a:p>
            <a:pPr>
              <a:spcAft>
                <a:spcPts val="700"/>
              </a:spcAft>
              <a:defRPr sz="2000"/>
            </a:pPr>
            <a:r>
              <a:rPr lang="en-US" dirty="0"/>
              <a:t>Text / broadly documented representations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CSV — delimited text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JSON — objects and arrays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XML — tagged hierarchical data</a:t>
            </a:r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Application-specific formats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Excel — .xlsx / .</a:t>
            </a:r>
            <a:r>
              <a:rPr lang="en-US" dirty="0" err="1"/>
              <a:t>xls</a:t>
            </a:r>
            <a:endParaRPr lang="en-US" dirty="0"/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Alteryx — .</a:t>
            </a:r>
            <a:r>
              <a:rPr lang="en-US" dirty="0" err="1"/>
              <a:t>yxdb</a:t>
            </a:r>
            <a:endParaRPr lang="en-US" dirty="0"/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Tableau — .hyper</a:t>
            </a:r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The important question: what rules are required to interpret the bytes in the file?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3F5A76-A1B6-625C-8433-08D8D45BB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1077218"/>
          </a:xfrm>
        </p:spPr>
        <p:txBody>
          <a:bodyPr/>
          <a:lstStyle/>
          <a:p>
            <a:r>
              <a:rPr lang="en-US" dirty="0"/>
              <a:t>Open and application-specific representations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61477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379A-56C8-8754-22EC-6511162D7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64341F-2B61-33AF-3301-FEE23EA19BFE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2696636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Review</a:t>
            </a:r>
          </a:p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Why is data quality important?</a:t>
            </a:r>
          </a:p>
          <a:p>
            <a:pPr marL="457200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Data Exercises:</a:t>
            </a:r>
          </a:p>
          <a:p>
            <a:pPr marL="1145100" lvl="1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Scavenger hunt</a:t>
            </a:r>
          </a:p>
          <a:p>
            <a:pPr marL="1145100" lvl="1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PPP loan data</a:t>
            </a:r>
          </a:p>
          <a:p>
            <a:pPr marL="457200" indent="-457200">
              <a:buAutoNum type="arabicPeriod"/>
            </a:pPr>
            <a:r>
              <a:rPr lang="en-US" dirty="0"/>
              <a:t>Conclusion and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8043D65-4569-60A3-1C45-CED39F145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5736868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CE9F3CB-CB18-91B7-AB7B-D71D662D0581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10574216" cy="4028154"/>
          </a:xfrm>
        </p:spPr>
        <p:txBody>
          <a:bodyPr/>
          <a:lstStyle/>
          <a:p>
            <a:r>
              <a:rPr lang="en-US" dirty="0"/>
              <a:t>Go to remote labs:</a:t>
            </a:r>
          </a:p>
          <a:p>
            <a:r>
              <a:rPr lang="en-US" dirty="0"/>
              <a:t>Navigate to your U: Drive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 the windows path, type </a:t>
            </a:r>
            <a:r>
              <a:rPr lang="en-US" b="1" i="1" dirty="0" err="1"/>
              <a:t>cmd</a:t>
            </a:r>
            <a:r>
              <a:rPr lang="en-US" dirty="0"/>
              <a:t> then enter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 command window will open up inside the U-Drive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Write the following commands (enter after each one):</a:t>
            </a:r>
          </a:p>
          <a:p>
            <a:pPr marL="1030800" lvl="1" indent="-342900" rtl="0">
              <a:buFont typeface="Arial" panose="020B0604020202020204" pitchFamily="34" charset="0"/>
              <a:buChar char="•"/>
            </a:pPr>
            <a:r>
              <a:rPr lang="en-US" dirty="0"/>
              <a:t>git clone --filter=</a:t>
            </a:r>
            <a:r>
              <a:rPr lang="en-US" dirty="0" err="1"/>
              <a:t>blob:none</a:t>
            </a:r>
            <a:r>
              <a:rPr lang="en-US" dirty="0"/>
              <a:t> --sparse https://github.com/ashercurtis/datasets.io.git</a:t>
            </a:r>
          </a:p>
          <a:p>
            <a:pPr marL="1030800" lvl="1" indent="-342900" rtl="0">
              <a:buFont typeface="Arial" panose="020B0604020202020204" pitchFamily="34" charset="0"/>
              <a:buChar char="•"/>
            </a:pPr>
            <a:r>
              <a:rPr lang="en-US" dirty="0"/>
              <a:t>cd datasets.io</a:t>
            </a:r>
          </a:p>
          <a:p>
            <a:pPr marL="1030800" lvl="1" indent="-342900" rtl="0">
              <a:buFont typeface="Arial" panose="020B0604020202020204" pitchFamily="34" charset="0"/>
              <a:buChar char="•"/>
            </a:pPr>
            <a:r>
              <a:rPr lang="en-US" dirty="0"/>
              <a:t>git sparse-checkout set acctg320</a:t>
            </a:r>
          </a:p>
          <a:p>
            <a:pPr marL="1030800" lvl="1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E3F2E8-1BE4-033A-1597-064A22E18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1: Scavenger Hunt</a:t>
            </a:r>
          </a:p>
        </p:txBody>
      </p:sp>
    </p:spTree>
    <p:extLst>
      <p:ext uri="{BB962C8B-B14F-4D97-AF65-F5344CB8AC3E}">
        <p14:creationId xmlns:p14="http://schemas.microsoft.com/office/powerpoint/2010/main" val="25788659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BC4FEE-24A0-865D-46E8-97B87FFCF38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10029092" cy="4119461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Windows often uses an extension to decide which application should open a file.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Removing the extension does not necessarily change the file contents.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Your task is to infer the underlying format and find a way to open it.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Think like an analyst: inspect first; do not simply guess.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B99587-BA9E-3299-C7EA-26B6FA369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What happens when the extension disappears?</a:t>
            </a:r>
          </a:p>
        </p:txBody>
      </p:sp>
    </p:spTree>
    <p:extLst>
      <p:ext uri="{BB962C8B-B14F-4D97-AF65-F5344CB8AC3E}">
        <p14:creationId xmlns:p14="http://schemas.microsoft.com/office/powerpoint/2010/main" val="27969873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F83CEC4-F579-D01E-8F0D-CAD348705565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9615854" cy="2252796"/>
          </a:xfrm>
        </p:spPr>
        <p:txBody>
          <a:bodyPr/>
          <a:lstStyle/>
          <a:p>
            <a:r>
              <a:rPr lang="en-US" dirty="0"/>
              <a:t>Can you find all the keywords?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5 files contain hidden keywords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Open correctly to view the files and find the keywords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Be prepared to explain HOW you identified the file type — not just the keyword.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22B2A7-F542-20D3-F654-A46FE7017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Scavenger Hunt: Objective</a:t>
            </a:r>
          </a:p>
        </p:txBody>
      </p:sp>
    </p:spTree>
    <p:extLst>
      <p:ext uri="{BB962C8B-B14F-4D97-AF65-F5344CB8AC3E}">
        <p14:creationId xmlns:p14="http://schemas.microsoft.com/office/powerpoint/2010/main" val="2314640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7F4A544-AF00-6674-4335-2D574F197CE9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9589477" cy="4709366"/>
          </a:xfrm>
        </p:spPr>
        <p:txBody>
          <a:bodyPr/>
          <a:lstStyle/>
          <a:p>
            <a:pPr>
              <a:spcAft>
                <a:spcPts val="700"/>
              </a:spcAft>
              <a:defRPr sz="2000"/>
            </a:pPr>
            <a:r>
              <a:rPr lang="en-US" dirty="0"/>
              <a:t>Can the file be inspected in a text editor?</a:t>
            </a:r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Is the content human-readable?</a:t>
            </a:r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Does the beginning of the file contain recognizable structure or a signature?</a:t>
            </a:r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Does a particular application recognize the contents?</a:t>
            </a:r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What happens if the extension is changed?</a:t>
            </a:r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What did the extension contribute, and what remained unchanged?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0B343A-84C8-B36E-5B65-5FD235EB7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Scavenger Hunt: Clues</a:t>
            </a:r>
          </a:p>
        </p:txBody>
      </p:sp>
    </p:spTree>
    <p:extLst>
      <p:ext uri="{BB962C8B-B14F-4D97-AF65-F5344CB8AC3E}">
        <p14:creationId xmlns:p14="http://schemas.microsoft.com/office/powerpoint/2010/main" val="33760925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481E8EC-66F7-57D2-FA7B-FB9D475A9AC3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10894141" cy="3247427"/>
          </a:xfrm>
        </p:spPr>
        <p:txBody>
          <a:bodyPr/>
          <a:lstStyle/>
          <a:p>
            <a:pPr>
              <a:spcAft>
                <a:spcPts val="700"/>
              </a:spcAft>
              <a:defRPr sz="2000"/>
            </a:pPr>
            <a:r>
              <a:rPr lang="en-US" dirty="0"/>
              <a:t>Data are encoded according to rules.</a:t>
            </a:r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Software must know enough about those rules to interpret the data correctly.</a:t>
            </a:r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A successful 'open' does not guarantee a correct interpretation.</a:t>
            </a:r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Extraction therefore includes understanding what was extracted and how it was represented.</a:t>
            </a:r>
          </a:p>
          <a:p>
            <a:pPr>
              <a:spcAft>
                <a:spcPts val="800"/>
              </a:spcAft>
              <a:defRPr sz="2000"/>
            </a:pPr>
            <a:r>
              <a:rPr lang="en-US" b="1" i="1" dirty="0"/>
              <a:t>This is our first ETL problem: extraction includes understanding what we extracted.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8A37F0-8191-9C7E-F465-87F6BEF9A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1077218"/>
          </a:xfrm>
        </p:spPr>
        <p:txBody>
          <a:bodyPr/>
          <a:lstStyle/>
          <a:p>
            <a:r>
              <a:rPr lang="en-US" dirty="0"/>
              <a:t>Scavenger Hunt: MPAcc debrief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38895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CF8E38-FB6A-4D37-880C-6C6168E58E0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9281746" cy="4704237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Opening a dataset answers: Can we read it?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Understanding a dataset asks: What does it actually represent?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Before analysis, we need to understand: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Where the data came from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How the data were generated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What each observation and field represents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What may be missing or measured imperfectly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CB80BB-3A9B-B3E8-557B-74E249407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From opening data to understanding data</a:t>
            </a:r>
          </a:p>
        </p:txBody>
      </p:sp>
    </p:spTree>
    <p:extLst>
      <p:ext uri="{BB962C8B-B14F-4D97-AF65-F5344CB8AC3E}">
        <p14:creationId xmlns:p14="http://schemas.microsoft.com/office/powerpoint/2010/main" val="10978552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AC4DF-A77D-18CF-E144-DF0F0F392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EEBF57-0853-7199-E5BD-41C561FEFA01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2696636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Review</a:t>
            </a:r>
          </a:p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Why is data quality important?</a:t>
            </a:r>
          </a:p>
          <a:p>
            <a:pPr marL="457200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Data Exercises:</a:t>
            </a:r>
          </a:p>
          <a:p>
            <a:pPr marL="1145100" lvl="1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Scavenger hunt</a:t>
            </a:r>
          </a:p>
          <a:p>
            <a:pPr marL="1145100" lvl="1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PPP loan data</a:t>
            </a:r>
          </a:p>
          <a:p>
            <a:pPr marL="457200" indent="-457200">
              <a:buAutoNum type="arabicPeriod"/>
            </a:pPr>
            <a:r>
              <a:rPr lang="en-US" dirty="0"/>
              <a:t>Conclusion and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244DD1-6CAA-40D8-4123-6C1A0810F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4274991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63C6EE-73EA-353E-5FDB-E6FEC2348AD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10328031" cy="3093539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The PPP provided forgivable loans intended to help eligible organizations maintain payroll and cover certain expenses during the COVID-19 disruption.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Public loan-level data create an opportunity to examine how the program operated.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But the existence of a large public dataset does not mean every interesting question can be answered.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59C6433-44DE-AD9B-FC3F-7718CA26E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Exercise 2 — Paycheck Protection Program (PPP)</a:t>
            </a:r>
          </a:p>
        </p:txBody>
      </p:sp>
    </p:spTree>
    <p:extLst>
      <p:ext uri="{BB962C8B-B14F-4D97-AF65-F5344CB8AC3E}">
        <p14:creationId xmlns:p14="http://schemas.microsoft.com/office/powerpoint/2010/main" val="28926535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2D8281C-7228-5713-F354-9EDFB0A67E92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4087850"/>
          </a:xfrm>
        </p:spPr>
        <p:txBody>
          <a:bodyPr/>
          <a:lstStyle/>
          <a:p>
            <a:pPr>
              <a:spcAft>
                <a:spcPts val="700"/>
              </a:spcAft>
              <a:defRPr sz="2000"/>
            </a:pPr>
            <a:r>
              <a:rPr lang="en-US" dirty="0"/>
              <a:t>What would we like to know?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Who received PPP loans?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Where did the money go?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Which industries received the most support?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Did PPP preserve jobs?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Did recipients comply with program requirements?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Was there fraud?</a:t>
            </a:r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Do we have the same data requirements for each question?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04BE2B-750E-CE7F-1B2E-777766335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23220"/>
          </a:xfrm>
        </p:spPr>
        <p:txBody>
          <a:bodyPr/>
          <a:lstStyle/>
          <a:p>
            <a:pPr>
              <a:defRPr sz="2800" b="1"/>
            </a:pPr>
            <a:r>
              <a:rPr lang="en-US" dirty="0"/>
              <a:t>Start with the question — not the spreadsheet</a:t>
            </a:r>
          </a:p>
        </p:txBody>
      </p:sp>
    </p:spTree>
    <p:extLst>
      <p:ext uri="{BB962C8B-B14F-4D97-AF65-F5344CB8AC3E}">
        <p14:creationId xmlns:p14="http://schemas.microsoft.com/office/powerpoint/2010/main" val="2142627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362B64-7873-EF13-B2D2-5E5621176E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10099431" cy="5247975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A business applies for a loan.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Information is supplied by the applicant.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A lender processes the application.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Program rules determine what information is requested and retained.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Government systems aggregate and publish loan-level records.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The public dataset is therefore the output of a process involving people, systems, rules, and incentives.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5BC630C-9C48-3631-5007-725DD054B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Where did the PPP data come from?</a:t>
            </a:r>
          </a:p>
        </p:txBody>
      </p:sp>
    </p:spTree>
    <p:extLst>
      <p:ext uri="{BB962C8B-B14F-4D97-AF65-F5344CB8AC3E}">
        <p14:creationId xmlns:p14="http://schemas.microsoft.com/office/powerpoint/2010/main" val="18263591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041510-8738-EC74-33BF-9871C34D3A6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5"/>
            <a:ext cx="10503877" cy="4806829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Applicant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Mistake, misunderstanding, missing information, or intentional misstatement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Lender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Different procedures, interpretation, validation, or data entry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Government / program administration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Changing rules, system design, aggregation, and publication decisions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Analyst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Incorrect assumptions about what fields mean or what the dataset can establish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B281A72-B9B6-DD2C-13CB-45282611B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Where could problems enter the data?</a:t>
            </a:r>
          </a:p>
        </p:txBody>
      </p:sp>
    </p:spTree>
    <p:extLst>
      <p:ext uri="{BB962C8B-B14F-4D97-AF65-F5344CB8AC3E}">
        <p14:creationId xmlns:p14="http://schemas.microsoft.com/office/powerpoint/2010/main" val="41877977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78B9DA7-D652-F2F8-23E7-2636B9A4C4D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9879623" cy="1808957"/>
          </a:xfrm>
        </p:spPr>
        <p:txBody>
          <a:bodyPr/>
          <a:lstStyle/>
          <a:p>
            <a:r>
              <a:rPr lang="en-US" dirty="0"/>
              <a:t>Navigate to your datasets.io/ACCTG320 folder and look for: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02_PPP_extract/ in this folder is a file “PPP Data – Washington sample.csv”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Read the data using excel.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33251F-C9C6-E307-AD87-B30285590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2: PPP data</a:t>
            </a:r>
          </a:p>
        </p:txBody>
      </p:sp>
    </p:spTree>
    <p:extLst>
      <p:ext uri="{BB962C8B-B14F-4D97-AF65-F5344CB8AC3E}">
        <p14:creationId xmlns:p14="http://schemas.microsoft.com/office/powerpoint/2010/main" val="6489684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471F05F-D189-08AB-FA51-5F98F48DF62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4152804"/>
          </a:xfrm>
        </p:spPr>
        <p:txBody>
          <a:bodyPr/>
          <a:lstStyle/>
          <a:p>
            <a:pPr>
              <a:spcAft>
                <a:spcPts val="700"/>
              </a:spcAft>
              <a:defRPr sz="2000"/>
            </a:pPr>
            <a:r>
              <a:rPr lang="en-US" dirty="0"/>
              <a:t>Suppose </a:t>
            </a:r>
            <a:r>
              <a:rPr lang="en-US" dirty="0" err="1"/>
              <a:t>JobsReported</a:t>
            </a:r>
            <a:r>
              <a:rPr lang="en-US" dirty="0"/>
              <a:t> = 25.</a:t>
            </a:r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Does that mean: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25 people worked at the business?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25 jobs were supported by the loan?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25 jobs would have disappeared without PPP?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25 is the value reported through the program process?</a:t>
            </a:r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A field name is not a complete measurement definition.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D7B0B81-5AEE-AD4A-3AF8-3C6157325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What does a field actually measure?</a:t>
            </a:r>
          </a:p>
        </p:txBody>
      </p:sp>
    </p:spTree>
    <p:extLst>
      <p:ext uri="{BB962C8B-B14F-4D97-AF65-F5344CB8AC3E}">
        <p14:creationId xmlns:p14="http://schemas.microsoft.com/office/powerpoint/2010/main" val="11923646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0ABC42-562F-31AA-E148-D7F7DDEDDBF7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25927" y="2302602"/>
            <a:ext cx="10997504" cy="4222053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Question: Did PPP save jobs?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Available variable: </a:t>
            </a:r>
            <a:r>
              <a:rPr lang="en-US" dirty="0" err="1"/>
              <a:t>JobsReported</a:t>
            </a:r>
            <a:endParaRPr lang="en-US" dirty="0"/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Potential problem: the observed field may not measure the counterfactual outcome we care about.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A clean variable can still be inadequate evidence for the question.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Data limitation ≠ data cleaning problem.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F33E22B-DC7B-DE10-65CE-D761BC6DE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1569660"/>
          </a:xfrm>
        </p:spPr>
        <p:txBody>
          <a:bodyPr/>
          <a:lstStyle/>
          <a:p>
            <a:r>
              <a:rPr lang="en-US" dirty="0"/>
              <a:t>Measurement versus the question we want to answer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19115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885031A-49FB-94DE-2031-6DD52CA4E315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10196146" cy="4704237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First define 'small business.'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Possible measures: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Number of employees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Revenue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Loan amount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Industry-specific eligibility rules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If our dataset does not contain the variable needed for our definition, cleaning the dataset will not solve the problem.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F6EF753-5591-ACFA-AB76-ABCBDC2F6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Another example: Did PPP help small businesses?</a:t>
            </a:r>
          </a:p>
        </p:txBody>
      </p:sp>
    </p:spTree>
    <p:extLst>
      <p:ext uri="{BB962C8B-B14F-4D97-AF65-F5344CB8AC3E}">
        <p14:creationId xmlns:p14="http://schemas.microsoft.com/office/powerpoint/2010/main" val="23099693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9671E0-8E11-C908-31E6-1006EC562D4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10894141" cy="3298724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We may want to compare recipients across owner demographics or other characteristics.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What happens if relevant fields are missing for many observations?</a:t>
            </a:r>
          </a:p>
          <a:p>
            <a:pPr lvl="1">
              <a:spcAft>
                <a:spcPts val="800"/>
              </a:spcAft>
              <a:defRPr sz="2000"/>
            </a:pPr>
            <a:r>
              <a:rPr lang="en-US" b="1" i="1" dirty="0"/>
              <a:t>Missingness may not be random.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The absence of data can itself affect what conclusions are supportable.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Before calculating a percentage, ask: percentage of what observable population?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DE9A92C-9DB1-67B7-323E-4B839851CD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Another example: Who benefited from PPP?</a:t>
            </a:r>
          </a:p>
        </p:txBody>
      </p:sp>
    </p:spTree>
    <p:extLst>
      <p:ext uri="{BB962C8B-B14F-4D97-AF65-F5344CB8AC3E}">
        <p14:creationId xmlns:p14="http://schemas.microsoft.com/office/powerpoint/2010/main" val="21849285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02F52B-5012-BC18-868A-BD974683AB6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9862038" cy="4760662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Open the Washington PPP sample. Do not begin by calculating an answer.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First identify: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What is one row?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What fields are available?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Which fields appear complete?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Which fields require interpretation?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What looks unusual?</a:t>
            </a:r>
          </a:p>
          <a:p>
            <a:pPr>
              <a:spcAft>
                <a:spcPts val="800"/>
              </a:spcAft>
              <a:defRPr sz="2000"/>
            </a:pPr>
            <a:r>
              <a:rPr lang="en-US" b="1" i="1" dirty="0"/>
              <a:t>Record at least three potential limitations or quality concerns.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88865D3-8728-3668-400F-E54DAEA81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PPP activity — inspect the Washington sample</a:t>
            </a:r>
          </a:p>
        </p:txBody>
      </p:sp>
    </p:spTree>
    <p:extLst>
      <p:ext uri="{BB962C8B-B14F-4D97-AF65-F5344CB8AC3E}">
        <p14:creationId xmlns:p14="http://schemas.microsoft.com/office/powerpoint/2010/main" val="39697600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2E8C95-4276-36C8-3163-D5E141872E28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10117015" cy="5453159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Missing values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Duplicate or potentially duplicate records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Inconsistent identifiers or categories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Unexpected numeric values or ranges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Incorrect or inconvenient data types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Inconsistent text / spelling / capitalization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Dates that do not make sense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Values that are valid syntactically but questionable economically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FF87117-6B26-B74E-5CAB-170A86F5C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What kinds of issues can we observe?</a:t>
            </a:r>
          </a:p>
        </p:txBody>
      </p:sp>
    </p:spTree>
    <p:extLst>
      <p:ext uri="{BB962C8B-B14F-4D97-AF65-F5344CB8AC3E}">
        <p14:creationId xmlns:p14="http://schemas.microsoft.com/office/powerpoint/2010/main" val="29881067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85E8FF-ADEB-13BD-5B0C-D9A8A62F716C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9589477" cy="5119735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1. Data quality problem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The recorded value may be wrong, incomplete, duplicated, or inconsistent.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2. Data definition / measurement problem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The field may not mean what we initially think it means.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3. Data suitability problem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Even perfectly recorded data may not answer our business question.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These problems require different responses.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A6032D2-8CC2-7D19-D541-65BB612B8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Three different problems</a:t>
            </a:r>
          </a:p>
        </p:txBody>
      </p:sp>
    </p:spTree>
    <p:extLst>
      <p:ext uri="{BB962C8B-B14F-4D97-AF65-F5344CB8AC3E}">
        <p14:creationId xmlns:p14="http://schemas.microsoft.com/office/powerpoint/2010/main" val="37014882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122F0E0-C87E-38D8-2420-E10B5B9F3DB2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10556631" cy="4714496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Data quality asks whether data are fit for their intended use.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Useful dimensions include: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Accuracy — does the value reflect reality?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Completeness — are required observations or fields present?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Consistency — are comparable items represented consistently?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Validity — do values conform to expected rules or ranges?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Uniqueness — are records duplicated?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Timeliness — are the data current enough for the decision?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021C91-D319-11A8-8404-6D0A6A483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23220"/>
          </a:xfrm>
        </p:spPr>
        <p:txBody>
          <a:bodyPr/>
          <a:lstStyle/>
          <a:p>
            <a:pPr>
              <a:defRPr sz="2800" b="1"/>
            </a:pPr>
            <a:r>
              <a:rPr lang="en-US" dirty="0"/>
              <a:t>Introduction to Data Quality</a:t>
            </a:r>
          </a:p>
        </p:txBody>
      </p:sp>
    </p:spTree>
    <p:extLst>
      <p:ext uri="{BB962C8B-B14F-4D97-AF65-F5344CB8AC3E}">
        <p14:creationId xmlns:p14="http://schemas.microsoft.com/office/powerpoint/2010/main" val="14873181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E6B257-B911-A205-8FCC-3C460AFBA62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10894140" cy="4658070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If you find a suspicious value, should you: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Delete it?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Correct it?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Replace it?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Leave it unchanged?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Flag it for investigation?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Cleaning data requires judgment — and changes should be explainable and reproducible.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E5B3D8-4E84-5B38-8791-D626A94CB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What would you do next?</a:t>
            </a:r>
          </a:p>
        </p:txBody>
      </p:sp>
    </p:spTree>
    <p:extLst>
      <p:ext uri="{BB962C8B-B14F-4D97-AF65-F5344CB8AC3E}">
        <p14:creationId xmlns:p14="http://schemas.microsoft.com/office/powerpoint/2010/main" val="24515937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9DD53-0D72-CFAE-5B29-C9731056D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B1018C2-EBAD-08DD-3C68-0D734C5A5FC5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2696636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Review</a:t>
            </a:r>
          </a:p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Why is data quality important?</a:t>
            </a:r>
          </a:p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Data Exercises:</a:t>
            </a:r>
          </a:p>
          <a:p>
            <a:pPr marL="1145100" lvl="1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Scavenger hunt</a:t>
            </a:r>
          </a:p>
          <a:p>
            <a:pPr marL="1145100" lvl="1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PPP loan data</a:t>
            </a:r>
          </a:p>
          <a:p>
            <a:pPr marL="457200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Conclusion and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044DEC-C142-8308-587E-660AB6D37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3566898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B8C3BAC-241D-98AB-1BB1-7031E5A41B87}"/>
              </a:ext>
            </a:extLst>
          </p:cNvPr>
          <p:cNvPicPr>
            <a:picLocks noGrp="1" noChangeAspect="1"/>
          </p:cNvPicPr>
          <p:nvPr>
            <p:ph idx="1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650" y="1171527"/>
            <a:ext cx="11950700" cy="397360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4555515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43B51B-0A83-EDC8-5496-64D3A58ABEE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9712569" cy="1580304"/>
          </a:xfrm>
        </p:spPr>
        <p:txBody>
          <a:bodyPr/>
          <a:lstStyle/>
          <a:p>
            <a:pPr>
              <a:spcAft>
                <a:spcPts val="700"/>
              </a:spcAft>
              <a:defRPr sz="2000"/>
            </a:pPr>
            <a:r>
              <a:rPr lang="en-US" dirty="0"/>
              <a:t>Today's key takeaway: </a:t>
            </a:r>
            <a:r>
              <a:rPr lang="en-US" b="1" dirty="0"/>
              <a:t>Data and Prepare/ETL are not mechanical steps.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D6B6A5-AB1F-874C-8C41-DE2C18593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Takeaway</a:t>
            </a:r>
          </a:p>
        </p:txBody>
      </p:sp>
    </p:spTree>
    <p:extLst>
      <p:ext uri="{BB962C8B-B14F-4D97-AF65-F5344CB8AC3E}">
        <p14:creationId xmlns:p14="http://schemas.microsoft.com/office/powerpoint/2010/main" val="31188629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90405AF-846B-3915-EA04-D3FF5948315F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1. Did we obtain the right data?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2. Did we understand and transform the data correctly?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3. Can the resulting data actually answer our question?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45C3A78-3017-E157-7DDF-AF7BB4BC0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Three questions to carry forward</a:t>
            </a:r>
          </a:p>
        </p:txBody>
      </p:sp>
    </p:spTree>
    <p:extLst>
      <p:ext uri="{BB962C8B-B14F-4D97-AF65-F5344CB8AC3E}">
        <p14:creationId xmlns:p14="http://schemas.microsoft.com/office/powerpoint/2010/main" val="14021965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84B59F3-FA70-48A1-8B0F-551483EAAA2F}"/>
              </a:ext>
            </a:extLst>
          </p:cNvPr>
          <p:cNvSpPr>
            <a:spLocks noGrp="1"/>
          </p:cNvSpPr>
          <p:nvPr/>
        </p:nvSpPr>
        <p:spPr>
          <a:xfrm>
            <a:off x="628650" y="638175"/>
            <a:ext cx="108966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4B2E83"/>
                </a:solidFill>
                <a:latin typeface="Segoe UI"/>
                <a:ea typeface="Segoe UI"/>
                <a:cs typeface="Segoe UI"/>
              </a:defRPr>
            </a:pPr>
            <a:r>
              <a:rPr lang="en-US" sz="3000" b="1" dirty="0">
                <a:solidFill>
                  <a:srgbClr val="4B2E83"/>
                </a:solidFill>
                <a:latin typeface="Segoe UI"/>
                <a:ea typeface="Segoe UI"/>
                <a:cs typeface="Segoe UI"/>
              </a:rPr>
              <a:t>N</a:t>
            </a:r>
            <a:r>
              <a:rPr sz="3000" b="1" dirty="0">
                <a:solidFill>
                  <a:srgbClr val="4B2E83"/>
                </a:solidFill>
                <a:latin typeface="Segoe UI"/>
                <a:ea typeface="Segoe UI"/>
                <a:cs typeface="Segoe UI"/>
              </a:rPr>
              <a:t>ext steps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EC96EB-8371-4B7E-A0C3-573FD660BBA7}"/>
              </a:ext>
            </a:extLst>
          </p:cNvPr>
          <p:cNvSpPr>
            <a:spLocks noGrp="1"/>
          </p:cNvSpPr>
          <p:nvPr/>
        </p:nvSpPr>
        <p:spPr>
          <a:xfrm>
            <a:off x="723900" y="1571625"/>
            <a:ext cx="106680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lang="en-US" sz="2100" dirty="0">
                <a:solidFill>
                  <a:srgbClr val="212529"/>
                </a:solidFill>
                <a:latin typeface="Segoe UI"/>
                <a:ea typeface="Segoe UI"/>
                <a:cs typeface="Segoe UI"/>
              </a:rPr>
              <a:t>Next topic: </a:t>
            </a:r>
            <a:r>
              <a:rPr lang="en-US" b="1" dirty="0"/>
              <a:t>Extract, Transform, and Load (ETL) Fundamentals</a:t>
            </a:r>
          </a:p>
          <a:p>
            <a:endParaRPr lang="en-US" b="1" dirty="0"/>
          </a:p>
          <a:p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Define and implement some transformation steps with a small dataset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Develops transformation data skills with calculations and formulas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2BDF1C-957F-4AAB-ABE6-0C863FA7B0C5}"/>
              </a:ext>
            </a:extLst>
          </p:cNvPr>
          <p:cNvSpPr>
            <a:spLocks noGrp="1"/>
          </p:cNvSpPr>
          <p:nvPr/>
        </p:nvSpPr>
        <p:spPr>
          <a:xfrm>
            <a:off x="723900" y="4172172"/>
            <a:ext cx="106680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2100" b="0">
                <a:solidFill>
                  <a:srgbClr val="917B4C"/>
                </a:solidFill>
                <a:latin typeface="Segoe UI"/>
                <a:ea typeface="Segoe UI"/>
                <a:cs typeface="Segoe UI"/>
              </a:defRPr>
            </a:pPr>
            <a:r>
              <a:rPr lang="en-US" sz="2100" b="0" dirty="0">
                <a:solidFill>
                  <a:srgbClr val="917B4C"/>
                </a:solidFill>
                <a:latin typeface="Segoe UI"/>
                <a:ea typeface="Segoe UI"/>
                <a:cs typeface="Segoe UI"/>
              </a:rPr>
              <a:t>Thank you!</a:t>
            </a:r>
            <a:endParaRPr sz="2100" b="0" dirty="0">
              <a:solidFill>
                <a:srgbClr val="917B4C"/>
              </a:solidFill>
              <a:latin typeface="Segoe UI"/>
              <a:ea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931208946"/>
      </p:ext>
    </p:extLst>
  </p:cSld>
  <p:clrMapOvr>
    <a:masterClrMapping/>
  </p:clrMapOvr>
</p:sld>
</file>

<file path=ppt/theme/theme1.xml><?xml version="1.0" encoding="utf-8"?>
<a:theme xmlns:a="http://schemas.openxmlformats.org/drawingml/2006/main" name="W Foster MBA Career Mgmt">
  <a:themeElements>
    <a:clrScheme name="2024 FOSTER 2">
      <a:dk1>
        <a:srgbClr val="000000"/>
      </a:dk1>
      <a:lt1>
        <a:srgbClr val="FFFFFF"/>
      </a:lt1>
      <a:dk2>
        <a:srgbClr val="32006E"/>
      </a:dk2>
      <a:lt2>
        <a:srgbClr val="F5F5F9"/>
      </a:lt2>
      <a:accent1>
        <a:srgbClr val="B7A579"/>
      </a:accent1>
      <a:accent2>
        <a:srgbClr val="8C51FF"/>
      </a:accent2>
      <a:accent3>
        <a:srgbClr val="917B4C"/>
      </a:accent3>
      <a:accent4>
        <a:srgbClr val="000000"/>
      </a:accent4>
      <a:accent5>
        <a:srgbClr val="CACACA"/>
      </a:accent5>
      <a:accent6>
        <a:srgbClr val="E8E8E8"/>
      </a:accent6>
      <a:hlink>
        <a:srgbClr val="0000DE"/>
      </a:hlink>
      <a:folHlink>
        <a:srgbClr val="4B2E84"/>
      </a:folHlink>
    </a:clrScheme>
    <a:fontScheme name="Custom 1">
      <a:majorFont>
        <a:latin typeface="Encode Sans Normal"/>
        <a:ea typeface=""/>
        <a:cs typeface=""/>
      </a:majorFont>
      <a:minorFont>
        <a:latin typeface="Open Sans"/>
        <a:ea typeface=""/>
        <a:cs typeface=""/>
      </a:minorFont>
    </a:fontScheme>
    <a:fmtScheme name="2024 FOSTER 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 Foster MBA Career Mgmt">
  <a:themeElements>
    <a:clrScheme name="2024 FOSTER 2">
      <a:dk1>
        <a:srgbClr val="000000"/>
      </a:dk1>
      <a:lt1>
        <a:srgbClr val="FFFFFF"/>
      </a:lt1>
      <a:dk2>
        <a:srgbClr val="32006E"/>
      </a:dk2>
      <a:lt2>
        <a:srgbClr val="F5F5F9"/>
      </a:lt2>
      <a:accent1>
        <a:srgbClr val="B7A579"/>
      </a:accent1>
      <a:accent2>
        <a:srgbClr val="8C51FF"/>
      </a:accent2>
      <a:accent3>
        <a:srgbClr val="917B4C"/>
      </a:accent3>
      <a:accent4>
        <a:srgbClr val="000000"/>
      </a:accent4>
      <a:accent5>
        <a:srgbClr val="CACACA"/>
      </a:accent5>
      <a:accent6>
        <a:srgbClr val="E8E8E8"/>
      </a:accent6>
      <a:hlink>
        <a:srgbClr val="0000DE"/>
      </a:hlink>
      <a:folHlink>
        <a:srgbClr val="4B2E84"/>
      </a:folHlink>
    </a:clrScheme>
    <a:fontScheme name="Custom 1">
      <a:majorFont>
        <a:latin typeface="Encode Sans Normal"/>
        <a:ea typeface=""/>
        <a:cs typeface=""/>
      </a:majorFont>
      <a:minorFont>
        <a:latin typeface="Open Sans"/>
        <a:ea typeface=""/>
        <a:cs typeface=""/>
      </a:minorFont>
    </a:fontScheme>
    <a:fmtScheme name="2024 FOSTER 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f6b6dd5b-f02f-441a-99a0-162ac5060bd2}" enabled="0" method="" siteId="{f6b6dd5b-f02f-441a-99a0-162ac5060bd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8014</TotalTime>
  <Words>1671</Words>
  <Application>Microsoft Office PowerPoint</Application>
  <DocSecurity>0</DocSecurity>
  <PresentationFormat>Widescreen</PresentationFormat>
  <Paragraphs>238</Paragraphs>
  <Slides>38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7" baseType="lpstr">
      <vt:lpstr>Arial</vt:lpstr>
      <vt:lpstr>Calibri</vt:lpstr>
      <vt:lpstr>Encode Sans Normal ExtraBold</vt:lpstr>
      <vt:lpstr>Encode Sans Normal Medium</vt:lpstr>
      <vt:lpstr>Open Sans</vt:lpstr>
      <vt:lpstr>Open Sans Light</vt:lpstr>
      <vt:lpstr>Segoe UI</vt:lpstr>
      <vt:lpstr>Uni Sans Book</vt:lpstr>
      <vt:lpstr>W Foster MBA Career Mgmt</vt:lpstr>
      <vt:lpstr>PowerPoint Presentation</vt:lpstr>
      <vt:lpstr>Agenda</vt:lpstr>
      <vt:lpstr>PowerPoint Presentation</vt:lpstr>
      <vt:lpstr>Review: What are we trying to do?</vt:lpstr>
      <vt:lpstr>Agenda</vt:lpstr>
      <vt:lpstr>PowerPoint Presentation</vt:lpstr>
      <vt:lpstr>A complication: The data we want is not always the data we have</vt:lpstr>
      <vt:lpstr>ETL: from available data to usable evidence</vt:lpstr>
      <vt:lpstr>Extract is an interface problem</vt:lpstr>
      <vt:lpstr>Before we analyze data, we have to open it</vt:lpstr>
      <vt:lpstr>Open and application-specific representations </vt:lpstr>
      <vt:lpstr>Agenda</vt:lpstr>
      <vt:lpstr>Exercise 1: Scavenger Hunt</vt:lpstr>
      <vt:lpstr>What happens when the extension disappears?</vt:lpstr>
      <vt:lpstr>Scavenger Hunt: Objective</vt:lpstr>
      <vt:lpstr>Scavenger Hunt: Clues</vt:lpstr>
      <vt:lpstr>Scavenger Hunt: MPAcc debrief </vt:lpstr>
      <vt:lpstr>From opening data to understanding data</vt:lpstr>
      <vt:lpstr>Agenda</vt:lpstr>
      <vt:lpstr>Exercise 2 — Paycheck Protection Program (PPP)</vt:lpstr>
      <vt:lpstr>Start with the question — not the spreadsheet</vt:lpstr>
      <vt:lpstr>Where did the PPP data come from?</vt:lpstr>
      <vt:lpstr>Where could problems enter the data?</vt:lpstr>
      <vt:lpstr>Exercise 2: PPP data</vt:lpstr>
      <vt:lpstr>What does a field actually measure?</vt:lpstr>
      <vt:lpstr>Measurement versus the question we want to answer </vt:lpstr>
      <vt:lpstr>Another example: Did PPP help small businesses?</vt:lpstr>
      <vt:lpstr>Another example: Who benefited from PPP?</vt:lpstr>
      <vt:lpstr>PPP activity — inspect the Washington sample</vt:lpstr>
      <vt:lpstr>What kinds of issues can we observe?</vt:lpstr>
      <vt:lpstr>Three different problems</vt:lpstr>
      <vt:lpstr>Introduction to Data Quality</vt:lpstr>
      <vt:lpstr>What would you do next?</vt:lpstr>
      <vt:lpstr>Agenda</vt:lpstr>
      <vt:lpstr>PowerPoint Presentation</vt:lpstr>
      <vt:lpstr>Takeaway</vt:lpstr>
      <vt:lpstr>Three questions to carry forward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Asher Curtis</cp:lastModifiedBy>
  <cp:revision>2</cp:revision>
  <dcterms:created xsi:type="dcterms:W3CDTF">2026-09-29T01:46:38Z</dcterms:created>
  <dcterms:modified xsi:type="dcterms:W3CDTF">2026-10-05T17:08:56Z</dcterms:modified>
</cp:coreProperties>
</file>