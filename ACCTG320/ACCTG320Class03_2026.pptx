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300" r:id="rId3"/>
    <p:sldId id="1130" r:id="rId4"/>
    <p:sldId id="1131" r:id="rId5"/>
    <p:sldId id="1158" r:id="rId6"/>
    <p:sldId id="1136" r:id="rId7"/>
    <p:sldId id="1160" r:id="rId8"/>
    <p:sldId id="1162" r:id="rId9"/>
    <p:sldId id="1161" r:id="rId10"/>
    <p:sldId id="1163" r:id="rId11"/>
    <p:sldId id="859" r:id="rId12"/>
    <p:sldId id="873" r:id="rId13"/>
    <p:sldId id="1166" r:id="rId14"/>
    <p:sldId id="1165" r:id="rId15"/>
    <p:sldId id="1167" r:id="rId16"/>
    <p:sldId id="1159" r:id="rId17"/>
    <p:sldId id="1164" r:id="rId18"/>
    <p:sldId id="1170" r:id="rId19"/>
    <p:sldId id="278" r:id="rId20"/>
    <p:sldId id="1169" r:id="rId21"/>
    <p:sldId id="902" r:id="rId22"/>
    <p:sldId id="879" r:id="rId23"/>
    <p:sldId id="880" r:id="rId24"/>
    <p:sldId id="903" r:id="rId25"/>
    <p:sldId id="904" r:id="rId26"/>
    <p:sldId id="905" r:id="rId27"/>
    <p:sldId id="906" r:id="rId28"/>
    <p:sldId id="907" r:id="rId29"/>
    <p:sldId id="908" r:id="rId30"/>
    <p:sldId id="909" r:id="rId31"/>
    <p:sldId id="910" r:id="rId32"/>
    <p:sldId id="911" r:id="rId33"/>
    <p:sldId id="912" r:id="rId34"/>
    <p:sldId id="913" r:id="rId35"/>
    <p:sldId id="914" r:id="rId36"/>
    <p:sldId id="915" r:id="rId37"/>
    <p:sldId id="916" r:id="rId38"/>
    <p:sldId id="917" r:id="rId39"/>
    <p:sldId id="901" r:id="rId40"/>
    <p:sldId id="899" r:id="rId41"/>
    <p:sldId id="918" r:id="rId42"/>
    <p:sldId id="922" r:id="rId43"/>
    <p:sldId id="920" r:id="rId44"/>
    <p:sldId id="89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06FA9-A047-477D-84EB-579E635408FB}" v="45" dt="2026-10-05T17:08:03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5T17:08:03.245" v="47"/>
      <pc:docMkLst>
        <pc:docMk/>
      </pc:docMkLst>
      <pc:sldChg chg="modSp add">
        <pc:chgData name="Asher Curtis" userId="494c4f5b-6d11-415a-9d9e-829c1135aa91" providerId="ADAL" clId="{FDEDEEF3-7275-4161-A24C-7071BE30F9A7}" dt="2026-10-05T17:08:03.245" v="47"/>
        <pc:sldMkLst>
          <pc:docMk/>
          <pc:sldMk cId="2931208946" sldId="278"/>
        </pc:sldMkLst>
        <pc:spChg chg="mod">
          <ac:chgData name="Asher Curtis" userId="494c4f5b-6d11-415a-9d9e-829c1135aa91" providerId="ADAL" clId="{FDEDEEF3-7275-4161-A24C-7071BE30F9A7}" dt="2026-10-05T17:08:03.245" v="47"/>
          <ac:spMkLst>
            <pc:docMk/>
            <pc:sldMk cId="2931208946" sldId="278"/>
            <ac:spMk id="2" creationId="{11EC96EB-8371-4B7E-A0C3-573FD660BBA7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378577839" sldId="334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937551633" sldId="336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714388298" sldId="337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460355075" sldId="338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4175343837" sldId="339"/>
        </pc:sldMkLst>
      </pc:sldChg>
      <pc:sldChg chg="modSp add">
        <pc:chgData name="Asher Curtis" userId="494c4f5b-6d11-415a-9d9e-829c1135aa91" providerId="ADAL" clId="{FDEDEEF3-7275-4161-A24C-7071BE30F9A7}" dt="2026-10-05T16:46:58.503" v="4"/>
        <pc:sldMkLst>
          <pc:docMk/>
          <pc:sldMk cId="3478850183" sldId="341"/>
        </pc:sldMkLst>
        <pc:spChg chg="mod">
          <ac:chgData name="Asher Curtis" userId="494c4f5b-6d11-415a-9d9e-829c1135aa91" providerId="ADAL" clId="{FDEDEEF3-7275-4161-A24C-7071BE30F9A7}" dt="2026-10-05T16:46:58.503" v="4"/>
          <ac:spMkLst>
            <pc:docMk/>
            <pc:sldMk cId="3478850183" sldId="341"/>
            <ac:spMk id="2" creationId="{DB1AF3DF-94A1-296D-E13F-6C24C69979F9}"/>
          </ac:spMkLst>
        </pc:spChg>
        <pc:spChg chg="mod">
          <ac:chgData name="Asher Curtis" userId="494c4f5b-6d11-415a-9d9e-829c1135aa91" providerId="ADAL" clId="{FDEDEEF3-7275-4161-A24C-7071BE30F9A7}" dt="2026-10-05T16:46:43.517" v="3"/>
          <ac:spMkLst>
            <pc:docMk/>
            <pc:sldMk cId="3478850183" sldId="341"/>
            <ac:spMk id="3" creationId="{DEC54E1B-7C39-8D5C-DF40-8E60EC503331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866056707" sldId="342"/>
        </pc:sldMkLst>
      </pc:sldChg>
      <pc:sldChg chg="modSp add">
        <pc:chgData name="Asher Curtis" userId="494c4f5b-6d11-415a-9d9e-829c1135aa91" providerId="ADAL" clId="{FDEDEEF3-7275-4161-A24C-7071BE30F9A7}" dt="2026-10-05T16:47:37.320" v="5"/>
        <pc:sldMkLst>
          <pc:docMk/>
          <pc:sldMk cId="4136147729" sldId="343"/>
        </pc:sldMkLst>
        <pc:spChg chg="mod">
          <ac:chgData name="Asher Curtis" userId="494c4f5b-6d11-415a-9d9e-829c1135aa91" providerId="ADAL" clId="{FDEDEEF3-7275-4161-A24C-7071BE30F9A7}" dt="2026-10-05T16:47:37.320" v="5"/>
          <ac:spMkLst>
            <pc:docMk/>
            <pc:sldMk cId="4136147729" sldId="343"/>
            <ac:spMk id="2" creationId="{2FAA8BF6-4F80-D511-E11B-B2A9A795C113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578865972" sldId="344"/>
        </pc:sldMkLst>
      </pc:sldChg>
      <pc:sldChg chg="modSp add">
        <pc:chgData name="Asher Curtis" userId="494c4f5b-6d11-415a-9d9e-829c1135aa91" providerId="ADAL" clId="{FDEDEEF3-7275-4161-A24C-7071BE30F9A7}" dt="2026-10-05T16:49:40.153" v="8"/>
        <pc:sldMkLst>
          <pc:docMk/>
          <pc:sldMk cId="231464039" sldId="345"/>
        </pc:sldMkLst>
        <pc:spChg chg="mod">
          <ac:chgData name="Asher Curtis" userId="494c4f5b-6d11-415a-9d9e-829c1135aa91" providerId="ADAL" clId="{FDEDEEF3-7275-4161-A24C-7071BE30F9A7}" dt="2026-10-05T16:49:40.153" v="8"/>
          <ac:spMkLst>
            <pc:docMk/>
            <pc:sldMk cId="231464039" sldId="345"/>
            <ac:spMk id="2" creationId="{DF83CEC4-F579-D01E-8F0D-CAD348705565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376092559" sldId="346"/>
        </pc:sldMkLst>
      </pc:sldChg>
      <pc:sldChg chg="modSp add">
        <pc:chgData name="Asher Curtis" userId="494c4f5b-6d11-415a-9d9e-829c1135aa91" providerId="ADAL" clId="{FDEDEEF3-7275-4161-A24C-7071BE30F9A7}" dt="2026-10-05T16:50:21.621" v="9"/>
        <pc:sldMkLst>
          <pc:docMk/>
          <pc:sldMk cId="2763889586" sldId="347"/>
        </pc:sldMkLst>
        <pc:spChg chg="mod">
          <ac:chgData name="Asher Curtis" userId="494c4f5b-6d11-415a-9d9e-829c1135aa91" providerId="ADAL" clId="{FDEDEEF3-7275-4161-A24C-7071BE30F9A7}" dt="2026-10-05T16:50:21.621" v="9"/>
          <ac:spMkLst>
            <pc:docMk/>
            <pc:sldMk cId="2763889586" sldId="347"/>
            <ac:spMk id="2" creationId="{3481E8EC-66F7-57D2-FA7B-FB9D475A9AC3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4000959900" sldId="348"/>
        </pc:sldMkLst>
      </pc:sldChg>
      <pc:sldChg chg="add ord">
        <pc:chgData name="Asher Curtis" userId="494c4f5b-6d11-415a-9d9e-829c1135aa91" providerId="ADAL" clId="{FDEDEEF3-7275-4161-A24C-7071BE30F9A7}" dt="2026-10-05T16:55:00.836" v="18"/>
        <pc:sldMkLst>
          <pc:docMk/>
          <pc:sldMk cId="648968488" sldId="350"/>
        </pc:sldMkLst>
      </pc:sldChg>
      <pc:sldChg chg="modSp add">
        <pc:chgData name="Asher Curtis" userId="494c4f5b-6d11-415a-9d9e-829c1135aa91" providerId="ADAL" clId="{FDEDEEF3-7275-4161-A24C-7071BE30F9A7}" dt="2026-10-05T16:55:58.402" v="20"/>
        <pc:sldMkLst>
          <pc:docMk/>
          <pc:sldMk cId="214262798" sldId="351"/>
        </pc:sldMkLst>
        <pc:spChg chg="mod">
          <ac:chgData name="Asher Curtis" userId="494c4f5b-6d11-415a-9d9e-829c1135aa91" providerId="ADAL" clId="{FDEDEEF3-7275-4161-A24C-7071BE30F9A7}" dt="2026-10-05T16:55:58.402" v="20"/>
          <ac:spMkLst>
            <pc:docMk/>
            <pc:sldMk cId="214262798" sldId="351"/>
            <ac:spMk id="2" creationId="{22D8281C-7228-5713-F354-9EDFB0A67E92}"/>
          </ac:spMkLst>
        </pc:spChg>
        <pc:spChg chg="mod">
          <ac:chgData name="Asher Curtis" userId="494c4f5b-6d11-415a-9d9e-829c1135aa91" providerId="ADAL" clId="{FDEDEEF3-7275-4161-A24C-7071BE30F9A7}" dt="2026-10-05T16:55:36.507" v="19"/>
          <ac:spMkLst>
            <pc:docMk/>
            <pc:sldMk cId="214262798" sldId="351"/>
            <ac:spMk id="3" creationId="{BB04BE2B-750E-CE7F-1B2E-77776633540E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658075713" sldId="352"/>
        </pc:sldMkLst>
      </pc:sldChg>
      <pc:sldChg chg="modSp add ord">
        <pc:chgData name="Asher Curtis" userId="494c4f5b-6d11-415a-9d9e-829c1135aa91" providerId="ADAL" clId="{FDEDEEF3-7275-4161-A24C-7071BE30F9A7}" dt="2026-10-05T16:57:10.842" v="25"/>
        <pc:sldMkLst>
          <pc:docMk/>
          <pc:sldMk cId="4187797775" sldId="353"/>
        </pc:sldMkLst>
        <pc:spChg chg="mod">
          <ac:chgData name="Asher Curtis" userId="494c4f5b-6d11-415a-9d9e-829c1135aa91" providerId="ADAL" clId="{FDEDEEF3-7275-4161-A24C-7071BE30F9A7}" dt="2026-10-05T16:57:10.842" v="25"/>
          <ac:spMkLst>
            <pc:docMk/>
            <pc:sldMk cId="4187797775" sldId="353"/>
            <ac:spMk id="2" creationId="{74041510-8738-EC74-33BF-9871C34D3A6D}"/>
          </ac:spMkLst>
        </pc:spChg>
        <pc:spChg chg="mod">
          <ac:chgData name="Asher Curtis" userId="494c4f5b-6d11-415a-9d9e-829c1135aa91" providerId="ADAL" clId="{FDEDEEF3-7275-4161-A24C-7071BE30F9A7}" dt="2026-10-05T16:56:58.925" v="24"/>
          <ac:spMkLst>
            <pc:docMk/>
            <pc:sldMk cId="4187797775" sldId="353"/>
            <ac:spMk id="3" creationId="{AB281A72-B9B6-DD2C-13CB-45282611B429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192364682" sldId="355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690138176" sldId="356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931783138" sldId="357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010977493" sldId="358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75164100" sldId="359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043434820" sldId="360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537338311" sldId="361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517829881" sldId="362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503853540" sldId="363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999793650" sldId="364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904992661" sldId="365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143173257" sldId="366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07656901" sldId="367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50468866" sldId="368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4205244047" sldId="369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118862969" sldId="372"/>
        </pc:sldMkLst>
      </pc:sldChg>
      <pc:sldChg chg="ord">
        <pc:chgData name="Asher Curtis" userId="494c4f5b-6d11-415a-9d9e-829c1135aa91" providerId="ADAL" clId="{FDEDEEF3-7275-4161-A24C-7071BE30F9A7}" dt="2026-10-05T17:06:05.286" v="43"/>
        <pc:sldMkLst>
          <pc:docMk/>
          <pc:sldMk cId="1455551533" sldId="1120"/>
        </pc:sldMkLst>
      </pc:sldChg>
      <pc:sldChg chg="modSp">
        <pc:chgData name="Asher Curtis" userId="494c4f5b-6d11-415a-9d9e-829c1135aa91" providerId="ADAL" clId="{FDEDEEF3-7275-4161-A24C-7071BE30F9A7}" dt="2026-10-05T16:43:30.634" v="2"/>
        <pc:sldMkLst>
          <pc:docMk/>
          <pc:sldMk cId="3673789896" sldId="1131"/>
        </pc:sldMkLst>
        <pc:spChg chg="mod">
          <ac:chgData name="Asher Curtis" userId="494c4f5b-6d11-415a-9d9e-829c1135aa91" providerId="ADAL" clId="{FDEDEEF3-7275-4161-A24C-7071BE30F9A7}" dt="2026-10-05T16:43:30.634" v="2"/>
          <ac:spMkLst>
            <pc:docMk/>
            <pc:sldMk cId="3673789896" sldId="1131"/>
            <ac:spMk id="2" creationId="{A56D0D0D-4734-4CCF-250D-F64DB8911878}"/>
          </ac:spMkLst>
        </pc:spChg>
        <pc:spChg chg="mod">
          <ac:chgData name="Asher Curtis" userId="494c4f5b-6d11-415a-9d9e-829c1135aa91" providerId="ADAL" clId="{FDEDEEF3-7275-4161-A24C-7071BE30F9A7}" dt="2026-10-05T16:43:21.041" v="1"/>
          <ac:spMkLst>
            <pc:docMk/>
            <pc:sldMk cId="3673789896" sldId="1131"/>
            <ac:spMk id="3" creationId="{3BADF26F-7B95-A640-7C84-935AE975931E}"/>
          </ac:spMkLst>
        </pc:spChg>
      </pc:sldChg>
      <pc:sldChg chg="modSp">
        <pc:chgData name="Asher Curtis" userId="494c4f5b-6d11-415a-9d9e-829c1135aa91" providerId="ADAL" clId="{FDEDEEF3-7275-4161-A24C-7071BE30F9A7}" dt="2026-10-05T16:48:38.334" v="7"/>
        <pc:sldMkLst>
          <pc:docMk/>
          <pc:sldMk cId="2796987374" sldId="1132"/>
        </pc:sldMkLst>
        <pc:spChg chg="mod">
          <ac:chgData name="Asher Curtis" userId="494c4f5b-6d11-415a-9d9e-829c1135aa91" providerId="ADAL" clId="{FDEDEEF3-7275-4161-A24C-7071BE30F9A7}" dt="2026-10-05T16:48:38.334" v="7"/>
          <ac:spMkLst>
            <pc:docMk/>
            <pc:sldMk cId="2796987374" sldId="1132"/>
            <ac:spMk id="2" creationId="{BFBC4FEE-24A0-865D-46E8-97B87FFCF38D}"/>
          </ac:spMkLst>
        </pc:spChg>
        <pc:spChg chg="mod">
          <ac:chgData name="Asher Curtis" userId="494c4f5b-6d11-415a-9d9e-829c1135aa91" providerId="ADAL" clId="{FDEDEEF3-7275-4161-A24C-7071BE30F9A7}" dt="2026-10-05T16:48:29.626" v="6"/>
          <ac:spMkLst>
            <pc:docMk/>
            <pc:sldMk cId="2796987374" sldId="1132"/>
            <ac:spMk id="3" creationId="{93B99587-BA9E-3299-C7EA-26B6FA3697BA}"/>
          </ac:spMkLst>
        </pc:spChg>
      </pc:sldChg>
      <pc:sldChg chg="modSp">
        <pc:chgData name="Asher Curtis" userId="494c4f5b-6d11-415a-9d9e-829c1135aa91" providerId="ADAL" clId="{FDEDEEF3-7275-4161-A24C-7071BE30F9A7}" dt="2026-10-05T16:50:49.331" v="11"/>
        <pc:sldMkLst>
          <pc:docMk/>
          <pc:sldMk cId="1097855249" sldId="1133"/>
        </pc:sldMkLst>
        <pc:spChg chg="mod">
          <ac:chgData name="Asher Curtis" userId="494c4f5b-6d11-415a-9d9e-829c1135aa91" providerId="ADAL" clId="{FDEDEEF3-7275-4161-A24C-7071BE30F9A7}" dt="2026-10-05T16:50:49.331" v="11"/>
          <ac:spMkLst>
            <pc:docMk/>
            <pc:sldMk cId="1097855249" sldId="1133"/>
            <ac:spMk id="2" creationId="{CBCF8E38-FB6A-4D37-880C-6C6168E58E06}"/>
          </ac:spMkLst>
        </pc:spChg>
        <pc:spChg chg="mod">
          <ac:chgData name="Asher Curtis" userId="494c4f5b-6d11-415a-9d9e-829c1135aa91" providerId="ADAL" clId="{FDEDEEF3-7275-4161-A24C-7071BE30F9A7}" dt="2026-10-05T16:50:43.022" v="10"/>
          <ac:spMkLst>
            <pc:docMk/>
            <pc:sldMk cId="1097855249" sldId="1133"/>
            <ac:spMk id="3" creationId="{CDCB80BB-3A9B-B3E8-557B-74E249407FAB}"/>
          </ac:spMkLst>
        </pc:spChg>
      </pc:sldChg>
      <pc:sldChg chg="add">
        <pc:chgData name="Asher Curtis" userId="494c4f5b-6d11-415a-9d9e-829c1135aa91" providerId="ADAL" clId="{FDEDEEF3-7275-4161-A24C-7071BE30F9A7}" dt="2026-10-05T16:51:18.169" v="12"/>
        <pc:sldMkLst>
          <pc:docMk/>
          <pc:sldMk cId="573686824" sldId="1134"/>
        </pc:sldMkLst>
      </pc:sldChg>
      <pc:sldChg chg="add">
        <pc:chgData name="Asher Curtis" userId="494c4f5b-6d11-415a-9d9e-829c1135aa91" providerId="ADAL" clId="{FDEDEEF3-7275-4161-A24C-7071BE30F9A7}" dt="2026-10-05T16:51:54.515" v="13"/>
        <pc:sldMkLst>
          <pc:docMk/>
          <pc:sldMk cId="1600381993" sldId="1135"/>
        </pc:sldMkLst>
      </pc:sldChg>
      <pc:sldChg chg="add">
        <pc:chgData name="Asher Curtis" userId="494c4f5b-6d11-415a-9d9e-829c1135aa91" providerId="ADAL" clId="{FDEDEEF3-7275-4161-A24C-7071BE30F9A7}" dt="2026-10-05T16:52:25.451" v="14"/>
        <pc:sldMkLst>
          <pc:docMk/>
          <pc:sldMk cId="3664892757" sldId="1136"/>
        </pc:sldMkLst>
      </pc:sldChg>
      <pc:sldChg chg="add">
        <pc:chgData name="Asher Curtis" userId="494c4f5b-6d11-415a-9d9e-829c1135aa91" providerId="ADAL" clId="{FDEDEEF3-7275-4161-A24C-7071BE30F9A7}" dt="2026-10-05T16:53:33.495" v="15"/>
        <pc:sldMkLst>
          <pc:docMk/>
          <pc:sldMk cId="2427499103" sldId="1137"/>
        </pc:sldMkLst>
      </pc:sldChg>
      <pc:sldChg chg="modSp">
        <pc:chgData name="Asher Curtis" userId="494c4f5b-6d11-415a-9d9e-829c1135aa91" providerId="ADAL" clId="{FDEDEEF3-7275-4161-A24C-7071BE30F9A7}" dt="2026-10-05T16:54:37.426" v="17"/>
        <pc:sldMkLst>
          <pc:docMk/>
          <pc:sldMk cId="2892653519" sldId="1138"/>
        </pc:sldMkLst>
        <pc:spChg chg="mod">
          <ac:chgData name="Asher Curtis" userId="494c4f5b-6d11-415a-9d9e-829c1135aa91" providerId="ADAL" clId="{FDEDEEF3-7275-4161-A24C-7071BE30F9A7}" dt="2026-10-05T16:54:37.426" v="17"/>
          <ac:spMkLst>
            <pc:docMk/>
            <pc:sldMk cId="2892653519" sldId="1138"/>
            <ac:spMk id="2" creationId="{8D63C6EE-73EA-353E-5FDB-E6FEC2348ADB}"/>
          </ac:spMkLst>
        </pc:spChg>
        <pc:spChg chg="mod">
          <ac:chgData name="Asher Curtis" userId="494c4f5b-6d11-415a-9d9e-829c1135aa91" providerId="ADAL" clId="{FDEDEEF3-7275-4161-A24C-7071BE30F9A7}" dt="2026-10-05T16:54:29.608" v="16"/>
          <ac:spMkLst>
            <pc:docMk/>
            <pc:sldMk cId="2892653519" sldId="1138"/>
            <ac:spMk id="3" creationId="{359C6433-44DE-AD9B-FC3F-7718CA26ED34}"/>
          </ac:spMkLst>
        </pc:spChg>
      </pc:sldChg>
      <pc:sldChg chg="modSp">
        <pc:chgData name="Asher Curtis" userId="494c4f5b-6d11-415a-9d9e-829c1135aa91" providerId="ADAL" clId="{FDEDEEF3-7275-4161-A24C-7071BE30F9A7}" dt="2026-10-05T16:56:15.473" v="22"/>
        <pc:sldMkLst>
          <pc:docMk/>
          <pc:sldMk cId="1826359152" sldId="1139"/>
        </pc:sldMkLst>
        <pc:spChg chg="mod">
          <ac:chgData name="Asher Curtis" userId="494c4f5b-6d11-415a-9d9e-829c1135aa91" providerId="ADAL" clId="{FDEDEEF3-7275-4161-A24C-7071BE30F9A7}" dt="2026-10-05T16:56:15.473" v="22"/>
          <ac:spMkLst>
            <pc:docMk/>
            <pc:sldMk cId="1826359152" sldId="1139"/>
            <ac:spMk id="2" creationId="{D8362B64-7873-EF13-B2D2-5E5621176E4F}"/>
          </ac:spMkLst>
        </pc:spChg>
        <pc:spChg chg="mod">
          <ac:chgData name="Asher Curtis" userId="494c4f5b-6d11-415a-9d9e-829c1135aa91" providerId="ADAL" clId="{FDEDEEF3-7275-4161-A24C-7071BE30F9A7}" dt="2026-10-05T16:56:09.611" v="21"/>
          <ac:spMkLst>
            <pc:docMk/>
            <pc:sldMk cId="1826359152" sldId="1139"/>
            <ac:spMk id="3" creationId="{F5BC630C-9C48-3631-5007-725DD054B0E1}"/>
          </ac:spMkLst>
        </pc:spChg>
      </pc:sldChg>
      <pc:sldChg chg="modSp">
        <pc:chgData name="Asher Curtis" userId="494c4f5b-6d11-415a-9d9e-829c1135aa91" providerId="ADAL" clId="{FDEDEEF3-7275-4161-A24C-7071BE30F9A7}" dt="2026-10-05T17:00:33.689" v="27"/>
        <pc:sldMkLst>
          <pc:docMk/>
          <pc:sldMk cId="2301911582" sldId="1140"/>
        </pc:sldMkLst>
        <pc:spChg chg="mod">
          <ac:chgData name="Asher Curtis" userId="494c4f5b-6d11-415a-9d9e-829c1135aa91" providerId="ADAL" clId="{FDEDEEF3-7275-4161-A24C-7071BE30F9A7}" dt="2026-10-05T17:00:33.689" v="27"/>
          <ac:spMkLst>
            <pc:docMk/>
            <pc:sldMk cId="2301911582" sldId="1140"/>
            <ac:spMk id="2" creationId="{A90ABC42-562F-31AA-E148-D7F7DDEDDBF7}"/>
          </ac:spMkLst>
        </pc:spChg>
        <pc:spChg chg="mod">
          <ac:chgData name="Asher Curtis" userId="494c4f5b-6d11-415a-9d9e-829c1135aa91" providerId="ADAL" clId="{FDEDEEF3-7275-4161-A24C-7071BE30F9A7}" dt="2026-10-05T17:00:20.116" v="26"/>
          <ac:spMkLst>
            <pc:docMk/>
            <pc:sldMk cId="2301911582" sldId="1140"/>
            <ac:spMk id="3" creationId="{AF33E22B-DC7B-DE10-65CE-D761BC6DE097}"/>
          </ac:spMkLst>
        </pc:spChg>
      </pc:sldChg>
      <pc:sldChg chg="modSp">
        <pc:chgData name="Asher Curtis" userId="494c4f5b-6d11-415a-9d9e-829c1135aa91" providerId="ADAL" clId="{FDEDEEF3-7275-4161-A24C-7071BE30F9A7}" dt="2026-10-05T17:01:04.250" v="29"/>
        <pc:sldMkLst>
          <pc:docMk/>
          <pc:sldMk cId="2309969376" sldId="1141"/>
        </pc:sldMkLst>
        <pc:spChg chg="mod">
          <ac:chgData name="Asher Curtis" userId="494c4f5b-6d11-415a-9d9e-829c1135aa91" providerId="ADAL" clId="{FDEDEEF3-7275-4161-A24C-7071BE30F9A7}" dt="2026-10-05T17:01:04.250" v="29"/>
          <ac:spMkLst>
            <pc:docMk/>
            <pc:sldMk cId="2309969376" sldId="1141"/>
            <ac:spMk id="2" creationId="{7885031A-49FB-94DE-2031-6DD52CA4E315}"/>
          </ac:spMkLst>
        </pc:spChg>
        <pc:spChg chg="mod">
          <ac:chgData name="Asher Curtis" userId="494c4f5b-6d11-415a-9d9e-829c1135aa91" providerId="ADAL" clId="{FDEDEEF3-7275-4161-A24C-7071BE30F9A7}" dt="2026-10-05T17:00:57.367" v="28"/>
          <ac:spMkLst>
            <pc:docMk/>
            <pc:sldMk cId="2309969376" sldId="1141"/>
            <ac:spMk id="3" creationId="{8F6EF753-5591-ACFA-AB76-ABCBDC2F66D8}"/>
          </ac:spMkLst>
        </pc:spChg>
      </pc:sldChg>
      <pc:sldChg chg="modSp">
        <pc:chgData name="Asher Curtis" userId="494c4f5b-6d11-415a-9d9e-829c1135aa91" providerId="ADAL" clId="{FDEDEEF3-7275-4161-A24C-7071BE30F9A7}" dt="2026-10-05T17:01:30.949" v="31"/>
        <pc:sldMkLst>
          <pc:docMk/>
          <pc:sldMk cId="2184928548" sldId="1142"/>
        </pc:sldMkLst>
        <pc:spChg chg="mod">
          <ac:chgData name="Asher Curtis" userId="494c4f5b-6d11-415a-9d9e-829c1135aa91" providerId="ADAL" clId="{FDEDEEF3-7275-4161-A24C-7071BE30F9A7}" dt="2026-10-05T17:01:30.949" v="31"/>
          <ac:spMkLst>
            <pc:docMk/>
            <pc:sldMk cId="2184928548" sldId="1142"/>
            <ac:spMk id="2" creationId="{449671E0-8E11-C908-31E6-1006EC562D4B}"/>
          </ac:spMkLst>
        </pc:spChg>
        <pc:spChg chg="mod">
          <ac:chgData name="Asher Curtis" userId="494c4f5b-6d11-415a-9d9e-829c1135aa91" providerId="ADAL" clId="{FDEDEEF3-7275-4161-A24C-7071BE30F9A7}" dt="2026-10-05T17:01:23.354" v="30"/>
          <ac:spMkLst>
            <pc:docMk/>
            <pc:sldMk cId="2184928548" sldId="1142"/>
            <ac:spMk id="3" creationId="{BDE9A92C-9DB1-67B7-323E-4B839851CD0B}"/>
          </ac:spMkLst>
        </pc:spChg>
      </pc:sldChg>
      <pc:sldChg chg="modSp">
        <pc:chgData name="Asher Curtis" userId="494c4f5b-6d11-415a-9d9e-829c1135aa91" providerId="ADAL" clId="{FDEDEEF3-7275-4161-A24C-7071BE30F9A7}" dt="2026-10-05T17:02:15.566" v="33"/>
        <pc:sldMkLst>
          <pc:docMk/>
          <pc:sldMk cId="3969760023" sldId="1143"/>
        </pc:sldMkLst>
        <pc:spChg chg="mod">
          <ac:chgData name="Asher Curtis" userId="494c4f5b-6d11-415a-9d9e-829c1135aa91" providerId="ADAL" clId="{FDEDEEF3-7275-4161-A24C-7071BE30F9A7}" dt="2026-10-05T17:02:15.566" v="33"/>
          <ac:spMkLst>
            <pc:docMk/>
            <pc:sldMk cId="3969760023" sldId="1143"/>
            <ac:spMk id="2" creationId="{FC02F52B-5012-BC18-868A-BD974683AB6D}"/>
          </ac:spMkLst>
        </pc:spChg>
        <pc:spChg chg="mod">
          <ac:chgData name="Asher Curtis" userId="494c4f5b-6d11-415a-9d9e-829c1135aa91" providerId="ADAL" clId="{FDEDEEF3-7275-4161-A24C-7071BE30F9A7}" dt="2026-10-05T17:02:07.038" v="32"/>
          <ac:spMkLst>
            <pc:docMk/>
            <pc:sldMk cId="3969760023" sldId="1143"/>
            <ac:spMk id="3" creationId="{D88865D3-8728-3668-400F-E54DAEA81477}"/>
          </ac:spMkLst>
        </pc:spChg>
      </pc:sldChg>
      <pc:sldChg chg="modSp">
        <pc:chgData name="Asher Curtis" userId="494c4f5b-6d11-415a-9d9e-829c1135aa91" providerId="ADAL" clId="{FDEDEEF3-7275-4161-A24C-7071BE30F9A7}" dt="2026-10-05T17:03:16.684" v="35"/>
        <pc:sldMkLst>
          <pc:docMk/>
          <pc:sldMk cId="2988106732" sldId="1144"/>
        </pc:sldMkLst>
        <pc:spChg chg="mod">
          <ac:chgData name="Asher Curtis" userId="494c4f5b-6d11-415a-9d9e-829c1135aa91" providerId="ADAL" clId="{FDEDEEF3-7275-4161-A24C-7071BE30F9A7}" dt="2026-10-05T17:03:16.684" v="35"/>
          <ac:spMkLst>
            <pc:docMk/>
            <pc:sldMk cId="2988106732" sldId="1144"/>
            <ac:spMk id="2" creationId="{322E8C95-4276-36C8-3163-D5E141872E28}"/>
          </ac:spMkLst>
        </pc:spChg>
        <pc:spChg chg="mod">
          <ac:chgData name="Asher Curtis" userId="494c4f5b-6d11-415a-9d9e-829c1135aa91" providerId="ADAL" clId="{FDEDEEF3-7275-4161-A24C-7071BE30F9A7}" dt="2026-10-05T17:03:10.568" v="34"/>
          <ac:spMkLst>
            <pc:docMk/>
            <pc:sldMk cId="2988106732" sldId="1144"/>
            <ac:spMk id="3" creationId="{BFF87117-6B26-B74E-5CAB-170A86F5CC5C}"/>
          </ac:spMkLst>
        </pc:spChg>
      </pc:sldChg>
      <pc:sldChg chg="modSp">
        <pc:chgData name="Asher Curtis" userId="494c4f5b-6d11-415a-9d9e-829c1135aa91" providerId="ADAL" clId="{FDEDEEF3-7275-4161-A24C-7071BE30F9A7}" dt="2026-10-05T17:03:34.152" v="37"/>
        <pc:sldMkLst>
          <pc:docMk/>
          <pc:sldMk cId="3701488257" sldId="1145"/>
        </pc:sldMkLst>
        <pc:spChg chg="mod">
          <ac:chgData name="Asher Curtis" userId="494c4f5b-6d11-415a-9d9e-829c1135aa91" providerId="ADAL" clId="{FDEDEEF3-7275-4161-A24C-7071BE30F9A7}" dt="2026-10-05T17:03:34.152" v="37"/>
          <ac:spMkLst>
            <pc:docMk/>
            <pc:sldMk cId="3701488257" sldId="1145"/>
            <ac:spMk id="2" creationId="{DC85E8FF-ADEB-13BD-5B0C-D9A8A62F716C}"/>
          </ac:spMkLst>
        </pc:spChg>
        <pc:spChg chg="mod">
          <ac:chgData name="Asher Curtis" userId="494c4f5b-6d11-415a-9d9e-829c1135aa91" providerId="ADAL" clId="{FDEDEEF3-7275-4161-A24C-7071BE30F9A7}" dt="2026-10-05T17:03:27.864" v="36"/>
          <ac:spMkLst>
            <pc:docMk/>
            <pc:sldMk cId="3701488257" sldId="1145"/>
            <ac:spMk id="3" creationId="{EA6032D2-8CC2-7D19-D541-65BB612B88F2}"/>
          </ac:spMkLst>
        </pc:spChg>
      </pc:sldChg>
      <pc:sldChg chg="modSp">
        <pc:chgData name="Asher Curtis" userId="494c4f5b-6d11-415a-9d9e-829c1135aa91" providerId="ADAL" clId="{FDEDEEF3-7275-4161-A24C-7071BE30F9A7}" dt="2026-10-05T17:04:03.058" v="40"/>
        <pc:sldMkLst>
          <pc:docMk/>
          <pc:sldMk cId="1487318198" sldId="1146"/>
        </pc:sldMkLst>
        <pc:spChg chg="mod">
          <ac:chgData name="Asher Curtis" userId="494c4f5b-6d11-415a-9d9e-829c1135aa91" providerId="ADAL" clId="{FDEDEEF3-7275-4161-A24C-7071BE30F9A7}" dt="2026-10-05T17:04:03.058" v="40"/>
          <ac:spMkLst>
            <pc:docMk/>
            <pc:sldMk cId="1487318198" sldId="1146"/>
            <ac:spMk id="2" creationId="{1122F0E0-C87E-38D8-2420-E10B5B9F3DB2}"/>
          </ac:spMkLst>
        </pc:spChg>
        <pc:spChg chg="mod">
          <ac:chgData name="Asher Curtis" userId="494c4f5b-6d11-415a-9d9e-829c1135aa91" providerId="ADAL" clId="{FDEDEEF3-7275-4161-A24C-7071BE30F9A7}" dt="2026-10-05T17:03:58.324" v="39"/>
          <ac:spMkLst>
            <pc:docMk/>
            <pc:sldMk cId="1487318198" sldId="1146"/>
            <ac:spMk id="3" creationId="{47021C91-D319-11A8-8404-6D0A6A4839CA}"/>
          </ac:spMkLst>
        </pc:spChg>
      </pc:sldChg>
      <pc:sldChg chg="modSp">
        <pc:chgData name="Asher Curtis" userId="494c4f5b-6d11-415a-9d9e-829c1135aa91" providerId="ADAL" clId="{FDEDEEF3-7275-4161-A24C-7071BE30F9A7}" dt="2026-10-05T17:04:49.977" v="42"/>
        <pc:sldMkLst>
          <pc:docMk/>
          <pc:sldMk cId="2451593707" sldId="1147"/>
        </pc:sldMkLst>
        <pc:spChg chg="mod">
          <ac:chgData name="Asher Curtis" userId="494c4f5b-6d11-415a-9d9e-829c1135aa91" providerId="ADAL" clId="{FDEDEEF3-7275-4161-A24C-7071BE30F9A7}" dt="2026-10-05T17:04:42.479" v="41"/>
          <ac:spMkLst>
            <pc:docMk/>
            <pc:sldMk cId="2451593707" sldId="1147"/>
            <ac:spMk id="2" creationId="{D4E6B257-B911-A205-8FCC-3C460AFBA62F}"/>
          </ac:spMkLst>
        </pc:spChg>
        <pc:spChg chg="mod">
          <ac:chgData name="Asher Curtis" userId="494c4f5b-6d11-415a-9d9e-829c1135aa91" providerId="ADAL" clId="{FDEDEEF3-7275-4161-A24C-7071BE30F9A7}" dt="2026-10-05T17:04:49.977" v="42"/>
          <ac:spMkLst>
            <pc:docMk/>
            <pc:sldMk cId="2451593707" sldId="1147"/>
            <ac:spMk id="3" creationId="{81E5B3D8-4E84-5B38-8791-D626A94CBC30}"/>
          </ac:spMkLst>
        </pc:spChg>
      </pc:sldChg>
      <pc:sldChg chg="add">
        <pc:chgData name="Asher Curtis" userId="494c4f5b-6d11-415a-9d9e-829c1135aa91" providerId="ADAL" clId="{FDEDEEF3-7275-4161-A24C-7071BE30F9A7}" dt="2026-10-05T17:06:15.539" v="44"/>
        <pc:sldMkLst>
          <pc:docMk/>
          <pc:sldMk cId="3356689884" sldId="1148"/>
        </pc:sldMkLst>
      </pc:sldChg>
      <pc:sldChg chg="modSp">
        <pc:chgData name="Asher Curtis" userId="494c4f5b-6d11-415a-9d9e-829c1135aa91" providerId="ADAL" clId="{FDEDEEF3-7275-4161-A24C-7071BE30F9A7}" dt="2026-10-05T17:07:24.170" v="46"/>
        <pc:sldMkLst>
          <pc:docMk/>
          <pc:sldMk cId="1402196545" sldId="1149"/>
        </pc:sldMkLst>
        <pc:spChg chg="mod">
          <ac:chgData name="Asher Curtis" userId="494c4f5b-6d11-415a-9d9e-829c1135aa91" providerId="ADAL" clId="{FDEDEEF3-7275-4161-A24C-7071BE30F9A7}" dt="2026-10-05T17:07:24.170" v="46"/>
          <ac:spMkLst>
            <pc:docMk/>
            <pc:sldMk cId="1402196545" sldId="1149"/>
            <ac:spMk id="2" creationId="{290405AF-846B-3915-EA04-D3FF5948315F}"/>
          </ac:spMkLst>
        </pc:spChg>
        <pc:spChg chg="mod">
          <ac:chgData name="Asher Curtis" userId="494c4f5b-6d11-415a-9d9e-829c1135aa91" providerId="ADAL" clId="{FDEDEEF3-7275-4161-A24C-7071BE30F9A7}" dt="2026-10-05T17:07:18.092" v="45"/>
          <ac:spMkLst>
            <pc:docMk/>
            <pc:sldMk cId="1402196545" sldId="1149"/>
            <ac:spMk id="3" creationId="{045C3A78-3017-E157-7DDF-AF7BB4BC0C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9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C33C-3E8E-C73B-33CC-5A1CEC22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08391-A919-03B1-BA0A-D79BE75D9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C04C7-B607-137B-9A89-FF30BF8A3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ACB31-35BD-99D2-0DD7-635E0FF9B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25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8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6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082284"/>
          </a:xfrm>
          <a:prstGeom prst="rect">
            <a:avLst/>
          </a:prstGeom>
          <a:solidFill>
            <a:srgbClr val="4B2E84">
              <a:alpha val="75000"/>
            </a:srgb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marL="4572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957011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1089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  <p:sldLayoutId id="2147483730" r:id="rId20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ETL: Combining and Summarizing Data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03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Why is correctly joining data important?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Joining Data Exercise (in </a:t>
            </a:r>
            <a:r>
              <a:rPr lang="en-US" dirty="0" err="1"/>
              <a:t>PowerBI</a:t>
            </a:r>
            <a:r>
              <a:rPr lang="en-US" dirty="0"/>
              <a:t>)</a:t>
            </a:r>
          </a:p>
          <a:p>
            <a:pPr marL="1145100" lvl="1" indent="-457200">
              <a:buAutoNum type="arabicPeriod"/>
            </a:pPr>
            <a:r>
              <a:rPr lang="en-US" dirty="0"/>
              <a:t>Optional: Joining data in Tableau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FCD-F3E6-C34F-F83B-3DD755D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0D57-3A17-FEB1-8C5D-C69528CD61BE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6D0D0D-4734-4CCF-250D-F64DB89118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36723" cy="3837333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b="1" dirty="0"/>
              <a:t>Question → </a:t>
            </a:r>
            <a:r>
              <a:rPr lang="en-US" b="1" strike="sngStrike" dirty="0"/>
              <a:t>Data → Prepare </a:t>
            </a:r>
            <a:r>
              <a:rPr lang="en-US" b="1" dirty="0"/>
              <a:t>→ </a:t>
            </a:r>
            <a:r>
              <a:rPr 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Analyze → Visualize </a:t>
            </a:r>
            <a:r>
              <a:rPr lang="en-US" b="1" dirty="0"/>
              <a:t>→ </a:t>
            </a:r>
            <a:r>
              <a:rPr lang="en-US" b="1" strike="sngStrike" dirty="0"/>
              <a:t>Business Decision</a:t>
            </a:r>
          </a:p>
          <a:p>
            <a:pPr>
              <a:spcAft>
                <a:spcPts val="800"/>
              </a:spcAft>
              <a:defRPr sz="2000"/>
            </a:pPr>
            <a:endParaRPr lang="en-US" b="1" dirty="0"/>
          </a:p>
          <a:p>
            <a:pPr>
              <a:spcAft>
                <a:spcPts val="700"/>
              </a:spcAft>
              <a:defRPr sz="2000"/>
            </a:pPr>
            <a:r>
              <a:rPr lang="en-US" b="1" dirty="0"/>
              <a:t>Data and Prepare/ETL are not mechanical steps.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Bad data or prep clouds analysis and the wrong business actions can be taken.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(e.g., the overspend by the Virginia Public Bus System)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ADF26F-7B95-A640-7C84-935AE975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Review: What are we trying to do?</a:t>
            </a:r>
          </a:p>
        </p:txBody>
      </p:sp>
    </p:spTree>
    <p:extLst>
      <p:ext uri="{BB962C8B-B14F-4D97-AF65-F5344CB8AC3E}">
        <p14:creationId xmlns:p14="http://schemas.microsoft.com/office/powerpoint/2010/main" val="367378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A78CC-CA2F-DDD0-F8AF-646FA022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F13EFC-A34E-B44A-87DD-0E5F0BD99A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Why is correctly joining data important?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Joining Data Exercise (in </a:t>
            </a:r>
            <a:r>
              <a:rPr lang="en-US" dirty="0" err="1"/>
              <a:t>PowerBI</a:t>
            </a:r>
            <a:r>
              <a:rPr lang="en-US" dirty="0"/>
              <a:t>)</a:t>
            </a:r>
          </a:p>
          <a:p>
            <a:pPr marL="1145100" lvl="1" indent="-457200">
              <a:buAutoNum type="arabicPeriod"/>
            </a:pPr>
            <a:r>
              <a:rPr lang="en-US" dirty="0"/>
              <a:t>Optional: Joining data in Tableau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DF5E61-6FB5-A1D1-AC0A-D84C98B1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1170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68E-9FBC-747A-CAA7-10E46958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ABCEAD-B910-C9CA-6E25-48FF9CA4C07A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6489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ECB593-668E-A6A9-4121-D56B17BFC40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81141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Joining data is a </a:t>
            </a:r>
            <a:r>
              <a:rPr lang="en-US" sz="2000" b="1" dirty="0">
                <a:solidFill>
                  <a:srgbClr val="4B2E84"/>
                </a:solidFill>
              </a:rPr>
              <a:t>fundamental step </a:t>
            </a:r>
            <a:r>
              <a:rPr lang="en-US" sz="2000" dirty="0"/>
              <a:t>in the ETL process, as in most cases, developing insight will require data from different databases.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Joining data can sometimes be referred to as merging data, blending data, or combining 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87C93-40F4-49C6-FFBD-4260ED40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data</a:t>
            </a:r>
          </a:p>
        </p:txBody>
      </p:sp>
    </p:spTree>
    <p:extLst>
      <p:ext uri="{BB962C8B-B14F-4D97-AF65-F5344CB8AC3E}">
        <p14:creationId xmlns:p14="http://schemas.microsoft.com/office/powerpoint/2010/main" val="1421970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DF6FA2-9043-C266-0A15-D7FA15ED05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301024" y="1896534"/>
            <a:ext cx="3756836" cy="477438"/>
          </a:xfrm>
        </p:spPr>
        <p:txBody>
          <a:bodyPr/>
          <a:lstStyle/>
          <a:p>
            <a:r>
              <a:rPr lang="en-US" dirty="0"/>
              <a:t>Market return data about AAPL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FAE501-8FD7-AFB5-FEBE-8757EAFA8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data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AF49150-B132-2425-9EE8-07CBA2816F3F}"/>
              </a:ext>
            </a:extLst>
          </p:cNvPr>
          <p:cNvSpPr txBox="1">
            <a:spLocks/>
          </p:cNvSpPr>
          <p:nvPr/>
        </p:nvSpPr>
        <p:spPr>
          <a:xfrm>
            <a:off x="762000" y="1896534"/>
            <a:ext cx="3019647" cy="477438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>
            <a:lvl1pPr marL="0" indent="0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None/>
              <a:defRPr sz="1867" b="0" i="0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1pPr>
            <a:lvl2pPr marL="687900" indent="-232828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None/>
              <a:defRPr sz="1867" b="0" i="0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2pPr>
            <a:lvl3pPr marL="914377" indent="-226478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None/>
              <a:defRPr sz="1867" b="0" i="0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3pPr>
            <a:lvl4pPr marL="1140855" indent="-226478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None/>
              <a:defRPr sz="1867" b="0" i="0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4pPr>
            <a:lvl5pPr marL="1375799" indent="-234945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None/>
              <a:defRPr sz="1867" b="0" i="0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5pPr>
            <a:lvl6pPr marL="3352716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962301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571886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181470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/>
              <a:t>Financial data about AAPL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30686-46F9-29EB-9F5B-533CE357C383}"/>
              </a:ext>
            </a:extLst>
          </p:cNvPr>
          <p:cNvSpPr txBox="1"/>
          <p:nvPr/>
        </p:nvSpPr>
        <p:spPr>
          <a:xfrm>
            <a:off x="900223" y="2582264"/>
            <a:ext cx="26328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Ticker, REV, NI</a:t>
            </a:r>
          </a:p>
          <a:p>
            <a:r>
              <a:rPr lang="en-US" dirty="0"/>
              <a:t>AAPL, 466.8B, 128.9B</a:t>
            </a:r>
          </a:p>
          <a:p>
            <a:r>
              <a:rPr lang="en-US" dirty="0"/>
              <a:t>NVIDIA, 60.92B, 29.76B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1AA4A-8CBC-B167-6AE2-7331A3E1C2CD}"/>
              </a:ext>
            </a:extLst>
          </p:cNvPr>
          <p:cNvSpPr txBox="1"/>
          <p:nvPr/>
        </p:nvSpPr>
        <p:spPr>
          <a:xfrm>
            <a:off x="7407349" y="2693581"/>
            <a:ext cx="29598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Ticker, </a:t>
            </a:r>
            <a:r>
              <a:rPr lang="en-US" dirty="0" err="1"/>
              <a:t>MarketCap</a:t>
            </a:r>
            <a:r>
              <a:rPr lang="en-US" dirty="0"/>
              <a:t>, Return</a:t>
            </a:r>
          </a:p>
          <a:p>
            <a:r>
              <a:rPr lang="en-US" dirty="0"/>
              <a:t>NVIDIA, 5.72T, 28.06%</a:t>
            </a:r>
          </a:p>
          <a:p>
            <a:r>
              <a:rPr lang="en-US" dirty="0"/>
              <a:t>AAPL, 4.9T, 31.00%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50842C-E2EF-FDB1-A5D2-851B1586218E}"/>
              </a:ext>
            </a:extLst>
          </p:cNvPr>
          <p:cNvCxnSpPr/>
          <p:nvPr/>
        </p:nvCxnSpPr>
        <p:spPr>
          <a:xfrm>
            <a:off x="3707219" y="3043929"/>
            <a:ext cx="3678865" cy="38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B76F23-F228-CBEE-57A7-F9AED20952CE}"/>
              </a:ext>
            </a:extLst>
          </p:cNvPr>
          <p:cNvSpPr txBox="1"/>
          <p:nvPr/>
        </p:nvSpPr>
        <p:spPr>
          <a:xfrm>
            <a:off x="4086446" y="4903706"/>
            <a:ext cx="3866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Ticker, REV, NI, </a:t>
            </a:r>
            <a:r>
              <a:rPr lang="en-US" dirty="0" err="1"/>
              <a:t>MarketCap</a:t>
            </a:r>
            <a:r>
              <a:rPr lang="en-US" dirty="0"/>
              <a:t>, Return</a:t>
            </a:r>
          </a:p>
          <a:p>
            <a:r>
              <a:rPr lang="en-US" dirty="0"/>
              <a:t>AAPL, 466.8B, 128.9B, 4.9T, 31.00%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D044C5-BBB1-21D0-31CF-2660F2190AA6}"/>
              </a:ext>
            </a:extLst>
          </p:cNvPr>
          <p:cNvCxnSpPr/>
          <p:nvPr/>
        </p:nvCxnSpPr>
        <p:spPr>
          <a:xfrm flipH="1">
            <a:off x="7577470" y="3728484"/>
            <a:ext cx="928577" cy="109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7A500E-7B14-9330-B432-6CA7E71C056F}"/>
              </a:ext>
            </a:extLst>
          </p:cNvPr>
          <p:cNvSpPr txBox="1"/>
          <p:nvPr/>
        </p:nvSpPr>
        <p:spPr>
          <a:xfrm>
            <a:off x="9682717" y="4330994"/>
            <a:ext cx="2119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Often the ids can be different across datasets</a:t>
            </a:r>
          </a:p>
        </p:txBody>
      </p:sp>
    </p:spTree>
    <p:extLst>
      <p:ext uri="{BB962C8B-B14F-4D97-AF65-F5344CB8AC3E}">
        <p14:creationId xmlns:p14="http://schemas.microsoft.com/office/powerpoint/2010/main" val="298713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DB8AB6-DB7D-ABE8-A266-69BC070E129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8381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Incorrect joins are a </a:t>
            </a:r>
            <a:r>
              <a:rPr lang="en-US" b="1" dirty="0">
                <a:solidFill>
                  <a:srgbClr val="4B2E84"/>
                </a:solidFill>
              </a:rPr>
              <a:t>data quality issue</a:t>
            </a:r>
            <a:r>
              <a:rPr lang="en-US" dirty="0"/>
              <a:t>, incorrect joins can:</a:t>
            </a:r>
          </a:p>
          <a:p>
            <a:pPr marL="1331365" lvl="1" indent="-5715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B2E84"/>
                </a:solidFill>
              </a:rPr>
              <a:t>crash</a:t>
            </a:r>
            <a:r>
              <a:rPr lang="en-US" dirty="0"/>
              <a:t> (or really slow down) our programs! </a:t>
            </a:r>
          </a:p>
          <a:p>
            <a:pPr marL="1331365" lvl="1" indent="-571500">
              <a:buFont typeface="Arial" panose="020B0604020202020204" pitchFamily="34" charset="0"/>
              <a:buChar char="•"/>
            </a:pPr>
            <a:r>
              <a:rPr lang="en-US" dirty="0"/>
              <a:t>have us </a:t>
            </a:r>
            <a:r>
              <a:rPr lang="en-US" b="1" dirty="0">
                <a:solidFill>
                  <a:srgbClr val="4B2E84"/>
                </a:solidFill>
              </a:rPr>
              <a:t>lose</a:t>
            </a:r>
            <a:r>
              <a:rPr lang="en-US" dirty="0"/>
              <a:t> important data.</a:t>
            </a:r>
          </a:p>
          <a:p>
            <a:pPr marL="1331365" lvl="1" indent="-571500">
              <a:buFont typeface="Arial" panose="020B0604020202020204" pitchFamily="34" charset="0"/>
              <a:buChar char="•"/>
            </a:pPr>
            <a:r>
              <a:rPr lang="en-US" dirty="0"/>
              <a:t>Have us generate </a:t>
            </a:r>
            <a:r>
              <a:rPr lang="en-US" b="1" dirty="0">
                <a:solidFill>
                  <a:srgbClr val="4B2E84"/>
                </a:solidFill>
              </a:rPr>
              <a:t>incorrect conclusions/insight </a:t>
            </a:r>
            <a:r>
              <a:rPr lang="en-US" dirty="0"/>
              <a:t>from our analysis.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4A0994-B507-C1A1-97C4-774A8B9E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go wrong?</a:t>
            </a:r>
          </a:p>
        </p:txBody>
      </p:sp>
    </p:spTree>
    <p:extLst>
      <p:ext uri="{BB962C8B-B14F-4D97-AF65-F5344CB8AC3E}">
        <p14:creationId xmlns:p14="http://schemas.microsoft.com/office/powerpoint/2010/main" val="118746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1BF12-C344-24C5-A8AC-4F0BE1896FE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365117"/>
          </a:xfrm>
        </p:spPr>
        <p:txBody>
          <a:bodyPr/>
          <a:lstStyle/>
          <a:p>
            <a:r>
              <a:rPr lang="en-US" dirty="0"/>
              <a:t>Two important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Cardinality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467282-996C-EE2C-C158-EEAD691B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joins work?</a:t>
            </a:r>
          </a:p>
        </p:txBody>
      </p:sp>
    </p:spTree>
    <p:extLst>
      <p:ext uri="{BB962C8B-B14F-4D97-AF65-F5344CB8AC3E}">
        <p14:creationId xmlns:p14="http://schemas.microsoft.com/office/powerpoint/2010/main" val="603970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JOINS and ALIASES. Hello everyone, in this insight, I'll… | by João  Marçura | Medium">
            <a:extLst>
              <a:ext uri="{FF2B5EF4-FFF2-40B4-BE49-F238E27FC236}">
                <a16:creationId xmlns:a16="http://schemas.microsoft.com/office/drawing/2014/main" id="{2FEA6F1C-4D7A-4B8B-B32A-399B48628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67" b="44806"/>
          <a:stretch>
            <a:fillRect/>
          </a:stretch>
        </p:blipFill>
        <p:spPr bwMode="auto">
          <a:xfrm>
            <a:off x="3601742" y="0"/>
            <a:ext cx="4351411" cy="378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62ECC0-7CFF-CB3F-6ACE-E961D34E57B5}"/>
              </a:ext>
            </a:extLst>
          </p:cNvPr>
          <p:cNvSpPr txBox="1"/>
          <p:nvPr/>
        </p:nvSpPr>
        <p:spPr>
          <a:xfrm>
            <a:off x="517451" y="2232837"/>
            <a:ext cx="2681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Keys in A</a:t>
            </a:r>
          </a:p>
          <a:p>
            <a:r>
              <a:rPr lang="en-US" dirty="0"/>
              <a:t>APPL, … A data, …</a:t>
            </a:r>
          </a:p>
          <a:p>
            <a:r>
              <a:rPr lang="en-US" dirty="0"/>
              <a:t>NVIDIA, … A data, …</a:t>
            </a:r>
          </a:p>
          <a:p>
            <a:r>
              <a:rPr lang="en-US" dirty="0"/>
              <a:t>MSFT, … A data,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37FE5-9186-7FF2-E47E-9CF4AE19F30E}"/>
              </a:ext>
            </a:extLst>
          </p:cNvPr>
          <p:cNvSpPr txBox="1"/>
          <p:nvPr/>
        </p:nvSpPr>
        <p:spPr>
          <a:xfrm>
            <a:off x="8800214" y="2232837"/>
            <a:ext cx="2681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Keys in B</a:t>
            </a:r>
          </a:p>
          <a:p>
            <a:r>
              <a:rPr lang="en-US" dirty="0"/>
              <a:t>APPL, … B data, …</a:t>
            </a:r>
          </a:p>
          <a:p>
            <a:r>
              <a:rPr lang="en-US" dirty="0"/>
              <a:t>MSFT, … B data,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E1B91-40E7-4A72-A184-0050745D78DD}"/>
              </a:ext>
            </a:extLst>
          </p:cNvPr>
          <p:cNvSpPr txBox="1"/>
          <p:nvPr/>
        </p:nvSpPr>
        <p:spPr>
          <a:xfrm>
            <a:off x="3678865" y="4291273"/>
            <a:ext cx="5004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keys in both A and B</a:t>
            </a:r>
          </a:p>
          <a:p>
            <a:r>
              <a:rPr lang="en-US" dirty="0"/>
              <a:t>APPL, … A data, … , … B data, …</a:t>
            </a:r>
          </a:p>
          <a:p>
            <a:r>
              <a:rPr lang="en-US" dirty="0"/>
              <a:t>MSFT, … A data, … , … B data, …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4F2050-79EA-8665-5209-AEB9D899F35C}"/>
              </a:ext>
            </a:extLst>
          </p:cNvPr>
          <p:cNvCxnSpPr/>
          <p:nvPr/>
        </p:nvCxnSpPr>
        <p:spPr>
          <a:xfrm flipV="1">
            <a:off x="2317898" y="2324986"/>
            <a:ext cx="2218660" cy="92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14DC36-014E-ECDD-4949-4FC096E68622}"/>
              </a:ext>
            </a:extLst>
          </p:cNvPr>
          <p:cNvCxnSpPr/>
          <p:nvPr/>
        </p:nvCxnSpPr>
        <p:spPr>
          <a:xfrm flipH="1" flipV="1">
            <a:off x="7038753" y="2310809"/>
            <a:ext cx="1761461" cy="5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66FA40-288A-02DA-BC43-DF02D80E8512}"/>
              </a:ext>
            </a:extLst>
          </p:cNvPr>
          <p:cNvCxnSpPr/>
          <p:nvPr/>
        </p:nvCxnSpPr>
        <p:spPr>
          <a:xfrm flipH="1">
            <a:off x="5500577" y="2833001"/>
            <a:ext cx="276870" cy="1349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37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 Representation of SQL Joins - CodeProject">
            <a:extLst>
              <a:ext uri="{FF2B5EF4-FFF2-40B4-BE49-F238E27FC236}">
                <a16:creationId xmlns:a16="http://schemas.microsoft.com/office/drawing/2014/main" id="{B74B300C-C7BE-4D73-810B-F66341D5B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0"/>
            <a:ext cx="8716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7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E4C6-D2F5-782D-7B1E-22EAB4898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JOINS and ALIASES. Hello everyone, in this insight, I'll… | by João  Marçura | Medium">
            <a:extLst>
              <a:ext uri="{FF2B5EF4-FFF2-40B4-BE49-F238E27FC236}">
                <a16:creationId xmlns:a16="http://schemas.microsoft.com/office/drawing/2014/main" id="{400E14FA-B796-4934-3B38-7B5725942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121777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114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8866-CB09-C539-7BC6-CF52577B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78D591-8822-1308-5785-03DC5BCD91A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r>
              <a:rPr lang="en-US" dirty="0"/>
              <a:t>How many keys in Dataset A are expected to match to Dataset B?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1:1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1:Many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Many:Many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A57ADD-1F14-9B13-F180-3F0B5FD5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3601593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3AF2-BBB2-C020-F324-F8EC146A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B77CDB-BCA1-0F4A-807E-5C4E831E520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36723" cy="3273076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b="1" dirty="0"/>
              <a:t>Question → </a:t>
            </a:r>
            <a:r>
              <a:rPr lang="en-US" b="1" strike="sngStrike" dirty="0"/>
              <a:t>Data → Prepare </a:t>
            </a:r>
            <a:r>
              <a:rPr lang="en-US" b="1" dirty="0"/>
              <a:t>→ </a:t>
            </a:r>
            <a:r>
              <a:rPr 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Analyze → Visualize </a:t>
            </a:r>
            <a:r>
              <a:rPr lang="en-US" b="1" dirty="0"/>
              <a:t>→ </a:t>
            </a:r>
            <a:r>
              <a:rPr lang="en-US" b="1" strike="sngStrike" dirty="0"/>
              <a:t>Business Decision</a:t>
            </a:r>
          </a:p>
          <a:p>
            <a:pPr>
              <a:spcAft>
                <a:spcPts val="800"/>
              </a:spcAft>
              <a:defRPr sz="2000"/>
            </a:pPr>
            <a:endParaRPr lang="en-US" b="1" dirty="0"/>
          </a:p>
          <a:p>
            <a:pPr>
              <a:spcAft>
                <a:spcPts val="700"/>
              </a:spcAft>
              <a:defRPr sz="2000"/>
            </a:pPr>
            <a:r>
              <a:rPr lang="en-US" b="1" dirty="0"/>
              <a:t>Incorrect joins associate incorrect data from one dataset to another.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(e.g., attributing NVIDIA’s performance to AAPL or the other way around)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4A6483-9973-1F2D-F44A-083EB4E1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Why is this fundamentally important?</a:t>
            </a:r>
          </a:p>
        </p:txBody>
      </p:sp>
    </p:spTree>
    <p:extLst>
      <p:ext uri="{BB962C8B-B14F-4D97-AF65-F5344CB8AC3E}">
        <p14:creationId xmlns:p14="http://schemas.microsoft.com/office/powerpoint/2010/main" val="2697538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A878-16F1-488A-22DE-5B379EB1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A3F7B2-F140-7AA9-0C34-54D4A953EF6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is correctly joining data important?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Joining Data Exercise (in </a:t>
            </a:r>
            <a:r>
              <a:rPr lang="en-US" b="1" dirty="0" err="1">
                <a:solidFill>
                  <a:schemeClr val="tx2"/>
                </a:solidFill>
              </a:rPr>
              <a:t>PowerBI</a:t>
            </a:r>
            <a:r>
              <a:rPr lang="en-US" b="1" dirty="0">
                <a:solidFill>
                  <a:schemeClr val="tx2"/>
                </a:solidFill>
              </a:rPr>
              <a:t>)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Optional: Joining data in Tableau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242BD3-6E7A-BAD1-7BCD-430F1C58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66654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DC80F-6D6B-D714-40D8-CCA14090E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80" t="5353" r="17757" b="9691"/>
          <a:stretch>
            <a:fillRect/>
          </a:stretch>
        </p:blipFill>
        <p:spPr>
          <a:xfrm>
            <a:off x="6259033" y="595423"/>
            <a:ext cx="5585637" cy="5188688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B50E808-873C-1F88-D58F-A16C5B1348EA}"/>
              </a:ext>
            </a:extLst>
          </p:cNvPr>
          <p:cNvSpPr txBox="1">
            <a:spLocks/>
          </p:cNvSpPr>
          <p:nvPr/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/>
          <a:lstStyle>
            <a:lvl1pPr algn="l" defTabSz="609585">
              <a:spcBef>
                <a:spcPct val="0"/>
              </a:spcBef>
              <a:spcAft>
                <a:spcPct val="0"/>
              </a:spcAft>
              <a:buNone/>
              <a:defRPr sz="3200" b="1" i="0" kern="120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609585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1219170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1828754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438339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en-US" dirty="0" err="1"/>
              <a:t>PowerBI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DC9DA-1280-4942-B7D7-5BA6DD3479A7}"/>
              </a:ext>
            </a:extLst>
          </p:cNvPr>
          <p:cNvSpPr txBox="1"/>
          <p:nvPr/>
        </p:nvSpPr>
        <p:spPr>
          <a:xfrm>
            <a:off x="6195236" y="5062248"/>
            <a:ext cx="303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*Exercise solution preview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F83275C-0E5A-DD46-9DE1-748A519F7525}"/>
              </a:ext>
            </a:extLst>
          </p:cNvPr>
          <p:cNvSpPr txBox="1">
            <a:spLocks/>
          </p:cNvSpPr>
          <p:nvPr/>
        </p:nvSpPr>
        <p:spPr>
          <a:xfrm>
            <a:off x="609600" y="1744134"/>
            <a:ext cx="4912242" cy="1808957"/>
          </a:xfrm>
          <a:prstGeom prst="rect">
            <a:avLst/>
          </a:prstGeom>
        </p:spPr>
        <p:txBody>
          <a:bodyPr/>
          <a:lstStyle>
            <a:lvl1pPr marL="0" indent="0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None/>
              <a:defRPr sz="2133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1pPr>
            <a:lvl2pPr marL="687900" indent="-232828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Char char="•"/>
              <a:defRPr sz="2133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2pPr>
            <a:lvl3pPr marL="914377" indent="-226478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Char char="•"/>
              <a:defRPr sz="1867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3pPr>
            <a:lvl4pPr marL="1140855" indent="-226478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Char char="•"/>
              <a:defRPr sz="1867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4pPr>
            <a:lvl5pPr marL="1375799" indent="-234945" algn="l" defTabSz="609585">
              <a:lnSpc>
                <a:spcPct val="150000"/>
              </a:lnSpc>
              <a:spcBef>
                <a:spcPts val="0"/>
              </a:spcBef>
              <a:spcAft>
                <a:spcPts val="133"/>
              </a:spcAft>
              <a:buFont typeface="Arial"/>
              <a:buChar char="•"/>
              <a:defRPr sz="1867" kern="1200">
                <a:solidFill>
                  <a:schemeClr val="tx1"/>
                </a:solidFill>
                <a:latin typeface="Open Sans Light"/>
                <a:ea typeface="Open Sans Light"/>
                <a:cs typeface="Open Sans Light"/>
              </a:defRPr>
            </a:lvl5pPr>
            <a:lvl6pPr marL="3352716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962301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4571886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181470" indent="-304792" algn="l" defTabSz="609585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dirty="0"/>
              <a:t>Expresses joins as relationships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Between keys in different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With Cardinality</a:t>
            </a:r>
          </a:p>
        </p:txBody>
      </p:sp>
    </p:spTree>
    <p:extLst>
      <p:ext uri="{BB962C8B-B14F-4D97-AF65-F5344CB8AC3E}">
        <p14:creationId xmlns:p14="http://schemas.microsoft.com/office/powerpoint/2010/main" val="273848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3555-5702-DB93-6B80-7937301A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09AD3F-8EB3-4B47-4061-B064E9667B3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796130" cy="3140475"/>
          </a:xfrm>
        </p:spPr>
        <p:txBody>
          <a:bodyPr/>
          <a:lstStyle/>
          <a:p>
            <a:r>
              <a:rPr lang="en-US" b="1" dirty="0"/>
              <a:t>Question: Which department (individual) posts the most manual journal entries?</a:t>
            </a:r>
          </a:p>
          <a:p>
            <a:r>
              <a:rPr lang="en-US" dirty="0"/>
              <a:t>Follow-up: Is there anything unusual, irregular, about the data?</a:t>
            </a:r>
          </a:p>
          <a:p>
            <a:endParaRPr lang="en-US" dirty="0"/>
          </a:p>
          <a:p>
            <a:r>
              <a:rPr lang="en-US" b="1" dirty="0"/>
              <a:t>Steps:</a:t>
            </a:r>
          </a:p>
          <a:p>
            <a:pPr marL="457200" indent="-457200">
              <a:buAutoNum type="arabicPeriod"/>
            </a:pPr>
            <a:r>
              <a:rPr lang="en-US" dirty="0"/>
              <a:t>Join data from the incoming xlsx spreadsheet</a:t>
            </a:r>
          </a:p>
          <a:p>
            <a:pPr marL="1145100" lvl="1" indent="-457200">
              <a:buAutoNum type="arabicPeriod"/>
            </a:pPr>
            <a:r>
              <a:rPr lang="en-US" dirty="0"/>
              <a:t>ID the keys, use </a:t>
            </a:r>
            <a:r>
              <a:rPr lang="en-US" dirty="0" err="1"/>
              <a:t>PowerBI</a:t>
            </a:r>
            <a:r>
              <a:rPr lang="en-US" dirty="0"/>
              <a:t> to make the join.</a:t>
            </a:r>
          </a:p>
          <a:p>
            <a:pPr marL="457200" indent="-457200">
              <a:buAutoNum type="arabicPeriod"/>
            </a:pPr>
            <a:r>
              <a:rPr lang="en-US" dirty="0"/>
              <a:t>Open a visual tab and summarize the JE data by department (individual).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11BDB9-50EC-8BA2-1F56-F891F846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Joining Data Exercise (in </a:t>
            </a:r>
            <a:r>
              <a:rPr lang="en-US" dirty="0" err="1"/>
              <a:t>PowerBI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39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Extract, Transform, and Load (ETL) Changing Fields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and implement some transformation steps using formulas (changing a field)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transformation data skills with calculations and formulas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371865-043A-A044-FABA-F7C925566CC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92127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PowerBI</a:t>
            </a:r>
            <a:r>
              <a:rPr lang="en-US" dirty="0"/>
              <a:t> workflow (work ahead)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Tableau optional exercise tips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D7328-6194-870E-AD28-BBFC259F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54165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B7B3-DA27-52D8-E1F5-3436AD19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5D1E-9B12-2AD1-729F-96024C7C0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58285-2D7D-7F97-4B08-E74B6DD7B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90"/>
            <a:ext cx="5268167" cy="1200329"/>
          </a:xfrm>
        </p:spPr>
        <p:txBody>
          <a:bodyPr/>
          <a:lstStyle/>
          <a:p>
            <a:r>
              <a:rPr lang="en-US" dirty="0"/>
              <a:t>Go to Table view on left index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206DDB-2BE1-F1B2-5B19-9944856BC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794" y="1742361"/>
            <a:ext cx="6363588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07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30D68-98A7-85B8-E133-ADF3542CB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918" y="2000050"/>
            <a:ext cx="4220164" cy="285789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42BAD4-F9D0-2DED-0CB8-44A4D5610E02}"/>
              </a:ext>
            </a:extLst>
          </p:cNvPr>
          <p:cNvCxnSpPr/>
          <p:nvPr/>
        </p:nvCxnSpPr>
        <p:spPr>
          <a:xfrm flipV="1">
            <a:off x="2912533" y="3556000"/>
            <a:ext cx="3107267" cy="55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13C54A1-9D64-D2F7-8751-6D40CFE553E3}"/>
              </a:ext>
            </a:extLst>
          </p:cNvPr>
          <p:cNvSpPr txBox="1"/>
          <p:nvPr/>
        </p:nvSpPr>
        <p:spPr>
          <a:xfrm>
            <a:off x="0" y="3669268"/>
            <a:ext cx="3096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On the right hand menu select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dirty="0" err="1">
                <a:latin typeface="+mn-lt"/>
              </a:rPr>
              <a:t>JELineitems</a:t>
            </a:r>
            <a:r>
              <a:rPr lang="en-US" dirty="0">
                <a:latin typeface="+mn-lt"/>
              </a:rPr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3899184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BC24E-7BD4-CB9C-8A21-0E0A52D8A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679" y="1738076"/>
            <a:ext cx="7106642" cy="338184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AA4365-C2E8-C2C5-14FB-DDB2248997C6}"/>
              </a:ext>
            </a:extLst>
          </p:cNvPr>
          <p:cNvCxnSpPr>
            <a:cxnSpLocks/>
          </p:cNvCxnSpPr>
          <p:nvPr/>
        </p:nvCxnSpPr>
        <p:spPr>
          <a:xfrm flipH="1">
            <a:off x="4309533" y="965200"/>
            <a:ext cx="804334" cy="228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066CC8-EE7F-2A0E-7826-930B60521A9F}"/>
              </a:ext>
            </a:extLst>
          </p:cNvPr>
          <p:cNvSpPr txBox="1"/>
          <p:nvPr/>
        </p:nvSpPr>
        <p:spPr>
          <a:xfrm>
            <a:off x="5291667" y="905933"/>
            <a:ext cx="4375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Select the </a:t>
            </a:r>
            <a:r>
              <a:rPr lang="en-US" i="1" dirty="0" err="1">
                <a:latin typeface="+mn-lt"/>
              </a:rPr>
              <a:t>GLAccountNumber</a:t>
            </a:r>
            <a:r>
              <a:rPr lang="en-US" dirty="0">
                <a:latin typeface="+mn-lt"/>
              </a:rPr>
              <a:t> Field / Column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003C46-55DD-6FA5-6BAF-2A10082C3824}"/>
              </a:ext>
            </a:extLst>
          </p:cNvPr>
          <p:cNvCxnSpPr/>
          <p:nvPr/>
        </p:nvCxnSpPr>
        <p:spPr>
          <a:xfrm>
            <a:off x="1024467" y="2260600"/>
            <a:ext cx="142240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546C17-9C1B-6F62-3BB4-C6A34397730D}"/>
              </a:ext>
            </a:extLst>
          </p:cNvPr>
          <p:cNvSpPr txBox="1"/>
          <p:nvPr/>
        </p:nvSpPr>
        <p:spPr>
          <a:xfrm>
            <a:off x="313267" y="1676400"/>
            <a:ext cx="1799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Note Dat  type is </a:t>
            </a:r>
          </a:p>
          <a:p>
            <a:r>
              <a:rPr lang="en-US" dirty="0">
                <a:latin typeface="+mn-lt"/>
              </a:rPr>
              <a:t>whole number</a:t>
            </a:r>
          </a:p>
        </p:txBody>
      </p:sp>
    </p:spTree>
    <p:extLst>
      <p:ext uri="{BB962C8B-B14F-4D97-AF65-F5344CB8AC3E}">
        <p14:creationId xmlns:p14="http://schemas.microsoft.com/office/powerpoint/2010/main" val="4023297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7FFDA-8639-7FDE-BDF4-F4F10E90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97" y="1271286"/>
            <a:ext cx="3258005" cy="43154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868746-B421-03BE-D9CE-F30D79A839D4}"/>
              </a:ext>
            </a:extLst>
          </p:cNvPr>
          <p:cNvCxnSpPr/>
          <p:nvPr/>
        </p:nvCxnSpPr>
        <p:spPr>
          <a:xfrm>
            <a:off x="2175933" y="2175933"/>
            <a:ext cx="3217334" cy="1947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133F678-01FF-B5CB-EA76-317856A011E5}"/>
              </a:ext>
            </a:extLst>
          </p:cNvPr>
          <p:cNvSpPr txBox="1"/>
          <p:nvPr/>
        </p:nvSpPr>
        <p:spPr>
          <a:xfrm>
            <a:off x="1092200" y="1524000"/>
            <a:ext cx="176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Change to “Text”</a:t>
            </a:r>
          </a:p>
        </p:txBody>
      </p:sp>
    </p:spTree>
    <p:extLst>
      <p:ext uri="{BB962C8B-B14F-4D97-AF65-F5344CB8AC3E}">
        <p14:creationId xmlns:p14="http://schemas.microsoft.com/office/powerpoint/2010/main" val="1211127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B1881-D509-1B1D-46FB-D9765C730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15" y="1628523"/>
            <a:ext cx="7840169" cy="360095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85C664-57BC-4C04-4B9A-B4DBC56E9E34}"/>
              </a:ext>
            </a:extLst>
          </p:cNvPr>
          <p:cNvCxnSpPr/>
          <p:nvPr/>
        </p:nvCxnSpPr>
        <p:spPr>
          <a:xfrm flipH="1">
            <a:off x="5520267" y="922867"/>
            <a:ext cx="2032000" cy="1244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12D29-569E-F57D-376E-46FAB19DE3A1}"/>
              </a:ext>
            </a:extLst>
          </p:cNvPr>
          <p:cNvSpPr txBox="1"/>
          <p:nvPr/>
        </p:nvSpPr>
        <p:spPr>
          <a:xfrm>
            <a:off x="7552267" y="461202"/>
            <a:ext cx="4125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Note format is just how the data is displayed, and it updates automatically to text (Data Type is how it is recognized by </a:t>
            </a:r>
            <a:r>
              <a:rPr lang="en-US" dirty="0" err="1">
                <a:latin typeface="+mn-lt"/>
              </a:rPr>
              <a:t>PowerBI</a:t>
            </a:r>
            <a:r>
              <a:rPr lang="en-US" dirty="0">
                <a:latin typeface="+mn-lt"/>
              </a:rPr>
              <a:t>).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BFCF60-860C-FA82-81E5-92949D0E4028}"/>
              </a:ext>
            </a:extLst>
          </p:cNvPr>
          <p:cNvCxnSpPr/>
          <p:nvPr/>
        </p:nvCxnSpPr>
        <p:spPr>
          <a:xfrm>
            <a:off x="1245326" y="1628523"/>
            <a:ext cx="1689463" cy="809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7C42C5-419E-040F-807B-872B9C86F28A}"/>
              </a:ext>
            </a:extLst>
          </p:cNvPr>
          <p:cNvSpPr txBox="1"/>
          <p:nvPr/>
        </p:nvSpPr>
        <p:spPr>
          <a:xfrm>
            <a:off x="269966" y="1140823"/>
            <a:ext cx="4448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Confirm the change and how it affects format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1F7B84-D396-65C4-9660-D9F2B57C5FC2}"/>
              </a:ext>
            </a:extLst>
          </p:cNvPr>
          <p:cNvCxnSpPr/>
          <p:nvPr/>
        </p:nvCxnSpPr>
        <p:spPr>
          <a:xfrm flipV="1">
            <a:off x="3553097" y="5007429"/>
            <a:ext cx="269966" cy="1114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FE1297-4C1D-A2A0-7271-92AF83095E7C}"/>
              </a:ext>
            </a:extLst>
          </p:cNvPr>
          <p:cNvSpPr txBox="1"/>
          <p:nvPr/>
        </p:nvSpPr>
        <p:spPr>
          <a:xfrm>
            <a:off x="3657600" y="6183086"/>
            <a:ext cx="1727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Text, left aligned</a:t>
            </a:r>
            <a:endParaRPr lang="en-US" dirty="0">
              <a:latin typeface="+mn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A55B93-94A1-1F30-B98E-2C7F7E1AEFB0}"/>
              </a:ext>
            </a:extLst>
          </p:cNvPr>
          <p:cNvCxnSpPr/>
          <p:nvPr/>
        </p:nvCxnSpPr>
        <p:spPr>
          <a:xfrm flipH="1" flipV="1">
            <a:off x="6653349" y="5229476"/>
            <a:ext cx="898918" cy="735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3A7B55-689F-70E6-17E5-267BFE85FE7E}"/>
              </a:ext>
            </a:extLst>
          </p:cNvPr>
          <p:cNvSpPr txBox="1"/>
          <p:nvPr/>
        </p:nvSpPr>
        <p:spPr>
          <a:xfrm>
            <a:off x="7750629" y="6017623"/>
            <a:ext cx="325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Numbers, italicized, right aligned</a:t>
            </a:r>
          </a:p>
        </p:txBody>
      </p:sp>
    </p:spTree>
    <p:extLst>
      <p:ext uri="{BB962C8B-B14F-4D97-AF65-F5344CB8AC3E}">
        <p14:creationId xmlns:p14="http://schemas.microsoft.com/office/powerpoint/2010/main" val="474629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84089-FDA8-8976-3AE5-513CF312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1" y="312266"/>
            <a:ext cx="2648320" cy="221010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000466-8A99-E50F-7E4D-30DD6C49A780}"/>
              </a:ext>
            </a:extLst>
          </p:cNvPr>
          <p:cNvCxnSpPr/>
          <p:nvPr/>
        </p:nvCxnSpPr>
        <p:spPr>
          <a:xfrm flipH="1">
            <a:off x="557349" y="862149"/>
            <a:ext cx="3344091" cy="313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ED0A1B1-DC80-764D-47F0-B66787554F21}"/>
              </a:ext>
            </a:extLst>
          </p:cNvPr>
          <p:cNvSpPr txBox="1"/>
          <p:nvPr/>
        </p:nvSpPr>
        <p:spPr>
          <a:xfrm>
            <a:off x="3466011" y="461554"/>
            <a:ext cx="2334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1 return to model 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0E7787-4F59-4C35-2F4B-C80879A22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733" y="1433228"/>
            <a:ext cx="5753903" cy="4963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71242D-1CC9-3E3C-551C-BAF2E12DE01E}"/>
              </a:ext>
            </a:extLst>
          </p:cNvPr>
          <p:cNvSpPr txBox="1"/>
          <p:nvPr/>
        </p:nvSpPr>
        <p:spPr>
          <a:xfrm>
            <a:off x="2333898" y="3735462"/>
            <a:ext cx="2648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Confirm </a:t>
            </a:r>
            <a:r>
              <a:rPr lang="en-US" dirty="0" err="1">
                <a:latin typeface="+mn-lt"/>
              </a:rPr>
              <a:t>GLAccountNumber</a:t>
            </a:r>
            <a:r>
              <a:rPr lang="en-US" dirty="0">
                <a:latin typeface="+mn-lt"/>
              </a:rPr>
              <a:t> is text in both (neither include the summation sign)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3D094A-5687-C3C1-55B6-A0455FD17F16}"/>
              </a:ext>
            </a:extLst>
          </p:cNvPr>
          <p:cNvCxnSpPr>
            <a:stCxn id="9" idx="3"/>
          </p:cNvCxnSpPr>
          <p:nvPr/>
        </p:nvCxnSpPr>
        <p:spPr>
          <a:xfrm flipV="1">
            <a:off x="4982218" y="3500846"/>
            <a:ext cx="1305371" cy="834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560928-CCC6-F630-FEA9-7BB9006C9A87}"/>
              </a:ext>
            </a:extLst>
          </p:cNvPr>
          <p:cNvCxnSpPr>
            <a:stCxn id="9" idx="3"/>
          </p:cNvCxnSpPr>
          <p:nvPr/>
        </p:nvCxnSpPr>
        <p:spPr>
          <a:xfrm>
            <a:off x="4982218" y="4335627"/>
            <a:ext cx="4100822" cy="811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258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EEA56-462A-0B06-F3FC-F2E6176D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48" y="1033128"/>
            <a:ext cx="6268325" cy="479174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9F133B-8811-DAB1-FF7A-2B0250D8E31A}"/>
              </a:ext>
            </a:extLst>
          </p:cNvPr>
          <p:cNvCxnSpPr/>
          <p:nvPr/>
        </p:nvCxnSpPr>
        <p:spPr>
          <a:xfrm flipH="1" flipV="1">
            <a:off x="3559629" y="3242733"/>
            <a:ext cx="3022600" cy="142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FEA9E3-6BCC-E97B-094A-0CF08DE62437}"/>
              </a:ext>
            </a:extLst>
          </p:cNvPr>
          <p:cNvSpPr txBox="1"/>
          <p:nvPr/>
        </p:nvSpPr>
        <p:spPr>
          <a:xfrm>
            <a:off x="7601373" y="1114939"/>
            <a:ext cx="4590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Drag </a:t>
            </a:r>
            <a:r>
              <a:rPr lang="en-US" dirty="0" err="1">
                <a:latin typeface="+mn-lt"/>
              </a:rPr>
              <a:t>GLAccountNumber</a:t>
            </a:r>
            <a:r>
              <a:rPr lang="en-US" dirty="0">
                <a:latin typeface="+mn-lt"/>
              </a:rPr>
              <a:t> from </a:t>
            </a:r>
            <a:r>
              <a:rPr lang="en-US" dirty="0" err="1">
                <a:latin typeface="+mn-lt"/>
              </a:rPr>
              <a:t>ChartOfAccounts</a:t>
            </a:r>
            <a:r>
              <a:rPr lang="en-US" dirty="0">
                <a:latin typeface="+mn-lt"/>
              </a:rPr>
              <a:t> to </a:t>
            </a:r>
            <a:r>
              <a:rPr lang="en-US" dirty="0" err="1">
                <a:latin typeface="+mn-lt"/>
              </a:rPr>
              <a:t>JELineItems</a:t>
            </a:r>
            <a:r>
              <a:rPr lang="en-US" dirty="0">
                <a:latin typeface="+mn-lt"/>
              </a:rPr>
              <a:t> and match it with </a:t>
            </a:r>
            <a:r>
              <a:rPr lang="en-US" dirty="0" err="1">
                <a:latin typeface="+mn-lt"/>
              </a:rPr>
              <a:t>GLAccountNumber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3431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B513F-FBFF-16D8-3671-E339747F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390" y="1042654"/>
            <a:ext cx="6411220" cy="4772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33C98-B789-2E49-3B3E-E90E718123FE}"/>
              </a:ext>
            </a:extLst>
          </p:cNvPr>
          <p:cNvSpPr txBox="1"/>
          <p:nvPr/>
        </p:nvSpPr>
        <p:spPr>
          <a:xfrm>
            <a:off x="9657806" y="2708366"/>
            <a:ext cx="2316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New Relationship Arrow appears in the data model</a:t>
            </a:r>
          </a:p>
        </p:txBody>
      </p:sp>
    </p:spTree>
    <p:extLst>
      <p:ext uri="{BB962C8B-B14F-4D97-AF65-F5344CB8AC3E}">
        <p14:creationId xmlns:p14="http://schemas.microsoft.com/office/powerpoint/2010/main" val="2605712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AEEB6-038F-AD01-DFE7-842F4BA79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0" y="290074"/>
            <a:ext cx="8487960" cy="627785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F9AC91-BE23-53C1-CA3E-D7455D341434}"/>
              </a:ext>
            </a:extLst>
          </p:cNvPr>
          <p:cNvCxnSpPr/>
          <p:nvPr/>
        </p:nvCxnSpPr>
        <p:spPr>
          <a:xfrm>
            <a:off x="4415247" y="5512527"/>
            <a:ext cx="44065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9A163A-2309-0BD9-4E02-6822DDA230F8}"/>
              </a:ext>
            </a:extLst>
          </p:cNvPr>
          <p:cNvCxnSpPr/>
          <p:nvPr/>
        </p:nvCxnSpPr>
        <p:spPr>
          <a:xfrm flipV="1">
            <a:off x="8821782" y="3727268"/>
            <a:ext cx="0" cy="1802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8847D5-8E9D-9552-D144-D817DC7B5064}"/>
              </a:ext>
            </a:extLst>
          </p:cNvPr>
          <p:cNvSpPr txBox="1"/>
          <p:nvPr/>
        </p:nvSpPr>
        <p:spPr>
          <a:xfrm>
            <a:off x="9077239" y="4628605"/>
            <a:ext cx="2307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Let’s make it possible to connect </a:t>
            </a:r>
            <a:r>
              <a:rPr lang="en-US" dirty="0" err="1">
                <a:latin typeface="+mn-lt"/>
              </a:rPr>
              <a:t>PrepareInfo</a:t>
            </a:r>
            <a:r>
              <a:rPr lang="en-US" dirty="0">
                <a:latin typeface="+mn-lt"/>
              </a:rPr>
              <a:t> directly (in case we just want preparer names)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5FD40F-9E13-0BE1-4857-8807DB5B7994}"/>
              </a:ext>
            </a:extLst>
          </p:cNvPr>
          <p:cNvSpPr/>
          <p:nvPr/>
        </p:nvSpPr>
        <p:spPr>
          <a:xfrm>
            <a:off x="2252133" y="4766733"/>
            <a:ext cx="1236133" cy="567267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9B5B2-C8E4-824E-18C4-518DD5AABABC}"/>
              </a:ext>
            </a:extLst>
          </p:cNvPr>
          <p:cNvCxnSpPr/>
          <p:nvPr/>
        </p:nvCxnSpPr>
        <p:spPr>
          <a:xfrm>
            <a:off x="736600" y="3124200"/>
            <a:ext cx="1600200" cy="170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E81532-0355-242E-7AD9-0BB051AFABCA}"/>
              </a:ext>
            </a:extLst>
          </p:cNvPr>
          <p:cNvSpPr txBox="1"/>
          <p:nvPr/>
        </p:nvSpPr>
        <p:spPr>
          <a:xfrm>
            <a:off x="338667" y="2142067"/>
            <a:ext cx="3137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Like before we want:</a:t>
            </a:r>
          </a:p>
          <a:p>
            <a:r>
              <a:rPr lang="en-US" dirty="0" err="1">
                <a:latin typeface="+mn-lt"/>
              </a:rPr>
              <a:t>Business</a:t>
            </a:r>
            <a:r>
              <a:rPr lang="en-US" dirty="0" err="1"/>
              <a:t>UnitID</a:t>
            </a:r>
            <a:r>
              <a:rPr lang="en-US" dirty="0"/>
              <a:t> AND </a:t>
            </a:r>
            <a:r>
              <a:rPr lang="en-US" dirty="0" err="1"/>
              <a:t>PreparerID</a:t>
            </a:r>
            <a:endParaRPr lang="en-US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09997-027A-506A-0AB8-F0A799B6C6C8}"/>
              </a:ext>
            </a:extLst>
          </p:cNvPr>
          <p:cNvSpPr txBox="1"/>
          <p:nvPr/>
        </p:nvSpPr>
        <p:spPr>
          <a:xfrm>
            <a:off x="1998135" y="3474535"/>
            <a:ext cx="2827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1. Delete the current connection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7518DB-2EBA-8FB1-302C-B197E38C1AB4}"/>
              </a:ext>
            </a:extLst>
          </p:cNvPr>
          <p:cNvCxnSpPr>
            <a:cxnSpLocks/>
          </p:cNvCxnSpPr>
          <p:nvPr/>
        </p:nvCxnSpPr>
        <p:spPr>
          <a:xfrm>
            <a:off x="3725333" y="3903133"/>
            <a:ext cx="1600200" cy="1193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3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AE85D-4A24-C3D0-15CD-EDD5EAA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74" y="166232"/>
            <a:ext cx="6458851" cy="652553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912C82D-844C-AEEF-95A3-58F4765214F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562061" y="1117600"/>
            <a:ext cx="1333539" cy="347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290362-F161-0428-21C9-7B50344DD598}"/>
              </a:ext>
            </a:extLst>
          </p:cNvPr>
          <p:cNvSpPr txBox="1"/>
          <p:nvPr/>
        </p:nvSpPr>
        <p:spPr>
          <a:xfrm>
            <a:off x="381000" y="1464733"/>
            <a:ext cx="236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2. Return to Table View</a:t>
            </a:r>
          </a:p>
        </p:txBody>
      </p:sp>
    </p:spTree>
    <p:extLst>
      <p:ext uri="{BB962C8B-B14F-4D97-AF65-F5344CB8AC3E}">
        <p14:creationId xmlns:p14="http://schemas.microsoft.com/office/powerpoint/2010/main" val="1655476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FE14A-C3E6-661F-2582-0430468D9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7730"/>
            <a:ext cx="12115800" cy="6684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64A187-DA4D-1B4E-ECAD-26AED99D5F94}"/>
              </a:ext>
            </a:extLst>
          </p:cNvPr>
          <p:cNvSpPr txBox="1"/>
          <p:nvPr/>
        </p:nvSpPr>
        <p:spPr>
          <a:xfrm>
            <a:off x="4148667" y="1320800"/>
            <a:ext cx="56397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3. Confirm you are in the </a:t>
            </a:r>
            <a:r>
              <a:rPr lang="en-US" dirty="0" err="1">
                <a:latin typeface="+mn-lt"/>
              </a:rPr>
              <a:t>JELineItems</a:t>
            </a:r>
            <a:r>
              <a:rPr lang="en-US" dirty="0">
                <a:latin typeface="+mn-lt"/>
              </a:rPr>
              <a:t> dataset: Arrow pointed down, contents of dataset visible</a:t>
            </a:r>
          </a:p>
          <a:p>
            <a:r>
              <a:rPr lang="en-US" dirty="0"/>
              <a:t>Which is the </a:t>
            </a:r>
            <a:r>
              <a:rPr lang="en-US" dirty="0">
                <a:latin typeface="+mn-lt"/>
              </a:rPr>
              <a:t>most likely default given we just edited </a:t>
            </a:r>
            <a:r>
              <a:rPr lang="en-US" dirty="0" err="1">
                <a:latin typeface="+mn-lt"/>
              </a:rPr>
              <a:t>GLAccountnumber</a:t>
            </a:r>
            <a:r>
              <a:rPr lang="en-US" dirty="0">
                <a:latin typeface="+mn-lt"/>
              </a:rPr>
              <a:t> which is likely selected.</a:t>
            </a:r>
          </a:p>
        </p:txBody>
      </p:sp>
    </p:spTree>
    <p:extLst>
      <p:ext uri="{BB962C8B-B14F-4D97-AF65-F5344CB8AC3E}">
        <p14:creationId xmlns:p14="http://schemas.microsoft.com/office/powerpoint/2010/main" val="1880885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6EC836-3873-DC1E-F98E-70B9DB49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8216"/>
            <a:ext cx="12192000" cy="454156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E0677F-9041-BF1A-A6A2-3B7C757C94F6}"/>
              </a:ext>
            </a:extLst>
          </p:cNvPr>
          <p:cNvCxnSpPr/>
          <p:nvPr/>
        </p:nvCxnSpPr>
        <p:spPr>
          <a:xfrm flipH="1">
            <a:off x="2421467" y="558800"/>
            <a:ext cx="855133" cy="643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B66E27-E5AC-54AE-A27D-FCE9F0AE8DE3}"/>
              </a:ext>
            </a:extLst>
          </p:cNvPr>
          <p:cNvSpPr txBox="1"/>
          <p:nvPr/>
        </p:nvSpPr>
        <p:spPr>
          <a:xfrm>
            <a:off x="3217333" y="329910"/>
            <a:ext cx="359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4. Confirm or navigate to Table Tools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CD1152-57BC-FC95-17E1-D78BA4499C0A}"/>
              </a:ext>
            </a:extLst>
          </p:cNvPr>
          <p:cNvCxnSpPr/>
          <p:nvPr/>
        </p:nvCxnSpPr>
        <p:spPr>
          <a:xfrm flipH="1" flipV="1">
            <a:off x="4826000" y="1752600"/>
            <a:ext cx="2167467" cy="414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2BB916-B384-3393-047C-238C31194C98}"/>
              </a:ext>
            </a:extLst>
          </p:cNvPr>
          <p:cNvSpPr txBox="1"/>
          <p:nvPr/>
        </p:nvSpPr>
        <p:spPr>
          <a:xfrm>
            <a:off x="7230533" y="2048933"/>
            <a:ext cx="2395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5. Create a new column</a:t>
            </a:r>
          </a:p>
        </p:txBody>
      </p:sp>
    </p:spTree>
    <p:extLst>
      <p:ext uri="{BB962C8B-B14F-4D97-AF65-F5344CB8AC3E}">
        <p14:creationId xmlns:p14="http://schemas.microsoft.com/office/powerpoint/2010/main" val="3256926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0A549-2E8E-19E1-F156-1552A9BBE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56" y="1633287"/>
            <a:ext cx="10126488" cy="359142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70BBE2-38FF-7BDC-13F1-75376AC4F5FE}"/>
              </a:ext>
            </a:extLst>
          </p:cNvPr>
          <p:cNvCxnSpPr>
            <a:cxnSpLocks/>
          </p:cNvCxnSpPr>
          <p:nvPr/>
        </p:nvCxnSpPr>
        <p:spPr>
          <a:xfrm>
            <a:off x="7620000" y="804333"/>
            <a:ext cx="2954867" cy="2429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3AAEBE-ADB8-24D7-5C12-100E9F577121}"/>
              </a:ext>
            </a:extLst>
          </p:cNvPr>
          <p:cNvSpPr txBox="1"/>
          <p:nvPr/>
        </p:nvSpPr>
        <p:spPr>
          <a:xfrm>
            <a:off x="6096000" y="347133"/>
            <a:ext cx="2990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6. Confirm new column and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85F58-7995-FC90-443B-45A2022CADA8}"/>
              </a:ext>
            </a:extLst>
          </p:cNvPr>
          <p:cNvSpPr txBox="1"/>
          <p:nvPr/>
        </p:nvSpPr>
        <p:spPr>
          <a:xfrm>
            <a:off x="4682067" y="1244600"/>
            <a:ext cx="337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… 7. Edit the column formula here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8F04AF-954D-5EE5-6D6C-3056AE1DADBD}"/>
              </a:ext>
            </a:extLst>
          </p:cNvPr>
          <p:cNvCxnSpPr>
            <a:stCxn id="8" idx="1"/>
          </p:cNvCxnSpPr>
          <p:nvPr/>
        </p:nvCxnSpPr>
        <p:spPr>
          <a:xfrm flipH="1">
            <a:off x="2726267" y="1429266"/>
            <a:ext cx="1955800" cy="1508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110C27-E364-6624-F62D-3DC945E6E8B9}"/>
              </a:ext>
            </a:extLst>
          </p:cNvPr>
          <p:cNvSpPr txBox="1"/>
          <p:nvPr/>
        </p:nvSpPr>
        <p:spPr>
          <a:xfrm>
            <a:off x="1032756" y="5684335"/>
            <a:ext cx="1052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Our formula goal is to concatenate </a:t>
            </a:r>
            <a:r>
              <a:rPr lang="en-US" dirty="0" err="1"/>
              <a:t>B</a:t>
            </a:r>
            <a:r>
              <a:rPr lang="en-US" dirty="0" err="1">
                <a:latin typeface="+mn-lt"/>
              </a:rPr>
              <a:t>usinessUnitID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PreparerID</a:t>
            </a:r>
            <a:r>
              <a:rPr lang="en-US" dirty="0">
                <a:latin typeface="+mn-lt"/>
              </a:rPr>
              <a:t> to create a unique key i.e., 1-101, 2-101 etc.</a:t>
            </a:r>
          </a:p>
        </p:txBody>
      </p:sp>
    </p:spTree>
    <p:extLst>
      <p:ext uri="{BB962C8B-B14F-4D97-AF65-F5344CB8AC3E}">
        <p14:creationId xmlns:p14="http://schemas.microsoft.com/office/powerpoint/2010/main" val="164587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8FDCDA-B98F-4DF1-3583-D493D2E773A0}"/>
              </a:ext>
            </a:extLst>
          </p:cNvPr>
          <p:cNvSpPr txBox="1"/>
          <p:nvPr/>
        </p:nvSpPr>
        <p:spPr>
          <a:xfrm>
            <a:off x="711200" y="584200"/>
            <a:ext cx="46576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8. Replace Column =  with:</a:t>
            </a:r>
          </a:p>
          <a:p>
            <a:r>
              <a:rPr lang="en-US" dirty="0" err="1">
                <a:latin typeface="+mn-lt"/>
              </a:rPr>
              <a:t>BusPrepID</a:t>
            </a:r>
            <a:r>
              <a:rPr lang="en-US" dirty="0">
                <a:latin typeface="+mn-lt"/>
              </a:rPr>
              <a:t> = [</a:t>
            </a:r>
            <a:r>
              <a:rPr lang="en-US" dirty="0" err="1">
                <a:latin typeface="+mn-lt"/>
              </a:rPr>
              <a:t>BusinessUnitID</a:t>
            </a:r>
            <a:r>
              <a:rPr lang="en-US" dirty="0">
                <a:latin typeface="+mn-lt"/>
              </a:rPr>
              <a:t>]&amp;”-”&amp;[</a:t>
            </a:r>
            <a:r>
              <a:rPr lang="en-US" dirty="0" err="1">
                <a:latin typeface="+mn-lt"/>
              </a:rPr>
              <a:t>PreparerID</a:t>
            </a:r>
            <a:r>
              <a:rPr lang="en-US" dirty="0">
                <a:latin typeface="+mn-lt"/>
              </a:rPr>
              <a:t>]</a:t>
            </a:r>
          </a:p>
          <a:p>
            <a:r>
              <a:rPr lang="en-US" dirty="0"/>
              <a:t>Then press Enter</a:t>
            </a: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53550-8119-6960-6C64-F85330EC6F96}"/>
              </a:ext>
            </a:extLst>
          </p:cNvPr>
          <p:cNvSpPr txBox="1"/>
          <p:nvPr/>
        </p:nvSpPr>
        <p:spPr>
          <a:xfrm>
            <a:off x="711200" y="104801"/>
            <a:ext cx="1052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Our formula goal is to concatenate </a:t>
            </a:r>
            <a:r>
              <a:rPr lang="en-US" dirty="0" err="1"/>
              <a:t>B</a:t>
            </a:r>
            <a:r>
              <a:rPr lang="en-US" dirty="0" err="1">
                <a:latin typeface="+mn-lt"/>
              </a:rPr>
              <a:t>usinessUnitID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PreparerID</a:t>
            </a:r>
            <a:r>
              <a:rPr lang="en-US" dirty="0">
                <a:latin typeface="+mn-lt"/>
              </a:rPr>
              <a:t> to create a unique key i.e., 1-101, 2-101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89D500-EAF3-D175-5245-093F51587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45" y="1499728"/>
            <a:ext cx="7172054" cy="535827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35C59D-23C1-A413-F239-2EC19CC6A497}"/>
              </a:ext>
            </a:extLst>
          </p:cNvPr>
          <p:cNvCxnSpPr>
            <a:cxnSpLocks/>
          </p:cNvCxnSpPr>
          <p:nvPr/>
        </p:nvCxnSpPr>
        <p:spPr>
          <a:xfrm>
            <a:off x="2692400" y="1270000"/>
            <a:ext cx="2201333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041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1FBFA-0463-9604-E8DC-380E2C2B7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18" y="37148"/>
            <a:ext cx="5963482" cy="682085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EF148A-EEEA-A458-59DD-30014585B0E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664200" y="4678065"/>
            <a:ext cx="4292600" cy="351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0190EB-4476-2E53-9AAF-078F8C7C5C7E}"/>
              </a:ext>
            </a:extLst>
          </p:cNvPr>
          <p:cNvSpPr txBox="1"/>
          <p:nvPr/>
        </p:nvSpPr>
        <p:spPr>
          <a:xfrm>
            <a:off x="1998133" y="4216400"/>
            <a:ext cx="3666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10. Still in Tables, select the </a:t>
            </a:r>
            <a:r>
              <a:rPr lang="en-US" dirty="0" err="1">
                <a:latin typeface="+mn-lt"/>
              </a:rPr>
              <a:t>PreparerInfo</a:t>
            </a:r>
            <a:r>
              <a:rPr lang="en-US" dirty="0">
                <a:latin typeface="+mn-lt"/>
              </a:rPr>
              <a:t> Dataset and create the same new column “</a:t>
            </a:r>
            <a:r>
              <a:rPr lang="en-US" dirty="0" err="1">
                <a:latin typeface="+mn-lt"/>
              </a:rPr>
              <a:t>BusPrepID</a:t>
            </a:r>
            <a:r>
              <a:rPr lang="en-US" dirty="0">
                <a:latin typeface="+mn-lt"/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2992222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AAD82-42BE-A304-738D-BB0208A34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7" y="315602"/>
            <a:ext cx="6601746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16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5B87E-7192-F284-6310-1E30177C7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781"/>
            <a:ext cx="12192000" cy="639843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0025D5-362A-D9E4-0869-325A1381B66C}"/>
              </a:ext>
            </a:extLst>
          </p:cNvPr>
          <p:cNvCxnSpPr/>
          <p:nvPr/>
        </p:nvCxnSpPr>
        <p:spPr>
          <a:xfrm flipH="1" flipV="1">
            <a:off x="4241800" y="1219200"/>
            <a:ext cx="3073400" cy="1007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E289E7-434B-2F7B-60F7-C0D12968CF9E}"/>
              </a:ext>
            </a:extLst>
          </p:cNvPr>
          <p:cNvSpPr txBox="1"/>
          <p:nvPr/>
        </p:nvSpPr>
        <p:spPr>
          <a:xfrm>
            <a:off x="7366000" y="2201333"/>
            <a:ext cx="166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Update formula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7DB2C-DFC7-D142-2BB8-CE60747FEAA7}"/>
              </a:ext>
            </a:extLst>
          </p:cNvPr>
          <p:cNvSpPr txBox="1"/>
          <p:nvPr/>
        </p:nvSpPr>
        <p:spPr>
          <a:xfrm>
            <a:off x="4309534" y="4724400"/>
            <a:ext cx="4079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Note that this column, </a:t>
            </a:r>
            <a:r>
              <a:rPr lang="en-US" dirty="0" err="1">
                <a:latin typeface="+mn-lt"/>
              </a:rPr>
              <a:t>BusPrepID</a:t>
            </a:r>
            <a:r>
              <a:rPr lang="en-US" dirty="0">
                <a:latin typeface="+mn-lt"/>
              </a:rPr>
              <a:t>, is now:</a:t>
            </a:r>
          </a:p>
          <a:p>
            <a:pPr marL="342900" indent="-342900">
              <a:buAutoNum type="arabicPeriod"/>
            </a:pPr>
            <a:r>
              <a:rPr lang="en-US" dirty="0"/>
              <a:t>In </a:t>
            </a:r>
            <a:r>
              <a:rPr lang="en-US" dirty="0" err="1"/>
              <a:t>JELineItems</a:t>
            </a:r>
            <a:r>
              <a:rPr lang="en-US" dirty="0"/>
              <a:t>, and</a:t>
            </a:r>
          </a:p>
          <a:p>
            <a:pPr marL="342900" indent="-342900">
              <a:buAutoNum type="arabicPeriod"/>
            </a:pPr>
            <a:r>
              <a:rPr lang="en-US" dirty="0" err="1">
                <a:latin typeface="+mn-lt"/>
              </a:rPr>
              <a:t>PreparerInfo</a:t>
            </a:r>
            <a:endParaRPr lang="en-US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75BB3A-DFE2-83B3-A39F-91F92D37B828}"/>
              </a:ext>
            </a:extLst>
          </p:cNvPr>
          <p:cNvCxnSpPr/>
          <p:nvPr/>
        </p:nvCxnSpPr>
        <p:spPr>
          <a:xfrm flipH="1" flipV="1">
            <a:off x="4953000" y="1722966"/>
            <a:ext cx="2032000" cy="3001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7E3B8A-27EB-2DC9-D2DA-499D4DCB0EA1}"/>
              </a:ext>
            </a:extLst>
          </p:cNvPr>
          <p:cNvCxnSpPr/>
          <p:nvPr/>
        </p:nvCxnSpPr>
        <p:spPr>
          <a:xfrm flipV="1">
            <a:off x="6096000" y="3149600"/>
            <a:ext cx="4241800" cy="203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C5222D-DE52-0941-9AD9-07B8856359B0}"/>
              </a:ext>
            </a:extLst>
          </p:cNvPr>
          <p:cNvCxnSpPr/>
          <p:nvPr/>
        </p:nvCxnSpPr>
        <p:spPr>
          <a:xfrm>
            <a:off x="6096000" y="5444067"/>
            <a:ext cx="4072467" cy="12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739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ADEEC-9335-BC1B-2B75-11D5BC0C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404" b="60137"/>
          <a:stretch>
            <a:fillRect/>
          </a:stretch>
        </p:blipFill>
        <p:spPr>
          <a:xfrm>
            <a:off x="575493" y="380574"/>
            <a:ext cx="3488508" cy="243035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DF6E7E-DCD8-AD87-2CF6-0B106348F42D}"/>
              </a:ext>
            </a:extLst>
          </p:cNvPr>
          <p:cNvCxnSpPr/>
          <p:nvPr/>
        </p:nvCxnSpPr>
        <p:spPr>
          <a:xfrm flipH="1">
            <a:off x="770467" y="482600"/>
            <a:ext cx="4360333" cy="1507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BD900EE-A4BC-5F77-5656-4241FB9BC181}"/>
              </a:ext>
            </a:extLst>
          </p:cNvPr>
          <p:cNvSpPr txBox="1"/>
          <p:nvPr/>
        </p:nvSpPr>
        <p:spPr>
          <a:xfrm>
            <a:off x="5008625" y="246921"/>
            <a:ext cx="22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Return to model 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FF320-B4A3-0BB5-AEB2-0F83DBE85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267" y="1617133"/>
            <a:ext cx="7127923" cy="524086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D538BE-2FB5-EF17-90D6-ACC4D8299789}"/>
              </a:ext>
            </a:extLst>
          </p:cNvPr>
          <p:cNvCxnSpPr/>
          <p:nvPr/>
        </p:nvCxnSpPr>
        <p:spPr>
          <a:xfrm>
            <a:off x="7391400" y="2904067"/>
            <a:ext cx="2015067" cy="397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43AAF6-FD22-2C07-37AA-8B5790F2FBC9}"/>
              </a:ext>
            </a:extLst>
          </p:cNvPr>
          <p:cNvSpPr txBox="1"/>
          <p:nvPr/>
        </p:nvSpPr>
        <p:spPr>
          <a:xfrm>
            <a:off x="6113174" y="1005300"/>
            <a:ext cx="550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Connect </a:t>
            </a:r>
            <a:r>
              <a:rPr lang="en-US" dirty="0" err="1">
                <a:latin typeface="+mn-lt"/>
              </a:rPr>
              <a:t>PreparerInfo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JELineItems</a:t>
            </a:r>
            <a:r>
              <a:rPr lang="en-US" dirty="0">
                <a:latin typeface="+mn-lt"/>
              </a:rPr>
              <a:t> by dragging the new unique key “</a:t>
            </a:r>
            <a:r>
              <a:rPr lang="en-US" dirty="0" err="1">
                <a:latin typeface="+mn-lt"/>
              </a:rPr>
              <a:t>BusPrepID</a:t>
            </a:r>
            <a:r>
              <a:rPr lang="en-US" dirty="0">
                <a:latin typeface="+mn-lt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0854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EEBDF-B9A7-9008-C4C1-167D48A9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3E20-1C10-DA3D-91E3-17451B02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9F27D-E0FA-7AA6-C838-4F8331C9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4099767" cy="3767763"/>
          </a:xfrm>
        </p:spPr>
        <p:txBody>
          <a:bodyPr/>
          <a:lstStyle/>
          <a:p>
            <a:r>
              <a:rPr lang="en-US" sz="3200" dirty="0"/>
              <a:t>Confirm the new </a:t>
            </a:r>
            <a:r>
              <a:rPr lang="en-US" sz="3200" dirty="0" err="1"/>
              <a:t>BusPrepID</a:t>
            </a:r>
            <a:r>
              <a:rPr lang="en-US" sz="3200" dirty="0"/>
              <a:t> connection and the </a:t>
            </a:r>
            <a:r>
              <a:rPr lang="en-US" sz="3200" b="1" dirty="0"/>
              <a:t>data relationship model </a:t>
            </a:r>
            <a:r>
              <a:rPr lang="en-US" sz="3200" dirty="0"/>
              <a:t>is complete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AB1EA-2FFA-B062-864F-6B18AE016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354" y="1323273"/>
            <a:ext cx="5069713" cy="5348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FA55AB-88F2-A819-FDDD-2AC11074A59F}"/>
              </a:ext>
            </a:extLst>
          </p:cNvPr>
          <p:cNvSpPr txBox="1"/>
          <p:nvPr/>
        </p:nvSpPr>
        <p:spPr>
          <a:xfrm>
            <a:off x="4826000" y="5015944"/>
            <a:ext cx="18540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Note it should be </a:t>
            </a:r>
          </a:p>
          <a:p>
            <a:r>
              <a:rPr lang="en-US" dirty="0">
                <a:latin typeface="+mn-lt"/>
              </a:rPr>
              <a:t>one (1) </a:t>
            </a:r>
          </a:p>
          <a:p>
            <a:r>
              <a:rPr lang="en-US" dirty="0">
                <a:latin typeface="+mn-lt"/>
              </a:rPr>
              <a:t>to many (*)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1AF5A8-2F24-D61A-4F87-9307BF6B76B8}"/>
              </a:ext>
            </a:extLst>
          </p:cNvPr>
          <p:cNvCxnSpPr/>
          <p:nvPr/>
        </p:nvCxnSpPr>
        <p:spPr>
          <a:xfrm>
            <a:off x="5593702" y="5477609"/>
            <a:ext cx="4312298" cy="499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8524CA-D85E-9F04-4773-C009EF80AAB2}"/>
              </a:ext>
            </a:extLst>
          </p:cNvPr>
          <p:cNvCxnSpPr/>
          <p:nvPr/>
        </p:nvCxnSpPr>
        <p:spPr>
          <a:xfrm flipV="1">
            <a:off x="6096000" y="4936067"/>
            <a:ext cx="1701800" cy="86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177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B3D2-C0D0-8E9B-3004-2F3959E7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053365"/>
          </a:xfrm>
        </p:spPr>
        <p:txBody>
          <a:bodyPr/>
          <a:lstStyle/>
          <a:p>
            <a:r>
              <a:rPr lang="en-US" dirty="0"/>
              <a:t>Tableau Join Version Tips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4AC34-6621-7D4B-66C6-8B824F40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44" y="3095100"/>
            <a:ext cx="9459645" cy="3762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CD5C2A-6AC4-9195-4AD1-7B08901A659C}"/>
              </a:ext>
            </a:extLst>
          </p:cNvPr>
          <p:cNvSpPr/>
          <p:nvPr/>
        </p:nvSpPr>
        <p:spPr>
          <a:xfrm>
            <a:off x="3945467" y="3429000"/>
            <a:ext cx="804333" cy="293793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26AC6-14C6-084F-1E8C-72EA163071DC}"/>
              </a:ext>
            </a:extLst>
          </p:cNvPr>
          <p:cNvSpPr txBox="1"/>
          <p:nvPr/>
        </p:nvSpPr>
        <p:spPr>
          <a:xfrm>
            <a:off x="2388389" y="2155355"/>
            <a:ext cx="4215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Defaults to inner joins, we are expecting 789 line items (rows), but get 639 rows of data (missing 150 rows / JE’s).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9BD88B-3213-93EF-31AA-3B5E19E653EF}"/>
              </a:ext>
            </a:extLst>
          </p:cNvPr>
          <p:cNvCxnSpPr>
            <a:cxnSpLocks/>
          </p:cNvCxnSpPr>
          <p:nvPr/>
        </p:nvCxnSpPr>
        <p:spPr>
          <a:xfrm flipH="1">
            <a:off x="7967133" y="2901360"/>
            <a:ext cx="1202267" cy="3050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07046B-E488-8525-5835-98332E818A89}"/>
              </a:ext>
            </a:extLst>
          </p:cNvPr>
          <p:cNvSpPr txBox="1"/>
          <p:nvPr/>
        </p:nvSpPr>
        <p:spPr>
          <a:xfrm>
            <a:off x="7556651" y="2255029"/>
            <a:ext cx="4121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Edit the Preparer Info Join to join on both </a:t>
            </a:r>
          </a:p>
          <a:p>
            <a:r>
              <a:rPr lang="en-US" dirty="0" err="1">
                <a:latin typeface="+mn-lt"/>
              </a:rPr>
              <a:t>preparerID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BusinessUnit</a:t>
            </a:r>
            <a:endParaRPr lang="en-US" dirty="0">
              <a:latin typeface="+mn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EFBB44-8FB8-07B7-936B-6EB73E586B4D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flipH="1">
            <a:off x="4347634" y="3078685"/>
            <a:ext cx="148561" cy="350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162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DFB-8583-1DBF-C0FB-8331993F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2B1B8B3-1A06-E22B-C8EA-A23D98DF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81"/>
          <a:stretch>
            <a:fillRect/>
          </a:stretch>
        </p:blipFill>
        <p:spPr>
          <a:xfrm>
            <a:off x="5465811" y="1625601"/>
            <a:ext cx="5839640" cy="50703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83CDEF-D4F7-146F-AF93-C8C97376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Tableau Join 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2FED72-C55A-835F-460D-5EA5EE6E3EC6}"/>
              </a:ext>
            </a:extLst>
          </p:cNvPr>
          <p:cNvSpPr/>
          <p:nvPr/>
        </p:nvSpPr>
        <p:spPr>
          <a:xfrm>
            <a:off x="8061518" y="1854200"/>
            <a:ext cx="804333" cy="2370667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14635-9136-FF29-EBE5-CF36ED6E3ABB}"/>
              </a:ext>
            </a:extLst>
          </p:cNvPr>
          <p:cNvSpPr txBox="1"/>
          <p:nvPr/>
        </p:nvSpPr>
        <p:spPr>
          <a:xfrm>
            <a:off x="1180856" y="2180755"/>
            <a:ext cx="421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Change to left join, </a:t>
            </a:r>
          </a:p>
          <a:p>
            <a:r>
              <a:rPr lang="en-US" dirty="0">
                <a:latin typeface="+mn-lt"/>
              </a:rPr>
              <a:t>confirm that 641 rows exists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461316-70E6-D806-544D-7391385F8EF4}"/>
              </a:ext>
            </a:extLst>
          </p:cNvPr>
          <p:cNvCxnSpPr>
            <a:cxnSpLocks/>
          </p:cNvCxnSpPr>
          <p:nvPr/>
        </p:nvCxnSpPr>
        <p:spPr>
          <a:xfrm>
            <a:off x="3166533" y="2370667"/>
            <a:ext cx="4894985" cy="990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851037-FC8F-1833-25A7-0C71726C051C}"/>
              </a:ext>
            </a:extLst>
          </p:cNvPr>
          <p:cNvCxnSpPr>
            <a:stCxn id="7" idx="2"/>
          </p:cNvCxnSpPr>
          <p:nvPr/>
        </p:nvCxnSpPr>
        <p:spPr>
          <a:xfrm>
            <a:off x="3288662" y="2827086"/>
            <a:ext cx="4772856" cy="356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0401B8-99CF-31D9-692B-3D04A840788C}"/>
              </a:ext>
            </a:extLst>
          </p:cNvPr>
          <p:cNvSpPr txBox="1"/>
          <p:nvPr/>
        </p:nvSpPr>
        <p:spPr>
          <a:xfrm>
            <a:off x="1286934" y="3928533"/>
            <a:ext cx="3115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**Thi</a:t>
            </a:r>
            <a:r>
              <a:rPr lang="en-US" dirty="0"/>
              <a:t>s occurs when we left join to the </a:t>
            </a:r>
            <a:r>
              <a:rPr lang="en-US" dirty="0" err="1"/>
              <a:t>ChartofAccounts</a:t>
            </a:r>
            <a:r>
              <a:rPr lang="en-US" dirty="0"/>
              <a:t> tab, implying that 2 </a:t>
            </a:r>
            <a:r>
              <a:rPr lang="en-US" dirty="0" err="1"/>
              <a:t>JELineItems</a:t>
            </a:r>
            <a:r>
              <a:rPr lang="en-US" dirty="0"/>
              <a:t> have a </a:t>
            </a:r>
            <a:r>
              <a:rPr lang="en-US" dirty="0" err="1"/>
              <a:t>GLAccountNumber</a:t>
            </a:r>
            <a:r>
              <a:rPr lang="en-US" dirty="0"/>
              <a:t> not in the summary </a:t>
            </a:r>
            <a:r>
              <a:rPr lang="en-US" dirty="0" err="1"/>
              <a:t>ChartOfAccounts</a:t>
            </a:r>
            <a:r>
              <a:rPr lang="en-US" dirty="0"/>
              <a:t> dataset.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8514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E12F-009D-E9B3-CDEF-C80096F9A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109B-7982-D1BB-2D41-B10C24AE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Tableau Join 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D0A94-2545-FA87-15F7-C90A59B07531}"/>
              </a:ext>
            </a:extLst>
          </p:cNvPr>
          <p:cNvSpPr/>
          <p:nvPr/>
        </p:nvSpPr>
        <p:spPr>
          <a:xfrm>
            <a:off x="8061518" y="1854200"/>
            <a:ext cx="804333" cy="2370667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FB6EA-5D38-E860-178A-4EF009E3024B}"/>
              </a:ext>
            </a:extLst>
          </p:cNvPr>
          <p:cNvSpPr txBox="1"/>
          <p:nvPr/>
        </p:nvSpPr>
        <p:spPr>
          <a:xfrm>
            <a:off x="1180856" y="2180755"/>
            <a:ext cx="421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Change to left join, </a:t>
            </a:r>
          </a:p>
          <a:p>
            <a:r>
              <a:rPr lang="en-US" dirty="0">
                <a:latin typeface="+mn-lt"/>
              </a:rPr>
              <a:t>confirm that 789 rows exists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CB5A9A-255C-DF8D-5C0C-3C6602240301}"/>
              </a:ext>
            </a:extLst>
          </p:cNvPr>
          <p:cNvCxnSpPr>
            <a:cxnSpLocks/>
          </p:cNvCxnSpPr>
          <p:nvPr/>
        </p:nvCxnSpPr>
        <p:spPr>
          <a:xfrm flipH="1">
            <a:off x="7967133" y="2901360"/>
            <a:ext cx="1202267" cy="3050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AEF86C-4864-0E31-AF1E-D2A8264BA7A5}"/>
              </a:ext>
            </a:extLst>
          </p:cNvPr>
          <p:cNvSpPr txBox="1"/>
          <p:nvPr/>
        </p:nvSpPr>
        <p:spPr>
          <a:xfrm>
            <a:off x="7556651" y="2255029"/>
            <a:ext cx="4121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Edit the Preparer Info Join to join on both </a:t>
            </a:r>
          </a:p>
          <a:p>
            <a:r>
              <a:rPr lang="en-US" dirty="0" err="1">
                <a:latin typeface="+mn-lt"/>
              </a:rPr>
              <a:t>preparerID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BusinessUnit</a:t>
            </a:r>
            <a:endParaRPr lang="en-US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B3938-6B05-E9F2-7207-F90108A01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80"/>
          <a:stretch>
            <a:fillRect/>
          </a:stretch>
        </p:blipFill>
        <p:spPr>
          <a:xfrm>
            <a:off x="5593703" y="1713516"/>
            <a:ext cx="5887098" cy="516542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663159-3DE5-C6BF-ED0C-303AEA315927}"/>
              </a:ext>
            </a:extLst>
          </p:cNvPr>
          <p:cNvCxnSpPr>
            <a:cxnSpLocks/>
          </p:cNvCxnSpPr>
          <p:nvPr/>
        </p:nvCxnSpPr>
        <p:spPr>
          <a:xfrm>
            <a:off x="3166533" y="2370667"/>
            <a:ext cx="4773161" cy="596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68918D-2D47-3046-17C9-B429B52FA10E}"/>
              </a:ext>
            </a:extLst>
          </p:cNvPr>
          <p:cNvCxnSpPr>
            <a:stCxn id="7" idx="2"/>
          </p:cNvCxnSpPr>
          <p:nvPr/>
        </p:nvCxnSpPr>
        <p:spPr>
          <a:xfrm>
            <a:off x="3288662" y="2827086"/>
            <a:ext cx="4772856" cy="356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BF2E8E5-3DAA-97A7-6A57-C25B826E109A}"/>
              </a:ext>
            </a:extLst>
          </p:cNvPr>
          <p:cNvSpPr txBox="1"/>
          <p:nvPr/>
        </p:nvSpPr>
        <p:spPr>
          <a:xfrm>
            <a:off x="1286934" y="3928533"/>
            <a:ext cx="31157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**Thi</a:t>
            </a:r>
            <a:r>
              <a:rPr lang="en-US" dirty="0"/>
              <a:t>s occurs when we left join to the </a:t>
            </a:r>
            <a:r>
              <a:rPr lang="en-US" dirty="0" err="1"/>
              <a:t>PreprerInfo</a:t>
            </a:r>
            <a:r>
              <a:rPr lang="en-US" dirty="0"/>
              <a:t> tab, implying that 148 </a:t>
            </a:r>
            <a:r>
              <a:rPr lang="en-US" dirty="0" err="1"/>
              <a:t>JELineItems</a:t>
            </a:r>
            <a:r>
              <a:rPr lang="en-US" dirty="0"/>
              <a:t> have a </a:t>
            </a:r>
            <a:r>
              <a:rPr lang="en-US" dirty="0" err="1"/>
              <a:t>preparerID</a:t>
            </a:r>
            <a:r>
              <a:rPr lang="en-US" dirty="0"/>
              <a:t> not in the summary </a:t>
            </a:r>
            <a:r>
              <a:rPr lang="en-US" dirty="0" err="1"/>
              <a:t>PreparerInfo</a:t>
            </a:r>
            <a:r>
              <a:rPr lang="en-US" dirty="0"/>
              <a:t> dataset.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9261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8385720-D5DB-1366-72D2-C37B08D0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63890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BDC0E4-4899-DCE8-2C60-4BD5FCE5DE6D}"/>
              </a:ext>
            </a:extLst>
          </p:cNvPr>
          <p:cNvCxnSpPr>
            <a:cxnSpLocks/>
          </p:cNvCxnSpPr>
          <p:nvPr/>
        </p:nvCxnSpPr>
        <p:spPr>
          <a:xfrm flipH="1" flipV="1">
            <a:off x="4182533" y="880533"/>
            <a:ext cx="5038379" cy="10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11B2586-BF0B-FE05-C425-98B045835C6D}"/>
              </a:ext>
            </a:extLst>
          </p:cNvPr>
          <p:cNvSpPr txBox="1"/>
          <p:nvPr/>
        </p:nvSpPr>
        <p:spPr>
          <a:xfrm>
            <a:off x="7526867" y="965200"/>
            <a:ext cx="45257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Filtering the data we find 148 rows with </a:t>
            </a:r>
            <a:r>
              <a:rPr lang="en-US" dirty="0" err="1">
                <a:latin typeface="+mn-lt"/>
              </a:rPr>
              <a:t>businessUnit-PreparerID</a:t>
            </a:r>
            <a:r>
              <a:rPr lang="en-US" dirty="0">
                <a:latin typeface="+mn-lt"/>
              </a:rPr>
              <a:t> pairs that are not in the </a:t>
            </a:r>
            <a:r>
              <a:rPr lang="en-US" dirty="0" err="1">
                <a:latin typeface="+mn-lt"/>
              </a:rPr>
              <a:t>PreparerInfo</a:t>
            </a:r>
            <a:r>
              <a:rPr lang="en-US" dirty="0">
                <a:latin typeface="+mn-lt"/>
              </a:rPr>
              <a:t> dataset (and so we do not know the preparer name, which is “Null”).</a:t>
            </a:r>
          </a:p>
          <a:p>
            <a:endParaRPr lang="en-US" dirty="0"/>
          </a:p>
          <a:p>
            <a:r>
              <a:rPr lang="en-US" dirty="0">
                <a:latin typeface="+mn-lt"/>
              </a:rPr>
              <a:t>And 2 with missing </a:t>
            </a:r>
            <a:r>
              <a:rPr lang="en-US" dirty="0" err="1">
                <a:latin typeface="+mn-lt"/>
              </a:rPr>
              <a:t>GLNumbers</a:t>
            </a:r>
            <a:r>
              <a:rPr lang="en-US" dirty="0">
                <a:latin typeface="+mn-lt"/>
              </a:rPr>
              <a:t>/Names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8029F7-A8C4-63DE-52EA-E80477D2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10"/>
          <a:stretch>
            <a:fillRect/>
          </a:stretch>
        </p:blipFill>
        <p:spPr>
          <a:xfrm>
            <a:off x="4867234" y="4362102"/>
            <a:ext cx="7257033" cy="249589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7768F2-CFFF-FE7D-2E3A-65D1BF305C25}"/>
              </a:ext>
            </a:extLst>
          </p:cNvPr>
          <p:cNvCxnSpPr/>
          <p:nvPr/>
        </p:nvCxnSpPr>
        <p:spPr>
          <a:xfrm flipH="1">
            <a:off x="8026400" y="2810933"/>
            <a:ext cx="1735667" cy="2607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77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2C63-A1DB-5A95-C849-05D7689FC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Tableau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6808-11D1-C910-EBE7-F7DF36373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3" y="2061289"/>
            <a:ext cx="3566368" cy="2862322"/>
          </a:xfrm>
        </p:spPr>
        <p:txBody>
          <a:bodyPr/>
          <a:lstStyle/>
          <a:p>
            <a:r>
              <a:rPr lang="en-US" dirty="0"/>
              <a:t>Add the Source dataset and the </a:t>
            </a:r>
            <a:r>
              <a:rPr lang="en-US" b="1" dirty="0"/>
              <a:t>data relationship </a:t>
            </a:r>
            <a:r>
              <a:rPr lang="en-US" dirty="0"/>
              <a:t>is complete.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800E1-2F78-4142-09A8-DF5EDF57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99" y="1852275"/>
            <a:ext cx="7706801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27205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8204</TotalTime>
  <Words>1164</Words>
  <Application>Microsoft Office PowerPoint</Application>
  <DocSecurity>0</DocSecurity>
  <PresentationFormat>Widescreen</PresentationFormat>
  <Paragraphs>172</Paragraphs>
  <Slides>44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Review: What are we trying to do?</vt:lpstr>
      <vt:lpstr>Agenda</vt:lpstr>
      <vt:lpstr>PowerPoint Presentation</vt:lpstr>
      <vt:lpstr>Joining data</vt:lpstr>
      <vt:lpstr>Joining data</vt:lpstr>
      <vt:lpstr>What can go wrong?</vt:lpstr>
      <vt:lpstr>How do joins work?</vt:lpstr>
      <vt:lpstr>PowerPoint Presentation</vt:lpstr>
      <vt:lpstr>PowerPoint Presentation</vt:lpstr>
      <vt:lpstr>PowerPoint Presentation</vt:lpstr>
      <vt:lpstr>Cardinality</vt:lpstr>
      <vt:lpstr>Why is this fundamentally important?</vt:lpstr>
      <vt:lpstr>Agenda</vt:lpstr>
      <vt:lpstr>PowerPoint Presentation</vt:lpstr>
      <vt:lpstr>Joining Data Exercise (in PowerBI) </vt:lpstr>
      <vt:lpstr>PowerPoint Presentation</vt:lpstr>
      <vt:lpstr>Appendix</vt:lpstr>
      <vt:lpstr>PowerBI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PowerBI Completed</vt:lpstr>
      <vt:lpstr>Tableau Join Version Tips</vt:lpstr>
      <vt:lpstr>Tableau Join Version</vt:lpstr>
      <vt:lpstr>Tableau Join Version</vt:lpstr>
      <vt:lpstr>PowerPoint Presentation</vt:lpstr>
      <vt:lpstr>Tableau Completed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5</cp:revision>
  <dcterms:created xsi:type="dcterms:W3CDTF">2026-09-29T01:46:38Z</dcterms:created>
  <dcterms:modified xsi:type="dcterms:W3CDTF">2026-10-07T20:04:49Z</dcterms:modified>
</cp:coreProperties>
</file>