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2"/>
  </p:notesMasterIdLst>
  <p:sldIdLst>
    <p:sldId id="256" r:id="rId2"/>
    <p:sldId id="300" r:id="rId3"/>
    <p:sldId id="333" r:id="rId4"/>
    <p:sldId id="1114" r:id="rId5"/>
    <p:sldId id="723" r:id="rId6"/>
    <p:sldId id="304" r:id="rId7"/>
    <p:sldId id="305" r:id="rId8"/>
    <p:sldId id="306" r:id="rId9"/>
    <p:sldId id="294" r:id="rId10"/>
    <p:sldId id="308" r:id="rId11"/>
    <p:sldId id="265" r:id="rId12"/>
    <p:sldId id="301" r:id="rId13"/>
    <p:sldId id="309" r:id="rId14"/>
    <p:sldId id="310" r:id="rId15"/>
    <p:sldId id="277" r:id="rId16"/>
    <p:sldId id="302" r:id="rId17"/>
    <p:sldId id="258" r:id="rId18"/>
    <p:sldId id="311" r:id="rId19"/>
    <p:sldId id="312" r:id="rId20"/>
    <p:sldId id="313" r:id="rId21"/>
    <p:sldId id="314" r:id="rId22"/>
    <p:sldId id="315" r:id="rId23"/>
    <p:sldId id="299" r:id="rId24"/>
    <p:sldId id="298" r:id="rId25"/>
    <p:sldId id="316" r:id="rId26"/>
    <p:sldId id="322" r:id="rId27"/>
    <p:sldId id="323" r:id="rId28"/>
    <p:sldId id="324" r:id="rId29"/>
    <p:sldId id="325" r:id="rId30"/>
    <p:sldId id="326" r:id="rId31"/>
    <p:sldId id="327" r:id="rId32"/>
    <p:sldId id="329" r:id="rId33"/>
    <p:sldId id="330" r:id="rId34"/>
    <p:sldId id="331" r:id="rId35"/>
    <p:sldId id="328" r:id="rId36"/>
    <p:sldId id="332" r:id="rId37"/>
    <p:sldId id="303" r:id="rId38"/>
    <p:sldId id="273" r:id="rId39"/>
    <p:sldId id="274" r:id="rId40"/>
    <p:sldId id="278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158" autoAdjust="0"/>
  </p:normalViewPr>
  <p:slideViewPr>
    <p:cSldViewPr snapToGrid="0">
      <p:cViewPr varScale="1">
        <p:scale>
          <a:sx n="135" d="100"/>
          <a:sy n="135" d="100"/>
        </p:scale>
        <p:origin x="348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479713-0D50-44A6-B1F4-4082749E615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1207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8F18F-2AF7-8CBB-6C7B-13A95DD6A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1C7910-023C-E0E3-49A1-4D0680D269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165766-E0F3-1079-455B-4EC77449B4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0FF118-1954-8D3D-CBEB-E4CD150FF34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9048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490630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9194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2826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47033-C520-DB01-007F-CA283ED49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197794-8EB7-E7D6-9FC3-D98CCC0A1F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86FDB2-FBDC-1057-4658-17424DD514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7EBFE-14B1-AEF4-10F3-22C82069DC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8981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E1F9F-8525-CED6-414A-95B4B9A98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DAAE25-75E7-8941-DD72-4356759755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A678CD-2339-7FD3-0FC1-D259E79E2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CD93C1-7C31-57A9-D9D3-F609B89C98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911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70053-1ED8-5ACD-70F6-CF38F426C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3308B4-7C17-07C4-8DFE-2B22FA34C3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9B532-F5F3-0856-8833-B4CA0B724B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DC1D1-C053-2DD6-B8EB-FA9412BB52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1499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01038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alkin slide">
    <p:bg>
      <p:bgPr>
        <a:blipFill rotWithShape="1">
          <a:blip r:embed="rId2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9CFC0D3D-31F1-39A9-7186-66397F2588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4D2F92D-2232-B825-2B2D-AC671306A0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7" name="Picture 3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Walkin slid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3EDC79F-91AA-B3FB-6403-6121F91C5FC6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-7969" y="163926"/>
            <a:ext cx="12192000" cy="532262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CLICK ICON TO ADD PICTURE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CFC0D3D-31F1-39A9-7186-66397F2588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1" y="2895781"/>
            <a:ext cx="4609352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4D2F92D-2232-B825-2B2D-AC671306A0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11" name="Picture 4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C840783-3AB7-4D7E-82CD-FC31657F7CD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accent2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A38FA88-52D3-47C2-90DE-627C0B1361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11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ta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37DFD003-31A4-8340-0A89-F3F70E0F5A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9672DC9-106D-3DF9-16B9-F24BCF5E50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8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Section header_purpl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40223BA2-E77E-B0A1-9266-0D49F8CF83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bg2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F38BED7-E369-0B67-7D56-7D3F31FC32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8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33D3F72-2015-4C6B-A20F-F5C3095135D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0" y="1744134"/>
            <a:ext cx="7315200" cy="2252796"/>
          </a:xfrm>
        </p:spPr>
        <p:txBody>
          <a:bodyPr/>
          <a:lstStyle>
            <a:lvl1pPr>
              <a:buNone/>
              <a:defRPr sz="1867" b="0" i="0"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1867" b="0" i="0"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1867" b="0" i="0"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1867" b="0" i="0"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1867" b="0" i="0">
                <a:latin typeface="Open Sans Light"/>
                <a:ea typeface="Open Sans Light"/>
                <a:cs typeface="Open Sans Light"/>
              </a:defRPr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41C90-5ECB-21EE-9F34-0F9BBB60AD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4F63E328-8C9C-DE2A-7308-E8BBCD69BEF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6316276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B2E75EFE-336F-8122-928E-E0E85EA4EA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927" y="641802"/>
            <a:ext cx="6316276" cy="584775"/>
          </a:xfrm>
        </p:spPr>
        <p:txBody>
          <a:bodyPr/>
          <a:lstStyle/>
          <a:p>
            <a:r>
              <a:t>CLICK TO EDIT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0C6CCC-8AA2-B4C9-2718-27DD013B166E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7437968" y="0"/>
            <a:ext cx="4754033" cy="532262"/>
          </a:xfrm>
        </p:spPr>
        <p:txBody>
          <a:bodyPr/>
          <a:lstStyle/>
          <a:p>
            <a:r>
              <a:t>Click icon to add picture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4F63E328-8C9C-DE2A-7308-E8BBCD69BEF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0" y="1744134"/>
            <a:ext cx="6592901" cy="2252796"/>
          </a:xfrm>
        </p:spPr>
        <p:txBody>
          <a:bodyPr/>
          <a:lstStyle>
            <a:lvl1pPr>
              <a:buNone/>
              <a:defRPr sz="1867" b="1">
                <a:solidFill>
                  <a:schemeClr val="tx1"/>
                </a:solidFill>
              </a:defRPr>
            </a:lvl1pPr>
            <a:lvl2pPr>
              <a:buNone/>
              <a:defRPr sz="1867">
                <a:solidFill>
                  <a:schemeClr val="tx1"/>
                </a:solidFill>
              </a:defRPr>
            </a:lvl2pPr>
            <a:lvl3pPr>
              <a:buNone/>
              <a:defRPr sz="1867">
                <a:solidFill>
                  <a:schemeClr val="tx1"/>
                </a:solidFill>
              </a:defRPr>
            </a:lvl3pPr>
            <a:lvl4pPr>
              <a:buNone/>
              <a:defRPr sz="1867">
                <a:solidFill>
                  <a:schemeClr val="tx1"/>
                </a:solidFill>
              </a:defRPr>
            </a:lvl4pPr>
            <a:lvl5pPr>
              <a:buNone/>
              <a:defRPr sz="1867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EDEE5A-694C-C4D4-2519-94E57145AE4D}"/>
              </a:ext>
            </a:extLst>
          </p:cNvPr>
          <p:cNvSpPr>
            <a:spLocks noGrp="1"/>
          </p:cNvSpPr>
          <p:nvPr/>
        </p:nvSpPr>
        <p:spPr>
          <a:xfrm>
            <a:off x="8342490" y="0"/>
            <a:ext cx="3849511" cy="6858000"/>
          </a:xfrm>
          <a:prstGeom prst="rect">
            <a:avLst/>
          </a:prstGeom>
          <a:blipFill rotWithShape="1">
            <a:blip r:embed="rId2"/>
            <a:srcRect/>
            <a:stretch>
              <a:fillRect l="-102790" r="-64464"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7514D8-5214-F82C-BCBF-B5E202DCD6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927" y="641802"/>
            <a:ext cx="6576575" cy="584775"/>
          </a:xfrm>
        </p:spPr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D5776-2479-4379-A703-2C22D497D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196A19D-20D7-4BE0-91CF-70BE1A51836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8928" y="2455592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9F63A1E-80AC-873A-7B08-C7265BB5967D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48928" y="3451618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69324E9C-60EB-28A4-B685-42B2774AEFAF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48928" y="4013459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D8CB4E0-D660-D5F2-909F-028F7EFFCD95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270794" y="2455592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D09874F-B2CF-BD5A-EE3E-7444C4E16C8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70794" y="4013459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C492763-7F70-C5FA-0820-3577947AC99F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48928" y="1884075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DDAFFA5-C05C-EA69-DBA3-676A18E8CEF7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6263396" y="3451618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FEE20B9-CD1F-8C9B-BEA0-B9D319CCC2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63396" y="1884075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79EC0-41F0-4247-9C45-69A7F8DF62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9E53213-570B-4A18-BD1C-150302F61DED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312126" y="1744133"/>
            <a:ext cx="5300133" cy="533480"/>
          </a:xfrm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406E4740-29FB-D70A-8FD0-D37379CFCD0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5270276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327B15-003C-B57F-47CD-422B701435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CC5F2F5B-6F0D-D207-EBEE-C1FD4E77DD2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88974" y="5822909"/>
            <a:ext cx="1220513" cy="646331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buNone/>
              <a:defRPr sz="1200"/>
            </a:lvl1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5B892A-4F81-3DE8-DAB9-C9ACD1E4B2D0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370667" y="0"/>
            <a:ext cx="9821333" cy="532262"/>
          </a:xfrm>
        </p:spPr>
        <p:txBody>
          <a:bodyPr/>
          <a:lstStyle/>
          <a:p>
            <a:r>
              <a:t>Click icon to add picture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&amp;A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1EFCB-4C82-A339-B669-A9027A837A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EEF7E41-47AD-7303-E02A-CD4A30B4D13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5590903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Q&amp;A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1EFCB-4C82-A339-B669-A9027A837A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EEF7E41-47AD-7303-E02A-CD4A30B4D13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5167087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&amp;A Go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2A43680B-0C4E-035C-8289-47EE40A3E9E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86595" y="1966666"/>
            <a:ext cx="9414933" cy="1990288"/>
          </a:xfrm>
        </p:spPr>
        <p:txBody>
          <a:bodyPr/>
          <a:lstStyle>
            <a:lvl1pPr marL="0" marR="0" indent="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None/>
              <a:defRPr sz="2400">
                <a:solidFill>
                  <a:schemeClr val="tx1"/>
                </a:solidFill>
              </a:defRPr>
            </a:lvl1pPr>
          </a:lstStyle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r>
              <a:t>Optional list of considerations</a:t>
            </a:r>
          </a:p>
          <a:p>
            <a:pPr lvl="0">
              <a:buNone/>
            </a:pPr>
            <a:endParaRPr/>
          </a:p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r>
              <a:t>Optional list of considerations</a:t>
            </a:r>
          </a:p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endParaRPr/>
          </a:p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r>
              <a:t>Optional list of considerations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F6B5C0D-562C-B668-B0FD-B003E2FB72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_purpl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hank You_ta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5BA17-DAF9-681D-B819-7BDD9530A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10759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44413B94-6844-4A70-89C7-90215F307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r>
              <a:t>CLICK TO EDIT HEADER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849ED6-60C4-4512-8605-1E9E2FBFD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927" y="1529769"/>
            <a:ext cx="10894141" cy="2375522"/>
          </a:xfrm>
          <a:prstGeom prst="rect">
            <a:avLst/>
          </a:prstGeom>
        </p:spPr>
        <p:txBody>
          <a:bodyPr vert="horz" wrap="square" lIns="137160" tIns="45720" rIns="91440" bIns="45720">
            <a:spAutoFit/>
          </a:bodyPr>
          <a:lstStyle/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DCE893-6A75-F770-3EBA-345A9472F0A7}"/>
              </a:ext>
            </a:extLst>
          </p:cNvPr>
          <p:cNvSpPr>
            <a:spLocks noGrp="1"/>
          </p:cNvSpPr>
          <p:nvPr/>
        </p:nvSpPr>
        <p:spPr>
          <a:xfrm>
            <a:off x="381193" y="6409578"/>
            <a:ext cx="4274987" cy="23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33" b="0" i="0" spc="27">
                <a:solidFill>
                  <a:schemeClr val="tx1">
                    <a:lumMod val="65000"/>
                    <a:lumOff val="35000"/>
                  </a:schemeClr>
                </a:solidFill>
                <a:latin typeface="Uni Sans Book"/>
                <a:ea typeface="Uni Sans Book"/>
                <a:cs typeface="Uni Sans Book"/>
              </a:rPr>
              <a:t> FOSTER SCHOOL OF BUSINESS, UNIVERSITY OF WASHINGTON</a:t>
            </a:r>
            <a:endParaRPr sz="2133" b="0" spc="27" baseline="0">
              <a:solidFill>
                <a:schemeClr val="tx1">
                  <a:lumMod val="65000"/>
                  <a:lumOff val="35000"/>
                </a:schemeClr>
              </a:solidFill>
              <a:latin typeface="Uni Sans Book"/>
              <a:ea typeface="Uni Sans Book"/>
              <a:cs typeface="Uni Sans Book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B5DED1-6392-63AA-0761-1325CD3A98B5}"/>
              </a:ext>
            </a:extLst>
          </p:cNvPr>
          <p:cNvSpPr>
            <a:spLocks noGrp="1"/>
          </p:cNvSpPr>
          <p:nvPr/>
        </p:nvSpPr>
        <p:spPr>
          <a:xfrm>
            <a:off x="8243235" y="6409577"/>
            <a:ext cx="3427347" cy="23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933" b="0" i="0">
                <a:solidFill>
                  <a:schemeClr val="tx1">
                    <a:lumMod val="65000"/>
                    <a:lumOff val="35000"/>
                  </a:schemeClr>
                </a:solidFill>
                <a:latin typeface="Encode Sans Normal Medium"/>
                <a:ea typeface="Encode Sans Normal Medium"/>
                <a:cs typeface="Encode Sans Normal Medium"/>
              </a:rPr>
              <a:t>foster.uw.edu</a:t>
            </a:r>
            <a:endParaRPr sz="2133" b="0" i="0">
              <a:solidFill>
                <a:schemeClr val="tx1">
                  <a:lumMod val="65000"/>
                  <a:lumOff val="35000"/>
                </a:schemeClr>
              </a:solidFill>
              <a:latin typeface="Encode Sans Normal Medium"/>
              <a:ea typeface="Encode Sans Normal Medium"/>
              <a:cs typeface="Encode Sans Normal Medium"/>
            </a:endParaRP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B19E5F83-CC4C-4422-956B-0374695BFA28}"/>
              </a:ext>
            </a:extLst>
          </p:cNvPr>
          <p:cNvSpPr>
            <a:spLocks noGrp="1"/>
          </p:cNvSpPr>
          <p:nvPr/>
        </p:nvSpPr>
        <p:spPr>
          <a:xfrm>
            <a:off x="522515" y="6316617"/>
            <a:ext cx="11043559" cy="0"/>
          </a:xfrm>
          <a:prstGeom prst="line">
            <a:avLst/>
          </a:prstGeom>
          <a:ln>
            <a:solidFill>
              <a:srgbClr val="C09F29">
                <a:alpha val="34419"/>
              </a:srgb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729" r:id="rId19"/>
  </p:sldLayoutIdLst>
  <p:txStyles>
    <p:titleStyle>
      <a:lvl1pPr algn="l" defTabSz="609585">
        <a:spcBef>
          <a:spcPct val="0"/>
        </a:spcBef>
        <a:spcAft>
          <a:spcPct val="0"/>
        </a:spcAft>
        <a:buNone/>
        <a:defRPr sz="3200" b="1" i="0" kern="1200">
          <a:solidFill>
            <a:srgbClr val="32006E"/>
          </a:solidFill>
          <a:latin typeface="Encode Sans Normal ExtraBold"/>
          <a:ea typeface="Encode Sans Normal ExtraBold"/>
          <a:cs typeface="Encode Sans Normal ExtraBold"/>
        </a:defRPr>
      </a:lvl1pPr>
      <a:lvl2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2pPr>
      <a:lvl3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3pPr>
      <a:lvl4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4pPr>
      <a:lvl5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5pPr>
      <a:lvl6pPr marL="609585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6pPr>
      <a:lvl7pPr marL="1219170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7pPr>
      <a:lvl8pPr marL="1828754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8pPr>
      <a:lvl9pPr marL="2438339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9pPr>
    </p:titleStyle>
    <p:bodyStyle>
      <a:lvl1pPr marL="0" indent="0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None/>
        <a:defRPr sz="2133" kern="1200">
          <a:solidFill>
            <a:schemeClr val="tx1"/>
          </a:solidFill>
          <a:latin typeface="Open Sans Light"/>
          <a:ea typeface="Open Sans Light"/>
          <a:cs typeface="Open Sans Light"/>
        </a:defRPr>
      </a:lvl1pPr>
      <a:lvl2pPr marL="687900" indent="-232828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2133" kern="1200">
          <a:solidFill>
            <a:schemeClr val="tx1"/>
          </a:solidFill>
          <a:latin typeface="Open Sans Light"/>
          <a:ea typeface="Open Sans Light"/>
          <a:cs typeface="Open Sans Light"/>
        </a:defRPr>
      </a:lvl2pPr>
      <a:lvl3pPr marL="914377" indent="-226478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1867" kern="1200">
          <a:solidFill>
            <a:schemeClr val="tx1"/>
          </a:solidFill>
          <a:latin typeface="Open Sans Light"/>
          <a:ea typeface="Open Sans Light"/>
          <a:cs typeface="Open Sans Light"/>
        </a:defRPr>
      </a:lvl3pPr>
      <a:lvl4pPr marL="1140855" indent="-226478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1867" kern="1200">
          <a:solidFill>
            <a:schemeClr val="tx1"/>
          </a:solidFill>
          <a:latin typeface="Open Sans Light"/>
          <a:ea typeface="Open Sans Light"/>
          <a:cs typeface="Open Sans Light"/>
        </a:defRPr>
      </a:lvl4pPr>
      <a:lvl5pPr marL="1375799" indent="-234945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1867" kern="1200">
          <a:solidFill>
            <a:schemeClr val="tx1"/>
          </a:solidFill>
          <a:latin typeface="Open Sans Light"/>
          <a:ea typeface="Open Sans Light"/>
          <a:cs typeface="Open Sans Light"/>
        </a:defRPr>
      </a:lvl5pPr>
      <a:lvl6pPr marL="3352716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6pPr>
      <a:lvl7pPr marL="3962301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7pPr>
      <a:lvl8pPr marL="4571886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8pPr>
      <a:lvl9pPr marL="5181470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609585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219170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828754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4pPr>
      <a:lvl5pPr marL="2438339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5pPr>
      <a:lvl6pPr marL="3047924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6pPr>
      <a:lvl7pPr marL="3657509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7pPr>
      <a:lvl8pPr marL="4267093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8pPr>
      <a:lvl9pPr marL="4876678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  <p15:guide id="3" pos="288">
          <p15:clr>
            <a:srgbClr val="F26B43"/>
          </p15:clr>
        </p15:guide>
        <p15:guide id="4" orient="horz" pos="279">
          <p15:clr>
            <a:srgbClr val="F26B43"/>
          </p15:clr>
        </p15:guide>
        <p15:guide id="5" orient="horz" pos="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eg"/><Relationship Id="rId7" Type="http://schemas.openxmlformats.org/officeDocument/2006/relationships/image" Target="../media/image9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jpeg"/><Relationship Id="rId10" Type="http://schemas.openxmlformats.org/officeDocument/2006/relationships/image" Target="../media/image12.jpg"/><Relationship Id="rId4" Type="http://schemas.openxmlformats.org/officeDocument/2006/relationships/image" Target="../media/image6.jpe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shercurtis.me/courses/acctg522/syllabus/" TargetMode="Externa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shercurtis.me/teaching/mpacc/common-project/" TargetMode="Externa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www.reuters.com/business/aerospace-defense/alaska-air-bets-premium-travel-earnings-boost-fuel-costs-bite-2026-09-29/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fprod-hcs.foster.uw.edu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171E04-8C84-4649-B7E3-F266075EC7BB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1057275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lang="en-US" sz="40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Introduction to the Analytical Mindset</a:t>
            </a:r>
            <a:endParaRPr sz="3600" b="1" dirty="0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B64F9C-E20B-4CE2-B941-28E4B429B518}"/>
              </a:ext>
            </a:extLst>
          </p:cNvPr>
          <p:cNvSpPr>
            <a:spLocks noGrp="1"/>
          </p:cNvSpPr>
          <p:nvPr/>
        </p:nvSpPr>
        <p:spPr>
          <a:xfrm>
            <a:off x="609600" y="3679307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lang="en-US" sz="24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ACCTG 522</a:t>
            </a:r>
          </a:p>
          <a:p>
            <a:pPr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lang="en-US" sz="24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Data Analytics for Professional Accountants</a:t>
            </a:r>
            <a:endParaRPr sz="2400" b="1" dirty="0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E99166-AAF5-498F-B46D-82D42CECC71B}"/>
              </a:ext>
            </a:extLst>
          </p:cNvPr>
          <p:cNvSpPr>
            <a:spLocks noGrp="1"/>
          </p:cNvSpPr>
          <p:nvPr/>
        </p:nvSpPr>
        <p:spPr>
          <a:xfrm>
            <a:off x="609600" y="4757183"/>
            <a:ext cx="10001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B7A579"/>
                </a:solidFill>
                <a:latin typeface="Segoe UI"/>
                <a:ea typeface="Segoe UI"/>
                <a:cs typeface="Segoe UI"/>
              </a:defRPr>
            </a:pPr>
            <a:r>
              <a:rPr lang="en-US" sz="2400" b="1" dirty="0">
                <a:solidFill>
                  <a:srgbClr val="B7A579"/>
                </a:solidFill>
                <a:latin typeface="Segoe UI"/>
                <a:ea typeface="Segoe UI"/>
                <a:cs typeface="Segoe UI"/>
              </a:rPr>
              <a:t>MPAcc Class of 2027</a:t>
            </a:r>
          </a:p>
          <a:p>
            <a:pPr>
              <a:defRPr sz="2400" b="1">
                <a:solidFill>
                  <a:srgbClr val="B7A579"/>
                </a:solidFill>
                <a:latin typeface="Segoe UI"/>
                <a:ea typeface="Segoe UI"/>
                <a:cs typeface="Segoe UI"/>
              </a:defRPr>
            </a:pPr>
            <a:r>
              <a:rPr lang="en-US" sz="2400" b="1" dirty="0">
                <a:solidFill>
                  <a:srgbClr val="B7A579"/>
                </a:solidFill>
                <a:latin typeface="Segoe UI"/>
              </a:rPr>
              <a:t>Class 01 | Autumn | 2026</a:t>
            </a:r>
            <a:endParaRPr sz="2400" b="1" dirty="0">
              <a:solidFill>
                <a:srgbClr val="B7A579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294885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F555D3-14D1-2CA6-3E9F-FDB21F020B9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3140475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Review (Introduction; Gen AI; </a:t>
            </a:r>
            <a:r>
              <a:rPr lang="en-US" b="1" dirty="0" err="1">
                <a:solidFill>
                  <a:schemeClr val="tx2"/>
                </a:solidFill>
              </a:rPr>
              <a:t>PollEverywhere</a:t>
            </a:r>
            <a:r>
              <a:rPr lang="en-US" b="1" dirty="0">
                <a:solidFill>
                  <a:schemeClr val="tx2"/>
                </a:solidFill>
              </a:rPr>
              <a:t>)</a:t>
            </a:r>
          </a:p>
          <a:p>
            <a:pPr marL="457200" indent="-457200">
              <a:buAutoNum type="arabicPeriod"/>
            </a:pPr>
            <a:r>
              <a:rPr lang="en-US" dirty="0"/>
              <a:t>Course Overview &amp; Expectations (Syllabus)</a:t>
            </a:r>
          </a:p>
          <a:p>
            <a:pPr marL="457200" indent="-457200">
              <a:buAutoNum type="arabicPeriod"/>
            </a:pPr>
            <a:r>
              <a:rPr lang="en-US" dirty="0"/>
              <a:t>The Analytical Mindset</a:t>
            </a:r>
          </a:p>
          <a:p>
            <a:pPr marL="1145100" lvl="1" indent="-457200">
              <a:buAutoNum type="arabicPeriod"/>
            </a:pPr>
            <a:r>
              <a:rPr lang="en-US" dirty="0"/>
              <a:t>Definition</a:t>
            </a:r>
          </a:p>
          <a:p>
            <a:pPr marL="1145100" lvl="1" indent="-457200">
              <a:buAutoNum type="arabicPeriod"/>
            </a:pPr>
            <a:r>
              <a:rPr lang="en-US" dirty="0"/>
              <a:t>From data to responsible decisions</a:t>
            </a:r>
          </a:p>
          <a:p>
            <a:pPr marL="1145100" lvl="1" indent="-457200">
              <a:buAutoNum type="arabicPeriod"/>
            </a:pPr>
            <a:r>
              <a:rPr lang="en-US" dirty="0"/>
              <a:t>Exercises (questioning data recursively)</a:t>
            </a:r>
          </a:p>
          <a:p>
            <a:pPr marL="457200" indent="-457200">
              <a:buAutoNum type="arabicPeriod"/>
            </a:pPr>
            <a:r>
              <a:rPr lang="en-US" dirty="0"/>
              <a:t>Foster Remote Labs set-up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57129C-F48B-B91A-202B-99600A6CD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4272180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1832FE-04A2-7107-2902-0DF61104B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Background</a:t>
            </a:r>
          </a:p>
        </p:txBody>
      </p:sp>
      <p:pic>
        <p:nvPicPr>
          <p:cNvPr id="5" name="Picture 2" descr="See the source image">
            <a:extLst>
              <a:ext uri="{FF2B5EF4-FFF2-40B4-BE49-F238E27FC236}">
                <a16:creationId xmlns:a16="http://schemas.microsoft.com/office/drawing/2014/main" id="{FAD4CA4F-BF88-932D-C7FD-5320978FC4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769" y="1285208"/>
            <a:ext cx="4106338" cy="2566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See the source image">
            <a:extLst>
              <a:ext uri="{FF2B5EF4-FFF2-40B4-BE49-F238E27FC236}">
                <a16:creationId xmlns:a16="http://schemas.microsoft.com/office/drawing/2014/main" id="{6E05C4E1-5656-F949-8C99-9BC22C9B2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9964" y="702390"/>
            <a:ext cx="4006738" cy="247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 descr="See the source image">
            <a:extLst>
              <a:ext uri="{FF2B5EF4-FFF2-40B4-BE49-F238E27FC236}">
                <a16:creationId xmlns:a16="http://schemas.microsoft.com/office/drawing/2014/main" id="{30FBB29E-1D4E-3B48-9664-ED3CF0373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7516" y="3902130"/>
            <a:ext cx="2804896" cy="2103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See the source image">
            <a:extLst>
              <a:ext uri="{FF2B5EF4-FFF2-40B4-BE49-F238E27FC236}">
                <a16:creationId xmlns:a16="http://schemas.microsoft.com/office/drawing/2014/main" id="{DABCC5E4-A535-F9E3-7560-E9713E3D7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352" y="3938299"/>
            <a:ext cx="4660283" cy="2467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21A53FF-3C8F-12E9-E50F-695DFDEC18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7366" y="98534"/>
            <a:ext cx="3359165" cy="1866203"/>
          </a:xfrm>
          <a:prstGeom prst="rect">
            <a:avLst/>
          </a:prstGeom>
        </p:spPr>
      </p:pic>
      <p:pic>
        <p:nvPicPr>
          <p:cNvPr id="16" name="Picture 15" descr="Vegemite Jar Logo">
            <a:extLst>
              <a:ext uri="{FF2B5EF4-FFF2-40B4-BE49-F238E27FC236}">
                <a16:creationId xmlns:a16="http://schemas.microsoft.com/office/drawing/2014/main" id="{5EF61765-FDA4-C673-AC9A-3C6D7A9A34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6702" y="1617793"/>
            <a:ext cx="1618595" cy="1618595"/>
          </a:xfrm>
          <a:prstGeom prst="rect">
            <a:avLst/>
          </a:prstGeom>
        </p:spPr>
      </p:pic>
      <p:pic>
        <p:nvPicPr>
          <p:cNvPr id="17" name="Picture 16" descr="new-UNSW-logo-png-vertical-crest - Engagement Australia">
            <a:extLst>
              <a:ext uri="{FF2B5EF4-FFF2-40B4-BE49-F238E27FC236}">
                <a16:creationId xmlns:a16="http://schemas.microsoft.com/office/drawing/2014/main" id="{F5EAF596-8860-C15F-B672-0EF2F53D5A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85865" y="1996880"/>
            <a:ext cx="1158483" cy="120736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17D6749-E51B-ACA6-0CA4-A47D4C6A1F1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4687" y="98534"/>
            <a:ext cx="1563612" cy="142462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1" name="Picture 20" descr="Poets&amp;Quants | University of Utah's David Eccles School of Business MBA Online">
            <a:extLst>
              <a:ext uri="{FF2B5EF4-FFF2-40B4-BE49-F238E27FC236}">
                <a16:creationId xmlns:a16="http://schemas.microsoft.com/office/drawing/2014/main" id="{F3D8C8C8-5FA4-16B3-E6F6-A03AF9CF450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86912" y="3627395"/>
            <a:ext cx="1652842" cy="1652842"/>
          </a:xfrm>
          <a:prstGeom prst="rect">
            <a:avLst/>
          </a:prstGeom>
        </p:spPr>
      </p:pic>
      <p:pic>
        <p:nvPicPr>
          <p:cNvPr id="22" name="Picture 21" descr="MIT Sloan School of Management - MBAGRADSCHOOLS">
            <a:extLst>
              <a:ext uri="{FF2B5EF4-FFF2-40B4-BE49-F238E27FC236}">
                <a16:creationId xmlns:a16="http://schemas.microsoft.com/office/drawing/2014/main" id="{9DA7F523-7783-24E2-EE49-D897B14D961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0859" y="4066318"/>
            <a:ext cx="2324986" cy="774995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633279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AE6F8871-852F-4C1B-B2E6-B16B920AB99C}"/>
              </a:ext>
            </a:extLst>
          </p:cNvPr>
          <p:cNvSpPr txBox="1">
            <a:spLocks/>
          </p:cNvSpPr>
          <p:nvPr/>
        </p:nvSpPr>
        <p:spPr>
          <a:xfrm>
            <a:off x="406563" y="268800"/>
            <a:ext cx="8470476" cy="11472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000" b="1" kern="1200">
                <a:solidFill>
                  <a:schemeClr val="tx2"/>
                </a:solidFill>
                <a:latin typeface="+mn-lt"/>
                <a:ea typeface="+mj-ea"/>
                <a:cs typeface="Arial" pitchFamily="34" charset="0"/>
              </a:defRPr>
            </a:lvl1pPr>
          </a:lstStyle>
          <a:p>
            <a:pPr defTabSz="1219140">
              <a:defRPr/>
            </a:pPr>
            <a:r>
              <a:rPr lang="en-US" sz="2667" dirty="0">
                <a:solidFill>
                  <a:srgbClr val="361F6D"/>
                </a:solidFill>
                <a:latin typeface="Arial"/>
              </a:rPr>
              <a:t>“</a:t>
            </a:r>
            <a:r>
              <a:rPr lang="en-US" sz="2667" i="1" dirty="0">
                <a:solidFill>
                  <a:srgbClr val="361F6D"/>
                </a:solidFill>
                <a:latin typeface="Arial"/>
              </a:rPr>
              <a:t>The new people to thrive are the adaptive ones</a:t>
            </a:r>
            <a:r>
              <a:rPr lang="en-US" sz="2667" dirty="0">
                <a:solidFill>
                  <a:srgbClr val="361F6D"/>
                </a:solidFill>
                <a:latin typeface="Arial"/>
              </a:rPr>
              <a:t>”</a:t>
            </a:r>
            <a:br>
              <a:rPr lang="en-US" sz="2667" dirty="0">
                <a:solidFill>
                  <a:srgbClr val="361F6D"/>
                </a:solidFill>
                <a:latin typeface="Arial"/>
              </a:rPr>
            </a:br>
            <a:r>
              <a:rPr lang="en-US" sz="2667" dirty="0">
                <a:solidFill>
                  <a:srgbClr val="361F6D"/>
                </a:solidFill>
                <a:latin typeface="Arial"/>
              </a:rPr>
              <a:t>				</a:t>
            </a:r>
            <a:r>
              <a:rPr lang="en-US" sz="1600" dirty="0" err="1">
                <a:solidFill>
                  <a:srgbClr val="361F6D"/>
                </a:solidFill>
                <a:latin typeface="Arial"/>
              </a:rPr>
              <a:t>Lior</a:t>
            </a:r>
            <a:r>
              <a:rPr lang="en-US" sz="1600" dirty="0">
                <a:solidFill>
                  <a:srgbClr val="361F6D"/>
                </a:solidFill>
                <a:latin typeface="Arial"/>
              </a:rPr>
              <a:t> Frenkel, December 2016</a:t>
            </a:r>
            <a:br>
              <a:rPr lang="en-US" sz="2667" dirty="0">
                <a:solidFill>
                  <a:srgbClr val="361F6D"/>
                </a:solidFill>
                <a:latin typeface="Arial"/>
              </a:rPr>
            </a:br>
            <a:r>
              <a:rPr lang="en-US" sz="2667" dirty="0">
                <a:solidFill>
                  <a:srgbClr val="361F6D"/>
                </a:solidFill>
                <a:latin typeface="Arial"/>
              </a:rPr>
              <a:t> </a:t>
            </a:r>
            <a:br>
              <a:rPr lang="en-US" sz="2667" dirty="0">
                <a:solidFill>
                  <a:srgbClr val="361F6D"/>
                </a:solidFill>
                <a:latin typeface="Arial"/>
              </a:rPr>
            </a:br>
            <a:endParaRPr lang="en-US" sz="2667" dirty="0">
              <a:solidFill>
                <a:srgbClr val="361F6D"/>
              </a:solidFill>
              <a:latin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27D25F3-CB33-4612-96C0-A94BBB5BE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684" y="2036255"/>
            <a:ext cx="6512552" cy="4678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1224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B7A0A89-EF9F-4460-AE50-37DD077B4DED}"/>
              </a:ext>
            </a:extLst>
          </p:cNvPr>
          <p:cNvSpPr/>
          <p:nvPr/>
        </p:nvSpPr>
        <p:spPr>
          <a:xfrm>
            <a:off x="7265877" y="1827556"/>
            <a:ext cx="4926123" cy="5030445"/>
          </a:xfrm>
          <a:prstGeom prst="rect">
            <a:avLst/>
          </a:prstGeom>
          <a:solidFill>
            <a:srgbClr val="322668"/>
          </a:solidFill>
          <a:ln w="9525" cap="flat" cmpd="sng" algn="ctr">
            <a:solidFill>
              <a:srgbClr val="808080"/>
            </a:solidFill>
            <a:prstDash val="solid"/>
          </a:ln>
          <a:effectLst/>
        </p:spPr>
        <p:txBody>
          <a:bodyPr rtlCol="0" anchor="t" anchorCtr="0"/>
          <a:lstStyle/>
          <a:p>
            <a:pPr algn="ctr" defTabSz="1219140">
              <a:defRPr/>
            </a:pPr>
            <a:endParaRPr lang="en-US" sz="1600" kern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AE6F8871-852F-4C1B-B2E6-B16B920AB99C}"/>
              </a:ext>
            </a:extLst>
          </p:cNvPr>
          <p:cNvSpPr txBox="1">
            <a:spLocks/>
          </p:cNvSpPr>
          <p:nvPr/>
        </p:nvSpPr>
        <p:spPr>
          <a:xfrm>
            <a:off x="406563" y="268800"/>
            <a:ext cx="8470476" cy="11472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000" b="1" kern="1200">
                <a:solidFill>
                  <a:schemeClr val="tx2"/>
                </a:solidFill>
                <a:latin typeface="+mn-lt"/>
                <a:ea typeface="+mj-ea"/>
                <a:cs typeface="Arial" pitchFamily="34" charset="0"/>
              </a:defRPr>
            </a:lvl1pPr>
          </a:lstStyle>
          <a:p>
            <a:pPr defTabSz="1219140">
              <a:defRPr/>
            </a:pPr>
            <a:r>
              <a:rPr lang="en-US" sz="2667" dirty="0">
                <a:solidFill>
                  <a:srgbClr val="361F6D"/>
                </a:solidFill>
                <a:latin typeface="Arial"/>
              </a:rPr>
              <a:t>“</a:t>
            </a:r>
            <a:r>
              <a:rPr lang="en-US" sz="2667" i="1" dirty="0">
                <a:solidFill>
                  <a:srgbClr val="361F6D"/>
                </a:solidFill>
                <a:latin typeface="Arial"/>
              </a:rPr>
              <a:t>The new people to thrive are the adaptive ones</a:t>
            </a:r>
            <a:r>
              <a:rPr lang="en-US" sz="2667" dirty="0">
                <a:solidFill>
                  <a:srgbClr val="361F6D"/>
                </a:solidFill>
                <a:latin typeface="Arial"/>
              </a:rPr>
              <a:t>”</a:t>
            </a:r>
            <a:br>
              <a:rPr lang="en-US" sz="2667" dirty="0">
                <a:solidFill>
                  <a:srgbClr val="361F6D"/>
                </a:solidFill>
                <a:latin typeface="Arial"/>
              </a:rPr>
            </a:br>
            <a:r>
              <a:rPr lang="en-US" sz="2667" dirty="0">
                <a:solidFill>
                  <a:srgbClr val="361F6D"/>
                </a:solidFill>
                <a:latin typeface="Arial"/>
              </a:rPr>
              <a:t>				</a:t>
            </a:r>
            <a:r>
              <a:rPr lang="en-US" sz="1600" dirty="0" err="1">
                <a:solidFill>
                  <a:srgbClr val="361F6D"/>
                </a:solidFill>
                <a:latin typeface="Arial"/>
              </a:rPr>
              <a:t>Lior</a:t>
            </a:r>
            <a:r>
              <a:rPr lang="en-US" sz="1600" dirty="0">
                <a:solidFill>
                  <a:srgbClr val="361F6D"/>
                </a:solidFill>
                <a:latin typeface="Arial"/>
              </a:rPr>
              <a:t> Frenkel, December 2016</a:t>
            </a:r>
            <a:br>
              <a:rPr lang="en-US" sz="2667" dirty="0">
                <a:solidFill>
                  <a:srgbClr val="361F6D"/>
                </a:solidFill>
                <a:latin typeface="Arial"/>
              </a:rPr>
            </a:br>
            <a:r>
              <a:rPr lang="en-US" sz="2667" dirty="0">
                <a:solidFill>
                  <a:srgbClr val="361F6D"/>
                </a:solidFill>
                <a:latin typeface="Arial"/>
              </a:rPr>
              <a:t> </a:t>
            </a:r>
            <a:br>
              <a:rPr lang="en-US" sz="2667" dirty="0">
                <a:solidFill>
                  <a:srgbClr val="361F6D"/>
                </a:solidFill>
                <a:latin typeface="Arial"/>
              </a:rPr>
            </a:br>
            <a:endParaRPr lang="en-US" sz="2667" dirty="0">
              <a:solidFill>
                <a:srgbClr val="361F6D"/>
              </a:solidFill>
              <a:latin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75473F-844F-4035-A5EB-0BC1E9755E3C}"/>
              </a:ext>
            </a:extLst>
          </p:cNvPr>
          <p:cNvSpPr/>
          <p:nvPr/>
        </p:nvSpPr>
        <p:spPr>
          <a:xfrm>
            <a:off x="7265879" y="1927487"/>
            <a:ext cx="4761023" cy="4964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40">
              <a:defRPr/>
            </a:pPr>
            <a:r>
              <a:rPr lang="en-US" sz="1867" b="1" spc="-32" dirty="0">
                <a:solidFill>
                  <a:srgbClr val="FFFFFF"/>
                </a:solidFill>
                <a:latin typeface="Arial"/>
                <a:cs typeface="EYInterstate Light"/>
              </a:rPr>
              <a:t>Go back just around 20 years and:</a:t>
            </a:r>
          </a:p>
          <a:p>
            <a:pPr defTabSz="1219140">
              <a:defRPr/>
            </a:pPr>
            <a:endParaRPr lang="en-US" sz="2133" b="1" spc="-32" dirty="0">
              <a:solidFill>
                <a:srgbClr val="FFFFFF"/>
              </a:solidFill>
              <a:latin typeface="Arial"/>
              <a:cs typeface="EYInterstate Light"/>
            </a:endParaRPr>
          </a:p>
          <a:p>
            <a:pPr marL="457178" indent="-457178" defTabSz="1219140">
              <a:lnSpc>
                <a:spcPct val="150000"/>
              </a:lnSpc>
              <a:buClr>
                <a:srgbClr val="C00000"/>
              </a:buClr>
              <a:buSzPct val="120000"/>
              <a:buFont typeface="Wingdings" panose="05000000000000000000" pitchFamily="2" charset="2"/>
              <a:buChar char="û"/>
              <a:defRPr/>
            </a:pPr>
            <a:r>
              <a:rPr lang="en-US" sz="1867" b="1" spc="-32" dirty="0">
                <a:solidFill>
                  <a:srgbClr val="FFFFFF"/>
                </a:solidFill>
                <a:latin typeface="Arial"/>
                <a:cs typeface="EYInterstate Light"/>
              </a:rPr>
              <a:t>No smartphones</a:t>
            </a:r>
          </a:p>
          <a:p>
            <a:pPr marL="457178" indent="-457178" defTabSz="1219140">
              <a:lnSpc>
                <a:spcPct val="150000"/>
              </a:lnSpc>
              <a:buClr>
                <a:srgbClr val="C00000"/>
              </a:buClr>
              <a:buSzPct val="120000"/>
              <a:buFont typeface="Wingdings" panose="05000000000000000000" pitchFamily="2" charset="2"/>
              <a:buChar char="û"/>
              <a:defRPr/>
            </a:pPr>
            <a:r>
              <a:rPr lang="en-US" sz="1867" b="1" spc="-32" dirty="0">
                <a:solidFill>
                  <a:srgbClr val="FFFFFF"/>
                </a:solidFill>
                <a:latin typeface="Arial"/>
                <a:cs typeface="EYInterstate Light"/>
              </a:rPr>
              <a:t>No Facebook, YouTube, or Instagram</a:t>
            </a:r>
          </a:p>
          <a:p>
            <a:pPr marL="457178" indent="-457178" defTabSz="1219140">
              <a:lnSpc>
                <a:spcPct val="150000"/>
              </a:lnSpc>
              <a:buClr>
                <a:srgbClr val="C00000"/>
              </a:buClr>
              <a:buSzPct val="120000"/>
              <a:buFont typeface="Wingdings" panose="05000000000000000000" pitchFamily="2" charset="2"/>
              <a:buChar char="û"/>
              <a:defRPr/>
            </a:pPr>
            <a:r>
              <a:rPr lang="en-US" sz="1867" b="1" spc="-32" dirty="0">
                <a:solidFill>
                  <a:srgbClr val="FFFFFF"/>
                </a:solidFill>
                <a:latin typeface="Arial"/>
                <a:cs typeface="EYInterstate Light"/>
              </a:rPr>
              <a:t>No online job boards or LinkedIn</a:t>
            </a:r>
          </a:p>
          <a:p>
            <a:pPr marL="457178" indent="-457178" defTabSz="1219140">
              <a:lnSpc>
                <a:spcPct val="150000"/>
              </a:lnSpc>
              <a:buClr>
                <a:srgbClr val="C00000"/>
              </a:buClr>
              <a:buSzPct val="120000"/>
              <a:buFont typeface="Wingdings" panose="05000000000000000000" pitchFamily="2" charset="2"/>
              <a:buChar char="û"/>
              <a:defRPr/>
            </a:pPr>
            <a:r>
              <a:rPr lang="en-US" sz="1867" b="1" spc="-32" dirty="0">
                <a:solidFill>
                  <a:srgbClr val="FFFFFF"/>
                </a:solidFill>
                <a:latin typeface="Arial"/>
                <a:cs typeface="EYInterstate Light"/>
              </a:rPr>
              <a:t>No Lyft, Uber, or Google Maps</a:t>
            </a:r>
          </a:p>
          <a:p>
            <a:pPr marL="457178" indent="-457178" defTabSz="1219140">
              <a:lnSpc>
                <a:spcPct val="150000"/>
              </a:lnSpc>
              <a:buClr>
                <a:srgbClr val="C00000"/>
              </a:buClr>
              <a:buSzPct val="120000"/>
              <a:buFont typeface="Wingdings" panose="05000000000000000000" pitchFamily="2" charset="2"/>
              <a:buChar char="û"/>
              <a:defRPr/>
            </a:pPr>
            <a:r>
              <a:rPr lang="en-US" sz="1867" b="1" spc="-32" dirty="0">
                <a:solidFill>
                  <a:srgbClr val="FFFFFF"/>
                </a:solidFill>
                <a:latin typeface="Arial"/>
                <a:cs typeface="EYInterstate Light"/>
              </a:rPr>
              <a:t>No WhatsApp or Zoom</a:t>
            </a:r>
          </a:p>
          <a:p>
            <a:pPr marL="457178" indent="-457178" defTabSz="1219140">
              <a:lnSpc>
                <a:spcPct val="150000"/>
              </a:lnSpc>
              <a:buClr>
                <a:srgbClr val="C00000"/>
              </a:buClr>
              <a:buSzPct val="120000"/>
              <a:buFont typeface="Wingdings" panose="05000000000000000000" pitchFamily="2" charset="2"/>
              <a:buChar char="û"/>
              <a:defRPr/>
            </a:pPr>
            <a:r>
              <a:rPr lang="en-US" sz="1867" b="1" spc="-32" dirty="0">
                <a:solidFill>
                  <a:srgbClr val="FFFFFF"/>
                </a:solidFill>
                <a:latin typeface="Arial"/>
                <a:cs typeface="EYInterstate Light"/>
              </a:rPr>
              <a:t>No </a:t>
            </a:r>
            <a:r>
              <a:rPr lang="en-US" sz="1867" b="1" spc="-32" dirty="0" err="1">
                <a:solidFill>
                  <a:srgbClr val="FFFFFF"/>
                </a:solidFill>
                <a:latin typeface="Arial"/>
                <a:cs typeface="EYInterstate Light"/>
              </a:rPr>
              <a:t>AirBnb</a:t>
            </a:r>
            <a:r>
              <a:rPr lang="en-US" sz="1867" b="1" spc="-32" dirty="0">
                <a:solidFill>
                  <a:srgbClr val="FFFFFF"/>
                </a:solidFill>
                <a:latin typeface="Arial"/>
                <a:cs typeface="EYInterstate Light"/>
              </a:rPr>
              <a:t> or Netflix</a:t>
            </a:r>
          </a:p>
          <a:p>
            <a:pPr marL="457178" indent="-457178" defTabSz="1219140">
              <a:lnSpc>
                <a:spcPct val="150000"/>
              </a:lnSpc>
              <a:buClr>
                <a:srgbClr val="C00000"/>
              </a:buClr>
              <a:buSzPct val="120000"/>
              <a:buFont typeface="Wingdings" panose="05000000000000000000" pitchFamily="2" charset="2"/>
              <a:buChar char="û"/>
              <a:defRPr/>
            </a:pPr>
            <a:r>
              <a:rPr lang="en-US" sz="1867" b="1" spc="-32" dirty="0">
                <a:solidFill>
                  <a:srgbClr val="FFFFFF"/>
                </a:solidFill>
                <a:latin typeface="Arial"/>
                <a:cs typeface="EYInterstate Light"/>
              </a:rPr>
              <a:t>No Cloud or IoT</a:t>
            </a:r>
          </a:p>
          <a:p>
            <a:pPr marL="457178" indent="-457178" defTabSz="1219140">
              <a:lnSpc>
                <a:spcPct val="150000"/>
              </a:lnSpc>
              <a:buClr>
                <a:srgbClr val="C00000"/>
              </a:buClr>
              <a:buSzPct val="120000"/>
              <a:buFont typeface="Wingdings" panose="05000000000000000000" pitchFamily="2" charset="2"/>
              <a:buChar char="û"/>
              <a:defRPr/>
            </a:pPr>
            <a:r>
              <a:rPr lang="en-US" sz="1867" b="1" spc="-32" dirty="0">
                <a:solidFill>
                  <a:srgbClr val="FFFFFF"/>
                </a:solidFill>
                <a:latin typeface="Arial"/>
                <a:cs typeface="EYInterstate Light"/>
              </a:rPr>
              <a:t>No blockchain or cryptocurrencies</a:t>
            </a:r>
          </a:p>
          <a:p>
            <a:pPr marL="457178" indent="-457178" defTabSz="1219140">
              <a:lnSpc>
                <a:spcPct val="150000"/>
              </a:lnSpc>
              <a:buClr>
                <a:srgbClr val="C00000"/>
              </a:buClr>
              <a:buSzPct val="120000"/>
              <a:buFont typeface="Wingdings" panose="05000000000000000000" pitchFamily="2" charset="2"/>
              <a:buChar char="û"/>
              <a:defRPr/>
            </a:pPr>
            <a:r>
              <a:rPr lang="en-US" sz="1867" b="1" spc="-32" dirty="0">
                <a:solidFill>
                  <a:srgbClr val="FFFFFF"/>
                </a:solidFill>
                <a:latin typeface="Arial"/>
                <a:cs typeface="EYInterstate Light"/>
              </a:rPr>
              <a:t>No Chat GPT</a:t>
            </a:r>
          </a:p>
          <a:p>
            <a:pPr defTabSz="1219140">
              <a:lnSpc>
                <a:spcPct val="150000"/>
              </a:lnSpc>
              <a:buClr>
                <a:srgbClr val="C00000"/>
              </a:buClr>
              <a:buSzPct val="120000"/>
              <a:defRPr/>
            </a:pPr>
            <a:r>
              <a:rPr lang="en-US" sz="1867" b="1" spc="-32" dirty="0">
                <a:solidFill>
                  <a:srgbClr val="FFFFFF"/>
                </a:solidFill>
                <a:latin typeface="Arial"/>
                <a:cs typeface="EYInterstate Light"/>
              </a:rPr>
              <a:t>And technology is accelerating…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27D25F3-CB33-4612-96C0-A94BBB5BE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755" y="1911019"/>
            <a:ext cx="6512552" cy="4678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6881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FFB5A-138E-91D3-90B5-0E2055DD9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9A1F7B9-0BCC-6ABD-C9AA-3C0A84A205E6}"/>
              </a:ext>
            </a:extLst>
          </p:cNvPr>
          <p:cNvSpPr>
            <a:spLocks noGrp="1"/>
          </p:cNvSpPr>
          <p:nvPr/>
        </p:nvSpPr>
        <p:spPr>
          <a:xfrm>
            <a:off x="628650" y="638175"/>
            <a:ext cx="108966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4B2E83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4B2E83"/>
                </a:solidFill>
                <a:latin typeface="Segoe UI"/>
                <a:ea typeface="Segoe UI"/>
                <a:cs typeface="Segoe UI"/>
              </a:rPr>
              <a:t>MPAcc mindsets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BDE009-EA8B-C465-B599-22DE4C3FB0DB}"/>
              </a:ext>
            </a:extLst>
          </p:cNvPr>
          <p:cNvSpPr>
            <a:spLocks noGrp="1"/>
          </p:cNvSpPr>
          <p:nvPr/>
        </p:nvSpPr>
        <p:spPr>
          <a:xfrm>
            <a:off x="680934" y="5766024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2529"/>
                </a:solidFill>
                <a:latin typeface="Segoe UI"/>
                <a:ea typeface="Segoe UI"/>
                <a:cs typeface="Segoe UI"/>
              </a:defRPr>
            </a:pPr>
            <a:r>
              <a:rPr sz="2100" b="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Which mindset matters when an AI answer sounds convincing?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133326-9B53-B06E-2A34-0894DB5FA9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322" y="1394734"/>
            <a:ext cx="9221355" cy="406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637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A2536-9297-4C08-C800-4787BCDDE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C0A2D1-C7D1-92E9-D359-61DFDBDB788B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42" y="68263"/>
            <a:ext cx="10986915" cy="61801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31598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D5309B1-9DD3-E91B-E1A0-CA5574AEB7A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419935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You remain responsible for what you submit or recommend (recall: Deloitte and KPMG news events)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Having access to a document does not establish permission to upload it.</a:t>
            </a:r>
          </a:p>
          <a:p>
            <a:pPr marL="10308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212529"/>
                </a:solidFill>
                <a:latin typeface="Segoe UI"/>
              </a:rPr>
              <a:t>In professional practice: Access to client or employer information does not give you permission to share it with an AI tool.</a:t>
            </a:r>
            <a:endParaRPr lang="en-US" sz="2000" b="1" dirty="0">
              <a:solidFill>
                <a:srgbClr val="212529"/>
              </a:solidFill>
              <a:latin typeface="Segoe UI"/>
              <a:ea typeface="Segoe UI"/>
              <a:cs typeface="Segoe UI"/>
            </a:endParaRPr>
          </a:p>
          <a:p>
            <a:pPr marL="10308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15B12F3-91A4-7429-9863-36171EAD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AI usage</a:t>
            </a:r>
          </a:p>
        </p:txBody>
      </p:sp>
    </p:spTree>
    <p:extLst>
      <p:ext uri="{BB962C8B-B14F-4D97-AF65-F5344CB8AC3E}">
        <p14:creationId xmlns:p14="http://schemas.microsoft.com/office/powerpoint/2010/main" val="258464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9099B3-9B6C-C2AD-F452-BDC6F6DCD5FB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6C81751-C380-AC6D-257F-A8BC199BE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45181A-8768-38F1-60CB-B74783923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96" y="0"/>
            <a:ext cx="115744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182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A7F436E-8C2F-A631-B7BA-8F23FE9E052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908454"/>
          </a:xfrm>
        </p:spPr>
        <p:txBody>
          <a:bodyPr/>
          <a:lstStyle/>
          <a:p>
            <a:r>
              <a:rPr lang="en-US" b="1" dirty="0"/>
              <a:t>Be prepared to answer “Appropriate”, “Inappropriate”, or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“Depends” </a:t>
            </a:r>
            <a:r>
              <a:rPr lang="en-US" b="1" dirty="0"/>
              <a:t>for two Gen-AI use cases.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1512C11-2D53-B6E0-136E-0721BD6DC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PollEverywhere</a:t>
            </a:r>
            <a:r>
              <a:rPr lang="en-US" dirty="0"/>
              <a:t> Recap</a:t>
            </a:r>
          </a:p>
        </p:txBody>
      </p:sp>
    </p:spTree>
    <p:extLst>
      <p:ext uri="{BB962C8B-B14F-4D97-AF65-F5344CB8AC3E}">
        <p14:creationId xmlns:p14="http://schemas.microsoft.com/office/powerpoint/2010/main" val="3049864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877F70F-AA4E-4D6C-A624-B4A482414B33}"/>
              </a:ext>
            </a:extLst>
          </p:cNvPr>
          <p:cNvSpPr>
            <a:spLocks noGrp="1"/>
          </p:cNvSpPr>
          <p:nvPr/>
        </p:nvSpPr>
        <p:spPr>
          <a:xfrm>
            <a:off x="628650" y="638175"/>
            <a:ext cx="108966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4B2E83"/>
                </a:solidFill>
                <a:latin typeface="Segoe UI"/>
                <a:ea typeface="Segoe UI"/>
                <a:cs typeface="Segoe UI"/>
              </a:defRPr>
            </a:pPr>
            <a:r>
              <a:rPr lang="en-US" sz="3000" b="1" dirty="0">
                <a:solidFill>
                  <a:srgbClr val="4B2E83"/>
                </a:solidFill>
                <a:latin typeface="Segoe UI"/>
                <a:ea typeface="Segoe UI"/>
                <a:cs typeface="Segoe UI"/>
              </a:rPr>
              <a:t>Summary: </a:t>
            </a:r>
            <a:r>
              <a:rPr sz="3000" b="1" dirty="0">
                <a:solidFill>
                  <a:srgbClr val="4B2E83"/>
                </a:solidFill>
                <a:latin typeface="Segoe UI"/>
                <a:ea typeface="Segoe UI"/>
                <a:cs typeface="Segoe UI"/>
              </a:rPr>
              <a:t>A</a:t>
            </a:r>
            <a:r>
              <a:rPr lang="en-US" sz="3000" b="1" dirty="0">
                <a:solidFill>
                  <a:srgbClr val="4B2E83"/>
                </a:solidFill>
                <a:latin typeface="Segoe UI"/>
                <a:ea typeface="Segoe UI"/>
                <a:cs typeface="Segoe UI"/>
              </a:rPr>
              <a:t>I assisted </a:t>
            </a:r>
            <a:r>
              <a:rPr sz="3000" b="1" dirty="0">
                <a:solidFill>
                  <a:srgbClr val="4B2E83"/>
                </a:solidFill>
                <a:latin typeface="Segoe UI"/>
                <a:ea typeface="Segoe UI"/>
                <a:cs typeface="Segoe UI"/>
              </a:rPr>
              <a:t>work you can explain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D7FB3B-A55A-47E5-BB34-D71E5F1489D5}"/>
              </a:ext>
            </a:extLst>
          </p:cNvPr>
          <p:cNvSpPr>
            <a:spLocks noGrp="1"/>
          </p:cNvSpPr>
          <p:nvPr/>
        </p:nvSpPr>
        <p:spPr>
          <a:xfrm>
            <a:off x="723900" y="1571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252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1. Define the task and check the rules for AI assistance.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2D240B-1BB3-4CC6-B49B-8233B095ACAC}"/>
              </a:ext>
            </a:extLst>
          </p:cNvPr>
          <p:cNvSpPr>
            <a:spLocks noGrp="1"/>
          </p:cNvSpPr>
          <p:nvPr/>
        </p:nvSpPr>
        <p:spPr>
          <a:xfrm>
            <a:off x="723900" y="242887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252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2. Share only information you have permission to provide.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9AEEB1-03A5-48D9-9FA7-6AAB7D94D490}"/>
              </a:ext>
            </a:extLst>
          </p:cNvPr>
          <p:cNvSpPr>
            <a:spLocks noGrp="1"/>
          </p:cNvSpPr>
          <p:nvPr/>
        </p:nvSpPr>
        <p:spPr>
          <a:xfrm>
            <a:off x="723900" y="32861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252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3. Test the output against evidence and your own reasoning.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643A5F-8AF9-4EE0-9ACA-E06E301BF3DD}"/>
              </a:ext>
            </a:extLst>
          </p:cNvPr>
          <p:cNvSpPr>
            <a:spLocks noGrp="1"/>
          </p:cNvSpPr>
          <p:nvPr/>
        </p:nvSpPr>
        <p:spPr>
          <a:xfrm>
            <a:off x="723900" y="414337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252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4. Revise the result and record any required disclosure.</a:t>
            </a:r>
          </a:p>
        </p:txBody>
      </p:sp>
    </p:spTree>
    <p:extLst>
      <p:ext uri="{BB962C8B-B14F-4D97-AF65-F5344CB8AC3E}">
        <p14:creationId xmlns:p14="http://schemas.microsoft.com/office/powerpoint/2010/main" val="3575301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7001E-2DA4-9D62-B2AC-8769747C9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322E70-4570-8F27-977A-7565F799AAE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3140475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Review (Gen AI;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PollEverywhere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Course Overview &amp; Expectations (Syllabus)</a:t>
            </a:r>
          </a:p>
          <a:p>
            <a:pPr marL="457200" indent="-457200">
              <a:buAutoNum type="arabicPeriod"/>
            </a:pPr>
            <a:r>
              <a:rPr lang="en-US" dirty="0"/>
              <a:t>The Analytical Mindset</a:t>
            </a:r>
          </a:p>
          <a:p>
            <a:pPr marL="1145100" lvl="1" indent="-457200">
              <a:buAutoNum type="arabicPeriod"/>
            </a:pPr>
            <a:r>
              <a:rPr lang="en-US" dirty="0"/>
              <a:t>Definition</a:t>
            </a:r>
          </a:p>
          <a:p>
            <a:pPr marL="1145100" lvl="1" indent="-457200">
              <a:buAutoNum type="arabicPeriod"/>
            </a:pPr>
            <a:r>
              <a:rPr lang="en-US" dirty="0"/>
              <a:t>From data to responsible decisions</a:t>
            </a:r>
          </a:p>
          <a:p>
            <a:pPr marL="1145100" lvl="1" indent="-457200">
              <a:buAutoNum type="arabicPeriod"/>
            </a:pPr>
            <a:r>
              <a:rPr lang="en-US" dirty="0"/>
              <a:t>Exercises (questioning data recursively)</a:t>
            </a:r>
          </a:p>
          <a:p>
            <a:pPr marL="457200" indent="-457200">
              <a:buAutoNum type="arabicPeriod"/>
            </a:pPr>
            <a:r>
              <a:rPr lang="en-US" dirty="0"/>
              <a:t>Foster Remote Labs set-up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413643-10F0-A81C-8E82-DF9F4D974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505843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D55E3FB-CDDE-4FF0-0F59-599884CEFAF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477438"/>
          </a:xfrm>
        </p:spPr>
        <p:txBody>
          <a:bodyPr/>
          <a:lstStyle/>
          <a:p>
            <a:r>
              <a:rPr lang="en-US" dirty="0">
                <a:hlinkClick r:id="rId2"/>
              </a:rPr>
              <a:t>Syllabus · ACCTG 522 · Autumn 2026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65AD646-06AC-8EB0-ACD1-F6875824B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Syllabus</a:t>
            </a:r>
          </a:p>
        </p:txBody>
      </p:sp>
    </p:spTree>
    <p:extLst>
      <p:ext uri="{BB962C8B-B14F-4D97-AF65-F5344CB8AC3E}">
        <p14:creationId xmlns:p14="http://schemas.microsoft.com/office/powerpoint/2010/main" val="3083667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F78705-68D0-05DA-753D-2EFD8352079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477438"/>
          </a:xfrm>
        </p:spPr>
        <p:txBody>
          <a:bodyPr/>
          <a:lstStyle/>
          <a:p>
            <a:r>
              <a:rPr lang="en-US" dirty="0">
                <a:hlinkClick r:id="rId2"/>
              </a:rPr>
              <a:t>MPAcc Common Final Project · Autumn 2026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193F75A-0600-26B9-6F44-C47E5E516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final project</a:t>
            </a:r>
          </a:p>
        </p:txBody>
      </p:sp>
    </p:spTree>
    <p:extLst>
      <p:ext uri="{BB962C8B-B14F-4D97-AF65-F5344CB8AC3E}">
        <p14:creationId xmlns:p14="http://schemas.microsoft.com/office/powerpoint/2010/main" val="716878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D4873E-6A97-4883-BB18-5BF328EF3519}"/>
              </a:ext>
            </a:extLst>
          </p:cNvPr>
          <p:cNvSpPr>
            <a:spLocks noGrp="1"/>
          </p:cNvSpPr>
          <p:nvPr/>
        </p:nvSpPr>
        <p:spPr>
          <a:xfrm>
            <a:off x="628650" y="638175"/>
            <a:ext cx="108966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4B2E83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4B2E83"/>
                </a:solidFill>
                <a:latin typeface="Segoe UI"/>
                <a:ea typeface="Segoe UI"/>
                <a:cs typeface="Segoe UI"/>
              </a:rPr>
              <a:t>Expectations for the year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731425-9BA3-467A-9E1E-0F70E339ECF4}"/>
              </a:ext>
            </a:extLst>
          </p:cNvPr>
          <p:cNvSpPr>
            <a:spLocks noGrp="1"/>
          </p:cNvSpPr>
          <p:nvPr/>
        </p:nvSpPr>
        <p:spPr>
          <a:xfrm>
            <a:off x="723900" y="1571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252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Experiment with technology and build skills through practice.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209DB8-91A9-4686-B471-BB2B355F9357}"/>
              </a:ext>
            </a:extLst>
          </p:cNvPr>
          <p:cNvSpPr>
            <a:spLocks noGrp="1"/>
          </p:cNvSpPr>
          <p:nvPr/>
        </p:nvSpPr>
        <p:spPr>
          <a:xfrm>
            <a:off x="723900" y="242887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252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Use professional skepticism when reviewing AI output.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2A317B-30B3-4DD4-9F6D-A233350FAAF4}"/>
              </a:ext>
            </a:extLst>
          </p:cNvPr>
          <p:cNvSpPr>
            <a:spLocks noGrp="1"/>
          </p:cNvSpPr>
          <p:nvPr/>
        </p:nvSpPr>
        <p:spPr>
          <a:xfrm>
            <a:off x="723900" y="32861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252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Follow assignment rules and protect information.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20BC0C-9BFF-43CF-A6C3-E7CD4C8DD552}"/>
              </a:ext>
            </a:extLst>
          </p:cNvPr>
          <p:cNvSpPr>
            <a:spLocks noGrp="1"/>
          </p:cNvSpPr>
          <p:nvPr/>
        </p:nvSpPr>
        <p:spPr>
          <a:xfrm>
            <a:off x="723900" y="414337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252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Own the reasoning, evidence and final work you submit.</a:t>
            </a:r>
          </a:p>
        </p:txBody>
      </p:sp>
    </p:spTree>
    <p:extLst>
      <p:ext uri="{BB962C8B-B14F-4D97-AF65-F5344CB8AC3E}">
        <p14:creationId xmlns:p14="http://schemas.microsoft.com/office/powerpoint/2010/main" val="29312089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FA093-5D30-BA1A-4ED1-97AEFAD4F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D057E6-3E2E-1A69-4544-203E0B82901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3140475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Review (Gen AI;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PollEverywhere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Course Overview &amp; Expectations (Syllabus)</a:t>
            </a:r>
          </a:p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The Analytical Mindset</a:t>
            </a:r>
          </a:p>
          <a:p>
            <a:pPr marL="1145100" lvl="1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Definition</a:t>
            </a:r>
          </a:p>
          <a:p>
            <a:pPr marL="1145100" lvl="1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From data to responsible decisions</a:t>
            </a:r>
          </a:p>
          <a:p>
            <a:pPr marL="1145100" lvl="1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Exercises (questioning data recursively)</a:t>
            </a:r>
          </a:p>
          <a:p>
            <a:pPr marL="457200" indent="-457200">
              <a:buAutoNum type="arabicPeriod"/>
            </a:pPr>
            <a:r>
              <a:rPr lang="en-US" dirty="0"/>
              <a:t>Foster Remote Labs set-up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B45E62-15D7-C6C6-E0C9-D4650CAB0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8698229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7811581-F78C-40C0-B570-D4D9FD2C3131}"/>
              </a:ext>
            </a:extLst>
          </p:cNvPr>
          <p:cNvSpPr>
            <a:spLocks noGrp="1"/>
          </p:cNvSpPr>
          <p:nvPr/>
        </p:nvSpPr>
        <p:spPr>
          <a:xfrm>
            <a:off x="628650" y="638175"/>
            <a:ext cx="108966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4B2E83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4B2E83"/>
                </a:solidFill>
                <a:latin typeface="Segoe UI"/>
                <a:ea typeface="Segoe UI"/>
                <a:cs typeface="Segoe UI"/>
              </a:rPr>
              <a:t>MPAcc mindsets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B2806F-EF5F-4EC7-9D32-947BA0F6D203}"/>
              </a:ext>
            </a:extLst>
          </p:cNvPr>
          <p:cNvSpPr>
            <a:spLocks noGrp="1"/>
          </p:cNvSpPr>
          <p:nvPr/>
        </p:nvSpPr>
        <p:spPr>
          <a:xfrm>
            <a:off x="680934" y="5766024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2529"/>
                </a:solidFill>
                <a:latin typeface="Segoe UI"/>
                <a:ea typeface="Segoe UI"/>
                <a:cs typeface="Segoe UI"/>
              </a:defRPr>
            </a:pPr>
            <a:r>
              <a:rPr lang="en-US" sz="2100" dirty="0">
                <a:solidFill>
                  <a:srgbClr val="212529"/>
                </a:solidFill>
                <a:latin typeface="Segoe UI"/>
              </a:rPr>
              <a:t>What can analytics tell us?</a:t>
            </a:r>
            <a:endParaRPr sz="2100" b="0" dirty="0">
              <a:solidFill>
                <a:srgbClr val="212529"/>
              </a:solidFill>
              <a:latin typeface="Segoe UI"/>
              <a:ea typeface="Segoe UI"/>
              <a:cs typeface="Segoe U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20ABEA-061E-6806-C06D-64CD540135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322" y="1394734"/>
            <a:ext cx="9221355" cy="406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208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B8F478B-5CAB-1F15-AF03-2F7EE3C50B5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706679" y="5631423"/>
            <a:ext cx="7422990" cy="584775"/>
          </a:xfrm>
        </p:spPr>
        <p:txBody>
          <a:bodyPr/>
          <a:lstStyle/>
          <a:p>
            <a:r>
              <a:rPr lang="en-US" dirty="0"/>
              <a:t>(Based on Reuters | September 29, 2026 |Sources: </a:t>
            </a:r>
            <a:r>
              <a:rPr lang="en-US" sz="2000" u="sng" dirty="0">
                <a:hlinkClick r:id="rId2"/>
              </a:rPr>
              <a:t>Reuters article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59CEF5-F94D-5963-D0EC-045D9B1FE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Alaska Air: Analytics as Decision Support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8F55F1-BC6C-193C-9E0B-F380AFC6E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09" y="1436862"/>
            <a:ext cx="4873450" cy="41945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038E81-00F6-B442-400E-7697A31E1A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9716" y="2188840"/>
            <a:ext cx="6464595" cy="3232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2952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B3950A-A5F2-0487-BF2E-A7E2A4B29B0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4464492"/>
          </a:xfrm>
        </p:spPr>
        <p:txBody>
          <a:bodyPr/>
          <a:lstStyle/>
          <a:p>
            <a:pPr>
              <a:spcBef>
                <a:spcPts val="700"/>
              </a:spcBef>
              <a:spcAft>
                <a:spcPts val="200"/>
              </a:spcAft>
              <a:defRPr sz="1800" b="1"/>
            </a:pPr>
            <a:r>
              <a:rPr lang="en-US" dirty="0"/>
              <a:t>What happened?</a:t>
            </a:r>
          </a:p>
          <a:p>
            <a:pPr>
              <a:spcAft>
                <a:spcPts val="300"/>
              </a:spcAft>
              <a:defRPr sz="1600"/>
            </a:pPr>
            <a:r>
              <a:rPr lang="en-US" dirty="0"/>
              <a:t>Alaska Air is expanding premium cabins, lounges, and other higher-value offerings as it builds its international network.</a:t>
            </a:r>
          </a:p>
          <a:p>
            <a:pPr>
              <a:spcAft>
                <a:spcPts val="300"/>
              </a:spcAft>
              <a:defRPr sz="1600"/>
            </a:pPr>
            <a:r>
              <a:rPr lang="en-US" dirty="0"/>
              <a:t>Management estimates the strategy could eventually add $3–$4 to earnings per share and improve margins by 2–3 percentage points.</a:t>
            </a:r>
          </a:p>
          <a:p>
            <a:pPr>
              <a:spcAft>
                <a:spcPts val="300"/>
              </a:spcAft>
              <a:defRPr sz="1600"/>
            </a:pPr>
            <a:r>
              <a:rPr lang="en-US" dirty="0"/>
              <a:t>At the same time, volatile fuel costs materially affect profitability and forecasts.</a:t>
            </a:r>
          </a:p>
          <a:p>
            <a:pPr>
              <a:spcBef>
                <a:spcPts val="700"/>
              </a:spcBef>
              <a:spcAft>
                <a:spcPts val="200"/>
              </a:spcAft>
              <a:defRPr sz="1800" b="1"/>
            </a:pPr>
            <a:r>
              <a:rPr lang="en-US" dirty="0"/>
              <a:t>Why this matters for accounting analytics</a:t>
            </a:r>
          </a:p>
          <a:p>
            <a:pPr>
              <a:spcAft>
                <a:spcPts val="300"/>
              </a:spcAft>
              <a:defRPr sz="1600"/>
            </a:pPr>
            <a:r>
              <a:rPr lang="en-US" dirty="0"/>
              <a:t>Accounting analytics is not limited to detecting errors or fraud. It supports forward-looking business decisions involving customers, pricing, capacity, costs, investment, profitability, and uncertainty.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3E2E1D9-AFAF-A1FB-16E0-D15470D90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Alaska Air: Analytics as Decision Support</a:t>
            </a:r>
          </a:p>
        </p:txBody>
      </p:sp>
    </p:spTree>
    <p:extLst>
      <p:ext uri="{BB962C8B-B14F-4D97-AF65-F5344CB8AC3E}">
        <p14:creationId xmlns:p14="http://schemas.microsoft.com/office/powerpoint/2010/main" val="15179946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6B6F5-2A4A-6D50-BF8D-878B59AF5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A8A6B43-B7F9-B4D6-922C-F812EEB37E0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1232838"/>
          </a:xfrm>
        </p:spPr>
        <p:txBody>
          <a:bodyPr/>
          <a:lstStyle/>
          <a:p>
            <a:pPr>
              <a:spcBef>
                <a:spcPts val="700"/>
              </a:spcBef>
              <a:spcAft>
                <a:spcPts val="200"/>
              </a:spcAft>
              <a:defRPr sz="1800" b="1"/>
            </a:pPr>
            <a:r>
              <a:rPr lang="en-US" dirty="0"/>
              <a:t>Discussion points:</a:t>
            </a:r>
          </a:p>
          <a:p>
            <a:pPr>
              <a:spcAft>
                <a:spcPts val="300"/>
              </a:spcAft>
              <a:defRPr sz="1600"/>
            </a:pPr>
            <a:r>
              <a:rPr lang="en-US" b="1" dirty="0">
                <a:solidFill>
                  <a:schemeClr val="tx2"/>
                </a:solidFill>
              </a:rPr>
              <a:t>What data would Alaska need to decide whether adding premium seats creates value?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BA1B376-12D5-9D3F-D7D0-C3C638A2A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Alaska Air: Analytics as Decision Support</a:t>
            </a:r>
          </a:p>
        </p:txBody>
      </p:sp>
    </p:spTree>
    <p:extLst>
      <p:ext uri="{BB962C8B-B14F-4D97-AF65-F5344CB8AC3E}">
        <p14:creationId xmlns:p14="http://schemas.microsoft.com/office/powerpoint/2010/main" val="3875404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43AD5-7310-1A9A-413B-4DF7F9425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A41E3D-5407-967D-1708-C4201423651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2009974"/>
          </a:xfrm>
        </p:spPr>
        <p:txBody>
          <a:bodyPr/>
          <a:lstStyle/>
          <a:p>
            <a:pPr>
              <a:spcBef>
                <a:spcPts val="700"/>
              </a:spcBef>
              <a:spcAft>
                <a:spcPts val="200"/>
              </a:spcAft>
              <a:defRPr sz="1800" b="1"/>
            </a:pPr>
            <a:r>
              <a:rPr lang="en-US" dirty="0"/>
              <a:t>Discussion points:</a:t>
            </a:r>
          </a:p>
          <a:p>
            <a:pPr>
              <a:spcAft>
                <a:spcPts val="300"/>
              </a:spcAft>
              <a:defRPr sz="1600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What data would Alaska need to decide whether adding premium seats creates value?</a:t>
            </a:r>
          </a:p>
          <a:p>
            <a:pPr>
              <a:spcAft>
                <a:spcPts val="300"/>
              </a:spcAft>
              <a:defRPr sz="1600"/>
            </a:pPr>
            <a:r>
              <a:rPr lang="en-US" b="1" dirty="0">
                <a:solidFill>
                  <a:schemeClr val="tx2"/>
                </a:solidFill>
              </a:rPr>
              <a:t>What are the relevant revenues, costs, constraints, and alternative uses of aircraft space?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52C0BB4-99B1-6ABE-7838-B3C16FAED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Alaska Air: Analytics as Decision Support</a:t>
            </a:r>
          </a:p>
        </p:txBody>
      </p:sp>
    </p:spTree>
    <p:extLst>
      <p:ext uri="{BB962C8B-B14F-4D97-AF65-F5344CB8AC3E}">
        <p14:creationId xmlns:p14="http://schemas.microsoft.com/office/powerpoint/2010/main" val="35614555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8FB14-ADA3-D884-0171-5974EA261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3B71C8-46CD-C10C-CF02-9C51AFADAC4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2787110"/>
          </a:xfrm>
        </p:spPr>
        <p:txBody>
          <a:bodyPr/>
          <a:lstStyle/>
          <a:p>
            <a:pPr>
              <a:spcBef>
                <a:spcPts val="700"/>
              </a:spcBef>
              <a:spcAft>
                <a:spcPts val="200"/>
              </a:spcAft>
              <a:defRPr sz="1800" b="1"/>
            </a:pPr>
            <a:r>
              <a:rPr lang="en-US" dirty="0"/>
              <a:t>Discussion points:</a:t>
            </a:r>
          </a:p>
          <a:p>
            <a:pPr>
              <a:spcAft>
                <a:spcPts val="300"/>
              </a:spcAft>
              <a:defRPr sz="1600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What data would Alaska need to decide whether adding premium seats creates value?</a:t>
            </a:r>
          </a:p>
          <a:p>
            <a:pPr>
              <a:spcAft>
                <a:spcPts val="300"/>
              </a:spcAft>
              <a:defRPr sz="1600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What are the relevant revenues, costs, constraints, and alternative uses of aircraft space?</a:t>
            </a:r>
          </a:p>
          <a:p>
            <a:pPr>
              <a:spcAft>
                <a:spcPts val="300"/>
              </a:spcAft>
              <a:defRPr sz="1600"/>
            </a:pPr>
            <a:r>
              <a:rPr lang="en-US" b="1" dirty="0">
                <a:solidFill>
                  <a:schemeClr val="tx2"/>
                </a:solidFill>
              </a:rPr>
              <a:t>How would you distinguish descriptive analytics ('what are premium customers doing?') from a decision ('should we add more premium seats?')?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E944A1-477A-34E1-4F2F-034C15E47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Alaska Air: Analytics as Decision Support</a:t>
            </a:r>
          </a:p>
        </p:txBody>
      </p:sp>
    </p:spTree>
    <p:extLst>
      <p:ext uri="{BB962C8B-B14F-4D97-AF65-F5344CB8AC3E}">
        <p14:creationId xmlns:p14="http://schemas.microsoft.com/office/powerpoint/2010/main" val="1777557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45F15C-5E43-F768-F9E3-607BC150218D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42" y="68263"/>
            <a:ext cx="10986915" cy="61801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074675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D113A2-2147-CDE1-C1D3-ED0F3D3BBBF6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" r="2512" b="1"/>
          <a:stretch>
            <a:fillRect/>
          </a:stretch>
        </p:blipFill>
        <p:spPr>
          <a:xfrm>
            <a:off x="120650" y="68263"/>
            <a:ext cx="11950700" cy="61801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134191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9D761D-5A63-845F-3DBF-0C925133A4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2696636"/>
          </a:xfrm>
        </p:spPr>
        <p:txBody>
          <a:bodyPr/>
          <a:lstStyle/>
          <a:p>
            <a:r>
              <a:rPr lang="en-US" dirty="0"/>
              <a:t>We will work through scenarios where:</a:t>
            </a:r>
          </a:p>
          <a:p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We have a question and expectation about data.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We access the data and identify unexpected data fields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We must/can revise our question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6EE8A7-3FE0-B6CE-B9AF-20308C435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1077218"/>
          </a:xfrm>
        </p:spPr>
        <p:txBody>
          <a:bodyPr/>
          <a:lstStyle/>
          <a:p>
            <a:r>
              <a:rPr lang="en-US" dirty="0"/>
              <a:t>Why think of the link between data and question recursively? </a:t>
            </a:r>
          </a:p>
        </p:txBody>
      </p:sp>
    </p:spTree>
    <p:extLst>
      <p:ext uri="{BB962C8B-B14F-4D97-AF65-F5344CB8AC3E}">
        <p14:creationId xmlns:p14="http://schemas.microsoft.com/office/powerpoint/2010/main" val="15722637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50A7F2-8AF1-DAD8-86AA-4133114B15A2}"/>
              </a:ext>
            </a:extLst>
          </p:cNvPr>
          <p:cNvSpPr txBox="1"/>
          <p:nvPr/>
        </p:nvSpPr>
        <p:spPr>
          <a:xfrm>
            <a:off x="2502196" y="1119962"/>
            <a:ext cx="2608521" cy="147438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1800" b="1"/>
            </a:pPr>
            <a:r>
              <a:rPr lang="en-US"/>
              <a:t>Initial question</a:t>
            </a:r>
          </a:p>
          <a:p>
            <a:pPr>
              <a:spcBef>
                <a:spcPts val="800"/>
              </a:spcBef>
              <a:defRPr sz="1600"/>
            </a:pPr>
            <a:r>
              <a:rPr lang="en-US"/>
              <a:t>Are employees circumventing the company's purchasing approval controls?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60F148-41D8-0A29-68D2-6E40D201CE3B}"/>
              </a:ext>
            </a:extLst>
          </p:cNvPr>
          <p:cNvSpPr txBox="1"/>
          <p:nvPr/>
        </p:nvSpPr>
        <p:spPr>
          <a:xfrm>
            <a:off x="7421528" y="1119962"/>
            <a:ext cx="2608521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Expected data: employee, PO, vendor, amount, approver, approval date/time, invoice, payment.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74091CFE-C80E-2366-91AC-5F709FEB9966}"/>
              </a:ext>
            </a:extLst>
          </p:cNvPr>
          <p:cNvSpPr/>
          <p:nvPr/>
        </p:nvSpPr>
        <p:spPr>
          <a:xfrm>
            <a:off x="5330456" y="1729562"/>
            <a:ext cx="1474382" cy="1772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533A7C95-5595-1E34-60D6-E7C110CFB49A}"/>
              </a:ext>
            </a:extLst>
          </p:cNvPr>
          <p:cNvSpPr/>
          <p:nvPr/>
        </p:nvSpPr>
        <p:spPr>
          <a:xfrm>
            <a:off x="8739963" y="2750288"/>
            <a:ext cx="141768" cy="84351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AC3EFB-C935-07AF-830B-205533F9E913}"/>
              </a:ext>
            </a:extLst>
          </p:cNvPr>
          <p:cNvSpPr txBox="1"/>
          <p:nvPr/>
        </p:nvSpPr>
        <p:spPr>
          <a:xfrm>
            <a:off x="7506586" y="3824176"/>
            <a:ext cx="2608521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Actual data: purchase order, vendor, amount, date. Approval data are absent and employee identifiers are incomplete.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737F961-3493-B17E-1CA8-DD98AA8A5E52}"/>
              </a:ext>
            </a:extLst>
          </p:cNvPr>
          <p:cNvSpPr/>
          <p:nvPr/>
        </p:nvSpPr>
        <p:spPr>
          <a:xfrm rot="10800000">
            <a:off x="5443869" y="4667336"/>
            <a:ext cx="1651591" cy="1772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F4D7F3-4C53-AC9F-0000-FEA3AF09A7D1}"/>
              </a:ext>
            </a:extLst>
          </p:cNvPr>
          <p:cNvSpPr txBox="1"/>
          <p:nvPr/>
        </p:nvSpPr>
        <p:spPr>
          <a:xfrm>
            <a:off x="2555359" y="4150242"/>
            <a:ext cx="2608521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1800" b="1"/>
            </a:pPr>
            <a:r>
              <a:rPr lang="en-US" dirty="0"/>
              <a:t>Revised question?</a:t>
            </a:r>
          </a:p>
          <a:p>
            <a:pPr algn="ctr">
              <a:defRPr sz="1800" b="1"/>
            </a:pPr>
            <a:endParaRPr lang="en-US" dirty="0"/>
          </a:p>
          <a:p>
            <a:pPr algn="ctr">
              <a:defRPr sz="1800" b="1"/>
            </a:pPr>
            <a:endParaRPr lang="en-US" dirty="0"/>
          </a:p>
          <a:p>
            <a:pPr algn="ctr">
              <a:defRPr sz="1800" b="1"/>
            </a:pPr>
            <a:endParaRPr lang="en-US" dirty="0"/>
          </a:p>
          <a:p>
            <a:pPr algn="ctr">
              <a:defRPr sz="1800" b="1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3191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787CE-06D2-6D92-114D-69386391F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83A783-C6EC-EBC0-DFFE-84AE1532DCB3}"/>
              </a:ext>
            </a:extLst>
          </p:cNvPr>
          <p:cNvSpPr txBox="1"/>
          <p:nvPr/>
        </p:nvSpPr>
        <p:spPr>
          <a:xfrm>
            <a:off x="2502196" y="1119962"/>
            <a:ext cx="2608521" cy="147438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1800" b="1"/>
            </a:pPr>
            <a:r>
              <a:rPr lang="en-US"/>
              <a:t>Initial question</a:t>
            </a:r>
          </a:p>
          <a:p>
            <a:pPr>
              <a:spcBef>
                <a:spcPts val="800"/>
              </a:spcBef>
              <a:defRPr sz="1600"/>
            </a:pPr>
            <a:r>
              <a:rPr lang="en-US"/>
              <a:t>Are employees circumventing the company's purchasing approval controls?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32B647-7647-64FB-0E5B-3EE0D1E275B6}"/>
              </a:ext>
            </a:extLst>
          </p:cNvPr>
          <p:cNvSpPr txBox="1"/>
          <p:nvPr/>
        </p:nvSpPr>
        <p:spPr>
          <a:xfrm>
            <a:off x="7421528" y="1119962"/>
            <a:ext cx="2608521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Expected data: employee, PO, vendor, amount, approver, approval date/time, invoice, payment.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0510842E-F078-5383-6002-7539BBEB09F1}"/>
              </a:ext>
            </a:extLst>
          </p:cNvPr>
          <p:cNvSpPr/>
          <p:nvPr/>
        </p:nvSpPr>
        <p:spPr>
          <a:xfrm>
            <a:off x="5330456" y="1729562"/>
            <a:ext cx="1474382" cy="1772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E12093C7-ED75-1FDA-DE17-02D685A6E64D}"/>
              </a:ext>
            </a:extLst>
          </p:cNvPr>
          <p:cNvSpPr/>
          <p:nvPr/>
        </p:nvSpPr>
        <p:spPr>
          <a:xfrm>
            <a:off x="8739963" y="2750288"/>
            <a:ext cx="141768" cy="84351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E886A9-DD51-E149-8302-E0DACC20E787}"/>
              </a:ext>
            </a:extLst>
          </p:cNvPr>
          <p:cNvSpPr txBox="1"/>
          <p:nvPr/>
        </p:nvSpPr>
        <p:spPr>
          <a:xfrm>
            <a:off x="7506586" y="3824176"/>
            <a:ext cx="2608521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Actual data: purchase order, vendor, amount, date. Approval data are absent and employee identifiers are incomplete.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709A89C-7296-0F57-0D21-2ACE55C37993}"/>
              </a:ext>
            </a:extLst>
          </p:cNvPr>
          <p:cNvSpPr/>
          <p:nvPr/>
        </p:nvSpPr>
        <p:spPr>
          <a:xfrm rot="10800000">
            <a:off x="5443869" y="4667336"/>
            <a:ext cx="1651591" cy="1772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3B1655-F3B1-B021-B1D1-7E09C7625F38}"/>
              </a:ext>
            </a:extLst>
          </p:cNvPr>
          <p:cNvSpPr txBox="1"/>
          <p:nvPr/>
        </p:nvSpPr>
        <p:spPr>
          <a:xfrm>
            <a:off x="2629784" y="3512289"/>
            <a:ext cx="2608521" cy="25853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1800" b="1"/>
            </a:pPr>
            <a:r>
              <a:rPr lang="en-US" dirty="0"/>
              <a:t>Revised question?</a:t>
            </a:r>
          </a:p>
          <a:p>
            <a:pPr algn="ctr">
              <a:defRPr sz="1800" b="1"/>
            </a:pPr>
            <a:endParaRPr lang="en-US" dirty="0">
              <a:solidFill>
                <a:schemeClr val="tx2"/>
              </a:solidFill>
            </a:endParaRPr>
          </a:p>
          <a:p>
            <a:pPr algn="ctr">
              <a:defRPr sz="1800" b="1"/>
            </a:pPr>
            <a:r>
              <a:rPr lang="en-US" dirty="0">
                <a:solidFill>
                  <a:schemeClr val="tx2"/>
                </a:solidFill>
              </a:rPr>
              <a:t>Are there purchasing </a:t>
            </a:r>
            <a:r>
              <a:rPr lang="en-US" i="1" dirty="0">
                <a:solidFill>
                  <a:schemeClr val="tx2"/>
                </a:solidFill>
              </a:rPr>
              <a:t>patterns</a:t>
            </a:r>
            <a:r>
              <a:rPr lang="en-US" dirty="0">
                <a:solidFill>
                  <a:schemeClr val="tx2"/>
                </a:solidFill>
              </a:rPr>
              <a:t> that indicate transactions that should be examined for possible control circumvention?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232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0A8DB9-852B-0327-0AF6-FFB00531BE12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2645340"/>
          </a:xfrm>
        </p:spPr>
        <p:txBody>
          <a:bodyPr/>
          <a:lstStyle/>
          <a:p>
            <a:r>
              <a:rPr lang="en-US" b="1" dirty="0"/>
              <a:t>Constraint: </a:t>
            </a:r>
            <a:r>
              <a:rPr lang="en-US" dirty="0"/>
              <a:t>the available data cannot support the original conclusion. Narrow the question to one the evidence can credibly answer. A later (preliminary) finding, such as many purchases just below an approval threshold, may trigger another recursion to obtain better approval or employee data.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372EAB-6D16-84FC-981B-9C231DC33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be recursive in the analytic process</a:t>
            </a:r>
          </a:p>
        </p:txBody>
      </p:sp>
    </p:spTree>
    <p:extLst>
      <p:ext uri="{BB962C8B-B14F-4D97-AF65-F5344CB8AC3E}">
        <p14:creationId xmlns:p14="http://schemas.microsoft.com/office/powerpoint/2010/main" val="39693219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DB25-6D4E-5127-A1BA-E4F4CA989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4FAA7D-61E1-C308-D148-F3E4FE89A0E8}"/>
              </a:ext>
            </a:extLst>
          </p:cNvPr>
          <p:cNvSpPr txBox="1"/>
          <p:nvPr/>
        </p:nvSpPr>
        <p:spPr>
          <a:xfrm>
            <a:off x="2502196" y="1119962"/>
            <a:ext cx="2608521" cy="121058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1800" b="1"/>
            </a:pPr>
            <a:r>
              <a:rPr lang="en-US" dirty="0"/>
              <a:t>Initial question</a:t>
            </a:r>
          </a:p>
          <a:p>
            <a:pPr>
              <a:spcBef>
                <a:spcPts val="800"/>
              </a:spcBef>
              <a:defRPr sz="1600"/>
            </a:pPr>
            <a:r>
              <a:rPr lang="en-US" dirty="0"/>
              <a:t>Did sales decline in the Northwest region this year?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6346AE-E030-CD3B-6013-06E2FF20816B}"/>
              </a:ext>
            </a:extLst>
          </p:cNvPr>
          <p:cNvSpPr txBox="1"/>
          <p:nvPr/>
        </p:nvSpPr>
        <p:spPr>
          <a:xfrm>
            <a:off x="7421528" y="1119962"/>
            <a:ext cx="2608521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Expected data: monthly sales totals by region.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0638025D-427F-A486-73B8-F8ADB07AAE1D}"/>
              </a:ext>
            </a:extLst>
          </p:cNvPr>
          <p:cNvSpPr/>
          <p:nvPr/>
        </p:nvSpPr>
        <p:spPr>
          <a:xfrm>
            <a:off x="5330456" y="1729562"/>
            <a:ext cx="1474382" cy="1772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FB907BF7-20DF-2BC2-13E5-103C2EACF3A1}"/>
              </a:ext>
            </a:extLst>
          </p:cNvPr>
          <p:cNvSpPr/>
          <p:nvPr/>
        </p:nvSpPr>
        <p:spPr>
          <a:xfrm>
            <a:off x="8739963" y="2750288"/>
            <a:ext cx="141768" cy="84351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611A21-A37F-A7EB-BCB9-781103F3067A}"/>
              </a:ext>
            </a:extLst>
          </p:cNvPr>
          <p:cNvSpPr txBox="1"/>
          <p:nvPr/>
        </p:nvSpPr>
        <p:spPr>
          <a:xfrm>
            <a:off x="7506586" y="3824176"/>
            <a:ext cx="2608521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Actual data: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D68E2467-585E-7BF1-6FF3-4892371F47C3}"/>
              </a:ext>
            </a:extLst>
          </p:cNvPr>
          <p:cNvSpPr/>
          <p:nvPr/>
        </p:nvSpPr>
        <p:spPr>
          <a:xfrm rot="10800000">
            <a:off x="5443869" y="4667336"/>
            <a:ext cx="1651591" cy="1772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81B88D-4CE2-C902-75CB-777EDF1548B5}"/>
              </a:ext>
            </a:extLst>
          </p:cNvPr>
          <p:cNvSpPr txBox="1"/>
          <p:nvPr/>
        </p:nvSpPr>
        <p:spPr>
          <a:xfrm>
            <a:off x="2555359" y="4150242"/>
            <a:ext cx="2608521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1800" b="1"/>
            </a:pPr>
            <a:r>
              <a:rPr lang="en-US" dirty="0"/>
              <a:t>Revised question?</a:t>
            </a:r>
          </a:p>
          <a:p>
            <a:pPr algn="ctr">
              <a:defRPr sz="1800" b="1"/>
            </a:pPr>
            <a:endParaRPr lang="en-US" dirty="0"/>
          </a:p>
          <a:p>
            <a:pPr algn="ctr">
              <a:defRPr sz="1800" b="1"/>
            </a:pPr>
            <a:endParaRPr lang="en-US" dirty="0"/>
          </a:p>
          <a:p>
            <a:pPr algn="ctr">
              <a:defRPr sz="1800" b="1"/>
            </a:pPr>
            <a:endParaRPr lang="en-US" dirty="0"/>
          </a:p>
          <a:p>
            <a:pPr algn="ctr">
              <a:defRPr sz="1800" b="1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2636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C81DC-448B-8489-ABA0-E444A0616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BF764E-52FD-31E9-11D6-5177FC1C6570}"/>
              </a:ext>
            </a:extLst>
          </p:cNvPr>
          <p:cNvSpPr txBox="1"/>
          <p:nvPr/>
        </p:nvSpPr>
        <p:spPr>
          <a:xfrm>
            <a:off x="2502196" y="1119962"/>
            <a:ext cx="2608521" cy="121058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1800" b="1"/>
            </a:pPr>
            <a:r>
              <a:rPr lang="en-US" dirty="0"/>
              <a:t>Initial question</a:t>
            </a:r>
          </a:p>
          <a:p>
            <a:pPr>
              <a:spcBef>
                <a:spcPts val="800"/>
              </a:spcBef>
              <a:defRPr sz="1600"/>
            </a:pPr>
            <a:r>
              <a:rPr lang="en-US" dirty="0"/>
              <a:t>Did sales decline in the Northwest region this year?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F8872B-7E0B-8173-FF77-B671C48598C3}"/>
              </a:ext>
            </a:extLst>
          </p:cNvPr>
          <p:cNvSpPr txBox="1"/>
          <p:nvPr/>
        </p:nvSpPr>
        <p:spPr>
          <a:xfrm>
            <a:off x="7421528" y="1119962"/>
            <a:ext cx="2608521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Expected data: monthly sales totals by region.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01E387F3-CF3E-051D-B4B3-37E967506C8E}"/>
              </a:ext>
            </a:extLst>
          </p:cNvPr>
          <p:cNvSpPr/>
          <p:nvPr/>
        </p:nvSpPr>
        <p:spPr>
          <a:xfrm>
            <a:off x="5330456" y="1729562"/>
            <a:ext cx="1474382" cy="1772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2808F460-0E8B-447C-A14F-FABB385D44E4}"/>
              </a:ext>
            </a:extLst>
          </p:cNvPr>
          <p:cNvSpPr/>
          <p:nvPr/>
        </p:nvSpPr>
        <p:spPr>
          <a:xfrm>
            <a:off x="8739963" y="2750288"/>
            <a:ext cx="141768" cy="84351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02F7B3-DF66-C798-4844-304D4578E4D1}"/>
              </a:ext>
            </a:extLst>
          </p:cNvPr>
          <p:cNvSpPr txBox="1"/>
          <p:nvPr/>
        </p:nvSpPr>
        <p:spPr>
          <a:xfrm>
            <a:off x="7506586" y="3824176"/>
            <a:ext cx="2608521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Actual data: transaction-level data with date, customer, salesperson, product, location, quantity, price, discount, and return indicator.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71B8910F-DE23-1ACD-EEA8-0E3CA4157D89}"/>
              </a:ext>
            </a:extLst>
          </p:cNvPr>
          <p:cNvSpPr/>
          <p:nvPr/>
        </p:nvSpPr>
        <p:spPr>
          <a:xfrm rot="10800000">
            <a:off x="5443869" y="4667336"/>
            <a:ext cx="1651591" cy="1772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548030-E0B6-D1A5-89A3-42721BF9A915}"/>
              </a:ext>
            </a:extLst>
          </p:cNvPr>
          <p:cNvSpPr txBox="1"/>
          <p:nvPr/>
        </p:nvSpPr>
        <p:spPr>
          <a:xfrm>
            <a:off x="2555359" y="4150242"/>
            <a:ext cx="2608521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1800" b="1"/>
            </a:pPr>
            <a:r>
              <a:rPr lang="en-US" dirty="0"/>
              <a:t>Revised question?</a:t>
            </a:r>
          </a:p>
          <a:p>
            <a:pPr algn="ctr">
              <a:defRPr sz="1800" b="1"/>
            </a:pPr>
            <a:endParaRPr lang="en-US" dirty="0"/>
          </a:p>
          <a:p>
            <a:pPr algn="ctr">
              <a:defRPr sz="1800" b="1"/>
            </a:pPr>
            <a:endParaRPr lang="en-US" dirty="0"/>
          </a:p>
          <a:p>
            <a:pPr algn="ctr">
              <a:defRPr sz="1800" b="1"/>
            </a:pPr>
            <a:endParaRPr lang="en-US" dirty="0"/>
          </a:p>
          <a:p>
            <a:pPr algn="ctr">
              <a:defRPr sz="1800" b="1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3602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298EC-C86C-91EF-8F9B-8BA051DC7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55FDF9-C7A0-6D59-4F6F-E4AB00ADCB95}"/>
              </a:ext>
            </a:extLst>
          </p:cNvPr>
          <p:cNvSpPr txBox="1"/>
          <p:nvPr/>
        </p:nvSpPr>
        <p:spPr>
          <a:xfrm>
            <a:off x="2502196" y="1119962"/>
            <a:ext cx="2608521" cy="121058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1800" b="1"/>
            </a:pPr>
            <a:r>
              <a:rPr lang="en-US" dirty="0"/>
              <a:t>Initial question</a:t>
            </a:r>
          </a:p>
          <a:p>
            <a:pPr>
              <a:spcBef>
                <a:spcPts val="800"/>
              </a:spcBef>
              <a:defRPr sz="1600"/>
            </a:pPr>
            <a:r>
              <a:rPr lang="en-US" dirty="0"/>
              <a:t>Did sales decline in the Northwest region this year?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2CEF06-F19D-283A-BC5E-3AA804BF8F26}"/>
              </a:ext>
            </a:extLst>
          </p:cNvPr>
          <p:cNvSpPr txBox="1"/>
          <p:nvPr/>
        </p:nvSpPr>
        <p:spPr>
          <a:xfrm>
            <a:off x="7421528" y="1119962"/>
            <a:ext cx="2608521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Expected data: monthly sales totals by region.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43429108-9FCD-4964-13E4-451905BD0834}"/>
              </a:ext>
            </a:extLst>
          </p:cNvPr>
          <p:cNvSpPr/>
          <p:nvPr/>
        </p:nvSpPr>
        <p:spPr>
          <a:xfrm>
            <a:off x="5330456" y="1729562"/>
            <a:ext cx="1474382" cy="1772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06148ACA-DA7E-F976-C331-EEB6A783702E}"/>
              </a:ext>
            </a:extLst>
          </p:cNvPr>
          <p:cNvSpPr/>
          <p:nvPr/>
        </p:nvSpPr>
        <p:spPr>
          <a:xfrm>
            <a:off x="8739963" y="2750288"/>
            <a:ext cx="141768" cy="84351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8B885E-3B03-D171-AFAF-DC1B7364504F}"/>
              </a:ext>
            </a:extLst>
          </p:cNvPr>
          <p:cNvSpPr txBox="1"/>
          <p:nvPr/>
        </p:nvSpPr>
        <p:spPr>
          <a:xfrm>
            <a:off x="7506586" y="3824176"/>
            <a:ext cx="2608521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Actual data: transaction-level data with date, customer, salesperson, product, location, quantity, price, discount, and return indicator.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CF3FF924-D562-5E79-2AF0-4910E95AEF66}"/>
              </a:ext>
            </a:extLst>
          </p:cNvPr>
          <p:cNvSpPr/>
          <p:nvPr/>
        </p:nvSpPr>
        <p:spPr>
          <a:xfrm rot="10800000">
            <a:off x="5443869" y="4667336"/>
            <a:ext cx="1651591" cy="1772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4C481D-5CDA-C444-D37E-6C145EBFE7C5}"/>
              </a:ext>
            </a:extLst>
          </p:cNvPr>
          <p:cNvSpPr txBox="1"/>
          <p:nvPr/>
        </p:nvSpPr>
        <p:spPr>
          <a:xfrm>
            <a:off x="2555359" y="4150242"/>
            <a:ext cx="2608521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1800" b="1"/>
            </a:pPr>
            <a:r>
              <a:rPr lang="en-US" dirty="0"/>
              <a:t>Revised question?</a:t>
            </a:r>
          </a:p>
          <a:p>
            <a:pPr algn="ctr">
              <a:defRPr sz="1800" b="1"/>
            </a:pPr>
            <a:endParaRPr lang="en-US" dirty="0"/>
          </a:p>
          <a:p>
            <a:pPr algn="ctr">
              <a:defRPr sz="1800" b="1"/>
            </a:pPr>
            <a:r>
              <a:rPr lang="en-US" dirty="0">
                <a:solidFill>
                  <a:schemeClr val="tx2"/>
                </a:solidFill>
              </a:rPr>
              <a:t>What is driving the change in Northwest sales?</a:t>
            </a:r>
          </a:p>
          <a:p>
            <a:pPr algn="ctr">
              <a:defRPr sz="1800" b="1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7580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4B99C-C1D6-4D35-EB08-0B9EC55C6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F4246FF-FC7B-8BA8-218D-783783CC6D5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1598258"/>
          </a:xfrm>
        </p:spPr>
        <p:txBody>
          <a:bodyPr/>
          <a:lstStyle/>
          <a:p>
            <a:pPr>
              <a:spcBef>
                <a:spcPts val="800"/>
              </a:spcBef>
              <a:defRPr sz="1600"/>
            </a:pPr>
            <a:r>
              <a:rPr lang="en-US" b="1" dirty="0"/>
              <a:t>Opportunity</a:t>
            </a:r>
            <a:r>
              <a:rPr lang="en-US" dirty="0"/>
              <a:t>: richer data make a more informative question possible. Instead of stopping at what happened, decompose the change into possible drivers such as volume, price, product mix, customer mix, discounting, and returns.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61B198-94B7-4194-EC2E-064DA89C4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be recursive in the analytic process</a:t>
            </a:r>
          </a:p>
        </p:txBody>
      </p:sp>
    </p:spTree>
    <p:extLst>
      <p:ext uri="{BB962C8B-B14F-4D97-AF65-F5344CB8AC3E}">
        <p14:creationId xmlns:p14="http://schemas.microsoft.com/office/powerpoint/2010/main" val="42734563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08D94-7723-00F6-A62D-ECCB58525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D09ECB-D0C5-6E12-93DD-A94857EFB524}"/>
              </a:ext>
            </a:extLst>
          </p:cNvPr>
          <p:cNvSpPr txBox="1"/>
          <p:nvPr/>
        </p:nvSpPr>
        <p:spPr>
          <a:xfrm>
            <a:off x="2502196" y="1119962"/>
            <a:ext cx="2608521" cy="145680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1800" b="1"/>
            </a:pPr>
            <a:r>
              <a:rPr lang="en-US" dirty="0"/>
              <a:t>Initial question</a:t>
            </a:r>
          </a:p>
          <a:p>
            <a:pPr>
              <a:spcBef>
                <a:spcPts val="800"/>
              </a:spcBef>
              <a:defRPr sz="1600"/>
            </a:pPr>
            <a:r>
              <a:rPr lang="en-US" dirty="0"/>
              <a:t>Has the company's financial condition deteriorated or improved?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745FEE-72FF-FFD0-905B-09284E00C288}"/>
              </a:ext>
            </a:extLst>
          </p:cNvPr>
          <p:cNvSpPr txBox="1"/>
          <p:nvPr/>
        </p:nvSpPr>
        <p:spPr>
          <a:xfrm>
            <a:off x="7421528" y="1119962"/>
            <a:ext cx="2608521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Expected data: balance sheet, income statement.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6BDE7EB3-5B96-95D0-B6CB-F6B16375622A}"/>
              </a:ext>
            </a:extLst>
          </p:cNvPr>
          <p:cNvSpPr/>
          <p:nvPr/>
        </p:nvSpPr>
        <p:spPr>
          <a:xfrm>
            <a:off x="5330456" y="1729562"/>
            <a:ext cx="1474382" cy="1772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7137D3EB-5D3C-7578-03EB-BDDDBB468685}"/>
              </a:ext>
            </a:extLst>
          </p:cNvPr>
          <p:cNvSpPr/>
          <p:nvPr/>
        </p:nvSpPr>
        <p:spPr>
          <a:xfrm>
            <a:off x="8739963" y="2750288"/>
            <a:ext cx="141768" cy="84351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B24BDD-F29E-0B5C-6E55-DE73E6EF9852}"/>
              </a:ext>
            </a:extLst>
          </p:cNvPr>
          <p:cNvSpPr txBox="1"/>
          <p:nvPr/>
        </p:nvSpPr>
        <p:spPr>
          <a:xfrm>
            <a:off x="7506586" y="3824176"/>
            <a:ext cx="3289005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Actual data: Initial evidence may include financial statements and ratios. SEC filings can add several years of MD&amp;A, risk factors, footnotes, comment letters, XBRL facts, and other external financial data.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3DFB3CE7-25E3-785B-D051-0B9950D41283}"/>
              </a:ext>
            </a:extLst>
          </p:cNvPr>
          <p:cNvSpPr/>
          <p:nvPr/>
        </p:nvSpPr>
        <p:spPr>
          <a:xfrm rot="10800000">
            <a:off x="5443869" y="4667336"/>
            <a:ext cx="1651591" cy="1772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6F38E2-CC88-A90E-240E-7714016DA0A5}"/>
              </a:ext>
            </a:extLst>
          </p:cNvPr>
          <p:cNvSpPr txBox="1"/>
          <p:nvPr/>
        </p:nvSpPr>
        <p:spPr>
          <a:xfrm>
            <a:off x="2555359" y="4150242"/>
            <a:ext cx="2608521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1800" b="1"/>
            </a:pPr>
            <a:r>
              <a:rPr lang="en-US" dirty="0"/>
              <a:t>Revised question?</a:t>
            </a:r>
          </a:p>
          <a:p>
            <a:pPr algn="ctr">
              <a:defRPr sz="1800" b="1"/>
            </a:pPr>
            <a:endParaRPr lang="en-US" dirty="0"/>
          </a:p>
          <a:p>
            <a:pPr algn="ctr">
              <a:defRPr sz="1800" b="1"/>
            </a:pPr>
            <a:endParaRPr lang="en-US" dirty="0"/>
          </a:p>
          <a:p>
            <a:pPr algn="ctr">
              <a:defRPr sz="1800" b="1"/>
            </a:pPr>
            <a:endParaRPr lang="en-US" dirty="0"/>
          </a:p>
          <a:p>
            <a:pPr algn="ctr">
              <a:defRPr sz="1800" b="1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5201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E536E-1513-B713-C9F7-9BC626D1F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970A5C-1B5E-55D1-F4D0-906111ACC6F0}"/>
              </a:ext>
            </a:extLst>
          </p:cNvPr>
          <p:cNvSpPr txBox="1"/>
          <p:nvPr/>
        </p:nvSpPr>
        <p:spPr>
          <a:xfrm>
            <a:off x="2502196" y="1119962"/>
            <a:ext cx="2608521" cy="145680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1800" b="1"/>
            </a:pPr>
            <a:r>
              <a:rPr lang="en-US" dirty="0"/>
              <a:t>Initial question</a:t>
            </a:r>
          </a:p>
          <a:p>
            <a:pPr>
              <a:spcBef>
                <a:spcPts val="800"/>
              </a:spcBef>
              <a:defRPr sz="1600"/>
            </a:pPr>
            <a:r>
              <a:rPr lang="en-US" dirty="0"/>
              <a:t>Has the company's financial condition deteriorated or improved?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8E54C0-05D3-CF70-CD8C-05D7045420A9}"/>
              </a:ext>
            </a:extLst>
          </p:cNvPr>
          <p:cNvSpPr txBox="1"/>
          <p:nvPr/>
        </p:nvSpPr>
        <p:spPr>
          <a:xfrm>
            <a:off x="7421528" y="1119962"/>
            <a:ext cx="2608521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Expected data: balance sheet, income statement.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8E997AE-2DB1-A398-6954-D0838D25E6B7}"/>
              </a:ext>
            </a:extLst>
          </p:cNvPr>
          <p:cNvSpPr/>
          <p:nvPr/>
        </p:nvSpPr>
        <p:spPr>
          <a:xfrm>
            <a:off x="5330456" y="1729562"/>
            <a:ext cx="1474382" cy="1772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F9A48966-6B66-3AC0-9B2F-38BA2551EF47}"/>
              </a:ext>
            </a:extLst>
          </p:cNvPr>
          <p:cNvSpPr/>
          <p:nvPr/>
        </p:nvSpPr>
        <p:spPr>
          <a:xfrm>
            <a:off x="8739963" y="2750288"/>
            <a:ext cx="141768" cy="84351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EFF258-277F-E988-CDA6-8FA4EE3EA206}"/>
              </a:ext>
            </a:extLst>
          </p:cNvPr>
          <p:cNvSpPr txBox="1"/>
          <p:nvPr/>
        </p:nvSpPr>
        <p:spPr>
          <a:xfrm>
            <a:off x="7506586" y="3824176"/>
            <a:ext cx="3260651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Actual data: Initial evidence may include financial statements and ratios. SEC filings can add several years of MD&amp;A, risk factors, footnotes, comment letters, XBRL facts, and other external financial data.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2FD57AB-2C89-91EF-3A45-1C056C1F0490}"/>
              </a:ext>
            </a:extLst>
          </p:cNvPr>
          <p:cNvSpPr/>
          <p:nvPr/>
        </p:nvSpPr>
        <p:spPr>
          <a:xfrm rot="10800000">
            <a:off x="5443869" y="4667336"/>
            <a:ext cx="1651591" cy="1772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7FCDEE-64AA-8296-3878-B4A71E92E03F}"/>
              </a:ext>
            </a:extLst>
          </p:cNvPr>
          <p:cNvSpPr txBox="1"/>
          <p:nvPr/>
        </p:nvSpPr>
        <p:spPr>
          <a:xfrm>
            <a:off x="1279450" y="3962675"/>
            <a:ext cx="4051006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1800" b="1"/>
            </a:pPr>
            <a:r>
              <a:rPr lang="en-US" dirty="0"/>
              <a:t>Revised question?</a:t>
            </a:r>
          </a:p>
          <a:p>
            <a:pPr algn="ctr">
              <a:defRPr sz="1800" b="1"/>
            </a:pPr>
            <a:endParaRPr lang="en-US" dirty="0"/>
          </a:p>
          <a:p>
            <a:pPr algn="ctr">
              <a:defRPr sz="1800" b="1"/>
            </a:pPr>
            <a:r>
              <a:rPr lang="en-US" dirty="0">
                <a:solidFill>
                  <a:schemeClr val="tx2"/>
                </a:solidFill>
              </a:rPr>
              <a:t>Are changes in management's disclosures consistent with the deterioration/improvement observed in the financial statements?</a:t>
            </a:r>
          </a:p>
        </p:txBody>
      </p:sp>
    </p:spTree>
    <p:extLst>
      <p:ext uri="{BB962C8B-B14F-4D97-AF65-F5344CB8AC3E}">
        <p14:creationId xmlns:p14="http://schemas.microsoft.com/office/powerpoint/2010/main" val="7316861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1424C-F042-3341-15E9-952F6B5A4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1FD86A-C925-5338-5308-B1E2EECF28C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1967590"/>
          </a:xfrm>
        </p:spPr>
        <p:txBody>
          <a:bodyPr/>
          <a:lstStyle/>
          <a:p>
            <a:pPr>
              <a:spcBef>
                <a:spcPts val="800"/>
              </a:spcBef>
              <a:defRPr sz="1600"/>
            </a:pPr>
            <a:r>
              <a:rPr lang="en-US" b="1" dirty="0"/>
              <a:t>Discovery: </a:t>
            </a:r>
            <a:r>
              <a:rPr lang="en-US" dirty="0"/>
              <a:t>combining structured financial data with narrative disclosures can create new questions. Agreement across sources may corroborate a concern; disagreement can itself become evidence that warrants additional investigation.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E24A36-8F02-DCAF-E719-D0FAB2BCC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be recursive in the analytic process</a:t>
            </a:r>
          </a:p>
        </p:txBody>
      </p:sp>
    </p:spTree>
    <p:extLst>
      <p:ext uri="{BB962C8B-B14F-4D97-AF65-F5344CB8AC3E}">
        <p14:creationId xmlns:p14="http://schemas.microsoft.com/office/powerpoint/2010/main" val="42857940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72A728-EEC0-F020-D344-ADB263CE36C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2252796"/>
          </a:xfrm>
        </p:spPr>
        <p:txBody>
          <a:bodyPr/>
          <a:lstStyle/>
          <a:p>
            <a:r>
              <a:rPr lang="en-US" dirty="0"/>
              <a:t>Why be recursive in the analytic process</a:t>
            </a:r>
          </a:p>
          <a:p>
            <a:r>
              <a:rPr lang="en-US" dirty="0"/>
              <a:t>Example: QUESTION  →  DATA  →  QUESTION</a:t>
            </a:r>
          </a:p>
          <a:p>
            <a:pPr marL="1030800" lvl="1" indent="-342900">
              <a:buFont typeface="Arial" panose="020B0604020202020204" pitchFamily="34" charset="0"/>
              <a:buChar char="•"/>
            </a:pPr>
            <a:r>
              <a:rPr lang="en-US" dirty="0"/>
              <a:t>Constraints (sparse data)</a:t>
            </a:r>
          </a:p>
          <a:p>
            <a:pPr marL="1030800" lvl="1" indent="-342900">
              <a:buFont typeface="Arial" panose="020B0604020202020204" pitchFamily="34" charset="0"/>
              <a:buChar char="•"/>
            </a:pPr>
            <a:r>
              <a:rPr lang="en-US" dirty="0"/>
              <a:t>Opportunities (rich data)</a:t>
            </a:r>
          </a:p>
          <a:p>
            <a:pPr marL="1030800" lvl="1" indent="-342900">
              <a:buFont typeface="Arial" panose="020B0604020202020204" pitchFamily="34" charset="0"/>
              <a:buChar char="•"/>
            </a:pPr>
            <a:r>
              <a:rPr lang="en-US" dirty="0"/>
              <a:t>Discovery (multiple rich data sources)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B26921-D5DC-E833-F5E3-C7ED2810E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633991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79857-5102-D04B-EF37-7EA645782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DAFAABB-7306-8359-62E5-ECD522EA49B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3140475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Review (Gen AI;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PollEverywhere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Course Overview &amp; Expectations (Syllabus)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The Analytical Mindset</a:t>
            </a:r>
          </a:p>
          <a:p>
            <a:pPr marL="1145100" lvl="1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Definition</a:t>
            </a:r>
          </a:p>
          <a:p>
            <a:pPr marL="1145100" lvl="1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From data to responsible decisions</a:t>
            </a:r>
          </a:p>
          <a:p>
            <a:pPr marL="1145100" lvl="1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Exercises (questioning data recursively)</a:t>
            </a:r>
          </a:p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Foster Remote Labs set-up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4F5D89-170B-2EBD-71EA-96C34FDC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3826805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E84B09C-44EB-406A-8F09-82B2F3309DDB}"/>
              </a:ext>
            </a:extLst>
          </p:cNvPr>
          <p:cNvSpPr>
            <a:spLocks noGrp="1"/>
          </p:cNvSpPr>
          <p:nvPr/>
        </p:nvSpPr>
        <p:spPr>
          <a:xfrm>
            <a:off x="628650" y="638175"/>
            <a:ext cx="108966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4B2E83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4B2E83"/>
                </a:solidFill>
                <a:latin typeface="Segoe UI"/>
                <a:ea typeface="Segoe UI"/>
                <a:cs typeface="Segoe UI"/>
              </a:rPr>
              <a:t>Where the MPAcc tools fit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064C25-06E0-453B-8FB2-B585629165D9}"/>
              </a:ext>
            </a:extLst>
          </p:cNvPr>
          <p:cNvSpPr>
            <a:spLocks noGrp="1"/>
          </p:cNvSpPr>
          <p:nvPr/>
        </p:nvSpPr>
        <p:spPr>
          <a:xfrm>
            <a:off x="723900" y="1571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252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Canvas: course instructions, assignment rules and resource links.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E46DE2-7CE4-46E0-95D5-C44BC922126B}"/>
              </a:ext>
            </a:extLst>
          </p:cNvPr>
          <p:cNvSpPr>
            <a:spLocks noGrp="1"/>
          </p:cNvSpPr>
          <p:nvPr/>
        </p:nvSpPr>
        <p:spPr>
          <a:xfrm>
            <a:off x="723900" y="242887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2529"/>
                </a:solidFill>
                <a:latin typeface="Segoe UI"/>
                <a:ea typeface="Segoe UI"/>
                <a:cs typeface="Segoe UI"/>
              </a:defRPr>
            </a:pPr>
            <a:r>
              <a:rPr sz="210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Poll Everywhere: participation and discussion during class.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384711-B426-426E-868B-29AAD8A25E9E}"/>
              </a:ext>
            </a:extLst>
          </p:cNvPr>
          <p:cNvSpPr>
            <a:spLocks noGrp="1"/>
          </p:cNvSpPr>
          <p:nvPr/>
        </p:nvSpPr>
        <p:spPr>
          <a:xfrm>
            <a:off x="723900" y="32861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2529"/>
                </a:solidFill>
                <a:latin typeface="Segoe UI"/>
                <a:ea typeface="Segoe UI"/>
                <a:cs typeface="Segoe UI"/>
              </a:defRPr>
            </a:pPr>
            <a:r>
              <a:rPr sz="2100" b="1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Foster Remote Labs: the shared environment for course software.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E5B6B9-8710-4FF7-9A77-A35A7C7E5099}"/>
              </a:ext>
            </a:extLst>
          </p:cNvPr>
          <p:cNvSpPr>
            <a:spLocks noGrp="1"/>
          </p:cNvSpPr>
          <p:nvPr/>
        </p:nvSpPr>
        <p:spPr>
          <a:xfrm>
            <a:off x="723900" y="414337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2529"/>
                </a:solidFill>
                <a:latin typeface="Segoe UI"/>
                <a:ea typeface="Segoe UI"/>
                <a:cs typeface="Segoe UI"/>
              </a:defRPr>
            </a:pPr>
            <a:r>
              <a:rPr sz="2100" b="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Git and GitHub: a consistent way to obtain course files.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5C13A6-C343-55D6-E927-A84471B1DB12}"/>
              </a:ext>
            </a:extLst>
          </p:cNvPr>
          <p:cNvSpPr>
            <a:spLocks noGrp="1"/>
          </p:cNvSpPr>
          <p:nvPr/>
        </p:nvSpPr>
        <p:spPr>
          <a:xfrm>
            <a:off x="723900" y="5000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2529"/>
                </a:solidFill>
                <a:latin typeface="Segoe UI"/>
                <a:ea typeface="Segoe UI"/>
                <a:cs typeface="Segoe UI"/>
              </a:defRPr>
            </a:pPr>
            <a:r>
              <a:rPr lang="en-US" sz="2100" b="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EYARC Live</a:t>
            </a:r>
            <a:r>
              <a:rPr sz="2100" b="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: </a:t>
            </a:r>
            <a:r>
              <a:rPr lang="en-US" sz="2100" b="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an online content delivery platform</a:t>
            </a:r>
            <a:r>
              <a:rPr sz="2100" b="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11971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CF773C-D67A-4489-8A60-298052F30B0A}"/>
              </a:ext>
            </a:extLst>
          </p:cNvPr>
          <p:cNvSpPr>
            <a:spLocks noGrp="1"/>
          </p:cNvSpPr>
          <p:nvPr/>
        </p:nvSpPr>
        <p:spPr>
          <a:xfrm>
            <a:off x="628650" y="638175"/>
            <a:ext cx="108966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4B2E83"/>
                </a:solidFill>
                <a:latin typeface="Segoe UI"/>
                <a:ea typeface="Segoe UI"/>
                <a:cs typeface="Segoe UI"/>
              </a:defRPr>
            </a:pPr>
            <a:r>
              <a:rPr sz="3000" b="1" dirty="0">
                <a:solidFill>
                  <a:srgbClr val="4B2E83"/>
                </a:solidFill>
                <a:latin typeface="Segoe UI"/>
                <a:ea typeface="Segoe UI"/>
                <a:cs typeface="Segoe UI"/>
              </a:rPr>
              <a:t>Foster </a:t>
            </a:r>
            <a:r>
              <a:rPr sz="3000" b="1">
                <a:solidFill>
                  <a:srgbClr val="4B2E83"/>
                </a:solidFill>
                <a:latin typeface="Segoe UI"/>
                <a:ea typeface="Segoe UI"/>
                <a:cs typeface="Segoe UI"/>
              </a:rPr>
              <a:t>Remote Labs</a:t>
            </a:r>
            <a:endParaRPr sz="3000" b="1" dirty="0">
              <a:solidFill>
                <a:srgbClr val="4B2E83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BE626F-5907-45F8-A5F4-80679262995A}"/>
              </a:ext>
            </a:extLst>
          </p:cNvPr>
          <p:cNvSpPr>
            <a:spLocks noGrp="1"/>
          </p:cNvSpPr>
          <p:nvPr/>
        </p:nvSpPr>
        <p:spPr>
          <a:xfrm>
            <a:off x="723900" y="1571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917B4C"/>
                </a:solidFill>
                <a:latin typeface="Segoe UI"/>
                <a:ea typeface="Segoe UI"/>
                <a:cs typeface="Segoe UI"/>
              </a:defRPr>
            </a:pPr>
            <a:r>
              <a:rPr lang="en-US" dirty="0">
                <a:solidFill>
                  <a:srgbClr val="212529"/>
                </a:solidFill>
                <a:latin typeface="Segoe UI" panose="020B0502040204020203" pitchFamily="34" charset="0"/>
                <a:hlinkClick r:id="rId3"/>
              </a:rPr>
              <a:t>https://fprod-hcs.foster.uw.edu</a:t>
            </a:r>
            <a:endParaRPr sz="1875" b="0" dirty="0">
              <a:solidFill>
                <a:srgbClr val="917B4C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AE97FF-6A1C-4E17-B2CA-421B4B6B53FE}"/>
              </a:ext>
            </a:extLst>
          </p:cNvPr>
          <p:cNvSpPr>
            <a:spLocks noGrp="1"/>
          </p:cNvSpPr>
          <p:nvPr/>
        </p:nvSpPr>
        <p:spPr>
          <a:xfrm>
            <a:off x="723900" y="2333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2529"/>
                </a:solidFill>
                <a:latin typeface="Segoe UI"/>
                <a:ea typeface="Segoe UI"/>
                <a:cs typeface="Segoe UI"/>
              </a:defRPr>
            </a:pPr>
            <a:r>
              <a:rPr lang="en-US" sz="2100" b="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S</a:t>
            </a:r>
            <a:r>
              <a:rPr sz="2100" b="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ign in</a:t>
            </a:r>
            <a:r>
              <a:rPr lang="en-US" sz="2100" b="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 using UW </a:t>
            </a:r>
            <a:r>
              <a:rPr lang="en-US" sz="2100" b="0" dirty="0" err="1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netid</a:t>
            </a:r>
            <a:r>
              <a:rPr lang="en-US" sz="2100" b="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 and password</a:t>
            </a:r>
            <a:r>
              <a:rPr sz="2100" b="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587427-36C8-4A1E-A642-F87F4D817232}"/>
              </a:ext>
            </a:extLst>
          </p:cNvPr>
          <p:cNvSpPr>
            <a:spLocks noGrp="1"/>
          </p:cNvSpPr>
          <p:nvPr/>
        </p:nvSpPr>
        <p:spPr>
          <a:xfrm>
            <a:off x="723900" y="319087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2529"/>
                </a:solidFill>
                <a:latin typeface="Segoe UI"/>
                <a:ea typeface="Segoe UI"/>
                <a:cs typeface="Segoe UI"/>
              </a:defRPr>
            </a:pPr>
            <a:r>
              <a:rPr lang="en-US" sz="2100" b="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Familiarize yourself with the remote </a:t>
            </a:r>
            <a:r>
              <a:rPr sz="2100" b="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environment and </a:t>
            </a:r>
            <a:r>
              <a:rPr lang="en-US" sz="2100" b="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identify </a:t>
            </a:r>
            <a:r>
              <a:rPr sz="2100" b="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storage location.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647F7F-17EB-4AA0-BBDF-58FF48E0A8C4}"/>
              </a:ext>
            </a:extLst>
          </p:cNvPr>
          <p:cNvSpPr>
            <a:spLocks noGrp="1"/>
          </p:cNvSpPr>
          <p:nvPr/>
        </p:nvSpPr>
        <p:spPr>
          <a:xfrm>
            <a:off x="723900" y="40481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2529"/>
                </a:solidFill>
                <a:latin typeface="Segoe UI"/>
                <a:ea typeface="Segoe UI"/>
                <a:cs typeface="Segoe UI"/>
              </a:defRPr>
            </a:pPr>
            <a:r>
              <a:rPr sz="2100" b="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Open a file, save a copy and confirm where it went</a:t>
            </a:r>
            <a:r>
              <a:rPr lang="en-US" sz="2100" b="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 (goodbye.txt; hello_world.txt)</a:t>
            </a:r>
            <a:r>
              <a:rPr sz="2100" b="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53696C-A406-4122-9027-D6734E99887A}"/>
              </a:ext>
            </a:extLst>
          </p:cNvPr>
          <p:cNvSpPr>
            <a:spLocks noGrp="1"/>
          </p:cNvSpPr>
          <p:nvPr/>
        </p:nvSpPr>
        <p:spPr>
          <a:xfrm>
            <a:off x="723900" y="4905375"/>
            <a:ext cx="106680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212529"/>
                </a:solidFill>
                <a:latin typeface="Segoe UI"/>
                <a:ea typeface="Segoe UI"/>
                <a:cs typeface="Segoe UI"/>
              </a:defRPr>
            </a:pPr>
            <a:r>
              <a:rPr sz="2100" b="1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Your laptop and the remote computer have different file locations.</a:t>
            </a:r>
          </a:p>
        </p:txBody>
      </p:sp>
    </p:spTree>
    <p:extLst>
      <p:ext uri="{BB962C8B-B14F-4D97-AF65-F5344CB8AC3E}">
        <p14:creationId xmlns:p14="http://schemas.microsoft.com/office/powerpoint/2010/main" val="29312089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84B59F3-FA70-48A1-8B0F-551483EAAA2F}"/>
              </a:ext>
            </a:extLst>
          </p:cNvPr>
          <p:cNvSpPr>
            <a:spLocks noGrp="1"/>
          </p:cNvSpPr>
          <p:nvPr/>
        </p:nvSpPr>
        <p:spPr>
          <a:xfrm>
            <a:off x="628650" y="638175"/>
            <a:ext cx="108966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4B2E83"/>
                </a:solidFill>
                <a:latin typeface="Segoe UI"/>
                <a:ea typeface="Segoe UI"/>
                <a:cs typeface="Segoe UI"/>
              </a:defRPr>
            </a:pPr>
            <a:r>
              <a:rPr sz="3000" b="1" dirty="0">
                <a:solidFill>
                  <a:srgbClr val="4B2E83"/>
                </a:solidFill>
                <a:latin typeface="Segoe UI"/>
                <a:ea typeface="Segoe UI"/>
                <a:cs typeface="Segoe UI"/>
              </a:rPr>
              <a:t>Questions and next steps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EC96EB-8371-4B7E-A0C3-573FD660BBA7}"/>
              </a:ext>
            </a:extLst>
          </p:cNvPr>
          <p:cNvSpPr>
            <a:spLocks noGrp="1"/>
          </p:cNvSpPr>
          <p:nvPr/>
        </p:nvSpPr>
        <p:spPr>
          <a:xfrm>
            <a:off x="723900" y="1571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2529"/>
                </a:solidFill>
                <a:latin typeface="Segoe UI"/>
                <a:ea typeface="Segoe UI"/>
                <a:cs typeface="Segoe UI"/>
              </a:defRPr>
            </a:pPr>
            <a:r>
              <a:rPr lang="en-US" sz="2100" b="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Questions?</a:t>
            </a:r>
          </a:p>
          <a:p>
            <a:pPr>
              <a:defRPr sz="2100" b="0">
                <a:solidFill>
                  <a:srgbClr val="212529"/>
                </a:solidFill>
                <a:latin typeface="Segoe UI"/>
                <a:ea typeface="Segoe UI"/>
                <a:cs typeface="Segoe UI"/>
              </a:defRPr>
            </a:pPr>
            <a:endParaRPr lang="en-US" sz="2100" dirty="0">
              <a:solidFill>
                <a:srgbClr val="212529"/>
              </a:solidFill>
              <a:latin typeface="Segoe UI"/>
              <a:ea typeface="Segoe UI"/>
              <a:cs typeface="Segoe UI"/>
            </a:endParaRPr>
          </a:p>
          <a:p>
            <a:pPr>
              <a:defRPr sz="2100" b="0">
                <a:solidFill>
                  <a:srgbClr val="212529"/>
                </a:solidFill>
                <a:latin typeface="Segoe UI"/>
                <a:ea typeface="Segoe UI"/>
                <a:cs typeface="Segoe UI"/>
              </a:defRPr>
            </a:pPr>
            <a:r>
              <a:rPr lang="en-US" sz="210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Next topic: We will begin our ETL process module (extensive; practical and conceptual)</a:t>
            </a:r>
          </a:p>
          <a:p>
            <a:pPr>
              <a:defRPr sz="2100" b="0">
                <a:solidFill>
                  <a:srgbClr val="212529"/>
                </a:solidFill>
                <a:latin typeface="Segoe UI"/>
                <a:ea typeface="Segoe UI"/>
                <a:cs typeface="Segoe UI"/>
              </a:defRPr>
            </a:pPr>
            <a:endParaRPr lang="en-US" sz="2100" b="0" dirty="0">
              <a:solidFill>
                <a:srgbClr val="212529"/>
              </a:solidFill>
              <a:latin typeface="Segoe UI"/>
              <a:ea typeface="Segoe UI"/>
              <a:cs typeface="Segoe UI"/>
            </a:endParaRPr>
          </a:p>
          <a:p>
            <a:pPr>
              <a:defRPr sz="2100" b="0">
                <a:solidFill>
                  <a:srgbClr val="212529"/>
                </a:solidFill>
                <a:latin typeface="Segoe UI"/>
                <a:ea typeface="Segoe UI"/>
                <a:cs typeface="Segoe UI"/>
              </a:defRPr>
            </a:pPr>
            <a:r>
              <a:rPr lang="en-US" sz="2100" b="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I look forward to your questions and taking the next steps on Monday!</a:t>
            </a:r>
            <a:endParaRPr sz="2100" b="0" dirty="0">
              <a:solidFill>
                <a:srgbClr val="212529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2BDF1C-957F-4AAB-ABE6-0C863FA7B0C5}"/>
              </a:ext>
            </a:extLst>
          </p:cNvPr>
          <p:cNvSpPr>
            <a:spLocks noGrp="1"/>
          </p:cNvSpPr>
          <p:nvPr/>
        </p:nvSpPr>
        <p:spPr>
          <a:xfrm>
            <a:off x="723900" y="4172172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00" b="0">
                <a:solidFill>
                  <a:srgbClr val="917B4C"/>
                </a:solidFill>
                <a:latin typeface="Segoe UI"/>
                <a:ea typeface="Segoe UI"/>
                <a:cs typeface="Segoe UI"/>
              </a:defRPr>
            </a:pPr>
            <a:r>
              <a:rPr lang="en-US" sz="2100" b="0" dirty="0">
                <a:solidFill>
                  <a:srgbClr val="917B4C"/>
                </a:solidFill>
                <a:latin typeface="Segoe UI"/>
                <a:ea typeface="Segoe UI"/>
                <a:cs typeface="Segoe UI"/>
              </a:rPr>
              <a:t>Thank you!</a:t>
            </a:r>
            <a:endParaRPr sz="2100" b="0" dirty="0">
              <a:solidFill>
                <a:srgbClr val="917B4C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931208946"/>
      </p:ext>
    </p:extLst>
  </p:cSld>
  <p:clrMapOvr>
    <a:masterClrMapping/>
  </p:clrMapOvr>
</p:sld>
</file>

<file path=ppt/theme/theme1.xml><?xml version="1.0" encoding="utf-8"?>
<a:theme xmlns:a="http://schemas.openxmlformats.org/drawingml/2006/main" name="W Foster MBA Career Mgmt">
  <a:themeElements>
    <a:clrScheme name="2024 FOSTER 2">
      <a:dk1>
        <a:srgbClr val="000000"/>
      </a:dk1>
      <a:lt1>
        <a:srgbClr val="FFFFFF"/>
      </a:lt1>
      <a:dk2>
        <a:srgbClr val="32006E"/>
      </a:dk2>
      <a:lt2>
        <a:srgbClr val="F5F5F9"/>
      </a:lt2>
      <a:accent1>
        <a:srgbClr val="B7A579"/>
      </a:accent1>
      <a:accent2>
        <a:srgbClr val="8C51FF"/>
      </a:accent2>
      <a:accent3>
        <a:srgbClr val="917B4C"/>
      </a:accent3>
      <a:accent4>
        <a:srgbClr val="000000"/>
      </a:accent4>
      <a:accent5>
        <a:srgbClr val="CACACA"/>
      </a:accent5>
      <a:accent6>
        <a:srgbClr val="E8E8E8"/>
      </a:accent6>
      <a:hlink>
        <a:srgbClr val="0000DE"/>
      </a:hlink>
      <a:folHlink>
        <a:srgbClr val="4B2E84"/>
      </a:folHlink>
    </a:clrScheme>
    <a:fontScheme name="Custom 1">
      <a:majorFont>
        <a:latin typeface="Encode Sans Normal"/>
        <a:ea typeface=""/>
        <a:cs typeface=""/>
      </a:majorFont>
      <a:minorFont>
        <a:latin typeface="Open Sans"/>
        <a:ea typeface=""/>
        <a:cs typeface=""/>
      </a:minorFont>
    </a:fontScheme>
    <a:fmtScheme name="2024 FOSTER 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 Foster MBA Career Mgmt">
  <a:themeElements>
    <a:clrScheme name="2024 FOSTER 2">
      <a:dk1>
        <a:srgbClr val="000000"/>
      </a:dk1>
      <a:lt1>
        <a:srgbClr val="FFFFFF"/>
      </a:lt1>
      <a:dk2>
        <a:srgbClr val="32006E"/>
      </a:dk2>
      <a:lt2>
        <a:srgbClr val="F5F5F9"/>
      </a:lt2>
      <a:accent1>
        <a:srgbClr val="B7A579"/>
      </a:accent1>
      <a:accent2>
        <a:srgbClr val="8C51FF"/>
      </a:accent2>
      <a:accent3>
        <a:srgbClr val="917B4C"/>
      </a:accent3>
      <a:accent4>
        <a:srgbClr val="000000"/>
      </a:accent4>
      <a:accent5>
        <a:srgbClr val="CACACA"/>
      </a:accent5>
      <a:accent6>
        <a:srgbClr val="E8E8E8"/>
      </a:accent6>
      <a:hlink>
        <a:srgbClr val="0000DE"/>
      </a:hlink>
      <a:folHlink>
        <a:srgbClr val="4B2E84"/>
      </a:folHlink>
    </a:clrScheme>
    <a:fontScheme name="Custom 1">
      <a:majorFont>
        <a:latin typeface="Encode Sans Normal"/>
        <a:ea typeface=""/>
        <a:cs typeface=""/>
      </a:majorFont>
      <a:minorFont>
        <a:latin typeface="Open Sans"/>
        <a:ea typeface=""/>
        <a:cs typeface=""/>
      </a:minorFont>
    </a:fontScheme>
    <a:fmtScheme name="2024 FOSTER 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f6b6dd5b-f02f-441a-99a0-162ac5060bd2}" enabled="0" method="" siteId="{f6b6dd5b-f02f-441a-99a0-162ac5060b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929</TotalTime>
  <Words>1529</Words>
  <Application>Microsoft Office PowerPoint</Application>
  <DocSecurity>0</DocSecurity>
  <PresentationFormat>Widescreen</PresentationFormat>
  <Paragraphs>187</Paragraphs>
  <Slides>40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0" baseType="lpstr">
      <vt:lpstr>Arial</vt:lpstr>
      <vt:lpstr>Calibri</vt:lpstr>
      <vt:lpstr>Encode Sans Normal ExtraBold</vt:lpstr>
      <vt:lpstr>Encode Sans Normal Medium</vt:lpstr>
      <vt:lpstr>Open Sans</vt:lpstr>
      <vt:lpstr>Open Sans Light</vt:lpstr>
      <vt:lpstr>Segoe UI</vt:lpstr>
      <vt:lpstr>Uni Sans Book</vt:lpstr>
      <vt:lpstr>Wingdings</vt:lpstr>
      <vt:lpstr>W Foster MBA Career Mgmt</vt:lpstr>
      <vt:lpstr>PowerPoint Presentation</vt:lpstr>
      <vt:lpstr>Agenda</vt:lpstr>
      <vt:lpstr>My Background</vt:lpstr>
      <vt:lpstr>PowerPoint Presentation</vt:lpstr>
      <vt:lpstr>PowerPoint Presentation</vt:lpstr>
      <vt:lpstr>PowerPoint Presentation</vt:lpstr>
      <vt:lpstr>PowerPoint Presentation</vt:lpstr>
      <vt:lpstr>Generative AI usage</vt:lpstr>
      <vt:lpstr>PowerPoint Presentation</vt:lpstr>
      <vt:lpstr>PollEverywhere Recap</vt:lpstr>
      <vt:lpstr>PowerPoint Presentation</vt:lpstr>
      <vt:lpstr>Agenda</vt:lpstr>
      <vt:lpstr>Syllabus</vt:lpstr>
      <vt:lpstr>Common final project</vt:lpstr>
      <vt:lpstr>PowerPoint Presentation</vt:lpstr>
      <vt:lpstr>Agenda</vt:lpstr>
      <vt:lpstr>PowerPoint Presentation</vt:lpstr>
      <vt:lpstr>Alaska Air: Analytics as Decision Support</vt:lpstr>
      <vt:lpstr>Alaska Air: Analytics as Decision Support</vt:lpstr>
      <vt:lpstr>Alaska Air: Analytics as Decision Support</vt:lpstr>
      <vt:lpstr>Alaska Air: Analytics as Decision Support</vt:lpstr>
      <vt:lpstr>Alaska Air: Analytics as Decision Support</vt:lpstr>
      <vt:lpstr>PowerPoint Presentation</vt:lpstr>
      <vt:lpstr>PowerPoint Presentation</vt:lpstr>
      <vt:lpstr>Why think of the link between data and question recursively? </vt:lpstr>
      <vt:lpstr>PowerPoint Presentation</vt:lpstr>
      <vt:lpstr>PowerPoint Presentation</vt:lpstr>
      <vt:lpstr>Why be recursive in the analytic process</vt:lpstr>
      <vt:lpstr>PowerPoint Presentation</vt:lpstr>
      <vt:lpstr>PowerPoint Presentation</vt:lpstr>
      <vt:lpstr>PowerPoint Presentation</vt:lpstr>
      <vt:lpstr>Why be recursive in the analytic process</vt:lpstr>
      <vt:lpstr>PowerPoint Presentation</vt:lpstr>
      <vt:lpstr>PowerPoint Presentation</vt:lpstr>
      <vt:lpstr>Why be recursive in the analytic process</vt:lpstr>
      <vt:lpstr>Summary</vt:lpstr>
      <vt:lpstr>Agenda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Asher Curtis</cp:lastModifiedBy>
  <cp:revision>3</cp:revision>
  <dcterms:created xsi:type="dcterms:W3CDTF">2026-09-29T01:46:38Z</dcterms:created>
  <dcterms:modified xsi:type="dcterms:W3CDTF">2026-10-05T13:27:40Z</dcterms:modified>
</cp:coreProperties>
</file>