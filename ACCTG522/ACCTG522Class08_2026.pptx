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a90936f6f2412c" /><Relationship Type="http://schemas.openxmlformats.org/officeDocument/2006/relationships/extended-properties" Target="/docProps/app.xml" Id="R189dec2ce2a848c2" /><Relationship Type="http://schemas.openxmlformats.org/officeDocument/2006/relationships/officeDocument" Target="/ppt/presentation.xml" Id="R4f6b77cdea754dc3" /></Relationships>
</file>

<file path=ppt/presentation.xml><?xml version="1.0" encoding="utf-8"?>
<p:presentation xmlns:p="http://schemas.openxmlformats.org/presentationml/2006/main">
  <p:sldMasterIdLst>
    <p:sldMasterId xmlns:r="http://schemas.openxmlformats.org/officeDocument/2006/relationships" id="2147483648" r:id="R11db52a7b0ff4ccb"/>
  </p:sldMasterIdLst>
  <p:notesMasterIdLst>
    <p:notesMasterId xmlns:r="http://schemas.openxmlformats.org/officeDocument/2006/relationships" r:id="Rba652aadb816463c"/>
  </p:notesMasterIdLst>
  <p:sldIdLst>
    <p:sldId xmlns:r="http://schemas.openxmlformats.org/officeDocument/2006/relationships" id="256" r:id="R162819bedc194340"/>
    <p:sldId xmlns:r="http://schemas.openxmlformats.org/officeDocument/2006/relationships" id="257" r:id="R443e96c71eec4efe"/>
    <p:sldId xmlns:r="http://schemas.openxmlformats.org/officeDocument/2006/relationships" id="258" r:id="Re81ad0c475d04c9d"/>
    <p:sldId xmlns:r="http://schemas.openxmlformats.org/officeDocument/2006/relationships" id="259" r:id="Rc87a9dd885004c60"/>
    <p:sldId xmlns:r="http://schemas.openxmlformats.org/officeDocument/2006/relationships" id="260" r:id="R568f3c5c740445ce"/>
    <p:sldId xmlns:r="http://schemas.openxmlformats.org/officeDocument/2006/relationships" id="261" r:id="R3589dab14f424f57"/>
    <p:sldId xmlns:r="http://schemas.openxmlformats.org/officeDocument/2006/relationships" id="262" r:id="R4bbd7a3c0f8a4a21"/>
    <p:sldId xmlns:r="http://schemas.openxmlformats.org/officeDocument/2006/relationships" id="263" r:id="R8dfa58a04adc4bb3"/>
    <p:sldId xmlns:r="http://schemas.openxmlformats.org/officeDocument/2006/relationships" id="264" r:id="Rded96de2dff74921"/>
    <p:sldId xmlns:r="http://schemas.openxmlformats.org/officeDocument/2006/relationships" id="265" r:id="R7c379d647c7c41bf"/>
    <p:sldId xmlns:r="http://schemas.openxmlformats.org/officeDocument/2006/relationships" id="266" r:id="R6d9216ac1fd742ea"/>
    <p:sldId xmlns:r="http://schemas.openxmlformats.org/officeDocument/2006/relationships" id="267" r:id="Rc4948682f0524313"/>
    <p:sldId xmlns:r="http://schemas.openxmlformats.org/officeDocument/2006/relationships" id="268" r:id="Rb726f063bd444db5"/>
    <p:sldId xmlns:r="http://schemas.openxmlformats.org/officeDocument/2006/relationships" id="269" r:id="R2f1473428d424dda"/>
    <p:sldId xmlns:r="http://schemas.openxmlformats.org/officeDocument/2006/relationships" id="270" r:id="Rb169094bd8514c1d"/>
    <p:sldId xmlns:r="http://schemas.openxmlformats.org/officeDocument/2006/relationships" id="271" r:id="Rbd0305ff710743cb"/>
    <p:sldId xmlns:r="http://schemas.openxmlformats.org/officeDocument/2006/relationships" id="272" r:id="R5d7f7d6eeb494b2c"/>
    <p:sldId xmlns:r="http://schemas.openxmlformats.org/officeDocument/2006/relationships" id="273" r:id="Rd7c03e5a5a474dda"/>
    <p:sldId xmlns:r="http://schemas.openxmlformats.org/officeDocument/2006/relationships" id="274" r:id="Rdd512af9d610414e"/>
    <p:sldId xmlns:r="http://schemas.openxmlformats.org/officeDocument/2006/relationships" id="275" r:id="R6fc0deb9425446d0"/>
    <p:sldId xmlns:r="http://schemas.openxmlformats.org/officeDocument/2006/relationships" id="276" r:id="Rc061f3f7c85744f4"/>
    <p:sldId xmlns:r="http://schemas.openxmlformats.org/officeDocument/2006/relationships" id="277" r:id="R6933e8bf6f4f4ed5"/>
    <p:sldId xmlns:r="http://schemas.openxmlformats.org/officeDocument/2006/relationships" id="278" r:id="Rdd7f3e8dc17046b8"/>
    <p:sldId xmlns:r="http://schemas.openxmlformats.org/officeDocument/2006/relationships" id="279" r:id="Rf86ed656642f4ca4"/>
    <p:sldId xmlns:r="http://schemas.openxmlformats.org/officeDocument/2006/relationships" id="280" r:id="R750a4a0f590a4c1d"/>
    <p:sldId xmlns:r="http://schemas.openxmlformats.org/officeDocument/2006/relationships" id="281" r:id="R7393da586f8343ae"/>
    <p:sldId xmlns:r="http://schemas.openxmlformats.org/officeDocument/2006/relationships" id="282" r:id="Raa8950d633764b38"/>
    <p:sldId xmlns:r="http://schemas.openxmlformats.org/officeDocument/2006/relationships" id="283" r:id="Rccf58d443820496e"/>
    <p:sldId xmlns:r="http://schemas.openxmlformats.org/officeDocument/2006/relationships" id="284" r:id="Rcf210c88068d4222"/>
    <p:sldId xmlns:r="http://schemas.openxmlformats.org/officeDocument/2006/relationships" id="285" r:id="Rff826fc677b3448d"/>
    <p:sldId xmlns:r="http://schemas.openxmlformats.org/officeDocument/2006/relationships" id="286" r:id="R81ff7fdedb314f17"/>
    <p:sldId xmlns:r="http://schemas.openxmlformats.org/officeDocument/2006/relationships" id="287" r:id="R6fd528cf966541e5"/>
    <p:sldId xmlns:r="http://schemas.openxmlformats.org/officeDocument/2006/relationships" id="288" r:id="R8c3d3727aeac4e39"/>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0220d60ef7b4d8d" /><Relationship Type="http://schemas.openxmlformats.org/officeDocument/2006/relationships/slideMaster" Target="/ppt/slideMasters/slideMaster1.xml" Id="R11db52a7b0ff4ccb" /><Relationship Type="http://schemas.openxmlformats.org/officeDocument/2006/relationships/notesMaster" Target="/ppt/notesMasters/notesMaster1.xml" Id="Rba652aadb816463c" /><Relationship Type="http://schemas.openxmlformats.org/officeDocument/2006/relationships/presProps" Target="/ppt/presProps.xml" Id="R62b60f343cb54fbb" /><Relationship Type="http://schemas.openxmlformats.org/officeDocument/2006/relationships/viewProps" Target="/ppt/viewProps.xml" Id="R50bfd6e93dad4298" /><Relationship Type="http://schemas.openxmlformats.org/officeDocument/2006/relationships/tableStyles" Target="/ppt/tableStyles.xml" Id="Raf505c0171a14114" /><Relationship Type="http://schemas.openxmlformats.org/officeDocument/2006/relationships/slide" Target="/ppt/slides/slide1.xml" Id="R162819bedc194340" /><Relationship Type="http://schemas.openxmlformats.org/officeDocument/2006/relationships/slide" Target="/ppt/slides/slide2.xml" Id="R443e96c71eec4efe" /><Relationship Type="http://schemas.openxmlformats.org/officeDocument/2006/relationships/slide" Target="/ppt/slides/slide3.xml" Id="Re81ad0c475d04c9d" /><Relationship Type="http://schemas.openxmlformats.org/officeDocument/2006/relationships/slide" Target="/ppt/slides/slide4.xml" Id="Rc87a9dd885004c60" /><Relationship Type="http://schemas.openxmlformats.org/officeDocument/2006/relationships/slide" Target="/ppt/slides/slide5.xml" Id="R568f3c5c740445ce" /><Relationship Type="http://schemas.openxmlformats.org/officeDocument/2006/relationships/slide" Target="/ppt/slides/slide6.xml" Id="R3589dab14f424f57" /><Relationship Type="http://schemas.openxmlformats.org/officeDocument/2006/relationships/slide" Target="/ppt/slides/slide7.xml" Id="R4bbd7a3c0f8a4a21" /><Relationship Type="http://schemas.openxmlformats.org/officeDocument/2006/relationships/slide" Target="/ppt/slides/slide8.xml" Id="R8dfa58a04adc4bb3" /><Relationship Type="http://schemas.openxmlformats.org/officeDocument/2006/relationships/slide" Target="/ppt/slides/slide9.xml" Id="Rded96de2dff74921" /><Relationship Type="http://schemas.openxmlformats.org/officeDocument/2006/relationships/slide" Target="/ppt/slides/slide10.xml" Id="R7c379d647c7c41bf" /><Relationship Type="http://schemas.openxmlformats.org/officeDocument/2006/relationships/slide" Target="/ppt/slides/slide11.xml" Id="R6d9216ac1fd742ea" /><Relationship Type="http://schemas.openxmlformats.org/officeDocument/2006/relationships/slide" Target="/ppt/slides/slide12.xml" Id="Rc4948682f0524313" /><Relationship Type="http://schemas.openxmlformats.org/officeDocument/2006/relationships/slide" Target="/ppt/slides/slide13.xml" Id="Rb726f063bd444db5" /><Relationship Type="http://schemas.openxmlformats.org/officeDocument/2006/relationships/slide" Target="/ppt/slides/slide14.xml" Id="R2f1473428d424dda" /><Relationship Type="http://schemas.openxmlformats.org/officeDocument/2006/relationships/slide" Target="/ppt/slides/slide15.xml" Id="Rb169094bd8514c1d" /><Relationship Type="http://schemas.openxmlformats.org/officeDocument/2006/relationships/slide" Target="/ppt/slides/slide16.xml" Id="Rbd0305ff710743cb" /><Relationship Type="http://schemas.openxmlformats.org/officeDocument/2006/relationships/slide" Target="/ppt/slides/slide17.xml" Id="R5d7f7d6eeb494b2c" /><Relationship Type="http://schemas.openxmlformats.org/officeDocument/2006/relationships/slide" Target="/ppt/slides/slide18.xml" Id="Rd7c03e5a5a474dda" /><Relationship Type="http://schemas.openxmlformats.org/officeDocument/2006/relationships/slide" Target="/ppt/slides/slide19.xml" Id="Rdd512af9d610414e" /><Relationship Type="http://schemas.openxmlformats.org/officeDocument/2006/relationships/slide" Target="/ppt/slides/slide20.xml" Id="R6fc0deb9425446d0" /><Relationship Type="http://schemas.openxmlformats.org/officeDocument/2006/relationships/slide" Target="/ppt/slides/slide21.xml" Id="Rc061f3f7c85744f4" /><Relationship Type="http://schemas.openxmlformats.org/officeDocument/2006/relationships/slide" Target="/ppt/slides/slide22.xml" Id="R6933e8bf6f4f4ed5" /><Relationship Type="http://schemas.openxmlformats.org/officeDocument/2006/relationships/slide" Target="/ppt/slides/slide23.xml" Id="Rdd7f3e8dc17046b8" /><Relationship Type="http://schemas.openxmlformats.org/officeDocument/2006/relationships/slide" Target="/ppt/slides/slide24.xml" Id="Rf86ed656642f4ca4" /><Relationship Type="http://schemas.openxmlformats.org/officeDocument/2006/relationships/slide" Target="/ppt/slides/slide25.xml" Id="R750a4a0f590a4c1d" /><Relationship Type="http://schemas.openxmlformats.org/officeDocument/2006/relationships/slide" Target="/ppt/slides/slide26.xml" Id="R7393da586f8343ae" /><Relationship Type="http://schemas.openxmlformats.org/officeDocument/2006/relationships/slide" Target="/ppt/slides/slide27.xml" Id="Raa8950d633764b38" /><Relationship Type="http://schemas.openxmlformats.org/officeDocument/2006/relationships/slide" Target="/ppt/slides/slide28.xml" Id="Rccf58d443820496e" /><Relationship Type="http://schemas.openxmlformats.org/officeDocument/2006/relationships/slide" Target="/ppt/slides/slide29.xml" Id="Rcf210c88068d4222" /><Relationship Type="http://schemas.openxmlformats.org/officeDocument/2006/relationships/slide" Target="/ppt/slides/slide30.xml" Id="Rff826fc677b3448d" /><Relationship Type="http://schemas.openxmlformats.org/officeDocument/2006/relationships/slide" Target="/ppt/slides/slide31.xml" Id="R81ff7fdedb314f17" /><Relationship Type="http://schemas.openxmlformats.org/officeDocument/2006/relationships/slide" Target="/ppt/slides/slide32.xml" Id="R6fd528cf966541e5" /><Relationship Type="http://schemas.openxmlformats.org/officeDocument/2006/relationships/slide" Target="/ppt/slides/slide33.xml" Id="R8c3d3727aeac4e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d56a9f5aae40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W Foster MBA Career Mgmt">
  <a:themeElements>
    <a:clrScheme name="2024 FOSTER 2">
      <a:dk1>
        <a:srgbClr val="000000"/>
      </a:dk1>
      <a:lt1>
        <a:srgbClr val="FFFFFF"/>
      </a:lt1>
      <a:dk2>
        <a:srgbClr val="32006E"/>
      </a:dk2>
      <a:lt2>
        <a:srgbClr val="F5F5F9"/>
      </a:lt2>
      <a:accent1>
        <a:srgbClr val="B7A579"/>
      </a:accent1>
      <a:accent2>
        <a:srgbClr val="8C51FF"/>
      </a:accent2>
      <a:accent3>
        <a:srgbClr val="917B4C"/>
      </a:accent3>
      <a:accent4>
        <a:srgbClr val="000000"/>
      </a:accent4>
      <a:accent5>
        <a:srgbClr val="CACACA"/>
      </a:accent5>
      <a:accent6>
        <a:srgbClr val="E8E8E8"/>
      </a:accent6>
      <a:hlink>
        <a:srgbClr val="0000DE"/>
      </a:hlink>
      <a:folHlink>
        <a:srgbClr val="4B2E84"/>
      </a:folHlink>
    </a:clrScheme>
    <a:fontScheme name="Custom 1">
      <a:majorFont>
        <a:latin typeface="Encode Sans Normal ExtraBold"/>
        <a:ea typeface=""/>
        <a:cs typeface=""/>
      </a:majorFont>
      <a:minorFont>
        <a:latin typeface="Open Sans Light"/>
        <a:ea typeface=""/>
        <a:cs typeface=""/>
      </a:minorFont>
    </a:fontScheme>
    <a:fmtScheme name="2024 FOSTER 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8be876d46141d2" /><Relationship Type="http://schemas.openxmlformats.org/officeDocument/2006/relationships/notesMaster" Target="/ppt/notesMasters/notesMaster1.xml" Id="R5d79e62818404a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04b6f21e1d4b7a" /><Relationship Type="http://schemas.openxmlformats.org/officeDocument/2006/relationships/notesMaster" Target="/ppt/notesMasters/notesMaster1.xml" Id="Rda548369470a4d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99261bed5043f1" /><Relationship Type="http://schemas.openxmlformats.org/officeDocument/2006/relationships/notesMaster" Target="/ppt/notesMasters/notesMaster1.xml" Id="R622d4f97893047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a616ffe6a84a13" /><Relationship Type="http://schemas.openxmlformats.org/officeDocument/2006/relationships/notesMaster" Target="/ppt/notesMasters/notesMaster1.xml" Id="Rc17b0d3988b343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2c1a3198c6431a" /><Relationship Type="http://schemas.openxmlformats.org/officeDocument/2006/relationships/notesMaster" Target="/ppt/notesMasters/notesMaster1.xml" Id="R5e463648f23b41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959c1817394e2c" /><Relationship Type="http://schemas.openxmlformats.org/officeDocument/2006/relationships/notesMaster" Target="/ppt/notesMasters/notesMaster1.xml" Id="Rb27c4509656a40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99330e0d5f4561" /><Relationship Type="http://schemas.openxmlformats.org/officeDocument/2006/relationships/notesMaster" Target="/ppt/notesMasters/notesMaster1.xml" Id="Re6d6a5c26a784b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9c397625a147f9" /><Relationship Type="http://schemas.openxmlformats.org/officeDocument/2006/relationships/notesMaster" Target="/ppt/notesMasters/notesMaster1.xml" Id="R11aa7516b66844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b52660d43d40f8" /><Relationship Type="http://schemas.openxmlformats.org/officeDocument/2006/relationships/notesMaster" Target="/ppt/notesMasters/notesMaster1.xml" Id="R377de2d15edf4e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52e0a34a5b45c4" /><Relationship Type="http://schemas.openxmlformats.org/officeDocument/2006/relationships/notesMaster" Target="/ppt/notesMasters/notesMaster1.xml" Id="R7fdd57aa82574a1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bd7e705ba1a406c" /><Relationship Type="http://schemas.openxmlformats.org/officeDocument/2006/relationships/notesMaster" Target="/ppt/notesMasters/notesMaster1.xml" Id="Rf2f1e2ee481c47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a56c426a3b432b" /><Relationship Type="http://schemas.openxmlformats.org/officeDocument/2006/relationships/notesMaster" Target="/ppt/notesMasters/notesMaster1.xml" Id="R158301ae84f142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278fba397343d5" /><Relationship Type="http://schemas.openxmlformats.org/officeDocument/2006/relationships/notesMaster" Target="/ppt/notesMasters/notesMaster1.xml" Id="Rd6d8b50db8784a4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38663400a1454a" /><Relationship Type="http://schemas.openxmlformats.org/officeDocument/2006/relationships/notesMaster" Target="/ppt/notesMasters/notesMaster1.xml" Id="Raff42d16449347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77909ee6784dfa" /><Relationship Type="http://schemas.openxmlformats.org/officeDocument/2006/relationships/notesMaster" Target="/ppt/notesMasters/notesMaster1.xml" Id="R433d83aad6a8444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4e78521cac74b64" /><Relationship Type="http://schemas.openxmlformats.org/officeDocument/2006/relationships/notesMaster" Target="/ppt/notesMasters/notesMaster1.xml" Id="R721febbec92c4ce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2befa0b14e4366" /><Relationship Type="http://schemas.openxmlformats.org/officeDocument/2006/relationships/notesMaster" Target="/ppt/notesMasters/notesMaster1.xml" Id="R0ad10cac3d2349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2a2d20e041e4641" /><Relationship Type="http://schemas.openxmlformats.org/officeDocument/2006/relationships/notesMaster" Target="/ppt/notesMasters/notesMaster1.xml" Id="R0ecd2ff1d51f4e0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7e3768e693485d" /><Relationship Type="http://schemas.openxmlformats.org/officeDocument/2006/relationships/notesMaster" Target="/ppt/notesMasters/notesMaster1.xml" Id="R2175e4ba1796405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4ad338b8bb4428a" /><Relationship Type="http://schemas.openxmlformats.org/officeDocument/2006/relationships/notesMaster" Target="/ppt/notesMasters/notesMaster1.xml" Id="R1cb20468797d4af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27cfccd82d4c34" /><Relationship Type="http://schemas.openxmlformats.org/officeDocument/2006/relationships/notesMaster" Target="/ppt/notesMasters/notesMaster1.xml" Id="R493d65be39ad40b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5d167579a1429f" /><Relationship Type="http://schemas.openxmlformats.org/officeDocument/2006/relationships/notesMaster" Target="/ppt/notesMasters/notesMaster1.xml" Id="R722ee1e37f5641a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2ae44232ed74fe5" /><Relationship Type="http://schemas.openxmlformats.org/officeDocument/2006/relationships/notesMaster" Target="/ppt/notesMasters/notesMaster1.xml" Id="R56e2c319ffc74f3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e8b26b094654bab" /><Relationship Type="http://schemas.openxmlformats.org/officeDocument/2006/relationships/notesMaster" Target="/ppt/notesMasters/notesMaster1.xml" Id="R8da049987efc4f4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e4dbef1c4dd44be" /><Relationship Type="http://schemas.openxmlformats.org/officeDocument/2006/relationships/notesMaster" Target="/ppt/notesMasters/notesMaster1.xml" Id="R7c14070491324c5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659ad2850f64898" /><Relationship Type="http://schemas.openxmlformats.org/officeDocument/2006/relationships/notesMaster" Target="/ppt/notesMasters/notesMaster1.xml" Id="Ra73c618ab25c4fa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01cb1a260e946a4" /><Relationship Type="http://schemas.openxmlformats.org/officeDocument/2006/relationships/notesMaster" Target="/ppt/notesMasters/notesMaster1.xml" Id="R6574002465824db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a3f18d00aa490a" /><Relationship Type="http://schemas.openxmlformats.org/officeDocument/2006/relationships/notesMaster" Target="/ppt/notesMasters/notesMaster1.xml" Id="R8b639d4f22ca42e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f2d28c517f14b94" /><Relationship Type="http://schemas.openxmlformats.org/officeDocument/2006/relationships/notesMaster" Target="/ppt/notesMasters/notesMaster1.xml" Id="R6eaf7d1cc3c14f1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2b0a5c0f63343c1" /><Relationship Type="http://schemas.openxmlformats.org/officeDocument/2006/relationships/notesMaster" Target="/ppt/notesMasters/notesMaster1.xml" Id="Re2bf91aa374e48c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4539a97b38f4956" /><Relationship Type="http://schemas.openxmlformats.org/officeDocument/2006/relationships/notesMaster" Target="/ppt/notesMasters/notesMaster1.xml" Id="Rdc2c74ec068240e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ae00f60f2964b4c" /><Relationship Type="http://schemas.openxmlformats.org/officeDocument/2006/relationships/notesMaster" Target="/ppt/notesMasters/notesMaster1.xml" Id="R13cf8778cae6424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d9ea68096dc49b2" /><Relationship Type="http://schemas.openxmlformats.org/officeDocument/2006/relationships/notesMaster" Target="/ppt/notesMasters/notesMaster1.xml" Id="R282d5b3e578541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 the two notebooks. Part 1 covers measurement. Part 2 covers comparison and interpretation. Extension slides can be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Bridge to the prior class: students used the Enron email case and a Python workflow for regex cleaning, preparation, and keyword/pattern searches. Ask them to name one search pattern and one result they had to inspect. Then explain that the preparation and verification habits transfer to MD&amp;A, while the analytical methods now address complexity, tone, and meaning. The new methods complement regex. Preserve source text and inspect passages before interpreting scores. No new Enron findings or model outputs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what additional evidence would support an explanation that revenue rose because demand strengthened.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https://investor.cava.com/news/news-details/2026/CAVA-Group-Reports-Fourth-Quarter-and-Full-Year-Fiscal-2025-Results/default.aspx</a:t>
            </a:r>
          </a:p>
          <a:p xmlns:a="http://schemas.openxmlformats.org/drawingml/2006/main">
            <a:r>
              <a:t>https://www.sec.gov/Archives/edgar/data/1639438/000162828025007882/cava-20241229.htm</a:t>
            </a:r>
          </a:p>
          <a:p xmlns:a="http://schemas.openxmlformats.org/drawingml/2006/main">
            <a:r>
              <a:t>CAVA revenue refers to its restaurant revenue measure. This slide does not equate the measures with consolidated revenue or infer a cause for stock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filing_extractor: preserve original files and ordered blocks. Distinguish actual Item headings from table-of-contents references. A table ID is a locator, not a measure of economic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an extracted data table and a narrative block. Discuss why deleting every HTML table would remove valid content. Do not calculate readability on rows of financial figures.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customer-visits example is hypothetical, not a quotation from CAVA. Recall the previous email exercise. Regex remains useful for preparation and deterministic searches.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infer importance or quality from length alone. Section headings, table notes, numbers, and lists require explicit counting conventions. Compare equivalent sections and inspect extraction changes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https://corpgov.law.harvard.edu/2014/06/24/measuring-readability-in-financial-disclosures/</a:t>
            </a:r>
          </a:p>
          <a:p xmlns:a="http://schemas.openxmlformats.org/drawingml/2006/main">
            <a:r>
              <a:t>https://doi.org/10.1016/j.jacceco.2008.02.003</a:t>
            </a:r>
          </a:p>
          <a:p xmlns:a="http://schemas.openxmlformats.org/drawingml/2006/main">
            <a:r>
              <a:t>Li (2008) provides an accounting application. Loughran and McDonald (2014) critique conventional readability measures in financial disclosures.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https://corpgov.law.harvard.edu/2014/06/24/measuring-readability-in-financial-disclosures/</a:t>
            </a:r>
          </a:p>
          <a:p xmlns:a="http://schemas.openxmlformats.org/drawingml/2006/main">
            <a:r>
              <a:t>Worked example is hypothetical. Fog is a proxy, not a literal estimate of the education every reader needs. Explain sentence segmentation and syllable counting. Familiar jargon exclusions differ across implementations.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https://doi.org/10.1111/j.1540-6261.2010.01625.x</a:t>
            </a:r>
          </a:p>
          <a:p xmlns:a="http://schemas.openxmlformats.org/drawingml/2006/main">
            <a:r>
              <a:t>https://sraf.nd.edu/</a:t>
            </a:r>
          </a:p>
          <a:p xmlns:a="http://schemas.openxmlformats.org/drawingml/2006/main">
            <a:r>
              <a:t>Loughran and McDonald (2011) show that general negative dictionaries misclassify many words in financial text. Specify dictionary version and score denominator.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https://huggingface.co/ProsusAI/finbert</a:t>
            </a:r>
          </a:p>
          <a:p xmlns:a="http://schemas.openxmlformats.org/drawingml/2006/main">
            <a:r>
              <a:t>https://arxiv.org/abs/1908.10063</a:t>
            </a:r>
          </a:p>
          <a:p xmlns:a="http://schemas.openxmlformats.org/drawingml/2006/main">
            <a:r>
              <a:t>Use the ProsusAI model specifically. Contextual classification can still fail on qualifications, numbers, mixed subjects, and document-level comparisons. Model scores do not measure correctness or future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constructed examples, not quotations or precomputed FinBERT results. Do not reveal a presumed model answer. Ask whether the task concerns growth level, change in growth, or investor expectations.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https://investor.cava.com/news/news-details/2026/CAVA-Group-Reports-Fourth-Quarter-and-Full-Year-Fiscal-2025-Results/default.aspx</a:t>
            </a:r>
          </a:p>
          <a:p xmlns:a="http://schemas.openxmlformats.org/drawingml/2006/main">
            <a:r>
              <a:t>https://www.sec.gov/Archives/edgar/data/1639438/000162828025007882/cava-20241229.htm</a:t>
            </a:r>
          </a:p>
          <a:p xmlns:a="http://schemas.openxmlformats.org/drawingml/2006/main">
            <a:r>
              <a:t>Use matched topics rather than mechanically matching paragraph positions. Annual FY2025 disclosures appeared in 2026 and cannot represent information available throughout 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https://sbert.net/examples/sentence_transformer/applications/semantic-search/README.html</a:t>
            </a:r>
          </a:p>
          <a:p xmlns:a="http://schemas.openxmlformats.org/drawingml/2006/main">
            <a:r>
              <a:t>Example query is an analytical prompt, not a claim about CAVA. Preserve source IDs. Precision among the top results can support a simple evaluation exercise.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https://huggingface.co/tasks/zero-shot-classification</a:t>
            </a:r>
          </a:p>
          <a:p xmlns:a="http://schemas.openxmlformats.org/drawingml/2006/main">
            <a:r>
              <a:t>Zero-shot classification uses supplied categories without task-specific labeled training examples. This does not remove the need for evaluation. Keep an insufficient-information outcome where appropriate.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https://maartengr.github.io/BERTopic/</a:t>
            </a:r>
          </a:p>
          <a:p xmlns:a="http://schemas.openxmlformats.org/drawingml/2006/main">
            <a:r>
              <a:t>https://maartengr.github.io/BERTopic/getting_started/topicsovertime/topicsovertime.html</a:t>
            </a:r>
          </a:p>
          <a:p xmlns:a="http://schemas.openxmlformats.org/drawingml/2006/main">
            <a:r>
              <a:t>Topic discovery is optional for the initial class. A small two-filing corpus may primarily reproduce section structure. Topics are analyst interpretations of clusters.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extension to the third notebook. Example schema: metric, period, direction, amount, units, driver, offset, source passage. Do not infer missing amounts or claim causality from an extracted explanation. Entity recognition alone does not perform this full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for the retrieval component: https://sbert.net/examples/sentence_transformer/applications/semantic-search/README.html</a:t>
            </a:r>
          </a:p>
          <a:p xmlns:a="http://schemas.openxmlformats.org/drawingml/2006/main">
            <a:r>
              <a:t>This is a conceptual RAG workflow, not a claim that the class notebooks implement an LLM answer system. Assess retrieval coverage separately from answer faithfulness.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model validation distinguish labels, relevance judgments, and extraction field accuracy. Two methods agreeing is not independent proof of accuracy. Do not interpret sentiment as a stock-return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outcomes for the two 50-minute parts. Semantic search is a guided extension if time permits. Suggested concluding discussion: What did the measurement reveal, what did it miss, and how did that affect the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823c55cdd54b46" /><Relationship Type="http://schemas.openxmlformats.org/officeDocument/2006/relationships/image" Target="/ppt/media/image.jpeg" Id="R49b4fef1d3ff4178" /><Relationship Type="http://schemas.openxmlformats.org/officeDocument/2006/relationships/image" Target="/ppt/media/image.png" Id="Rda7227a61ad7416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5ac285e67684e69" /><Relationship Type="http://schemas.openxmlformats.org/officeDocument/2006/relationships/image" Target="/ppt/media/image.png" Id="R178563ef67944b7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4e729bce7974028" /><Relationship Type="http://schemas.openxmlformats.org/officeDocument/2006/relationships/image" Target="/ppt/media/image.png" Id="R44cc4a60d7c6418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c02eb8466741b1" /><Relationship Type="http://schemas.openxmlformats.org/officeDocument/2006/relationships/image" Target="/ppt/media/image.png" Id="Rd23dbd3a7c944b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3a2879bfb0451f" /><Relationship Type="http://schemas.openxmlformats.org/officeDocument/2006/relationships/image" Target="/ppt/media/image.png" Id="Rbf31ad4a5f5f4be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83f29dc138e45e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7627f5115ad4c1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ec6dca7548f49e8" /><Relationship Type="http://schemas.openxmlformats.org/officeDocument/2006/relationships/image" Target="/ppt/media/image2.jpeg" Id="Re851ce213bca4cb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19cb12afe184b9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d8c40006d84447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49a8ea443a049d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847d005693bb44b6"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c13ef5fdedd54697"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aafc03fc7fc14650"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9abe5cab7f3a44f2"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5e1eb9fdd2d1424e" /><Relationship Type="http://schemas.openxmlformats.org/officeDocument/2006/relationships/image" Target="/ppt/media/image.png" Id="R25807469225a4a11"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60329d34c5346da" /><Relationship Type="http://schemas.openxmlformats.org/officeDocument/2006/relationships/image" Target="/ppt/media/image.png" Id="R0747c9e18fdf4631"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a2b2a7a90ce74d3c"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44b5303b714c4a7a" /></Relationships>
</file>

<file path=ppt/slideLayouts/slideLayout1.xml><?xml version="1.0" encoding="utf-8"?>
<p:sldLayout xmlns:p="http://schemas.openxmlformats.org/presentationml/2006/main" showMasterSp="0" preserve="1">
  <p:cSld name="Walkin slide">
    <p:bg>
      <p:bgPr>
        <a:blipFill xmlns:a="http://schemas.openxmlformats.org/drawingml/2006/main" rotWithShape="1">
          <a:blip xmlns:r="http://schemas.openxmlformats.org/officeDocument/2006/relationships" r:embed="R49b4fef1d3ff4178">
            <a:lum/>
          </a:blip>
          <a:srcRect l="0" t="0" r="0" b="0"/>
          <a:stretch>
            <a:fillRect l="-5000" t="0" r="-5000" b="0"/>
          </a:stretch>
        </a:blipFill>
      </p:bgPr>
    </p:bg>
    <p:spTree>
      <p:nvGrpSpPr>
        <p:cNvPr id="1" name=""/>
        <p:cNvGrpSpPr/>
        <p:nvPr/>
      </p:nvGrpSpPr>
      <p:grpSpPr>
        <a:xfrm xmlns:a="http://schemas.openxmlformats.org/drawingml/2006/main"/>
      </p:grpSpPr>
      <p:sp>
        <p:nvSpPr>
          <p:cNvPr id="2" name="Subtitle 2">
            <a:extLst xmlns:a="http://schemas.openxmlformats.org/drawingml/2006/main">
              <a:ext uri="{FF2B5EF4-FFF2-40B4-BE49-F238E27FC236}">
                <a16:creationId xmlns:a16="http://schemas.microsoft.com/office/drawing/2014/main" id="{9CFC0D3D-31F1-39A9-7186-66397F25884B}"/>
              </a:ext>
            </a:extLst>
          </p:cNvPr>
          <p:cNvSpPr>
            <a:spLocks xmlns:a="http://schemas.openxmlformats.org/drawingml/2006/main" noGrp="1"/>
          </p:cNvSpPr>
          <p:nvPr>
            <p:ph type="subTitle" idx="1" hasCustomPrompt="1"/>
          </p:nvPr>
        </p:nvSpPr>
        <p:spPr>
          <a:xfrm xmlns:a="http://schemas.openxmlformats.org/drawingml/2006/main">
            <a:off x="482602" y="2825416"/>
            <a:ext cx="10350500" cy="603584"/>
          </a:xfrm>
          <a:prstGeom xmlns:a="http://schemas.openxmlformats.org/drawingml/2006/main" prst="rect">
            <a:avLst/>
          </a:prstGeom>
        </p:spPr>
        <p:txBody>
          <a:bodyPr xmlns:a="http://schemas.openxmlformats.org/drawingml/2006/main" anchor="t"/>
          <a:lstStyle xmlns:a="http://schemas.openxmlformats.org/drawingml/2006/main">
            <a:lvl1pPr marL="0" indent="0" algn="l">
              <a:spcBef>
                <a:spcPts val="0"/>
              </a:spcBef>
              <a:spcAft>
                <a:spcPts val="400"/>
              </a:spcAft>
              <a:buNone/>
              <a:defRPr sz="2400" b="1" i="0" spc="0">
                <a:solidFill>
                  <a:schemeClr val="accent1"/>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xmlns:a="http://schemas.openxmlformats.org/drawingml/2006/main">
            <a:r>
              <a:t>CLICK TO EDIT SUBTITLE – ALL CAPS</a:t>
            </a:r>
          </a:p>
        </p:txBody>
      </p:sp>
      <p:sp>
        <p:nvSpPr>
          <p:cNvPr id="3" name="Title 1">
            <a:extLst xmlns:a="http://schemas.openxmlformats.org/drawingml/2006/main">
              <a:ext uri="{FF2B5EF4-FFF2-40B4-BE49-F238E27FC236}">
                <a16:creationId xmlns:a16="http://schemas.microsoft.com/office/drawing/2014/main" id="{94D2F92D-2232-B825-2B2D-AC671306A0B0}"/>
              </a:ext>
            </a:extLst>
          </p:cNvPr>
          <p:cNvSpPr>
            <a:spLocks xmlns:a="http://schemas.openxmlformats.org/drawingml/2006/main" noGrp="1"/>
          </p:cNvSpPr>
          <p:nvPr>
            <p:ph type="title" idx="0" hasCustomPrompt="1"/>
          </p:nvPr>
        </p:nvSpPr>
        <p:spPr>
          <a:xfrm xmlns:a="http://schemas.openxmlformats.org/drawingml/2006/main">
            <a:off x="482602" y="982134"/>
            <a:ext cx="10325100" cy="1615143"/>
          </a:xfrm>
          <a:prstGeom xmlns:a="http://schemas.openxmlformats.org/drawingml/2006/main" prst="rect">
            <a:avLst/>
          </a:prstGeom>
        </p:spPr>
        <p:txBody>
          <a:bodyPr xmlns:a="http://schemas.openxmlformats.org/drawingml/2006/main" anchor="b"/>
          <a:lstStyle xmlns:a="http://schemas.openxmlformats.org/drawingml/2006/main">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xmlns:a="http://schemas.openxmlformats.org/drawingml/2006/main">
            <a:r>
              <a:t>CLICK TO EDIT </a:t>
            </a:r>
            <a:br/>
            <a:r>
              <a:t>TITLE STYLE</a:t>
            </a:r>
          </a:p>
        </p:txBody>
      </p:sp>
      <p:pic>
        <p:nvPicPr>
          <p:cNvPr id="7" name="Picture 3">
            <a:extLst xmlns:a="http://schemas.openxmlformats.org/drawingml/2006/main">
              <a:ext uri="{FF2B5EF4-FFF2-40B4-BE49-F238E27FC236}">
                <a16:creationId xmlns:a16="http://schemas.microsoft.com/office/drawing/2014/main" id="{AC4C7595-E493-4169-BFD7-A4C7366CD9CB}"/>
              </a:ext>
            </a:extLst>
          </p:cNvPr>
          <p:cNvPicPr>
            <a:picLocks xmlns:a="http://schemas.openxmlformats.org/drawingml/2006/main" noChangeAspect="1"/>
          </p:cNvPicPr>
          <p:nvPr/>
        </p:nvPicPr>
        <p:blipFill>
          <a:blip xmlns:r="http://schemas.openxmlformats.org/officeDocument/2006/relationships" xmlns:a="http://schemas.openxmlformats.org/drawingml/2006/main" r:embed="Rda7227a61ad74161"/>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p:cSld name="1_Walkin slide">
    <p:bg>
      <p:bgPr>
        <a:solidFill xmlns:a="http://schemas.openxmlformats.org/drawingml/2006/main">
          <a:srgbClr val="32006E"/>
        </a:solidFill>
      </p:bgPr>
    </p:bg>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C3EDC79F-91AA-B3FB-6403-6121F91C5FC6}"/>
              </a:ext>
            </a:extLst>
          </p:cNvPr>
          <p:cNvSpPr>
            <a:spLocks xmlns:a="http://schemas.openxmlformats.org/drawingml/2006/main" noGrp="1"/>
          </p:cNvSpPr>
          <p:nvPr>
            <p:ph type="pic" idx="10" hasCustomPrompt="1"/>
          </p:nvPr>
        </p:nvSpPr>
        <p:spPr>
          <a:xfrm xmlns:a="http://schemas.openxmlformats.org/drawingml/2006/main">
            <a:off x="-7969" y="163926"/>
            <a:ext cx="12192000" cy="53226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a:solidFill>
                  <a:schemeClr val="bg1"/>
                </a:solidFill>
              </a:defRPr>
            </a:lvl1pPr>
          </a:lstStyle>
          <a:p xmlns:a="http://schemas.openxmlformats.org/drawingml/2006/main">
            <a:r>
              <a:t>CLICK ICON TO ADD PICTURE</a:t>
            </a:r>
          </a:p>
        </p:txBody>
      </p:sp>
      <p:sp>
        <p:nvSpPr>
          <p:cNvPr id="2" name="Subtitle 2">
            <a:extLst xmlns:a="http://schemas.openxmlformats.org/drawingml/2006/main">
              <a:ext uri="{FF2B5EF4-FFF2-40B4-BE49-F238E27FC236}">
                <a16:creationId xmlns:a16="http://schemas.microsoft.com/office/drawing/2014/main" id="{9CFC0D3D-31F1-39A9-7186-66397F25884B}"/>
              </a:ext>
            </a:extLst>
          </p:cNvPr>
          <p:cNvSpPr>
            <a:spLocks xmlns:a="http://schemas.openxmlformats.org/drawingml/2006/main" noGrp="1"/>
          </p:cNvSpPr>
          <p:nvPr>
            <p:ph type="subTitle" idx="1" hasCustomPrompt="1"/>
          </p:nvPr>
        </p:nvSpPr>
        <p:spPr>
          <a:xfrm xmlns:a="http://schemas.openxmlformats.org/drawingml/2006/main">
            <a:off x="482601" y="2895781"/>
            <a:ext cx="4609352" cy="603584"/>
          </a:xfrm>
          <a:prstGeom xmlns:a="http://schemas.openxmlformats.org/drawingml/2006/main" prst="rect">
            <a:avLst/>
          </a:prstGeom>
        </p:spPr>
        <p:txBody>
          <a:bodyPr xmlns:a="http://schemas.openxmlformats.org/drawingml/2006/main" anchor="t"/>
          <a:lstStyle xmlns:a="http://schemas.openxmlformats.org/drawingml/2006/main">
            <a:lvl1pPr marL="0" indent="0" algn="l">
              <a:spcBef>
                <a:spcPts val="0"/>
              </a:spcBef>
              <a:spcAft>
                <a:spcPts val="400"/>
              </a:spcAft>
              <a:buNone/>
              <a:defRPr sz="2400" b="1" i="0" spc="0">
                <a:solidFill>
                  <a:schemeClr val="accent1"/>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xmlns:a="http://schemas.openxmlformats.org/drawingml/2006/main">
            <a:r>
              <a:t>CLICK TO EDIT SUBTITLE</a:t>
            </a:r>
          </a:p>
        </p:txBody>
      </p:sp>
      <p:sp>
        <p:nvSpPr>
          <p:cNvPr id="3" name="Title 1">
            <a:extLst xmlns:a="http://schemas.openxmlformats.org/drawingml/2006/main">
              <a:ext uri="{FF2B5EF4-FFF2-40B4-BE49-F238E27FC236}">
                <a16:creationId xmlns:a16="http://schemas.microsoft.com/office/drawing/2014/main" id="{94D2F92D-2232-B825-2B2D-AC671306A0B0}"/>
              </a:ext>
            </a:extLst>
          </p:cNvPr>
          <p:cNvSpPr>
            <a:spLocks xmlns:a="http://schemas.openxmlformats.org/drawingml/2006/main" noGrp="1"/>
          </p:cNvSpPr>
          <p:nvPr>
            <p:ph type="title" idx="0" hasCustomPrompt="1"/>
          </p:nvPr>
        </p:nvSpPr>
        <p:spPr>
          <a:xfrm xmlns:a="http://schemas.openxmlformats.org/drawingml/2006/main">
            <a:off x="482602" y="982134"/>
            <a:ext cx="10325100" cy="1615143"/>
          </a:xfrm>
          <a:prstGeom xmlns:a="http://schemas.openxmlformats.org/drawingml/2006/main" prst="rect">
            <a:avLst/>
          </a:prstGeom>
        </p:spPr>
        <p:txBody>
          <a:bodyPr xmlns:a="http://schemas.openxmlformats.org/drawingml/2006/main" anchor="b"/>
          <a:lstStyle xmlns:a="http://schemas.openxmlformats.org/drawingml/2006/main">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xmlns:a="http://schemas.openxmlformats.org/drawingml/2006/main">
            <a:r>
              <a:t>CLICK TO EDIT </a:t>
            </a:r>
            <a:br/>
            <a:r>
              <a:t>TITLE STYLE</a:t>
            </a:r>
          </a:p>
        </p:txBody>
      </p:sp>
      <p:pic>
        <p:nvPicPr>
          <p:cNvPr id="11" name="Picture 4">
            <a:extLst xmlns:a="http://schemas.openxmlformats.org/drawingml/2006/main">
              <a:ext uri="{FF2B5EF4-FFF2-40B4-BE49-F238E27FC236}">
                <a16:creationId xmlns:a16="http://schemas.microsoft.com/office/drawing/2014/main" id="{36AC315E-AFFC-4A7B-8FAC-6306092CBD04}"/>
              </a:ext>
            </a:extLst>
          </p:cNvPr>
          <p:cNvPicPr>
            <a:picLocks xmlns:a="http://schemas.openxmlformats.org/drawingml/2006/main" noChangeAspect="1"/>
          </p:cNvPicPr>
          <p:nvPr/>
        </p:nvPicPr>
        <p:blipFill>
          <a:blip xmlns:r="http://schemas.openxmlformats.org/officeDocument/2006/relationships" xmlns:a="http://schemas.openxmlformats.org/drawingml/2006/main" r:embed="R178563ef67944b7e"/>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p:cSld name="Title Slide">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Subtitle 2">
            <a:extLst xmlns:a="http://schemas.openxmlformats.org/drawingml/2006/main">
              <a:ext uri="{FF2B5EF4-FFF2-40B4-BE49-F238E27FC236}">
                <a16:creationId xmlns:a16="http://schemas.microsoft.com/office/drawing/2014/main" id="{3C840783-3AB7-4D7E-82CD-FC31657F7CD3}"/>
              </a:ext>
            </a:extLst>
          </p:cNvPr>
          <p:cNvSpPr>
            <a:spLocks xmlns:a="http://schemas.openxmlformats.org/drawingml/2006/main" noGrp="1"/>
          </p:cNvSpPr>
          <p:nvPr>
            <p:ph type="subTitle" idx="1" hasCustomPrompt="1"/>
          </p:nvPr>
        </p:nvSpPr>
        <p:spPr>
          <a:xfrm xmlns:a="http://schemas.openxmlformats.org/drawingml/2006/main">
            <a:off x="482602" y="2825416"/>
            <a:ext cx="10350500" cy="603584"/>
          </a:xfrm>
          <a:prstGeom xmlns:a="http://schemas.openxmlformats.org/drawingml/2006/main" prst="rect">
            <a:avLst/>
          </a:prstGeom>
        </p:spPr>
        <p:txBody>
          <a:bodyPr xmlns:a="http://schemas.openxmlformats.org/drawingml/2006/main" anchor="t"/>
          <a:lstStyle xmlns:a="http://schemas.openxmlformats.org/drawingml/2006/main">
            <a:lvl1pPr marL="0" indent="0" algn="l">
              <a:spcBef>
                <a:spcPts val="0"/>
              </a:spcBef>
              <a:spcAft>
                <a:spcPts val="400"/>
              </a:spcAft>
              <a:buNone/>
              <a:defRPr sz="2400" b="1" i="0" spc="0">
                <a:solidFill>
                  <a:schemeClr val="accent2"/>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xmlns:a="http://schemas.openxmlformats.org/drawingml/2006/main">
            <a:r>
              <a:t>CLICK TO EDIT SUBTITLE – ALL CAPS</a:t>
            </a:r>
          </a:p>
        </p:txBody>
      </p:sp>
      <p:sp>
        <p:nvSpPr>
          <p:cNvPr id="7" name="Title 1">
            <a:extLst xmlns:a="http://schemas.openxmlformats.org/drawingml/2006/main">
              <a:ext uri="{FF2B5EF4-FFF2-40B4-BE49-F238E27FC236}">
                <a16:creationId xmlns:a16="http://schemas.microsoft.com/office/drawing/2014/main" id="{8A38FA88-52D3-47C2-90DE-627C0B1361FA}"/>
              </a:ext>
            </a:extLst>
          </p:cNvPr>
          <p:cNvSpPr>
            <a:spLocks xmlns:a="http://schemas.openxmlformats.org/drawingml/2006/main" noGrp="1"/>
          </p:cNvSpPr>
          <p:nvPr>
            <p:ph type="title" idx="0" hasCustomPrompt="1"/>
          </p:nvPr>
        </p:nvSpPr>
        <p:spPr>
          <a:xfrm xmlns:a="http://schemas.openxmlformats.org/drawingml/2006/main">
            <a:off x="482602" y="982134"/>
            <a:ext cx="10325100" cy="1615143"/>
          </a:xfrm>
          <a:prstGeom xmlns:a="http://schemas.openxmlformats.org/drawingml/2006/main" prst="rect">
            <a:avLst/>
          </a:prstGeom>
        </p:spPr>
        <p:txBody>
          <a:bodyPr xmlns:a="http://schemas.openxmlformats.org/drawingml/2006/main" anchor="b"/>
          <a:lstStyle xmlns:a="http://schemas.openxmlformats.org/drawingml/2006/main">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xmlns:a="http://schemas.openxmlformats.org/drawingml/2006/main">
            <a:r>
              <a:t>CLICK TO EDIT </a:t>
            </a:r>
            <a:br/>
            <a:r>
              <a:t>TITLE STYLE</a:t>
            </a:r>
          </a:p>
        </p:txBody>
      </p:sp>
      <p:pic>
        <p:nvPicPr>
          <p:cNvPr id="11" name="Picture 1">
            <a:extLst xmlns:a="http://schemas.openxmlformats.org/drawingml/2006/main">
              <a:ext uri="{FF2B5EF4-FFF2-40B4-BE49-F238E27FC236}">
                <a16:creationId xmlns:a16="http://schemas.microsoft.com/office/drawing/2014/main" id="{EB9CF27B-126D-4C26-AB16-E2C388E56606}"/>
              </a:ext>
            </a:extLst>
          </p:cNvPr>
          <p:cNvPicPr>
            <a:picLocks xmlns:a="http://schemas.openxmlformats.org/drawingml/2006/main" noChangeAspect="1"/>
          </p:cNvPicPr>
          <p:nvPr/>
        </p:nvPicPr>
        <p:blipFill>
          <a:blip xmlns:r="http://schemas.openxmlformats.org/officeDocument/2006/relationships" xmlns:a="http://schemas.openxmlformats.org/drawingml/2006/main" r:embed="R44cc4a60d7c64188"/>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p:cSld name="Section header_tan">
    <p:bg>
      <p:bgPr>
        <a:solidFill xmlns:a="http://schemas.openxmlformats.org/drawingml/2006/main">
          <a:schemeClr val="accent1"/>
        </a:solidFill>
      </p:bgPr>
    </p:bg>
    <p:spTree>
      <p:nvGrpSpPr>
        <p:cNvPr id="1" name=""/>
        <p:cNvGrpSpPr/>
        <p:nvPr/>
      </p:nvGrpSpPr>
      <p:grpSpPr>
        <a:xfrm xmlns:a="http://schemas.openxmlformats.org/drawingml/2006/main"/>
      </p:grpSpPr>
      <p:sp>
        <p:nvSpPr>
          <p:cNvPr id="2" name="Subtitle 2">
            <a:extLst xmlns:a="http://schemas.openxmlformats.org/drawingml/2006/main">
              <a:ext uri="{FF2B5EF4-FFF2-40B4-BE49-F238E27FC236}">
                <a16:creationId xmlns:a16="http://schemas.microsoft.com/office/drawing/2014/main" id="{37DFD003-31A4-8340-0A89-F3F70E0F5A59}"/>
              </a:ext>
            </a:extLst>
          </p:cNvPr>
          <p:cNvSpPr>
            <a:spLocks xmlns:a="http://schemas.openxmlformats.org/drawingml/2006/main" noGrp="1"/>
          </p:cNvSpPr>
          <p:nvPr>
            <p:ph type="subTitle" idx="1" hasCustomPrompt="1"/>
          </p:nvPr>
        </p:nvSpPr>
        <p:spPr>
          <a:xfrm xmlns:a="http://schemas.openxmlformats.org/drawingml/2006/main">
            <a:off x="482602" y="2825416"/>
            <a:ext cx="10350500" cy="603584"/>
          </a:xfrm>
          <a:prstGeom xmlns:a="http://schemas.openxmlformats.org/drawingml/2006/main" prst="rect">
            <a:avLst/>
          </a:prstGeom>
        </p:spPr>
        <p:txBody>
          <a:bodyPr xmlns:a="http://schemas.openxmlformats.org/drawingml/2006/main" anchor="t"/>
          <a:lstStyle xmlns:a="http://schemas.openxmlformats.org/drawingml/2006/main">
            <a:lvl1pPr marL="0" indent="0" algn="l">
              <a:spcBef>
                <a:spcPts val="0"/>
              </a:spcBef>
              <a:spcAft>
                <a:spcPts val="400"/>
              </a:spcAft>
              <a:buNone/>
              <a:defRPr sz="2400" b="1" i="0" spc="0">
                <a:solidFill>
                  <a:srgbClr val="32006E"/>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xmlns:a="http://schemas.openxmlformats.org/drawingml/2006/main">
            <a:r>
              <a:t>CLICK TO EDIT SUBTITLE – ALL CAPS</a:t>
            </a:r>
          </a:p>
        </p:txBody>
      </p:sp>
      <p:sp>
        <p:nvSpPr>
          <p:cNvPr id="4" name="Title 1">
            <a:extLst xmlns:a="http://schemas.openxmlformats.org/drawingml/2006/main">
              <a:ext uri="{FF2B5EF4-FFF2-40B4-BE49-F238E27FC236}">
                <a16:creationId xmlns:a16="http://schemas.microsoft.com/office/drawing/2014/main" id="{19672DC9-106D-3DF9-16B9-F24BCF5E50C6}"/>
              </a:ext>
            </a:extLst>
          </p:cNvPr>
          <p:cNvSpPr>
            <a:spLocks xmlns:a="http://schemas.openxmlformats.org/drawingml/2006/main" noGrp="1"/>
          </p:cNvSpPr>
          <p:nvPr>
            <p:ph type="title" idx="0" hasCustomPrompt="1"/>
          </p:nvPr>
        </p:nvSpPr>
        <p:spPr>
          <a:xfrm xmlns:a="http://schemas.openxmlformats.org/drawingml/2006/main">
            <a:off x="482602" y="982134"/>
            <a:ext cx="10325100" cy="1615143"/>
          </a:xfrm>
          <a:prstGeom xmlns:a="http://schemas.openxmlformats.org/drawingml/2006/main" prst="rect">
            <a:avLst/>
          </a:prstGeom>
        </p:spPr>
        <p:txBody>
          <a:bodyPr xmlns:a="http://schemas.openxmlformats.org/drawingml/2006/main" anchor="b"/>
          <a:lstStyle xmlns:a="http://schemas.openxmlformats.org/drawingml/2006/main">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xmlns:a="http://schemas.openxmlformats.org/drawingml/2006/main">
            <a:r>
              <a:t>CLICK TO EDIT </a:t>
            </a:r>
            <a:br/>
            <a:r>
              <a:t>TITLE STYLE</a:t>
            </a:r>
          </a:p>
        </p:txBody>
      </p:sp>
      <p:pic>
        <p:nvPicPr>
          <p:cNvPr id="8" name="Picture 2">
            <a:extLst xmlns:a="http://schemas.openxmlformats.org/drawingml/2006/main">
              <a:ext uri="{FF2B5EF4-FFF2-40B4-BE49-F238E27FC236}">
                <a16:creationId xmlns:a16="http://schemas.microsoft.com/office/drawing/2014/main" id="{2F0B0DBB-58CC-47ED-A9C1-D95C6D92CA8C}"/>
              </a:ext>
            </a:extLst>
          </p:cNvPr>
          <p:cNvPicPr>
            <a:picLocks xmlns:a="http://schemas.openxmlformats.org/drawingml/2006/main" noChangeAspect="1"/>
          </p:cNvPicPr>
          <p:nvPr/>
        </p:nvPicPr>
        <p:blipFill>
          <a:blip xmlns:r="http://schemas.openxmlformats.org/officeDocument/2006/relationships" xmlns:a="http://schemas.openxmlformats.org/drawingml/2006/main" r:embed="Rd23dbd3a7c944b95"/>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p:cSld name="1_Section header_purple">
    <p:bg>
      <p:bgPr>
        <a:solidFill xmlns:a="http://schemas.openxmlformats.org/drawingml/2006/main">
          <a:srgbClr val="32006E"/>
        </a:solidFill>
      </p:bgPr>
    </p:bg>
    <p:spTree>
      <p:nvGrpSpPr>
        <p:cNvPr id="1" name=""/>
        <p:cNvGrpSpPr/>
        <p:nvPr/>
      </p:nvGrpSpPr>
      <p:grpSpPr>
        <a:xfrm xmlns:a="http://schemas.openxmlformats.org/drawingml/2006/main"/>
      </p:grpSpPr>
      <p:sp>
        <p:nvSpPr>
          <p:cNvPr id="2" name="Subtitle 2">
            <a:extLst xmlns:a="http://schemas.openxmlformats.org/drawingml/2006/main">
              <a:ext uri="{FF2B5EF4-FFF2-40B4-BE49-F238E27FC236}">
                <a16:creationId xmlns:a16="http://schemas.microsoft.com/office/drawing/2014/main" id="{40223BA2-E77E-B0A1-9266-0D49F8CF83D6}"/>
              </a:ext>
            </a:extLst>
          </p:cNvPr>
          <p:cNvSpPr>
            <a:spLocks xmlns:a="http://schemas.openxmlformats.org/drawingml/2006/main" noGrp="1"/>
          </p:cNvSpPr>
          <p:nvPr>
            <p:ph type="subTitle" idx="1" hasCustomPrompt="1"/>
          </p:nvPr>
        </p:nvSpPr>
        <p:spPr>
          <a:xfrm xmlns:a="http://schemas.openxmlformats.org/drawingml/2006/main">
            <a:off x="482602" y="2825416"/>
            <a:ext cx="10350500" cy="603584"/>
          </a:xfrm>
          <a:prstGeom xmlns:a="http://schemas.openxmlformats.org/drawingml/2006/main" prst="rect">
            <a:avLst/>
          </a:prstGeom>
        </p:spPr>
        <p:txBody>
          <a:bodyPr xmlns:a="http://schemas.openxmlformats.org/drawingml/2006/main" anchor="t"/>
          <a:lstStyle xmlns:a="http://schemas.openxmlformats.org/drawingml/2006/main">
            <a:lvl1pPr marL="0" indent="0" algn="l">
              <a:spcBef>
                <a:spcPts val="0"/>
              </a:spcBef>
              <a:spcAft>
                <a:spcPts val="400"/>
              </a:spcAft>
              <a:buNone/>
              <a:defRPr sz="2400" b="1" i="0" spc="0">
                <a:solidFill>
                  <a:schemeClr val="bg2"/>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xmlns:a="http://schemas.openxmlformats.org/drawingml/2006/main">
            <a:r>
              <a:t>CLICK TO EDIT SUBTITLE – ALL CAPS</a:t>
            </a:r>
          </a:p>
        </p:txBody>
      </p:sp>
      <p:sp>
        <p:nvSpPr>
          <p:cNvPr id="4" name="Title 1">
            <a:extLst xmlns:a="http://schemas.openxmlformats.org/drawingml/2006/main">
              <a:ext uri="{FF2B5EF4-FFF2-40B4-BE49-F238E27FC236}">
                <a16:creationId xmlns:a16="http://schemas.microsoft.com/office/drawing/2014/main" id="{1F38BED7-E369-0B67-7D56-7D3F31FC320F}"/>
              </a:ext>
            </a:extLst>
          </p:cNvPr>
          <p:cNvSpPr>
            <a:spLocks xmlns:a="http://schemas.openxmlformats.org/drawingml/2006/main" noGrp="1"/>
          </p:cNvSpPr>
          <p:nvPr>
            <p:ph type="title" idx="0" hasCustomPrompt="1"/>
          </p:nvPr>
        </p:nvSpPr>
        <p:spPr>
          <a:xfrm xmlns:a="http://schemas.openxmlformats.org/drawingml/2006/main">
            <a:off x="482602" y="982134"/>
            <a:ext cx="10325100" cy="1615143"/>
          </a:xfrm>
          <a:prstGeom xmlns:a="http://schemas.openxmlformats.org/drawingml/2006/main" prst="rect">
            <a:avLst/>
          </a:prstGeom>
        </p:spPr>
        <p:txBody>
          <a:bodyPr xmlns:a="http://schemas.openxmlformats.org/drawingml/2006/main" anchor="b"/>
          <a:lstStyle xmlns:a="http://schemas.openxmlformats.org/drawingml/2006/main">
            <a:lvl1pPr algn="l">
              <a:lnSpc>
                <a:spcPts val="6133"/>
              </a:lnSpc>
              <a:spcBef>
                <a:spcPts val="0"/>
              </a:spcBef>
              <a:buNone/>
              <a:defRPr sz="4800" b="1" i="0" cap="none" spc="-40" baseline="0">
                <a:solidFill>
                  <a:schemeClr val="accent1"/>
                </a:solidFill>
                <a:latin typeface="Encode Sans Normal ExtraBold"/>
                <a:ea typeface="Encode Sans Normal ExtraBold"/>
                <a:cs typeface="Encode Sans Normal ExtraBold"/>
              </a:defRPr>
            </a:lvl1pPr>
          </a:lstStyle>
          <a:p xmlns:a="http://schemas.openxmlformats.org/drawingml/2006/main">
            <a:r>
              <a:t>CLICK TO EDIT </a:t>
            </a:r>
            <a:br/>
            <a:r>
              <a:t>TITLE STYLE</a:t>
            </a:r>
          </a:p>
        </p:txBody>
      </p:sp>
      <p:pic>
        <p:nvPicPr>
          <p:cNvPr id="8" name="Picture 2">
            <a:extLst xmlns:a="http://schemas.openxmlformats.org/drawingml/2006/main">
              <a:ext uri="{FF2B5EF4-FFF2-40B4-BE49-F238E27FC236}">
                <a16:creationId xmlns:a16="http://schemas.microsoft.com/office/drawing/2014/main" id="{9228A452-81C4-41C5-90C6-950D39347AFD}"/>
              </a:ext>
            </a:extLst>
          </p:cNvPr>
          <p:cNvPicPr>
            <a:picLocks xmlns:a="http://schemas.openxmlformats.org/drawingml/2006/main" noChangeAspect="1"/>
          </p:cNvPicPr>
          <p:nvPr/>
        </p:nvPicPr>
        <p:blipFill>
          <a:blip xmlns:r="http://schemas.openxmlformats.org/officeDocument/2006/relationships" xmlns:a="http://schemas.openxmlformats.org/drawingml/2006/main" r:embed="Rbf31ad4a5f5f4be5"/>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6.xml><?xml version="1.0" encoding="utf-8"?>
<p:sldLayout xmlns:p="http://schemas.openxmlformats.org/presentationml/2006/main" preserve="1">
  <p:cSld name="Bullet List">
    <p:spTree>
      <p:nvGrpSpPr>
        <p:cNvPr id="1" name=""/>
        <p:cNvGrpSpPr/>
        <p:nvPr/>
      </p:nvGrpSpPr>
      <p:grpSpPr>
        <a:xfrm xmlns:a="http://schemas.openxmlformats.org/drawingml/2006/main"/>
      </p:grpSpPr>
      <p:sp>
        <p:nvSpPr>
          <p:cNvPr id="8" name="Content Placeholder 7">
            <a:extLst xmlns:a="http://schemas.openxmlformats.org/drawingml/2006/main">
              <a:ext uri="{FF2B5EF4-FFF2-40B4-BE49-F238E27FC236}">
                <a16:creationId xmlns:a16="http://schemas.microsoft.com/office/drawing/2014/main" id="{B33D3F72-2015-4C6B-A20F-F5C3095135D9}"/>
              </a:ext>
            </a:extLst>
          </p:cNvPr>
          <p:cNvSpPr>
            <a:spLocks xmlns:a="http://schemas.openxmlformats.org/drawingml/2006/main" noGrp="1"/>
          </p:cNvSpPr>
          <p:nvPr>
            <p:ph idx="11" hasCustomPrompt="1"/>
          </p:nvPr>
        </p:nvSpPr>
        <p:spPr>
          <a:xfrm xmlns:a="http://schemas.openxmlformats.org/drawingml/2006/main">
            <a:off x="609600" y="1744134"/>
            <a:ext cx="7315200" cy="2252796"/>
          </a:xfrm>
        </p:spPr>
        <p:txBody>
          <a:bodyPr xmlns:a="http://schemas.openxmlformats.org/drawingml/2006/main"/>
          <a:lstStyle xmlns:a="http://schemas.openxmlformats.org/drawingml/2006/main">
            <a:lvl1pPr>
              <a:buNone/>
              <a:defRPr sz="1867" b="0" i="0">
                <a:latin typeface="Open Sans Light"/>
                <a:ea typeface="Open Sans Light"/>
                <a:cs typeface="Open Sans Light"/>
              </a:defRPr>
            </a:lvl1pPr>
            <a:lvl2pPr>
              <a:buNone/>
              <a:defRPr sz="1867" b="0" i="0">
                <a:latin typeface="Open Sans Light"/>
                <a:ea typeface="Open Sans Light"/>
                <a:cs typeface="Open Sans Light"/>
              </a:defRPr>
            </a:lvl2pPr>
            <a:lvl3pPr>
              <a:buNone/>
              <a:defRPr sz="1867" b="0" i="0">
                <a:latin typeface="Open Sans Light"/>
                <a:ea typeface="Open Sans Light"/>
                <a:cs typeface="Open Sans Light"/>
              </a:defRPr>
            </a:lvl3pPr>
            <a:lvl4pPr>
              <a:buNone/>
              <a:defRPr sz="1867" b="0" i="0">
                <a:latin typeface="Open Sans Light"/>
                <a:ea typeface="Open Sans Light"/>
                <a:cs typeface="Open Sans Light"/>
              </a:defRPr>
            </a:lvl4pPr>
            <a:lvl5pPr>
              <a:buNone/>
              <a:defRPr sz="1867" b="0" i="0">
                <a:latin typeface="Open Sans Light"/>
                <a:ea typeface="Open Sans Light"/>
                <a:cs typeface="Open Sans Light"/>
              </a:defRPr>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1">
            <a:extLst xmlns:a="http://schemas.openxmlformats.org/drawingml/2006/main">
              <a:ext uri="{FF2B5EF4-FFF2-40B4-BE49-F238E27FC236}">
                <a16:creationId xmlns:a16="http://schemas.microsoft.com/office/drawing/2014/main" id="{17A41C90-5ECB-21EE-9F34-0F9BBB60ADCB}"/>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Tree>
  </p:cSld>
</p:sldLayout>
</file>

<file path=ppt/slideLayouts/slideLayout7.xml><?xml version="1.0" encoding="utf-8"?>
<p:sldLayout xmlns:p="http://schemas.openxmlformats.org/presentationml/2006/main" preserve="1">
  <p:cSld name="Title and Content">
    <p:spTree>
      <p:nvGrpSpPr>
        <p:cNvPr id="1" name=""/>
        <p:cNvGrpSpPr/>
        <p:nvPr/>
      </p:nvGrpSpPr>
      <p:grpSpPr>
        <a:xfrm xmlns:a="http://schemas.openxmlformats.org/drawingml/2006/main"/>
      </p:grpSpPr>
      <p:sp>
        <p:nvSpPr>
          <p:cNvPr id="9" name="Content Placeholder 7">
            <a:extLst xmlns:a="http://schemas.openxmlformats.org/drawingml/2006/main">
              <a:ext uri="{FF2B5EF4-FFF2-40B4-BE49-F238E27FC236}">
                <a16:creationId xmlns:a16="http://schemas.microsoft.com/office/drawing/2014/main" id="{4F63E328-8C9C-DE2A-7308-E8BBCD69BEFA}"/>
              </a:ext>
            </a:extLst>
          </p:cNvPr>
          <p:cNvSpPr>
            <a:spLocks xmlns:a="http://schemas.openxmlformats.org/drawingml/2006/main" noGrp="1"/>
          </p:cNvSpPr>
          <p:nvPr>
            <p:ph idx="11" hasCustomPrompt="1"/>
          </p:nvPr>
        </p:nvSpPr>
        <p:spPr>
          <a:xfrm xmlns:a="http://schemas.openxmlformats.org/drawingml/2006/main">
            <a:off x="609601" y="1744134"/>
            <a:ext cx="6316276" cy="2252796"/>
          </a:xfrm>
        </p:spPr>
        <p:txBody>
          <a:bodyPr xmlns:a="http://schemas.openxmlformats.org/drawingml/2006/main"/>
          <a:lstStyle xmlns:a="http://schemas.openxmlformats.org/drawingml/2006/main">
            <a:lvl1pPr>
              <a:buNone/>
              <a:defRPr sz="1867" b="1"/>
            </a:lvl1pPr>
            <a:lvl2pPr>
              <a:buNone/>
              <a:defRPr sz="1867"/>
            </a:lvl2pPr>
            <a:lvl3pPr>
              <a:buNone/>
              <a:defRPr sz="1867"/>
            </a:lvl3pPr>
            <a:lvl4pPr>
              <a:buNone/>
              <a:defRPr sz="1867"/>
            </a:lvl4pPr>
            <a:lvl5pPr>
              <a:buNone/>
              <a:defRPr sz="1867"/>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Title 11">
            <a:extLst xmlns:a="http://schemas.openxmlformats.org/drawingml/2006/main">
              <a:ext uri="{FF2B5EF4-FFF2-40B4-BE49-F238E27FC236}">
                <a16:creationId xmlns:a16="http://schemas.microsoft.com/office/drawing/2014/main" id="{B2E75EFE-336F-8122-928E-E0E85EA4EA10}"/>
              </a:ext>
            </a:extLst>
          </p:cNvPr>
          <p:cNvSpPr>
            <a:spLocks xmlns:a="http://schemas.openxmlformats.org/drawingml/2006/main" noGrp="1"/>
          </p:cNvSpPr>
          <p:nvPr>
            <p:ph type="title" idx="0" hasCustomPrompt="1"/>
          </p:nvPr>
        </p:nvSpPr>
        <p:spPr>
          <a:xfrm xmlns:a="http://schemas.openxmlformats.org/drawingml/2006/main">
            <a:off x="625927" y="641802"/>
            <a:ext cx="6316276" cy="584775"/>
          </a:xfrm>
        </p:spPr>
        <p:txBody>
          <a:bodyPr xmlns:a="http://schemas.openxmlformats.org/drawingml/2006/main"/>
          <a:lstStyle xmlns:a="http://schemas.openxmlformats.org/drawingml/2006/main"/>
          <a:p xmlns:a="http://schemas.openxmlformats.org/drawingml/2006/main">
            <a:r>
              <a:t>CLICK TO EDIT TITLE STYLE</a:t>
            </a:r>
          </a:p>
        </p:txBody>
      </p:sp>
      <p:sp>
        <p:nvSpPr>
          <p:cNvPr id="3" name="Picture Placeholder 2">
            <a:extLst xmlns:a="http://schemas.openxmlformats.org/drawingml/2006/main">
              <a:ext uri="{FF2B5EF4-FFF2-40B4-BE49-F238E27FC236}">
                <a16:creationId xmlns:a16="http://schemas.microsoft.com/office/drawing/2014/main" id="{C20C6CCC-8AA2-B4C9-2718-27DD013B166E}"/>
              </a:ext>
            </a:extLst>
          </p:cNvPr>
          <p:cNvSpPr>
            <a:spLocks xmlns:a="http://schemas.openxmlformats.org/drawingml/2006/main" noGrp="1"/>
          </p:cNvSpPr>
          <p:nvPr>
            <p:ph type="pic" idx="12"/>
          </p:nvPr>
        </p:nvSpPr>
        <p:spPr>
          <a:xfrm xmlns:a="http://schemas.openxmlformats.org/drawingml/2006/main">
            <a:off x="7437968" y="0"/>
            <a:ext cx="4754033" cy="532262"/>
          </a:xfrm>
        </p:spPr>
        <p:txBody>
          <a:bodyPr xmlns:a="http://schemas.openxmlformats.org/drawingml/2006/main"/>
          <a:lstStyle xmlns:a="http://schemas.openxmlformats.org/drawingml/2006/main"/>
          <a:p xmlns:a="http://schemas.openxmlformats.org/drawingml/2006/main">
            <a:r>
              <a:t>Click icon to add picture</a:t>
            </a:r>
          </a:p>
        </p:txBody>
      </p:sp>
    </p:spTree>
  </p:cSld>
</p:sldLayout>
</file>

<file path=ppt/slideLayouts/slideLayout8.xml><?xml version="1.0" encoding="utf-8"?>
<p:sldLayout xmlns:p="http://schemas.openxmlformats.org/presentationml/2006/main" preserve="1">
  <p:cSld name="1_Title and Content">
    <p:bg>
      <p:bgPr>
        <a:solidFill xmlns:a="http://schemas.openxmlformats.org/drawingml/2006/main">
          <a:schemeClr val="bg1"/>
        </a:solidFill>
      </p:bgPr>
    </p:bg>
    <p:spTree>
      <p:nvGrpSpPr>
        <p:cNvPr id="1" name=""/>
        <p:cNvGrpSpPr/>
        <p:nvPr/>
      </p:nvGrpSpPr>
      <p:grpSpPr>
        <a:xfrm xmlns:a="http://schemas.openxmlformats.org/drawingml/2006/main"/>
      </p:grpSpPr>
      <p:sp>
        <p:nvSpPr>
          <p:cNvPr id="9" name="Content Placeholder 7">
            <a:extLst xmlns:a="http://schemas.openxmlformats.org/drawingml/2006/main">
              <a:ext uri="{FF2B5EF4-FFF2-40B4-BE49-F238E27FC236}">
                <a16:creationId xmlns:a16="http://schemas.microsoft.com/office/drawing/2014/main" id="{4F63E328-8C9C-DE2A-7308-E8BBCD69BEFA}"/>
              </a:ext>
            </a:extLst>
          </p:cNvPr>
          <p:cNvSpPr>
            <a:spLocks xmlns:a="http://schemas.openxmlformats.org/drawingml/2006/main" noGrp="1"/>
          </p:cNvSpPr>
          <p:nvPr>
            <p:ph idx="11" hasCustomPrompt="1"/>
          </p:nvPr>
        </p:nvSpPr>
        <p:spPr>
          <a:xfrm xmlns:a="http://schemas.openxmlformats.org/drawingml/2006/main">
            <a:off x="609600" y="1744134"/>
            <a:ext cx="6592901" cy="2252796"/>
          </a:xfrm>
        </p:spPr>
        <p:txBody>
          <a:bodyPr xmlns:a="http://schemas.openxmlformats.org/drawingml/2006/main"/>
          <a:lstStyle xmlns:a="http://schemas.openxmlformats.org/drawingml/2006/main">
            <a:lvl1pPr>
              <a:buNone/>
              <a:defRPr sz="1867" b="1">
                <a:solidFill>
                  <a:schemeClr val="tx1"/>
                </a:solidFill>
              </a:defRPr>
            </a:lvl1pPr>
            <a:lvl2pPr>
              <a:buNone/>
              <a:defRPr sz="1867">
                <a:solidFill>
                  <a:schemeClr val="tx1"/>
                </a:solidFill>
              </a:defRPr>
            </a:lvl2pPr>
            <a:lvl3pPr>
              <a:buNone/>
              <a:defRPr sz="1867">
                <a:solidFill>
                  <a:schemeClr val="tx1"/>
                </a:solidFill>
              </a:defRPr>
            </a:lvl3pPr>
            <a:lvl4pPr>
              <a:buNone/>
              <a:defRPr sz="1867">
                <a:solidFill>
                  <a:schemeClr val="tx1"/>
                </a:solidFill>
              </a:defRPr>
            </a:lvl4pPr>
            <a:lvl5pPr>
              <a:buNone/>
              <a:defRPr sz="1867">
                <a:solidFill>
                  <a:schemeClr val="tx1"/>
                </a:solidFill>
              </a:defRPr>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Rectangle 1">
            <a:extLst xmlns:a="http://schemas.openxmlformats.org/drawingml/2006/main">
              <a:ext uri="{FF2B5EF4-FFF2-40B4-BE49-F238E27FC236}">
                <a16:creationId xmlns:a16="http://schemas.microsoft.com/office/drawing/2014/main" id="{90EDEE5A-694C-C4D4-2519-94E57145AE4D}"/>
              </a:ext>
            </a:extLst>
          </p:cNvPr>
          <p:cNvSpPr>
            <a:spLocks xmlns:a="http://schemas.openxmlformats.org/drawingml/2006/main" noGrp="1"/>
          </p:cNvSpPr>
          <p:nvPr/>
        </p:nvSpPr>
        <p:spPr>
          <a:xfrm xmlns:a="http://schemas.openxmlformats.org/drawingml/2006/main">
            <a:off x="8342490" y="0"/>
            <a:ext cx="3849511" cy="6858000"/>
          </a:xfrm>
          <a:prstGeom xmlns:a="http://schemas.openxmlformats.org/drawingml/2006/main" prst="rect">
            <a:avLst/>
          </a:prstGeom>
          <a:blipFill xmlns:a="http://schemas.openxmlformats.org/drawingml/2006/main" rotWithShape="1">
            <a:blip xmlns:r="http://schemas.openxmlformats.org/officeDocument/2006/relationships" r:embed="Re851ce213bca4cb0"/>
            <a:srcRect l="0" t="0" r="0" b="0"/>
            <a:stretch>
              <a:fillRect l="-102790" t="0" r="-64464" b="0"/>
            </a:stretch>
          </a:blip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sz="2400"/>
          </a:p>
        </p:txBody>
      </p:sp>
      <p:sp>
        <p:nvSpPr>
          <p:cNvPr id="3" name="Title 2">
            <a:extLst xmlns:a="http://schemas.openxmlformats.org/drawingml/2006/main">
              <a:ext uri="{FF2B5EF4-FFF2-40B4-BE49-F238E27FC236}">
                <a16:creationId xmlns:a16="http://schemas.microsoft.com/office/drawing/2014/main" id="{1E7514D8-5214-F82C-BCBF-B5E202DCD667}"/>
              </a:ext>
            </a:extLst>
          </p:cNvPr>
          <p:cNvSpPr>
            <a:spLocks xmlns:a="http://schemas.openxmlformats.org/drawingml/2006/main" noGrp="1"/>
          </p:cNvSpPr>
          <p:nvPr>
            <p:ph type="title" idx="0" hasCustomPrompt="1"/>
          </p:nvPr>
        </p:nvSpPr>
        <p:spPr>
          <a:xfrm xmlns:a="http://schemas.openxmlformats.org/drawingml/2006/main">
            <a:off x="625927" y="641802"/>
            <a:ext cx="6576575" cy="584775"/>
          </a:xfrm>
        </p:spPr>
        <p:txBody>
          <a:bodyPr xmlns:a="http://schemas.openxmlformats.org/drawingml/2006/main"/>
          <a:lstStyle xmlns:a="http://schemas.openxmlformats.org/drawingml/2006/main"/>
          <a:p xmlns:a="http://schemas.openxmlformats.org/drawingml/2006/main">
            <a:r>
              <a:t>CLICK TO EDIT TITLE STYLE</a:t>
            </a:r>
          </a:p>
        </p:txBody>
      </p:sp>
    </p:spTree>
  </p:cSld>
</p:sldLayout>
</file>

<file path=ppt/slideLayouts/slideLayout9.xml><?xml version="1.0" encoding="utf-8"?>
<p:sldLayout xmlns:p="http://schemas.openxmlformats.org/presentationml/2006/main" preserve="1">
  <p:cSld name="Custom Layou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C2D5776-2479-4379-A703-2C22D497D23C}"/>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
        <p:nvSpPr>
          <p:cNvPr id="9" name="Text Placeholder 8">
            <a:extLst xmlns:a="http://schemas.openxmlformats.org/drawingml/2006/main">
              <a:ext uri="{FF2B5EF4-FFF2-40B4-BE49-F238E27FC236}">
                <a16:creationId xmlns:a16="http://schemas.microsoft.com/office/drawing/2014/main" id="{5196A19D-20D7-4BE0-91CF-70BE1A51836D}"/>
              </a:ext>
            </a:extLst>
          </p:cNvPr>
          <p:cNvSpPr>
            <a:spLocks xmlns:a="http://schemas.openxmlformats.org/drawingml/2006/main" noGrp="1"/>
          </p:cNvSpPr>
          <p:nvPr>
            <p:ph type="body" idx="13" hasCustomPrompt="1"/>
          </p:nvPr>
        </p:nvSpPr>
        <p:spPr>
          <a:xfrm xmlns:a="http://schemas.openxmlformats.org/drawingml/2006/main">
            <a:off x="648928" y="2455592"/>
            <a:ext cx="5277737" cy="477438"/>
          </a:xfrm>
        </p:spPr>
        <p:txBody>
          <a:bodyPr xmlns:a="http://schemas.openxmlformats.org/drawingml/2006/main" wrap="square">
            <a:spAutoFit/>
          </a:bodyPr>
          <a:lstStyle xmlns:a="http://schemas.openxmlformats.org/drawingml/2006/main">
            <a:lvl1pPr>
              <a:buNone/>
              <a:defRPr sz="1867"/>
            </a:lvl1pPr>
          </a:lstStyle>
          <a:p xmlns:a="http://schemas.openxmlformats.org/drawingml/2006/main">
            <a:pPr lvl="0">
              <a:buNone/>
            </a:pPr>
            <a:r>
              <a:t>Click to edit text</a:t>
            </a:r>
          </a:p>
        </p:txBody>
      </p:sp>
      <p:sp>
        <p:nvSpPr>
          <p:cNvPr id="4" name="Text Placeholder 4">
            <a:extLst xmlns:a="http://schemas.openxmlformats.org/drawingml/2006/main">
              <a:ext uri="{FF2B5EF4-FFF2-40B4-BE49-F238E27FC236}">
                <a16:creationId xmlns:a16="http://schemas.microsoft.com/office/drawing/2014/main" id="{59F63A1E-80AC-873A-7B08-C7265BB5967D}"/>
              </a:ext>
            </a:extLst>
          </p:cNvPr>
          <p:cNvSpPr>
            <a:spLocks xmlns:a="http://schemas.openxmlformats.org/drawingml/2006/main" noGrp="1"/>
          </p:cNvSpPr>
          <p:nvPr>
            <p:ph type="body" idx="14" hasCustomPrompt="1"/>
          </p:nvPr>
        </p:nvSpPr>
        <p:spPr>
          <a:xfrm xmlns:a="http://schemas.openxmlformats.org/drawingml/2006/main">
            <a:off x="648928" y="3451618"/>
            <a:ext cx="5277739" cy="496804"/>
          </a:xfrm>
        </p:spPr>
        <p:txBody>
          <a:bodyPr xmlns:a="http://schemas.openxmlformats.org/drawingml/2006/main"/>
          <a:lstStyle xmlns:a="http://schemas.openxmlformats.org/drawingml/2006/main">
            <a:lvl1pPr>
              <a:buNone/>
              <a:defRPr sz="1867" b="1" i="0" spc="0">
                <a:solidFill>
                  <a:schemeClr val="accent1"/>
                </a:solidFill>
                <a:latin typeface="Open Sans Light"/>
                <a:ea typeface="Open Sans Light"/>
                <a:cs typeface="Open Sans Light"/>
              </a:defRPr>
            </a:lvl1pPr>
            <a:lvl2pPr marL="0" indent="0">
              <a:buNone/>
              <a:defRPr sz="2400"/>
            </a:lvl2pPr>
          </a:lstStyle>
          <a:p xmlns:a="http://schemas.openxmlformats.org/drawingml/2006/main">
            <a:pPr lvl="0">
              <a:buNone/>
            </a:pPr>
            <a:r>
              <a:t>CLICK TO EDIT TEXT</a:t>
            </a:r>
          </a:p>
        </p:txBody>
      </p:sp>
      <p:sp>
        <p:nvSpPr>
          <p:cNvPr id="6" name="Text Placeholder 8">
            <a:extLst xmlns:a="http://schemas.openxmlformats.org/drawingml/2006/main">
              <a:ext uri="{FF2B5EF4-FFF2-40B4-BE49-F238E27FC236}">
                <a16:creationId xmlns:a16="http://schemas.microsoft.com/office/drawing/2014/main" id="{69324E9C-60EB-28A4-B685-42B2774AEFAF}"/>
              </a:ext>
            </a:extLst>
          </p:cNvPr>
          <p:cNvSpPr>
            <a:spLocks xmlns:a="http://schemas.openxmlformats.org/drawingml/2006/main" noGrp="1"/>
          </p:cNvSpPr>
          <p:nvPr>
            <p:ph type="body" idx="15" hasCustomPrompt="1"/>
          </p:nvPr>
        </p:nvSpPr>
        <p:spPr>
          <a:xfrm xmlns:a="http://schemas.openxmlformats.org/drawingml/2006/main">
            <a:off x="648928" y="4013459"/>
            <a:ext cx="5277737" cy="477438"/>
          </a:xfrm>
        </p:spPr>
        <p:txBody>
          <a:bodyPr xmlns:a="http://schemas.openxmlformats.org/drawingml/2006/main" wrap="square">
            <a:spAutoFit/>
          </a:bodyPr>
          <a:lstStyle xmlns:a="http://schemas.openxmlformats.org/drawingml/2006/main">
            <a:lvl1pPr>
              <a:buNone/>
              <a:defRPr sz="1867"/>
            </a:lvl1pPr>
          </a:lstStyle>
          <a:p xmlns:a="http://schemas.openxmlformats.org/drawingml/2006/main">
            <a:pPr lvl="0">
              <a:buNone/>
            </a:pPr>
            <a:r>
              <a:t>Click to edit text</a:t>
            </a:r>
          </a:p>
        </p:txBody>
      </p:sp>
      <p:sp>
        <p:nvSpPr>
          <p:cNvPr id="11" name="Text Placeholder 8">
            <a:extLst xmlns:a="http://schemas.openxmlformats.org/drawingml/2006/main">
              <a:ext uri="{FF2B5EF4-FFF2-40B4-BE49-F238E27FC236}">
                <a16:creationId xmlns:a16="http://schemas.microsoft.com/office/drawing/2014/main" id="{BD8CB4E0-D660-D5F2-909F-028F7EFFCD95}"/>
              </a:ext>
            </a:extLst>
          </p:cNvPr>
          <p:cNvSpPr>
            <a:spLocks xmlns:a="http://schemas.openxmlformats.org/drawingml/2006/main" noGrp="1"/>
          </p:cNvSpPr>
          <p:nvPr>
            <p:ph type="body" idx="17" hasCustomPrompt="1"/>
          </p:nvPr>
        </p:nvSpPr>
        <p:spPr>
          <a:xfrm xmlns:a="http://schemas.openxmlformats.org/drawingml/2006/main">
            <a:off x="6270794" y="2455592"/>
            <a:ext cx="5277737" cy="477438"/>
          </a:xfrm>
        </p:spPr>
        <p:txBody>
          <a:bodyPr xmlns:a="http://schemas.openxmlformats.org/drawingml/2006/main" wrap="square">
            <a:spAutoFit/>
          </a:bodyPr>
          <a:lstStyle xmlns:a="http://schemas.openxmlformats.org/drawingml/2006/main">
            <a:lvl1pPr>
              <a:buNone/>
              <a:defRPr sz="1867"/>
            </a:lvl1pPr>
          </a:lstStyle>
          <a:p xmlns:a="http://schemas.openxmlformats.org/drawingml/2006/main">
            <a:pPr lvl="0">
              <a:buNone/>
            </a:pPr>
            <a:r>
              <a:t>Click to edit text</a:t>
            </a:r>
          </a:p>
        </p:txBody>
      </p:sp>
      <p:sp>
        <p:nvSpPr>
          <p:cNvPr id="13" name="Text Placeholder 8">
            <a:extLst xmlns:a="http://schemas.openxmlformats.org/drawingml/2006/main">
              <a:ext uri="{FF2B5EF4-FFF2-40B4-BE49-F238E27FC236}">
                <a16:creationId xmlns:a16="http://schemas.microsoft.com/office/drawing/2014/main" id="{0D09874F-B2CF-BD5A-EE3E-7444C4E16C88}"/>
              </a:ext>
            </a:extLst>
          </p:cNvPr>
          <p:cNvSpPr>
            <a:spLocks xmlns:a="http://schemas.openxmlformats.org/drawingml/2006/main" noGrp="1"/>
          </p:cNvSpPr>
          <p:nvPr>
            <p:ph type="body" idx="19" hasCustomPrompt="1"/>
          </p:nvPr>
        </p:nvSpPr>
        <p:spPr>
          <a:xfrm xmlns:a="http://schemas.openxmlformats.org/drawingml/2006/main">
            <a:off x="6270794" y="4013459"/>
            <a:ext cx="5277737" cy="477438"/>
          </a:xfrm>
        </p:spPr>
        <p:txBody>
          <a:bodyPr xmlns:a="http://schemas.openxmlformats.org/drawingml/2006/main" wrap="square">
            <a:spAutoFit/>
          </a:bodyPr>
          <a:lstStyle xmlns:a="http://schemas.openxmlformats.org/drawingml/2006/main">
            <a:lvl1pPr>
              <a:buNone/>
              <a:defRPr sz="1867"/>
            </a:lvl1pPr>
          </a:lstStyle>
          <a:p xmlns:a="http://schemas.openxmlformats.org/drawingml/2006/main">
            <a:pPr lvl="0">
              <a:buNone/>
            </a:pPr>
            <a:r>
              <a:t>Click to edit text</a:t>
            </a:r>
          </a:p>
        </p:txBody>
      </p:sp>
      <p:sp>
        <p:nvSpPr>
          <p:cNvPr id="3" name="Text Placeholder 4">
            <a:extLst xmlns:a="http://schemas.openxmlformats.org/drawingml/2006/main">
              <a:ext uri="{FF2B5EF4-FFF2-40B4-BE49-F238E27FC236}">
                <a16:creationId xmlns:a16="http://schemas.microsoft.com/office/drawing/2014/main" id="{0C492763-7F70-C5FA-0820-3577947AC99F}"/>
              </a:ext>
            </a:extLst>
          </p:cNvPr>
          <p:cNvSpPr>
            <a:spLocks xmlns:a="http://schemas.openxmlformats.org/drawingml/2006/main" noGrp="1"/>
          </p:cNvSpPr>
          <p:nvPr>
            <p:ph type="body" idx="20" hasCustomPrompt="1"/>
          </p:nvPr>
        </p:nvSpPr>
        <p:spPr>
          <a:xfrm xmlns:a="http://schemas.openxmlformats.org/drawingml/2006/main">
            <a:off x="648928" y="1884075"/>
            <a:ext cx="5277739" cy="496804"/>
          </a:xfrm>
        </p:spPr>
        <p:txBody>
          <a:bodyPr xmlns:a="http://schemas.openxmlformats.org/drawingml/2006/main"/>
          <a:lstStyle xmlns:a="http://schemas.openxmlformats.org/drawingml/2006/main">
            <a:lvl1pPr>
              <a:buNone/>
              <a:defRPr sz="1867" b="1" i="0" spc="0">
                <a:solidFill>
                  <a:schemeClr val="accent1"/>
                </a:solidFill>
                <a:latin typeface="Open Sans Light"/>
                <a:ea typeface="Open Sans Light"/>
                <a:cs typeface="Open Sans Light"/>
              </a:defRPr>
            </a:lvl1pPr>
            <a:lvl2pPr marL="0" indent="0">
              <a:buNone/>
              <a:defRPr sz="2400"/>
            </a:lvl2pPr>
          </a:lstStyle>
          <a:p xmlns:a="http://schemas.openxmlformats.org/drawingml/2006/main">
            <a:pPr lvl="0">
              <a:buNone/>
            </a:pPr>
            <a:r>
              <a:t>CLICK TO EDIT TEXT</a:t>
            </a:r>
          </a:p>
        </p:txBody>
      </p:sp>
      <p:sp>
        <p:nvSpPr>
          <p:cNvPr id="8" name="Text Placeholder 4">
            <a:extLst xmlns:a="http://schemas.openxmlformats.org/drawingml/2006/main">
              <a:ext uri="{FF2B5EF4-FFF2-40B4-BE49-F238E27FC236}">
                <a16:creationId xmlns:a16="http://schemas.microsoft.com/office/drawing/2014/main" id="{FDDAFFA5-C05C-EA69-DBA3-676A18E8CEF7}"/>
              </a:ext>
            </a:extLst>
          </p:cNvPr>
          <p:cNvSpPr>
            <a:spLocks xmlns:a="http://schemas.openxmlformats.org/drawingml/2006/main" noGrp="1"/>
          </p:cNvSpPr>
          <p:nvPr>
            <p:ph type="body" idx="21" hasCustomPrompt="1"/>
          </p:nvPr>
        </p:nvSpPr>
        <p:spPr>
          <a:xfrm xmlns:a="http://schemas.openxmlformats.org/drawingml/2006/main">
            <a:off x="6263396" y="3451618"/>
            <a:ext cx="5277739" cy="496804"/>
          </a:xfrm>
        </p:spPr>
        <p:txBody>
          <a:bodyPr xmlns:a="http://schemas.openxmlformats.org/drawingml/2006/main"/>
          <a:lstStyle xmlns:a="http://schemas.openxmlformats.org/drawingml/2006/main">
            <a:lvl1pPr>
              <a:buNone/>
              <a:defRPr sz="1867" b="1" i="0" spc="0">
                <a:solidFill>
                  <a:schemeClr val="accent1"/>
                </a:solidFill>
                <a:latin typeface="Open Sans Light"/>
                <a:ea typeface="Open Sans Light"/>
                <a:cs typeface="Open Sans Light"/>
              </a:defRPr>
            </a:lvl1pPr>
            <a:lvl2pPr marL="0" indent="0">
              <a:buNone/>
              <a:defRPr sz="2400"/>
            </a:lvl2pPr>
          </a:lstStyle>
          <a:p xmlns:a="http://schemas.openxmlformats.org/drawingml/2006/main">
            <a:pPr lvl="0">
              <a:buNone/>
            </a:pPr>
            <a:r>
              <a:t>CLICK TO EDIT TEXT</a:t>
            </a:r>
          </a:p>
        </p:txBody>
      </p:sp>
      <p:sp>
        <p:nvSpPr>
          <p:cNvPr id="10" name="Text Placeholder 4">
            <a:extLst xmlns:a="http://schemas.openxmlformats.org/drawingml/2006/main">
              <a:ext uri="{FF2B5EF4-FFF2-40B4-BE49-F238E27FC236}">
                <a16:creationId xmlns:a16="http://schemas.microsoft.com/office/drawing/2014/main" id="{DFEE20B9-CD1F-8C9B-BEA0-B9D319CCC211}"/>
              </a:ext>
            </a:extLst>
          </p:cNvPr>
          <p:cNvSpPr>
            <a:spLocks xmlns:a="http://schemas.openxmlformats.org/drawingml/2006/main" noGrp="1"/>
          </p:cNvSpPr>
          <p:nvPr>
            <p:ph type="body" idx="22" hasCustomPrompt="1"/>
          </p:nvPr>
        </p:nvSpPr>
        <p:spPr>
          <a:xfrm xmlns:a="http://schemas.openxmlformats.org/drawingml/2006/main">
            <a:off x="6263396" y="1884075"/>
            <a:ext cx="5277739" cy="496804"/>
          </a:xfrm>
        </p:spPr>
        <p:txBody>
          <a:bodyPr xmlns:a="http://schemas.openxmlformats.org/drawingml/2006/main"/>
          <a:lstStyle xmlns:a="http://schemas.openxmlformats.org/drawingml/2006/main">
            <a:lvl1pPr>
              <a:buNone/>
              <a:defRPr sz="1867" b="1" i="0" spc="0">
                <a:solidFill>
                  <a:schemeClr val="accent1"/>
                </a:solidFill>
                <a:latin typeface="Open Sans Light"/>
                <a:ea typeface="Open Sans Light"/>
                <a:cs typeface="Open Sans Light"/>
              </a:defRPr>
            </a:lvl1pPr>
            <a:lvl2pPr marL="0" indent="0">
              <a:buNone/>
              <a:defRPr sz="2400"/>
            </a:lvl2pPr>
          </a:lstStyle>
          <a:p xmlns:a="http://schemas.openxmlformats.org/drawingml/2006/main">
            <a:pPr lvl="0">
              <a:buNone/>
            </a:pPr>
            <a:r>
              <a:t>CLICK TO EDIT TEXT</a:t>
            </a:r>
          </a:p>
        </p:txBody>
      </p:sp>
    </p:spTree>
  </p:cSld>
</p:sldLayout>
</file>

<file path=ppt/slideLayouts/slideLayout10.xml><?xml version="1.0" encoding="utf-8"?>
<p:sldLayout xmlns:p="http://schemas.openxmlformats.org/presentationml/2006/main" preserve="1">
  <p:cSld name="Content with photo">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179EC0-41F0-4247-9C45-69A7F8DF62AE}"/>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
        <p:nvSpPr>
          <p:cNvPr id="6" name="Picture Placeholder 5">
            <a:extLst xmlns:a="http://schemas.openxmlformats.org/drawingml/2006/main">
              <a:ext uri="{FF2B5EF4-FFF2-40B4-BE49-F238E27FC236}">
                <a16:creationId xmlns:a16="http://schemas.microsoft.com/office/drawing/2014/main" id="{F9E53213-570B-4A18-BD1C-150302F61DED}"/>
              </a:ext>
            </a:extLst>
          </p:cNvPr>
          <p:cNvSpPr>
            <a:spLocks xmlns:a="http://schemas.openxmlformats.org/drawingml/2006/main" noGrp="1"/>
          </p:cNvSpPr>
          <p:nvPr>
            <p:ph type="pic" idx="12"/>
          </p:nvPr>
        </p:nvSpPr>
        <p:spPr>
          <a:xfrm xmlns:a="http://schemas.openxmlformats.org/drawingml/2006/main">
            <a:off x="6312126" y="1744133"/>
            <a:ext cx="5300133" cy="533480"/>
          </a:xfrm>
        </p:spPr>
        <p:txBody>
          <a:bodyPr xmlns:a="http://schemas.openxmlformats.org/drawingml/2006/main"/>
          <a:lstStyle xmlns:a="http://schemas.openxmlformats.org/drawingml/2006/main"/>
          <a:p xmlns:a="http://schemas.openxmlformats.org/drawingml/2006/main">
            <a:r>
              <a:t>Click icon to add picture</a:t>
            </a:r>
          </a:p>
        </p:txBody>
      </p:sp>
      <p:sp>
        <p:nvSpPr>
          <p:cNvPr id="4" name="Content Placeholder 7">
            <a:extLst xmlns:a="http://schemas.openxmlformats.org/drawingml/2006/main">
              <a:ext uri="{FF2B5EF4-FFF2-40B4-BE49-F238E27FC236}">
                <a16:creationId xmlns:a16="http://schemas.microsoft.com/office/drawing/2014/main" id="{406E4740-29FB-D70A-8FD0-D37379CFCD0D}"/>
              </a:ext>
            </a:extLst>
          </p:cNvPr>
          <p:cNvSpPr>
            <a:spLocks xmlns:a="http://schemas.openxmlformats.org/drawingml/2006/main" noGrp="1"/>
          </p:cNvSpPr>
          <p:nvPr>
            <p:ph idx="11" hasCustomPrompt="1"/>
          </p:nvPr>
        </p:nvSpPr>
        <p:spPr>
          <a:xfrm xmlns:a="http://schemas.openxmlformats.org/drawingml/2006/main">
            <a:off x="609601" y="1744134"/>
            <a:ext cx="5270276" cy="2252796"/>
          </a:xfrm>
        </p:spPr>
        <p:txBody>
          <a:bodyPr xmlns:a="http://schemas.openxmlformats.org/drawingml/2006/main"/>
          <a:lstStyle xmlns:a="http://schemas.openxmlformats.org/drawingml/2006/main">
            <a:lvl1pPr>
              <a:buNone/>
              <a:defRPr sz="1867" b="1"/>
            </a:lvl1pPr>
            <a:lvl2pPr>
              <a:buNone/>
              <a:defRPr sz="1867"/>
            </a:lvl2pPr>
            <a:lvl3pPr>
              <a:buNone/>
              <a:defRPr sz="1867"/>
            </a:lvl3pPr>
            <a:lvl4pPr>
              <a:buNone/>
              <a:defRPr sz="1867"/>
            </a:lvl4pPr>
            <a:lvl5pPr>
              <a:buNone/>
              <a:defRPr sz="1867"/>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1.xml><?xml version="1.0" encoding="utf-8"?>
<p:sldLayout xmlns:p="http://schemas.openxmlformats.org/presentationml/2006/main" preserve="1">
  <p:cSld name="1_Title">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D2327B15-003C-B57F-47CD-422B701435E3}"/>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Tree>
  </p:cSld>
</p:sldLayout>
</file>

<file path=ppt/slideLayouts/slideLayout12.xml><?xml version="1.0" encoding="utf-8"?>
<p:sldLayout xmlns:p="http://schemas.openxmlformats.org/presentationml/2006/main" showMasterSp="0" preserve="1">
  <p:cSld name="Blank">
    <p:spTree>
      <p:nvGrpSpPr>
        <p:cNvPr id="1" name=""/>
        <p:cNvGrpSpPr/>
        <p:nvPr/>
      </p:nvGrpSpPr>
      <p:grpSpPr>
        <a:xfrm xmlns:a="http://schemas.openxmlformats.org/drawingml/2006/main"/>
      </p:grpSpPr>
      <p:sp>
        <p:nvSpPr>
          <p:cNvPr id="5" name="Text Placeholder 8">
            <a:extLst xmlns:a="http://schemas.openxmlformats.org/drawingml/2006/main">
              <a:ext uri="{FF2B5EF4-FFF2-40B4-BE49-F238E27FC236}">
                <a16:creationId xmlns:a16="http://schemas.microsoft.com/office/drawing/2014/main" id="{CC5F2F5B-6F0D-D207-EBEE-C1FD4E77DD29}"/>
              </a:ext>
            </a:extLst>
          </p:cNvPr>
          <p:cNvSpPr>
            <a:spLocks xmlns:a="http://schemas.openxmlformats.org/drawingml/2006/main" noGrp="1"/>
          </p:cNvSpPr>
          <p:nvPr>
            <p:ph type="body" idx="13"/>
          </p:nvPr>
        </p:nvSpPr>
        <p:spPr>
          <a:xfrm xmlns:a="http://schemas.openxmlformats.org/drawingml/2006/main">
            <a:off x="288974" y="5822909"/>
            <a:ext cx="1220513" cy="646331"/>
          </a:xfrm>
        </p:spPr>
        <p:txBody>
          <a:bodyPr xmlns:a="http://schemas.openxmlformats.org/drawingml/2006/main" wrap="square">
            <a:spAutoFit/>
          </a:bodyPr>
          <a:lstStyle xmlns:a="http://schemas.openxmlformats.org/drawingml/2006/main">
            <a:lvl1pPr>
              <a:lnSpc>
                <a:spcPct val="100000"/>
              </a:lnSpc>
              <a:buNone/>
              <a:defRPr sz="1200"/>
            </a:lvl1pPr>
          </a:lstStyle>
          <a:p xmlns:a="http://schemas.openxmlformats.org/drawingml/2006/main">
            <a:pPr lvl="0">
              <a:buNone/>
            </a:pPr>
            <a:r>
              <a:t>Click to edit Master text styles</a:t>
            </a:r>
          </a:p>
        </p:txBody>
      </p:sp>
      <p:sp>
        <p:nvSpPr>
          <p:cNvPr id="3" name="Picture Placeholder 2">
            <a:extLst xmlns:a="http://schemas.openxmlformats.org/drawingml/2006/main">
              <a:ext uri="{FF2B5EF4-FFF2-40B4-BE49-F238E27FC236}">
                <a16:creationId xmlns:a16="http://schemas.microsoft.com/office/drawing/2014/main" id="{905B892A-4F81-3DE8-DAB9-C9ACD1E4B2D0}"/>
              </a:ext>
            </a:extLst>
          </p:cNvPr>
          <p:cNvSpPr>
            <a:spLocks xmlns:a="http://schemas.openxmlformats.org/drawingml/2006/main" noGrp="1"/>
          </p:cNvSpPr>
          <p:nvPr>
            <p:ph type="pic" idx="14"/>
          </p:nvPr>
        </p:nvSpPr>
        <p:spPr>
          <a:xfrm xmlns:a="http://schemas.openxmlformats.org/drawingml/2006/main">
            <a:off x="2370667" y="0"/>
            <a:ext cx="9821333" cy="532262"/>
          </a:xfrm>
        </p:spPr>
        <p:txBody>
          <a:bodyPr xmlns:a="http://schemas.openxmlformats.org/drawingml/2006/main"/>
          <a:lstStyle xmlns:a="http://schemas.openxmlformats.org/drawingml/2006/main"/>
          <a:p xmlns:a="http://schemas.openxmlformats.org/drawingml/2006/main">
            <a:r>
              <a:t>Click icon to add picture</a:t>
            </a:r>
          </a:p>
        </p:txBody>
      </p:sp>
    </p:spTree>
  </p:cSld>
</p:sldLayout>
</file>

<file path=ppt/slideLayouts/slideLayout13.xml><?xml version="1.0" encoding="utf-8"?>
<p:sldLayout xmlns:p="http://schemas.openxmlformats.org/presentationml/2006/main" preserve="1">
  <p:cSld name="Q&amp;A Purple">
    <p:bg>
      <p:bgPr>
        <a:solidFill xmlns:a="http://schemas.openxmlformats.org/drawingml/2006/main">
          <a:schemeClr val="bg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A81EFCB-4C82-A339-B669-A9027A837A2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
        <p:nvSpPr>
          <p:cNvPr id="12" name="Content Placeholder 7">
            <a:extLst xmlns:a="http://schemas.openxmlformats.org/drawingml/2006/main">
              <a:ext uri="{FF2B5EF4-FFF2-40B4-BE49-F238E27FC236}">
                <a16:creationId xmlns:a16="http://schemas.microsoft.com/office/drawing/2014/main" id="{6EEF7E41-47AD-7303-E02A-CD4A30B4D13F}"/>
              </a:ext>
            </a:extLst>
          </p:cNvPr>
          <p:cNvSpPr>
            <a:spLocks xmlns:a="http://schemas.openxmlformats.org/drawingml/2006/main" noGrp="1"/>
          </p:cNvSpPr>
          <p:nvPr>
            <p:ph idx="11" hasCustomPrompt="1"/>
          </p:nvPr>
        </p:nvSpPr>
        <p:spPr>
          <a:xfrm xmlns:a="http://schemas.openxmlformats.org/drawingml/2006/main">
            <a:off x="609601" y="1744134"/>
            <a:ext cx="5590903" cy="2252796"/>
          </a:xfrm>
        </p:spPr>
        <p:txBody>
          <a:bodyPr xmlns:a="http://schemas.openxmlformats.org/drawingml/2006/main"/>
          <a:lstStyle xmlns:a="http://schemas.openxmlformats.org/drawingml/2006/main">
            <a:lvl1pPr>
              <a:buNone/>
              <a:defRPr sz="1867" b="1"/>
            </a:lvl1pPr>
            <a:lvl2pPr>
              <a:buNone/>
              <a:defRPr sz="1867"/>
            </a:lvl2pPr>
            <a:lvl3pPr>
              <a:buNone/>
              <a:defRPr sz="1867"/>
            </a:lvl3pPr>
            <a:lvl4pPr>
              <a:buNone/>
              <a:defRPr sz="1867"/>
            </a:lvl4pPr>
            <a:lvl5pPr>
              <a:buNone/>
              <a:defRPr sz="1867"/>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4.xml><?xml version="1.0" encoding="utf-8"?>
<p:sldLayout xmlns:p="http://schemas.openxmlformats.org/presentationml/2006/main" preserve="1">
  <p:cSld name="1_Q&amp;A Purple">
    <p:bg>
      <p:bgPr>
        <a:solidFill xmlns:a="http://schemas.openxmlformats.org/drawingml/2006/main">
          <a:schemeClr val="bg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A81EFCB-4C82-A339-B669-A9027A837A2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
        <p:nvSpPr>
          <p:cNvPr id="12" name="Content Placeholder 7">
            <a:extLst xmlns:a="http://schemas.openxmlformats.org/drawingml/2006/main">
              <a:ext uri="{FF2B5EF4-FFF2-40B4-BE49-F238E27FC236}">
                <a16:creationId xmlns:a16="http://schemas.microsoft.com/office/drawing/2014/main" id="{6EEF7E41-47AD-7303-E02A-CD4A30B4D13F}"/>
              </a:ext>
            </a:extLst>
          </p:cNvPr>
          <p:cNvSpPr>
            <a:spLocks xmlns:a="http://schemas.openxmlformats.org/drawingml/2006/main" noGrp="1"/>
          </p:cNvSpPr>
          <p:nvPr>
            <p:ph idx="11" hasCustomPrompt="1"/>
          </p:nvPr>
        </p:nvSpPr>
        <p:spPr>
          <a:xfrm xmlns:a="http://schemas.openxmlformats.org/drawingml/2006/main">
            <a:off x="609601" y="1744134"/>
            <a:ext cx="5167087" cy="2252796"/>
          </a:xfrm>
        </p:spPr>
        <p:txBody>
          <a:bodyPr xmlns:a="http://schemas.openxmlformats.org/drawingml/2006/main"/>
          <a:lstStyle xmlns:a="http://schemas.openxmlformats.org/drawingml/2006/main">
            <a:lvl1pPr>
              <a:buNone/>
              <a:defRPr sz="1867" b="1"/>
            </a:lvl1pPr>
            <a:lvl2pPr>
              <a:buNone/>
              <a:defRPr sz="1867"/>
            </a:lvl2pPr>
            <a:lvl3pPr>
              <a:buNone/>
              <a:defRPr sz="1867"/>
            </a:lvl3pPr>
            <a:lvl4pPr>
              <a:buNone/>
              <a:defRPr sz="1867"/>
            </a:lvl4pPr>
            <a:lvl5pPr>
              <a:buNone/>
              <a:defRPr sz="1867"/>
            </a:lvl5pPr>
          </a:lstStyle>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5.xml><?xml version="1.0" encoding="utf-8"?>
<p:sldLayout xmlns:p="http://schemas.openxmlformats.org/presentationml/2006/main" preserve="1">
  <p:cSld name="Q&amp;A Gold">
    <p:bg>
      <p:bgPr>
        <a:solidFill xmlns:a="http://schemas.openxmlformats.org/drawingml/2006/main">
          <a:schemeClr val="bg1"/>
        </a:solidFill>
      </p:bgPr>
    </p:bg>
    <p:spTree>
      <p:nvGrpSpPr>
        <p:cNvPr id="1" name=""/>
        <p:cNvGrpSpPr/>
        <p:nvPr/>
      </p:nvGrpSpPr>
      <p:grpSpPr>
        <a:xfrm xmlns:a="http://schemas.openxmlformats.org/drawingml/2006/main"/>
      </p:grpSpPr>
      <p:sp>
        <p:nvSpPr>
          <p:cNvPr id="3" name="Content Placeholder 12">
            <a:extLst xmlns:a="http://schemas.openxmlformats.org/drawingml/2006/main">
              <a:ext uri="{FF2B5EF4-FFF2-40B4-BE49-F238E27FC236}">
                <a16:creationId xmlns:a16="http://schemas.microsoft.com/office/drawing/2014/main" id="{2A43680B-0C4E-035C-8289-47EE40A3E9E9}"/>
              </a:ext>
            </a:extLst>
          </p:cNvPr>
          <p:cNvSpPr>
            <a:spLocks xmlns:a="http://schemas.openxmlformats.org/drawingml/2006/main" noGrp="1"/>
          </p:cNvSpPr>
          <p:nvPr>
            <p:ph idx="11" hasCustomPrompt="1"/>
          </p:nvPr>
        </p:nvSpPr>
        <p:spPr>
          <a:xfrm xmlns:a="http://schemas.openxmlformats.org/drawingml/2006/main">
            <a:off x="586595" y="1966666"/>
            <a:ext cx="9414933" cy="1990288"/>
          </a:xfrm>
        </p:spPr>
        <p:txBody>
          <a:bodyPr xmlns:a="http://schemas.openxmlformats.org/drawingml/2006/main"/>
          <a:lstStyle xmlns:a="http://schemas.openxmlformats.org/drawingml/2006/main">
            <a:lvl1pPr marL="0" marR="0" indent="0" algn="l" defTabSz="609585">
              <a:lnSpc>
                <a:spcPct val="100000"/>
              </a:lnSpc>
              <a:spcBef>
                <a:spcPts val="0"/>
              </a:spcBef>
              <a:spcAft>
                <a:spcPts val="133"/>
              </a:spcAft>
              <a:buClrTx/>
              <a:buSzTx/>
              <a:buFont typeface="Arial"/>
              <a:buNone/>
              <a:defRPr sz="2400">
                <a:solidFill>
                  <a:schemeClr val="tx1"/>
                </a:solidFill>
              </a:defRPr>
            </a:lvl1pPr>
          </a:lstStyle>
          <a:p xmlns:a="http://schemas.openxmlformats.org/drawingml/2006/main">
            <a:pPr marL="380990" marR="0" lvl="0" indent="-380990" algn="l" defTabSz="609585">
              <a:lnSpc>
                <a:spcPct val="100000"/>
              </a:lnSpc>
              <a:spcBef>
                <a:spcPts val="0"/>
              </a:spcBef>
              <a:spcAft>
                <a:spcPts val="133"/>
              </a:spcAft>
              <a:buClrTx/>
              <a:buSzTx/>
              <a:buFont typeface="Arial"/>
              <a:buChar char="•"/>
            </a:pPr>
            <a:r>
              <a:t>Optional list of considerations</a:t>
            </a:r>
          </a:p>
          <a:p xmlns:a="http://schemas.openxmlformats.org/drawingml/2006/main">
            <a:pPr lvl="0">
              <a:buNone/>
            </a:pPr>
            <a:endParaRPr/>
          </a:p>
          <a:p xmlns:a="http://schemas.openxmlformats.org/drawingml/2006/main">
            <a:pPr marL="380990" marR="0" lvl="0" indent="-380990" algn="l" defTabSz="609585">
              <a:lnSpc>
                <a:spcPct val="100000"/>
              </a:lnSpc>
              <a:spcBef>
                <a:spcPts val="0"/>
              </a:spcBef>
              <a:spcAft>
                <a:spcPts val="133"/>
              </a:spcAft>
              <a:buClrTx/>
              <a:buSzTx/>
              <a:buFont typeface="Arial"/>
              <a:buChar char="•"/>
            </a:pPr>
            <a:r>
              <a:t>Optional list of considerations</a:t>
            </a:r>
          </a:p>
          <a:p xmlns:a="http://schemas.openxmlformats.org/drawingml/2006/main">
            <a:pPr marL="380990" marR="0" lvl="0" indent="-380990" algn="l" defTabSz="609585">
              <a:lnSpc>
                <a:spcPct val="100000"/>
              </a:lnSpc>
              <a:spcBef>
                <a:spcPts val="0"/>
              </a:spcBef>
              <a:spcAft>
                <a:spcPts val="133"/>
              </a:spcAft>
              <a:buClrTx/>
              <a:buSzTx/>
              <a:buFont typeface="Arial"/>
              <a:buChar char="•"/>
            </a:pPr>
            <a:endParaRPr/>
          </a:p>
          <a:p xmlns:a="http://schemas.openxmlformats.org/drawingml/2006/main">
            <a:pPr marL="380990" marR="0" lvl="0" indent="-380990" algn="l" defTabSz="609585">
              <a:lnSpc>
                <a:spcPct val="100000"/>
              </a:lnSpc>
              <a:spcBef>
                <a:spcPts val="0"/>
              </a:spcBef>
              <a:spcAft>
                <a:spcPts val="133"/>
              </a:spcAft>
              <a:buClrTx/>
              <a:buSzTx/>
              <a:buFont typeface="Arial"/>
              <a:buChar char="•"/>
            </a:pPr>
            <a:r>
              <a:t>Optional list of considerations</a:t>
            </a:r>
          </a:p>
        </p:txBody>
      </p:sp>
      <p:sp>
        <p:nvSpPr>
          <p:cNvPr id="4" name="Title 3">
            <a:extLst xmlns:a="http://schemas.openxmlformats.org/drawingml/2006/main">
              <a:ext uri="{FF2B5EF4-FFF2-40B4-BE49-F238E27FC236}">
                <a16:creationId xmlns:a16="http://schemas.microsoft.com/office/drawing/2014/main" id="{EF6B5C0D-562C-B668-B0FD-B003E2FB7251}"/>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EDIT TITLE STYLE</a:t>
            </a:r>
          </a:p>
        </p:txBody>
      </p:sp>
    </p:spTree>
  </p:cSld>
</p:sldLayout>
</file>

<file path=ppt/slideLayouts/slideLayout16.xml><?xml version="1.0" encoding="utf-8"?>
<p:sldLayout xmlns:p="http://schemas.openxmlformats.org/presentationml/2006/main" showMasterSp="0" preserve="1">
  <p:cSld name="Thank You_purple">
    <p:bg>
      <p:bgPr>
        <a:solidFill xmlns:a="http://schemas.openxmlformats.org/drawingml/2006/main">
          <a:srgbClr val="32006E"/>
        </a:solidFill>
      </p:bgPr>
    </p:bg>
    <p:spTree>
      <p:nvGrpSpPr>
        <p:cNvPr id="1" name=""/>
        <p:cNvGrpSpPr/>
        <p:nvPr/>
      </p:nvGrpSpPr>
      <p:grpSpPr>
        <a:xfrm xmlns:a="http://schemas.openxmlformats.org/drawingml/2006/main"/>
      </p:grpSpPr>
      <p:pic>
        <p:nvPicPr>
          <p:cNvPr id="2" name="Picture 2">
            <a:extLst xmlns:a="http://schemas.openxmlformats.org/drawingml/2006/main">
              <a:ext uri="{FF2B5EF4-FFF2-40B4-BE49-F238E27FC236}">
                <a16:creationId xmlns:a16="http://schemas.microsoft.com/office/drawing/2014/main" id="{3732CF5F-4501-47F7-883F-870CA21FD490}"/>
              </a:ext>
            </a:extLst>
          </p:cNvPr>
          <p:cNvPicPr>
            <a:picLocks xmlns:a="http://schemas.openxmlformats.org/drawingml/2006/main" noChangeAspect="1"/>
          </p:cNvPicPr>
          <p:nvPr/>
        </p:nvPicPr>
        <p:blipFill>
          <a:blip xmlns:r="http://schemas.openxmlformats.org/officeDocument/2006/relationships" xmlns:a="http://schemas.openxmlformats.org/drawingml/2006/main" r:embed="R25807469225a4a11"/>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17.xml><?xml version="1.0" encoding="utf-8"?>
<p:sldLayout xmlns:p="http://schemas.openxmlformats.org/presentationml/2006/main" showMasterSp="0" preserve="1">
  <p:cSld name="1_Thank You_tan">
    <p:bg>
      <p:bgPr>
        <a:solidFill xmlns:a="http://schemas.openxmlformats.org/drawingml/2006/main">
          <a:schemeClr val="tx1"/>
        </a:solidFill>
      </p:bgPr>
    </p:bg>
    <p:spTree>
      <p:nvGrpSpPr>
        <p:cNvPr id="1" name=""/>
        <p:cNvGrpSpPr/>
        <p:nvPr/>
      </p:nvGrpSpPr>
      <p:grpSpPr>
        <a:xfrm xmlns:a="http://schemas.openxmlformats.org/drawingml/2006/main"/>
      </p:grpSpPr>
      <p:pic>
        <p:nvPicPr>
          <p:cNvPr id="2" name="Picture 1">
            <a:extLst xmlns:a="http://schemas.openxmlformats.org/drawingml/2006/main">
              <a:ext uri="{FF2B5EF4-FFF2-40B4-BE49-F238E27FC236}">
                <a16:creationId xmlns:a16="http://schemas.microsoft.com/office/drawing/2014/main" id="{599E26A2-B21C-4E5E-8795-88FD1632DF89}"/>
              </a:ext>
            </a:extLst>
          </p:cNvPr>
          <p:cNvPicPr>
            <a:picLocks xmlns:a="http://schemas.openxmlformats.org/drawingml/2006/main" noChangeAspect="1"/>
          </p:cNvPicPr>
          <p:nvPr/>
        </p:nvPicPr>
        <p:blipFill>
          <a:blip xmlns:r="http://schemas.openxmlformats.org/officeDocument/2006/relationships" xmlns:a="http://schemas.openxmlformats.org/drawingml/2006/main" r:embed="R0747c9e18fdf4631"/>
          <a:srcRect xmlns:a="http://schemas.openxmlformats.org/drawingml/2006/main" l="0" t="0" r="0" b="0"/>
          <a:stretch xmlns:a="http://schemas.openxmlformats.org/drawingml/2006/main"/>
        </p:blipFill>
        <p:spPr>
          <a:xfrm xmlns:a="http://schemas.openxmlformats.org/drawingml/2006/main">
            <a:off x="9881671" y="5542750"/>
            <a:ext cx="1753208" cy="864916"/>
          </a:xfrm>
          <a:prstGeom xmlns:a="http://schemas.openxmlformats.org/drawingml/2006/main" prst="rect">
            <a:avLst/>
          </a:prstGeom>
        </p:spPr>
      </p:pic>
    </p:spTree>
  </p:cSld>
</p:sldLayout>
</file>

<file path=ppt/slideLayouts/slideLayout18.xml><?xml version="1.0" encoding="utf-8"?>
<p:sldLayout xmlns:p="http://schemas.openxmlformats.org/presentationml/2006/main" type="blank" preserve="1">
  <p:cSld name="1_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F5BA17-DAF9-681D-B819-7BDD9530A31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58aa05e4e54acc" /><Relationship Type="http://schemas.openxmlformats.org/officeDocument/2006/relationships/slideLayout" Target="/ppt/slideLayouts/slideLayout1.xml" Id="Ra1a2c5fadaaa4d4a" /><Relationship Type="http://schemas.openxmlformats.org/officeDocument/2006/relationships/slideLayout" Target="/ppt/slideLayouts/slideLayout2.xml" Id="R29e27bdf2b994502" /><Relationship Type="http://schemas.openxmlformats.org/officeDocument/2006/relationships/slideLayout" Target="/ppt/slideLayouts/slideLayout3.xml" Id="R26bde50dc97f49e0" /><Relationship Type="http://schemas.openxmlformats.org/officeDocument/2006/relationships/slideLayout" Target="/ppt/slideLayouts/slideLayout4.xml" Id="R85631c2e149d449d" /><Relationship Type="http://schemas.openxmlformats.org/officeDocument/2006/relationships/slideLayout" Target="/ppt/slideLayouts/slideLayout5.xml" Id="R113e2cdaf5344750" /><Relationship Type="http://schemas.openxmlformats.org/officeDocument/2006/relationships/slideLayout" Target="/ppt/slideLayouts/slideLayout6.xml" Id="R42c6b04a74974eed" /><Relationship Type="http://schemas.openxmlformats.org/officeDocument/2006/relationships/slideLayout" Target="/ppt/slideLayouts/slideLayout7.xml" Id="R3b084ed0eff74066" /><Relationship Type="http://schemas.openxmlformats.org/officeDocument/2006/relationships/slideLayout" Target="/ppt/slideLayouts/slideLayout8.xml" Id="R790b5b80ea544451" /><Relationship Type="http://schemas.openxmlformats.org/officeDocument/2006/relationships/slideLayout" Target="/ppt/slideLayouts/slideLayout9.xml" Id="R108318e398eb4d54" /><Relationship Type="http://schemas.openxmlformats.org/officeDocument/2006/relationships/slideLayout" Target="/ppt/slideLayouts/slideLayout10.xml" Id="Rc38d48a7ccf5420d" /><Relationship Type="http://schemas.openxmlformats.org/officeDocument/2006/relationships/slideLayout" Target="/ppt/slideLayouts/slideLayout11.xml" Id="Ra4f41b31266347ef" /><Relationship Type="http://schemas.openxmlformats.org/officeDocument/2006/relationships/slideLayout" Target="/ppt/slideLayouts/slideLayout12.xml" Id="R9a5f266e14da41a9" /><Relationship Type="http://schemas.openxmlformats.org/officeDocument/2006/relationships/slideLayout" Target="/ppt/slideLayouts/slideLayout13.xml" Id="R71ef3409bd514cf9" /><Relationship Type="http://schemas.openxmlformats.org/officeDocument/2006/relationships/slideLayout" Target="/ppt/slideLayouts/slideLayout14.xml" Id="Rbf800f3596254adf" /><Relationship Type="http://schemas.openxmlformats.org/officeDocument/2006/relationships/slideLayout" Target="/ppt/slideLayouts/slideLayout15.xml" Id="Ra89f59af6f8144ac" /><Relationship Type="http://schemas.openxmlformats.org/officeDocument/2006/relationships/slideLayout" Target="/ppt/slideLayouts/slideLayout16.xml" Id="R17cc779f87be4616" /><Relationship Type="http://schemas.openxmlformats.org/officeDocument/2006/relationships/slideLayout" Target="/ppt/slideLayouts/slideLayout17.xml" Id="R3769853d4e834213" /><Relationship Type="http://schemas.openxmlformats.org/officeDocument/2006/relationships/slideLayout" Target="/ppt/slideLayouts/slideLayout18.xml" Id="R580923a750134606" /><Relationship Type="http://schemas.openxmlformats.org/officeDocument/2006/relationships/slideLayout" Target="/ppt/slideLayouts/slideLayout19.xml" Id="R2e56490552464bb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3" name="Title Placeholder 2">
            <a:extLst xmlns:a="http://schemas.openxmlformats.org/drawingml/2006/main">
              <a:ext uri="{FF2B5EF4-FFF2-40B4-BE49-F238E27FC236}">
                <a16:creationId xmlns:a16="http://schemas.microsoft.com/office/drawing/2014/main" id="{44413B94-6844-4A70-89C7-90215F30769B}"/>
              </a:ext>
            </a:extLst>
          </p:cNvPr>
          <p:cNvSpPr>
            <a:spLocks xmlns:a="http://schemas.openxmlformats.org/drawingml/2006/main" noGrp="1"/>
          </p:cNvSpPr>
          <p:nvPr>
            <p:ph type="title" idx="0"/>
          </p:nvPr>
        </p:nvSpPr>
        <p:spPr>
          <a:xfrm xmlns:a="http://schemas.openxmlformats.org/drawingml/2006/main">
            <a:off x="625927" y="641802"/>
            <a:ext cx="10894141" cy="584775"/>
          </a:xfrm>
          <a:prstGeom xmlns:a="http://schemas.openxmlformats.org/drawingml/2006/main" prst="rect">
            <a:avLst/>
          </a:prstGeom>
        </p:spPr>
        <p:txBody>
          <a:bodyPr xmlns:a="http://schemas.openxmlformats.org/drawingml/2006/main" vert="horz" wrap="square" lIns="91440" tIns="45720" rIns="91440" bIns="45720" anchor="t">
            <a:spAutoFit/>
          </a:bodyPr>
          <a:lstStyle xmlns:a="http://schemas.openxmlformats.org/drawingml/2006/main"/>
          <a:p xmlns:a="http://schemas.openxmlformats.org/drawingml/2006/main">
            <a:r>
              <a:t>CLICK TO EDIT HEADER STYLE</a:t>
            </a:r>
          </a:p>
        </p:txBody>
      </p:sp>
      <p:sp>
        <p:nvSpPr>
          <p:cNvPr id="6" name="Text Placeholder 5">
            <a:extLst xmlns:a="http://schemas.openxmlformats.org/drawingml/2006/main">
              <a:ext uri="{FF2B5EF4-FFF2-40B4-BE49-F238E27FC236}">
                <a16:creationId xmlns:a16="http://schemas.microsoft.com/office/drawing/2014/main" id="{F8849ED6-60C4-4512-8605-1E9E2FBFD100}"/>
              </a:ext>
            </a:extLst>
          </p:cNvPr>
          <p:cNvSpPr>
            <a:spLocks xmlns:a="http://schemas.openxmlformats.org/drawingml/2006/main" noGrp="1"/>
          </p:cNvSpPr>
          <p:nvPr>
            <p:ph type="body" idx="1"/>
          </p:nvPr>
        </p:nvSpPr>
        <p:spPr>
          <a:xfrm xmlns:a="http://schemas.openxmlformats.org/drawingml/2006/main">
            <a:off x="625927" y="1529769"/>
            <a:ext cx="10894141" cy="2375522"/>
          </a:xfrm>
          <a:prstGeom xmlns:a="http://schemas.openxmlformats.org/drawingml/2006/main" prst="rect">
            <a:avLst/>
          </a:prstGeom>
        </p:spPr>
        <p:txBody>
          <a:bodyPr xmlns:a="http://schemas.openxmlformats.org/drawingml/2006/main" vert="horz" wrap="square" lIns="137160" tIns="45720" rIns="91440" bIns="45720">
            <a:spAutoFit/>
          </a:bodyPr>
          <a:lstStyle xmlns:a="http://schemas.openxmlformats.org/drawingml/2006/main"/>
          <a:p xmlns:a="http://schemas.openxmlformats.org/drawingml/2006/main">
            <a:pPr lvl="0">
              <a:buNone/>
            </a:pPr>
            <a:r>
              <a:t>Click to edit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4" name="TextBox 23">
            <a:extLst xmlns:a="http://schemas.openxmlformats.org/drawingml/2006/main">
              <a:ext uri="{FF2B5EF4-FFF2-40B4-BE49-F238E27FC236}">
                <a16:creationId xmlns:a16="http://schemas.microsoft.com/office/drawing/2014/main" id="{67DCE893-6A75-F770-3EBA-345A9472F0A7}"/>
              </a:ext>
            </a:extLst>
          </p:cNvPr>
          <p:cNvSpPr>
            <a:spLocks xmlns:a="http://schemas.openxmlformats.org/drawingml/2006/main" noGrp="1"/>
          </p:cNvSpPr>
          <p:nvPr/>
        </p:nvSpPr>
        <p:spPr>
          <a:xfrm xmlns:a="http://schemas.openxmlformats.org/drawingml/2006/main">
            <a:off x="381193" y="6409578"/>
            <a:ext cx="4274987" cy="2358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933" b="0" i="0" spc="27">
                <a:solidFill>
                  <a:schemeClr val="tx1">
                    <a:lumMod val="65000"/>
                    <a:lumOff val="35000"/>
                  </a:schemeClr>
                </a:solidFill>
                <a:latin typeface="Open Sans Light"/>
                <a:ea typeface="Open Sans Light"/>
                <a:cs typeface="Open Sans Light"/>
              </a:rPr>
              <a:t> FOSTER SCHOOL OF BUSINESS, UNIVERSITY OF WASHINGTON</a:t>
            </a:r>
            <a:endParaRPr sz="2133" b="0" spc="27" baseline="0">
              <a:solidFill>
                <a:schemeClr val="tx1">
                  <a:lumMod val="65000"/>
                  <a:lumOff val="35000"/>
                </a:schemeClr>
              </a:solidFill>
              <a:latin typeface="Open Sans Light"/>
              <a:ea typeface="Open Sans Light"/>
              <a:cs typeface="Open Sans Light"/>
            </a:endParaRPr>
          </a:p>
        </p:txBody>
      </p:sp>
      <p:sp>
        <p:nvSpPr>
          <p:cNvPr id="27" name="TextBox 26">
            <a:extLst xmlns:a="http://schemas.openxmlformats.org/drawingml/2006/main">
              <a:ext uri="{FF2B5EF4-FFF2-40B4-BE49-F238E27FC236}">
                <a16:creationId xmlns:a16="http://schemas.microsoft.com/office/drawing/2014/main" id="{1EB5DED1-6392-63AA-0761-1325CD3A98B5}"/>
              </a:ext>
            </a:extLst>
          </p:cNvPr>
          <p:cNvSpPr>
            <a:spLocks xmlns:a="http://schemas.openxmlformats.org/drawingml/2006/main" noGrp="1"/>
          </p:cNvSpPr>
          <p:nvPr/>
        </p:nvSpPr>
        <p:spPr>
          <a:xfrm xmlns:a="http://schemas.openxmlformats.org/drawingml/2006/main">
            <a:off x="8243235" y="6409577"/>
            <a:ext cx="3427347" cy="2358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933" b="0" i="0">
                <a:solidFill>
                  <a:schemeClr val="tx1">
                    <a:lumMod val="65000"/>
                    <a:lumOff val="35000"/>
                  </a:schemeClr>
                </a:solidFill>
                <a:latin typeface="Open Sans Light"/>
                <a:ea typeface="Open Sans Light"/>
                <a:cs typeface="Open Sans Light"/>
              </a:rPr>
              <a:t>foster.uw.edu</a:t>
            </a:r>
            <a:endParaRPr sz="2133" b="0" i="0">
              <a:solidFill>
                <a:schemeClr val="tx1">
                  <a:lumMod val="65000"/>
                  <a:lumOff val="35000"/>
                </a:schemeClr>
              </a:solidFill>
              <a:latin typeface="Open Sans Light"/>
              <a:ea typeface="Open Sans Light"/>
              <a:cs typeface="Open Sans Light"/>
            </a:endParaRPr>
          </a:p>
        </p:txBody>
      </p:sp>
      <p:sp>
        <p:nvSpPr>
          <p:cNvPr id="29" name="Straight Connector 28">
            <a:extLst xmlns:a="http://schemas.openxmlformats.org/drawingml/2006/main">
              <a:ext uri="{FF2B5EF4-FFF2-40B4-BE49-F238E27FC236}">
                <a16:creationId xmlns:a16="http://schemas.microsoft.com/office/drawing/2014/main" id="{B19E5F83-CC4C-4422-956B-0374695BFA28}"/>
              </a:ext>
            </a:extLst>
          </p:cNvPr>
          <p:cNvSpPr>
            <a:spLocks xmlns:a="http://schemas.openxmlformats.org/drawingml/2006/main" noGrp="1"/>
          </p:cNvSpPr>
          <p:nvPr/>
        </p:nvSpPr>
        <p:spPr>
          <a:xfrm xmlns:a="http://schemas.openxmlformats.org/drawingml/2006/main">
            <a:off x="522515" y="6316617"/>
            <a:ext cx="11043559" cy="0"/>
          </a:xfrm>
          <a:prstGeom xmlns:a="http://schemas.openxmlformats.org/drawingml/2006/main" prst="line">
            <a:avLst/>
          </a:prstGeom>
          <a:ln xmlns:a="http://schemas.openxmlformats.org/drawingml/2006/main">
            <a:solidFill>
              <a:srgbClr val="C09F29">
                <a:alpha val="34419"/>
              </a:srgbClr>
            </a:solidFill>
          </a:ln>
        </p:spPr>
        <p:style>
          <a:lnRef xmlns:a="http://schemas.openxmlformats.org/drawingml/2006/main" idx="1">
            <a:schemeClr val="accent6"/>
          </a:lnRef>
          <a:fillRef xmlns:a="http://schemas.openxmlformats.org/drawingml/2006/main" idx="0">
            <a:schemeClr val="accent6"/>
          </a:fillRef>
          <a:effectRef xmlns:a="http://schemas.openxmlformats.org/drawingml/2006/main" idx="0">
            <a:schemeClr val="accent6"/>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a2c5fadaaa4d4a"/>
    <p:sldLayoutId xmlns:r="http://schemas.openxmlformats.org/officeDocument/2006/relationships" id="2147483650" r:id="R29e27bdf2b994502"/>
    <p:sldLayoutId xmlns:r="http://schemas.openxmlformats.org/officeDocument/2006/relationships" id="2147483651" r:id="R26bde50dc97f49e0"/>
    <p:sldLayoutId xmlns:r="http://schemas.openxmlformats.org/officeDocument/2006/relationships" id="2147483652" r:id="R85631c2e149d449d"/>
    <p:sldLayoutId xmlns:r="http://schemas.openxmlformats.org/officeDocument/2006/relationships" id="2147483653" r:id="R113e2cdaf5344750"/>
    <p:sldLayoutId xmlns:r="http://schemas.openxmlformats.org/officeDocument/2006/relationships" id="2147483654" r:id="R42c6b04a74974eed"/>
    <p:sldLayoutId xmlns:r="http://schemas.openxmlformats.org/officeDocument/2006/relationships" id="2147483655" r:id="R3b084ed0eff74066"/>
    <p:sldLayoutId xmlns:r="http://schemas.openxmlformats.org/officeDocument/2006/relationships" id="2147483656" r:id="R790b5b80ea544451"/>
    <p:sldLayoutId xmlns:r="http://schemas.openxmlformats.org/officeDocument/2006/relationships" id="2147483657" r:id="R108318e398eb4d54"/>
    <p:sldLayoutId xmlns:r="http://schemas.openxmlformats.org/officeDocument/2006/relationships" id="2147483658" r:id="Rc38d48a7ccf5420d"/>
    <p:sldLayoutId xmlns:r="http://schemas.openxmlformats.org/officeDocument/2006/relationships" id="2147483659" r:id="Ra4f41b31266347ef"/>
    <p:sldLayoutId xmlns:r="http://schemas.openxmlformats.org/officeDocument/2006/relationships" id="2147483660" r:id="R9a5f266e14da41a9"/>
    <p:sldLayoutId xmlns:r="http://schemas.openxmlformats.org/officeDocument/2006/relationships" id="2147483661" r:id="R71ef3409bd514cf9"/>
    <p:sldLayoutId xmlns:r="http://schemas.openxmlformats.org/officeDocument/2006/relationships" id="2147483662" r:id="Rbf800f3596254adf"/>
    <p:sldLayoutId xmlns:r="http://schemas.openxmlformats.org/officeDocument/2006/relationships" id="2147483663" r:id="Ra89f59af6f8144ac"/>
    <p:sldLayoutId xmlns:r="http://schemas.openxmlformats.org/officeDocument/2006/relationships" id="2147483664" r:id="R17cc779f87be4616"/>
    <p:sldLayoutId xmlns:r="http://schemas.openxmlformats.org/officeDocument/2006/relationships" id="2147483665" r:id="R3769853d4e834213"/>
    <p:sldLayoutId xmlns:r="http://schemas.openxmlformats.org/officeDocument/2006/relationships" id="2147483666" r:id="R580923a750134606"/>
    <p:sldLayoutId xmlns:r="http://schemas.openxmlformats.org/officeDocument/2006/relationships" id="2147483667" r:id="R2e56490552464bb6"/>
  </p:sldLayoutIdLst>
  <p:txStyles>
    <p:titleStyle>
      <a:lvl1pPr xmlns:a="http://schemas.openxmlformats.org/drawingml/2006/main" algn="l" defTabSz="609585">
        <a:spcBef>
          <a:spcPct val="0"/>
        </a:spcBef>
        <a:spcAft>
          <a:spcPct val="0"/>
        </a:spcAft>
        <a:buNone/>
        <a:defRPr sz="3200" b="1" i="0" kern="1200">
          <a:solidFill>
            <a:srgbClr val="32006E"/>
          </a:solidFill>
          <a:latin typeface="Encode Sans Normal ExtraBold"/>
          <a:ea typeface="Encode Sans Normal ExtraBold"/>
          <a:cs typeface="Encode Sans Normal ExtraBold"/>
        </a:defRPr>
      </a:lvl1pPr>
      <a:lvl2pPr xmlns:a="http://schemas.openxmlformats.org/drawingml/2006/main" algn="ctr" defTabSz="609585">
        <a:spcBef>
          <a:spcPct val="0"/>
        </a:spcBef>
        <a:spcAft>
          <a:spcPct val="0"/>
        </a:spcAft>
        <a:buNone/>
        <a:defRPr sz="5867">
          <a:solidFill>
            <a:schemeClr val="tx1"/>
          </a:solidFill>
          <a:latin typeface="Calibri"/>
          <a:ea typeface="Calibri"/>
          <a:cs typeface="Calibri"/>
        </a:defRPr>
      </a:lvl2pPr>
      <a:lvl3pPr xmlns:a="http://schemas.openxmlformats.org/drawingml/2006/main" algn="ctr" defTabSz="609585">
        <a:spcBef>
          <a:spcPct val="0"/>
        </a:spcBef>
        <a:spcAft>
          <a:spcPct val="0"/>
        </a:spcAft>
        <a:buNone/>
        <a:defRPr sz="5867">
          <a:solidFill>
            <a:schemeClr val="tx1"/>
          </a:solidFill>
          <a:latin typeface="Calibri"/>
          <a:ea typeface="Calibri"/>
          <a:cs typeface="Calibri"/>
        </a:defRPr>
      </a:lvl3pPr>
      <a:lvl4pPr xmlns:a="http://schemas.openxmlformats.org/drawingml/2006/main" algn="ctr" defTabSz="609585">
        <a:spcBef>
          <a:spcPct val="0"/>
        </a:spcBef>
        <a:spcAft>
          <a:spcPct val="0"/>
        </a:spcAft>
        <a:buNone/>
        <a:defRPr sz="5867">
          <a:solidFill>
            <a:schemeClr val="tx1"/>
          </a:solidFill>
          <a:latin typeface="Calibri"/>
          <a:ea typeface="Calibri"/>
          <a:cs typeface="Calibri"/>
        </a:defRPr>
      </a:lvl4pPr>
      <a:lvl5pPr xmlns:a="http://schemas.openxmlformats.org/drawingml/2006/main" algn="ctr" defTabSz="609585">
        <a:spcBef>
          <a:spcPct val="0"/>
        </a:spcBef>
        <a:spcAft>
          <a:spcPct val="0"/>
        </a:spcAft>
        <a:buNone/>
        <a:defRPr sz="5867">
          <a:solidFill>
            <a:schemeClr val="tx1"/>
          </a:solidFill>
          <a:latin typeface="Calibri"/>
          <a:ea typeface="Calibri"/>
          <a:cs typeface="Calibri"/>
        </a:defRPr>
      </a:lvl5pPr>
      <a:lvl6pPr xmlns:a="http://schemas.openxmlformats.org/drawingml/2006/main" marL="609585" algn="ctr" defTabSz="609585">
        <a:spcBef>
          <a:spcPct val="0"/>
        </a:spcBef>
        <a:spcAft>
          <a:spcPct val="0"/>
        </a:spcAft>
        <a:buNone/>
        <a:defRPr sz="5867">
          <a:solidFill>
            <a:schemeClr val="tx1"/>
          </a:solidFill>
          <a:latin typeface="Calibri"/>
          <a:ea typeface="Calibri"/>
          <a:cs typeface="Calibri"/>
        </a:defRPr>
      </a:lvl6pPr>
      <a:lvl7pPr xmlns:a="http://schemas.openxmlformats.org/drawingml/2006/main" marL="1219170" algn="ctr" defTabSz="609585">
        <a:spcBef>
          <a:spcPct val="0"/>
        </a:spcBef>
        <a:spcAft>
          <a:spcPct val="0"/>
        </a:spcAft>
        <a:buNone/>
        <a:defRPr sz="5867">
          <a:solidFill>
            <a:schemeClr val="tx1"/>
          </a:solidFill>
          <a:latin typeface="Calibri"/>
          <a:ea typeface="Calibri"/>
          <a:cs typeface="Calibri"/>
        </a:defRPr>
      </a:lvl7pPr>
      <a:lvl8pPr xmlns:a="http://schemas.openxmlformats.org/drawingml/2006/main" marL="1828754" algn="ctr" defTabSz="609585">
        <a:spcBef>
          <a:spcPct val="0"/>
        </a:spcBef>
        <a:spcAft>
          <a:spcPct val="0"/>
        </a:spcAft>
        <a:buNone/>
        <a:defRPr sz="5867">
          <a:solidFill>
            <a:schemeClr val="tx1"/>
          </a:solidFill>
          <a:latin typeface="Calibri"/>
          <a:ea typeface="Calibri"/>
          <a:cs typeface="Calibri"/>
        </a:defRPr>
      </a:lvl8pPr>
      <a:lvl9pPr xmlns:a="http://schemas.openxmlformats.org/drawingml/2006/main" marL="2438339" algn="ctr" defTabSz="609585">
        <a:spcBef>
          <a:spcPct val="0"/>
        </a:spcBef>
        <a:spcAft>
          <a:spcPct val="0"/>
        </a:spcAft>
        <a:buNone/>
        <a:defRPr sz="5867">
          <a:solidFill>
            <a:schemeClr val="tx1"/>
          </a:solidFill>
          <a:latin typeface="Calibri"/>
          <a:ea typeface="Calibri"/>
          <a:cs typeface="Calibri"/>
        </a:defRPr>
      </a:lvl9pPr>
    </p:titleStyle>
    <p:bodyStyle>
      <a:lvl1pPr xmlns:a="http://schemas.openxmlformats.org/drawingml/2006/main" marL="0" indent="0" algn="l" defTabSz="609585">
        <a:lnSpc>
          <a:spcPct val="150000"/>
        </a:lnSpc>
        <a:spcBef>
          <a:spcPts val="0"/>
        </a:spcBef>
        <a:spcAft>
          <a:spcPts val="133"/>
        </a:spcAft>
        <a:buFont typeface="Arial"/>
        <a:buNone/>
        <a:defRPr sz="2133" kern="1200">
          <a:solidFill>
            <a:schemeClr val="tx1"/>
          </a:solidFill>
          <a:latin typeface="Open Sans Light"/>
          <a:ea typeface="Open Sans Light"/>
          <a:cs typeface="Open Sans Light"/>
        </a:defRPr>
      </a:lvl1pPr>
      <a:lvl2pPr xmlns:a="http://schemas.openxmlformats.org/drawingml/2006/main" marL="687900" indent="-232828" algn="l" defTabSz="609585">
        <a:lnSpc>
          <a:spcPct val="150000"/>
        </a:lnSpc>
        <a:spcBef>
          <a:spcPts val="0"/>
        </a:spcBef>
        <a:spcAft>
          <a:spcPts val="133"/>
        </a:spcAft>
        <a:buFont typeface="Arial"/>
        <a:buChar char="•"/>
        <a:defRPr sz="2133" kern="1200">
          <a:solidFill>
            <a:schemeClr val="tx1"/>
          </a:solidFill>
          <a:latin typeface="Open Sans Light"/>
          <a:ea typeface="Open Sans Light"/>
          <a:cs typeface="Open Sans Light"/>
        </a:defRPr>
      </a:lvl2pPr>
      <a:lvl3pPr xmlns:a="http://schemas.openxmlformats.org/drawingml/2006/main" marL="914377" indent="-226478"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3pPr>
      <a:lvl4pPr xmlns:a="http://schemas.openxmlformats.org/drawingml/2006/main" marL="1140855" indent="-226478"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4pPr>
      <a:lvl5pPr xmlns:a="http://schemas.openxmlformats.org/drawingml/2006/main" marL="1375799" indent="-234945"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5pPr>
      <a:lvl6pPr xmlns:a="http://schemas.openxmlformats.org/drawingml/2006/main" marL="3352716" indent="-304792" algn="l" defTabSz="609585">
        <a:spcBef>
          <a:spcPct val="20000"/>
        </a:spcBef>
        <a:buFont typeface="Arial"/>
        <a:buChar char="•"/>
        <a:defRPr sz="2667" kern="1200">
          <a:solidFill>
            <a:schemeClr val="tx1"/>
          </a:solidFill>
          <a:latin typeface="+mn-lt"/>
          <a:ea typeface="+mn-lt"/>
          <a:cs typeface="+mn-lt"/>
        </a:defRPr>
      </a:lvl6pPr>
      <a:lvl7pPr xmlns:a="http://schemas.openxmlformats.org/drawingml/2006/main" marL="3962301" indent="-304792" algn="l" defTabSz="609585">
        <a:spcBef>
          <a:spcPct val="20000"/>
        </a:spcBef>
        <a:buFont typeface="Arial"/>
        <a:buChar char="•"/>
        <a:defRPr sz="2667" kern="1200">
          <a:solidFill>
            <a:schemeClr val="tx1"/>
          </a:solidFill>
          <a:latin typeface="+mn-lt"/>
          <a:ea typeface="+mn-lt"/>
          <a:cs typeface="+mn-lt"/>
        </a:defRPr>
      </a:lvl7pPr>
      <a:lvl8pPr xmlns:a="http://schemas.openxmlformats.org/drawingml/2006/main" marL="4571886" indent="-304792" algn="l" defTabSz="609585">
        <a:spcBef>
          <a:spcPct val="20000"/>
        </a:spcBef>
        <a:buFont typeface="Arial"/>
        <a:buChar char="•"/>
        <a:defRPr sz="2667" kern="1200">
          <a:solidFill>
            <a:schemeClr val="tx1"/>
          </a:solidFill>
          <a:latin typeface="+mn-lt"/>
          <a:ea typeface="+mn-lt"/>
          <a:cs typeface="+mn-lt"/>
        </a:defRPr>
      </a:lvl8pPr>
      <a:lvl9pPr xmlns:a="http://schemas.openxmlformats.org/drawingml/2006/main" marL="5181470" indent="-304792" algn="l" defTabSz="609585">
        <a:spcBef>
          <a:spcPct val="20000"/>
        </a:spcBef>
        <a:buFont typeface="Arial"/>
        <a:buChar char="•"/>
        <a:defRPr sz="2667" kern="1200">
          <a:solidFill>
            <a:schemeClr val="tx1"/>
          </a:solidFill>
          <a:latin typeface="+mn-lt"/>
          <a:ea typeface="+mn-lt"/>
          <a:cs typeface="+mn-lt"/>
        </a:defRPr>
      </a:lvl9pPr>
    </p:bodyStyle>
    <p:otherStyle>
      <a:lvl1pPr xmlns:a="http://schemas.openxmlformats.org/drawingml/2006/main" marL="0" algn="l" defTabSz="609585">
        <a:buNone/>
        <a:defRPr sz="2400" kern="1200">
          <a:solidFill>
            <a:schemeClr val="tx1"/>
          </a:solidFill>
          <a:latin typeface="+mn-lt"/>
          <a:ea typeface="+mn-lt"/>
          <a:cs typeface="+mn-lt"/>
        </a:defRPr>
      </a:lvl1pPr>
      <a:lvl2pPr xmlns:a="http://schemas.openxmlformats.org/drawingml/2006/main" marL="609585" algn="l" defTabSz="609585">
        <a:buNone/>
        <a:defRPr sz="2400" kern="1200">
          <a:solidFill>
            <a:schemeClr val="tx1"/>
          </a:solidFill>
          <a:latin typeface="+mn-lt"/>
          <a:ea typeface="+mn-lt"/>
          <a:cs typeface="+mn-lt"/>
        </a:defRPr>
      </a:lvl2pPr>
      <a:lvl3pPr xmlns:a="http://schemas.openxmlformats.org/drawingml/2006/main" marL="1219170" algn="l" defTabSz="609585">
        <a:buNone/>
        <a:defRPr sz="2400" kern="1200">
          <a:solidFill>
            <a:schemeClr val="tx1"/>
          </a:solidFill>
          <a:latin typeface="+mn-lt"/>
          <a:ea typeface="+mn-lt"/>
          <a:cs typeface="+mn-lt"/>
        </a:defRPr>
      </a:lvl3pPr>
      <a:lvl4pPr xmlns:a="http://schemas.openxmlformats.org/drawingml/2006/main" marL="1828754" algn="l" defTabSz="609585">
        <a:buNone/>
        <a:defRPr sz="2400" kern="1200">
          <a:solidFill>
            <a:schemeClr val="tx1"/>
          </a:solidFill>
          <a:latin typeface="+mn-lt"/>
          <a:ea typeface="+mn-lt"/>
          <a:cs typeface="+mn-lt"/>
        </a:defRPr>
      </a:lvl4pPr>
      <a:lvl5pPr xmlns:a="http://schemas.openxmlformats.org/drawingml/2006/main" marL="2438339" algn="l" defTabSz="609585">
        <a:buNone/>
        <a:defRPr sz="2400" kern="1200">
          <a:solidFill>
            <a:schemeClr val="tx1"/>
          </a:solidFill>
          <a:latin typeface="+mn-lt"/>
          <a:ea typeface="+mn-lt"/>
          <a:cs typeface="+mn-lt"/>
        </a:defRPr>
      </a:lvl5pPr>
      <a:lvl6pPr xmlns:a="http://schemas.openxmlformats.org/drawingml/2006/main" marL="3047924" algn="l" defTabSz="609585">
        <a:buNone/>
        <a:defRPr sz="2400" kern="1200">
          <a:solidFill>
            <a:schemeClr val="tx1"/>
          </a:solidFill>
          <a:latin typeface="+mn-lt"/>
          <a:ea typeface="+mn-lt"/>
          <a:cs typeface="+mn-lt"/>
        </a:defRPr>
      </a:lvl6pPr>
      <a:lvl7pPr xmlns:a="http://schemas.openxmlformats.org/drawingml/2006/main" marL="3657509" algn="l" defTabSz="609585">
        <a:buNone/>
        <a:defRPr sz="2400" kern="1200">
          <a:solidFill>
            <a:schemeClr val="tx1"/>
          </a:solidFill>
          <a:latin typeface="+mn-lt"/>
          <a:ea typeface="+mn-lt"/>
          <a:cs typeface="+mn-lt"/>
        </a:defRPr>
      </a:lvl7pPr>
      <a:lvl8pPr xmlns:a="http://schemas.openxmlformats.org/drawingml/2006/main" marL="4267093" algn="l" defTabSz="609585">
        <a:buNone/>
        <a:defRPr sz="2400" kern="1200">
          <a:solidFill>
            <a:schemeClr val="tx1"/>
          </a:solidFill>
          <a:latin typeface="+mn-lt"/>
          <a:ea typeface="+mn-lt"/>
          <a:cs typeface="+mn-lt"/>
        </a:defRPr>
      </a:lvl8pPr>
      <a:lvl9pPr xmlns:a="http://schemas.openxmlformats.org/drawingml/2006/main" marL="4876678" algn="l" defTabSz="609585">
        <a:buNone/>
        <a:defRPr sz="24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880">
          <p15:clr>
            <a:srgbClr xmlns:a="http://schemas.openxmlformats.org/drawingml/2006/main" val="F26B43"/>
          </p15:clr>
        </p15:guide>
        <p15:guide id="3" pos="288">
          <p15:clr>
            <a:srgbClr xmlns:a="http://schemas.openxmlformats.org/drawingml/2006/main" val="F26B43"/>
          </p15:clr>
        </p15:guide>
        <p15:guide id="4" orient="horz" pos="279">
          <p15:clr>
            <a:srgbClr xmlns:a="http://schemas.openxmlformats.org/drawingml/2006/main" val="F26B43"/>
          </p15:clr>
        </p15:guide>
        <p15:guide id="5" orient="horz" pos="840">
          <p15:clr>
            <a:srgbClr xmlns:a="http://schemas.openxmlformats.org/drawingml/2006/main" val="F26B43"/>
          </p15:clr>
        </p15:guide>
      </p15:sldGuideLst>
    </p:ext>
  </p:extLst>
</p:sldMaster>
</file>

<file path=ppt/slideMasters/theme/theme2.xml><?xml version="1.0" encoding="utf-8"?>
<a:theme xmlns:a="http://schemas.openxmlformats.org/drawingml/2006/main" name="W Foster MBA Career Mgmt">
  <a:themeElements>
    <a:clrScheme name="2024 FOSTER 2">
      <a:dk1>
        <a:srgbClr val="000000"/>
      </a:dk1>
      <a:lt1>
        <a:srgbClr val="FFFFFF"/>
      </a:lt1>
      <a:dk2>
        <a:srgbClr val="32006E"/>
      </a:dk2>
      <a:lt2>
        <a:srgbClr val="F5F5F9"/>
      </a:lt2>
      <a:accent1>
        <a:srgbClr val="B7A579"/>
      </a:accent1>
      <a:accent2>
        <a:srgbClr val="8C51FF"/>
      </a:accent2>
      <a:accent3>
        <a:srgbClr val="917B4C"/>
      </a:accent3>
      <a:accent4>
        <a:srgbClr val="000000"/>
      </a:accent4>
      <a:accent5>
        <a:srgbClr val="CACACA"/>
      </a:accent5>
      <a:accent6>
        <a:srgbClr val="E8E8E8"/>
      </a:accent6>
      <a:hlink>
        <a:srgbClr val="0000DE"/>
      </a:hlink>
      <a:folHlink>
        <a:srgbClr val="4B2E84"/>
      </a:folHlink>
    </a:clrScheme>
    <a:fontScheme name="Custom 1">
      <a:majorFont>
        <a:latin typeface="Encode Sans Normal ExtraBold"/>
        <a:ea typeface=""/>
        <a:cs typeface=""/>
      </a:majorFont>
      <a:minorFont>
        <a:latin typeface="Open Sans Light"/>
        <a:ea typeface=""/>
        <a:cs typeface=""/>
      </a:minorFont>
    </a:fontScheme>
    <a:fmtScheme name="2024 FOSTER 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0331195262489d" /><Relationship Type="http://schemas.openxmlformats.org/officeDocument/2006/relationships/notesSlide" Target="/ppt/notesSlides/notesSlide1.xml" Id="R24653b873cda49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7e7d899ce61475b" /><Relationship Type="http://schemas.openxmlformats.org/officeDocument/2006/relationships/notesSlide" Target="/ppt/notesSlides/notesSlide2.xml" Id="R7ddb2ae93fae49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51cb680ef5947ef" /><Relationship Type="http://schemas.openxmlformats.org/officeDocument/2006/relationships/image" Target="/ppt/media/image2.png" Id="Rf9f2587296754402" /><Relationship Type="http://schemas.openxmlformats.org/officeDocument/2006/relationships/notesSlide" Target="/ppt/notesSlides/notesSlide3.xml" Id="Ra511bf532ce949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cbd760a8d104a00" /><Relationship Type="http://schemas.openxmlformats.org/officeDocument/2006/relationships/notesSlide" Target="/ppt/notesSlides/notesSlide4.xml" Id="R09b99a7c280a470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81ec8fd26a943b4" /><Relationship Type="http://schemas.openxmlformats.org/officeDocument/2006/relationships/notesSlide" Target="/ppt/notesSlides/notesSlide5.xml" Id="R2d1802e653e04f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2b99afd41124b1c" /><Relationship Type="http://schemas.openxmlformats.org/officeDocument/2006/relationships/hyperlink" Target="https://regex101.com/" TargetMode="External" Id="Ra0b8196cff1949f0" /><Relationship Type="http://schemas.openxmlformats.org/officeDocument/2006/relationships/notesSlide" Target="/ppt/notesSlides/notesSlide6.xml" Id="R9a818d2ee1a140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07f2e7678414bda" /><Relationship Type="http://schemas.openxmlformats.org/officeDocument/2006/relationships/notesSlide" Target="/ppt/notesSlides/notesSlide7.xml" Id="R7188f0d13b0940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0eb8e1b46e4413" /><Relationship Type="http://schemas.openxmlformats.org/officeDocument/2006/relationships/hyperlink" Target="https://colab.research.google.com/" TargetMode="External" Id="Rcde4fb90070d4683" /><Relationship Type="http://schemas.openxmlformats.org/officeDocument/2006/relationships/hyperlink" Target="https://github.com/ashercurtis/enron_email_new/blob/main/Cybersecurity_case_studies_Enron.csv" TargetMode="External" Id="Rcfe7e9944dae4500" /><Relationship Type="http://schemas.openxmlformats.org/officeDocument/2006/relationships/notesSlide" Target="/ppt/notesSlides/notesSlide8.xml" Id="R111db460fb2847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0108a185c584c30" /><Relationship Type="http://schemas.openxmlformats.org/officeDocument/2006/relationships/notesSlide" Target="/ppt/notesSlides/notesSlide9.xml" Id="R47ff9d281f9e44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b9b77e38c34cd1" /><Relationship Type="http://schemas.openxmlformats.org/officeDocument/2006/relationships/image" Target="/ppt/media/image2.png" Id="Rc0f168e13b884602" /><Relationship Type="http://schemas.openxmlformats.org/officeDocument/2006/relationships/notesSlide" Target="/ppt/notesSlides/notesSlide10.xml" Id="R075d17dbe5274a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e4dbea0a063436a" /><Relationship Type="http://schemas.openxmlformats.org/officeDocument/2006/relationships/notesSlide" Target="/ppt/notesSlides/notesSlide11.xml" Id="Red82eb42325c4f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a45e9c6697e4d7b" /><Relationship Type="http://schemas.openxmlformats.org/officeDocument/2006/relationships/notesSlide" Target="/ppt/notesSlides/notesSlide12.xml" Id="R204784771a2041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4717fbfbc5448a2" /><Relationship Type="http://schemas.openxmlformats.org/officeDocument/2006/relationships/notesSlide" Target="/ppt/notesSlides/notesSlide13.xml" Id="R1d79bcf942c944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9820b31eb514a0c" /><Relationship Type="http://schemas.openxmlformats.org/officeDocument/2006/relationships/notesSlide" Target="/ppt/notesSlides/notesSlide14.xml" Id="R891d460d02af44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5c0d6c2a5fc4045" /><Relationship Type="http://schemas.openxmlformats.org/officeDocument/2006/relationships/notesSlide" Target="/ppt/notesSlides/notesSlide15.xml" Id="R6796894d7aca4e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f7bf871bbf4109" /><Relationship Type="http://schemas.openxmlformats.org/officeDocument/2006/relationships/notesSlide" Target="/ppt/notesSlides/notesSlide16.xml" Id="Reb4d4a039ad74f8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06f4bf4018a4444" /><Relationship Type="http://schemas.openxmlformats.org/officeDocument/2006/relationships/notesSlide" Target="/ppt/notesSlides/notesSlide17.xml" Id="R0d9ea613bb2a4f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345ca192157401f" /><Relationship Type="http://schemas.openxmlformats.org/officeDocument/2006/relationships/notesSlide" Target="/ppt/notesSlides/notesSlide18.xml" Id="Ree8f90c8fd5e459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0e2dee3e5804354" /><Relationship Type="http://schemas.openxmlformats.org/officeDocument/2006/relationships/notesSlide" Target="/ppt/notesSlides/notesSlide19.xml" Id="Rdea7ea7cc7a344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e44310a8be47e5" /><Relationship Type="http://schemas.openxmlformats.org/officeDocument/2006/relationships/notesSlide" Target="/ppt/notesSlides/notesSlide20.xml" Id="R60686beee97c407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b3c89d6d918483d" /><Relationship Type="http://schemas.openxmlformats.org/officeDocument/2006/relationships/notesSlide" Target="/ppt/notesSlides/notesSlide21.xml" Id="Rc3b177953c2b4f1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3ca7fb7625949c6" /><Relationship Type="http://schemas.openxmlformats.org/officeDocument/2006/relationships/notesSlide" Target="/ppt/notesSlides/notesSlide22.xml" Id="Rec567214119f4a0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7a6e37a321a41ff" /><Relationship Type="http://schemas.openxmlformats.org/officeDocument/2006/relationships/notesSlide" Target="/ppt/notesSlides/notesSlide23.xml" Id="R9c2f4bfff8424cd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316b149d3ea460e" /><Relationship Type="http://schemas.openxmlformats.org/officeDocument/2006/relationships/notesSlide" Target="/ppt/notesSlides/notesSlide24.xml" Id="R76fe37432b3d4f8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c4c57abf26a4ed0" /><Relationship Type="http://schemas.openxmlformats.org/officeDocument/2006/relationships/notesSlide" Target="/ppt/notesSlides/notesSlide25.xml" Id="R79ccd2a863e24b0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911a0a29bef4201" /><Relationship Type="http://schemas.openxmlformats.org/officeDocument/2006/relationships/notesSlide" Target="/ppt/notesSlides/notesSlide26.xml" Id="Re54cb1412bb44b3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7beacdf57b24c21" /><Relationship Type="http://schemas.openxmlformats.org/officeDocument/2006/relationships/notesSlide" Target="/ppt/notesSlides/notesSlide27.xml" Id="Rffef9b19b6ba4d0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fbd634b95004a55" /><Relationship Type="http://schemas.openxmlformats.org/officeDocument/2006/relationships/notesSlide" Target="/ppt/notesSlides/notesSlide28.xml" Id="R173cf823e9054b3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7c2a242e27a41fd" /><Relationship Type="http://schemas.openxmlformats.org/officeDocument/2006/relationships/notesSlide" Target="/ppt/notesSlides/notesSlide29.xml" Id="R290deec72ab44fb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72e05cb214641e7" /><Relationship Type="http://schemas.openxmlformats.org/officeDocument/2006/relationships/notesSlide" Target="/ppt/notesSlides/notesSlide30.xml" Id="R7a410c24618b4d4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ee4a79b55594a6b" /><Relationship Type="http://schemas.openxmlformats.org/officeDocument/2006/relationships/notesSlide" Target="/ppt/notesSlides/notesSlide31.xml" Id="R114fd5f9af3d4e2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ba5a9f0930d461c" /><Relationship Type="http://schemas.openxmlformats.org/officeDocument/2006/relationships/notesSlide" Target="/ppt/notesSlides/notesSlide32.xml" Id="Refb80ce490334c9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a8abb824392418b" /><Relationship Type="http://schemas.openxmlformats.org/officeDocument/2006/relationships/notesSlide" Target="/ppt/notesSlides/notesSlide33.xml" Id="Rc2ea818896a74ad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Rectangle 3">
            <a:extLst xmlns:a="http://schemas.openxmlformats.org/drawingml/2006/main">
              <a:ext uri="{FF2B5EF4-FFF2-40B4-BE49-F238E27FC236}">
                <a16:creationId xmlns:a16="http://schemas.microsoft.com/office/drawing/2014/main" id="{42171E04-8C84-4649-B7E3-F266075EC7BB}"/>
              </a:ext>
            </a:extLst>
          </p:cNvPr>
          <p:cNvSpPr>
            <a:spLocks xmlns:a="http://schemas.openxmlformats.org/drawingml/2006/main" noGrp="1"/>
          </p:cNvSpPr>
          <p:nvPr/>
        </p:nvSpPr>
        <p:spPr>
          <a:xfrm xmlns:a="http://schemas.openxmlformats.org/drawingml/2006/main">
            <a:off x="609600" y="16764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FFFFFF"/>
                </a:solidFill>
                <a:latin typeface="Segoe UI"/>
                <a:ea typeface="Segoe UI"/>
                <a:cs typeface="Segoe UI"/>
              </a:defRPr>
            </a:pPr>
            <a:r>
              <a:rPr sz="4000" b="1">
                <a:solidFill>
                  <a:srgbClr val="FFFFFF"/>
                </a:solidFill>
                <a:latin typeface="Segoe UI"/>
                <a:ea typeface="Segoe UI"/>
                <a:cs typeface="Segoe UI"/>
              </a:rPr>
              <a:t>The ETL Process: Text Analytics</a:t>
            </a:r>
          </a:p>
        </p:txBody>
      </p:sp>
      <p:sp>
        <p:nvSpPr>
          <p:cNvPr id="2" name="Rectangle 1">
            <a:extLst xmlns:a="http://schemas.openxmlformats.org/drawingml/2006/main">
              <a:ext uri="{FF2B5EF4-FFF2-40B4-BE49-F238E27FC236}">
                <a16:creationId xmlns:a16="http://schemas.microsoft.com/office/drawing/2014/main" id="{40B64F9C-E20B-4CE2-B941-28E4B429B518}"/>
              </a:ext>
            </a:extLst>
          </p:cNvPr>
          <p:cNvSpPr>
            <a:spLocks xmlns:a="http://schemas.openxmlformats.org/drawingml/2006/main" noGrp="1"/>
          </p:cNvSpPr>
          <p:nvPr/>
        </p:nvSpPr>
        <p:spPr>
          <a:xfrm xmlns:a="http://schemas.openxmlformats.org/drawingml/2006/main">
            <a:off x="609600" y="3679307"/>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FFFFFF"/>
                </a:solidFill>
                <a:latin typeface="Segoe UI"/>
                <a:ea typeface="Segoe UI"/>
                <a:cs typeface="Segoe UI"/>
              </a:defRPr>
            </a:pPr>
            <a:r>
              <a:rPr sz="2400" b="1">
                <a:solidFill>
                  <a:srgbClr val="FFFFFF"/>
                </a:solidFill>
                <a:latin typeface="Segoe UI"/>
                <a:ea typeface="Segoe UI"/>
                <a:cs typeface="Segoe UI"/>
              </a:rPr>
              <a:t>ACCTG 522</a:t>
            </a:r>
          </a:p>
          <a:p xmlns:a="http://schemas.openxmlformats.org/drawingml/2006/main">
            <a:pPr>
              <a:buNone/>
              <a:defRPr sz="2400" b="1">
                <a:solidFill>
                  <a:srgbClr val="FFFFFF"/>
                </a:solidFill>
                <a:latin typeface="Segoe UI"/>
                <a:ea typeface="Segoe UI"/>
                <a:cs typeface="Segoe UI"/>
              </a:defRPr>
            </a:pPr>
            <a:r>
              <a:rPr sz="2400" b="1">
                <a:solidFill>
                  <a:srgbClr val="FFFFFF"/>
                </a:solidFill>
                <a:latin typeface="Segoe UI"/>
                <a:ea typeface="Segoe UI"/>
                <a:cs typeface="Segoe UI"/>
              </a:rPr>
              <a:t>Data Analytics for Professional Accountants</a:t>
            </a:r>
            <a:endParaRPr sz="2400" b="1">
              <a:solidFill>
                <a:srgbClr val="FFFFFF"/>
              </a:solidFill>
              <a:latin typeface="Segoe UI"/>
              <a:ea typeface="Segoe UI"/>
              <a:cs typeface="Segoe UI"/>
            </a:endParaRPr>
          </a:p>
        </p:txBody>
      </p:sp>
      <p:sp>
        <p:nvSpPr>
          <p:cNvPr id="3" name="Rectangle 2">
            <a:extLst xmlns:a="http://schemas.openxmlformats.org/drawingml/2006/main">
              <a:ext uri="{FF2B5EF4-FFF2-40B4-BE49-F238E27FC236}">
                <a16:creationId xmlns:a16="http://schemas.microsoft.com/office/drawing/2014/main" id="{25E99166-AAF5-498F-B46D-82D42CECC71B}"/>
              </a:ext>
            </a:extLst>
          </p:cNvPr>
          <p:cNvSpPr>
            <a:spLocks xmlns:a="http://schemas.openxmlformats.org/drawingml/2006/main" noGrp="1"/>
          </p:cNvSpPr>
          <p:nvPr/>
        </p:nvSpPr>
        <p:spPr>
          <a:xfrm xmlns:a="http://schemas.openxmlformats.org/drawingml/2006/main">
            <a:off x="609600" y="4757183"/>
            <a:ext cx="1000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B7A579"/>
                </a:solidFill>
                <a:latin typeface="Segoe UI"/>
                <a:ea typeface="Segoe UI"/>
                <a:cs typeface="Segoe UI"/>
              </a:defRPr>
            </a:pPr>
            <a:r>
              <a:rPr sz="2400" b="1">
                <a:solidFill>
                  <a:srgbClr val="B7A579"/>
                </a:solidFill>
                <a:latin typeface="Segoe UI"/>
                <a:ea typeface="Segoe UI"/>
                <a:cs typeface="Segoe UI"/>
              </a:rPr>
              <a:t>MPAcc Class of 2027</a:t>
            </a:r>
          </a:p>
          <a:p xmlns:a="http://schemas.openxmlformats.org/drawingml/2006/main">
            <a:pPr>
              <a:buNone/>
              <a:defRPr sz="2400" b="1">
                <a:solidFill>
                  <a:srgbClr val="B7A579"/>
                </a:solidFill>
                <a:latin typeface="Segoe UI"/>
                <a:ea typeface="Segoe UI"/>
                <a:cs typeface="Segoe UI"/>
              </a:defRPr>
            </a:pPr>
            <a:r>
              <a:rPr sz="2400" b="1">
                <a:solidFill>
                  <a:srgbClr val="B7A579"/>
                </a:solidFill>
                <a:latin typeface="Segoe UI"/>
                <a:ea typeface="Segoe UI"/>
                <a:cs typeface="Segoe UI"/>
              </a:rPr>
              <a:t>Class 08 | Autumn | 2026</a:t>
            </a:r>
            <a:endParaRPr sz="2400" b="1">
              <a:solidFill>
                <a:srgbClr val="B7A579"/>
              </a:solidFill>
              <a:latin typeface="Segoe UI"/>
              <a:ea typeface="Segoe UI"/>
              <a:cs typeface="Segoe UI"/>
            </a:endParaRPr>
          </a:p>
        </p:txBody>
      </p:sp>
    </p:spTree>
    <p:extLst>
      <p:ext uri="{BB962C8B-B14F-4D97-AF65-F5344CB8AC3E}">
        <p14:creationId xmlns:p14="http://schemas.microsoft.com/office/powerpoint/2010/main" val="4294885419"/>
      </p:ext>
    </p:extLst>
  </p:cSld>
</p:sld>
</file>

<file path=ppt/slides/slide2.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4BF555D3-14D1-2CA6-3E9F-FDB21F020B98}"/>
              </a:ext>
            </a:extLst>
          </p:cNvPr>
          <p:cNvSpPr>
            <a:spLocks xmlns:a="http://schemas.openxmlformats.org/drawingml/2006/main" noGrp="1"/>
          </p:cNvSpPr>
          <p:nvPr>
            <p:ph idx="11"/>
          </p:nvPr>
        </p:nvSpPr>
        <p:spPr>
          <a:xfrm xmlns:a="http://schemas.openxmlformats.org/drawingml/2006/main">
            <a:off x="609600" y="1744134"/>
            <a:ext cx="7315200" cy="2252796"/>
          </a:xfrm>
        </p:spPr>
        <p:txBody>
          <a:bodyPr xmlns:a="http://schemas.openxmlformats.org/drawingml/2006/main"/>
          <a:lstStyle xmlns:a="http://schemas.openxmlformats.org/drawingml/2006/main"/>
          <a:p xmlns:a="http://schemas.openxmlformats.org/drawingml/2006/main">
            <a:pPr marL="457200" indent="-457200">
              <a:buAutoNum type="arabicPeriod"/>
            </a:pPr>
            <a:r>
              <a:rPr b="1">
                <a:solidFill>
                  <a:schemeClr val="tx2"/>
                </a:solidFill>
              </a:rPr>
              <a:t>Review </a:t>
            </a:r>
          </a:p>
          <a:p xmlns:a="http://schemas.openxmlformats.org/drawingml/2006/main">
            <a:pPr marL="457200" indent="-457200">
              <a:buAutoNum type="arabicPeriod"/>
            </a:pPr>
            <a:r>
              <a:t>Labs Enron Email Regex Exercises</a:t>
            </a:r>
          </a:p>
          <a:p xmlns:a="http://schemas.openxmlformats.org/drawingml/2006/main">
            <a:pPr marL="1145100" lvl="1" indent="-457200">
              <a:buAutoNum type="arabicPeriod"/>
            </a:pPr>
            <a:r>
              <a:t>Regex101.com practice</a:t>
            </a:r>
          </a:p>
          <a:p xmlns:a="http://schemas.openxmlformats.org/drawingml/2006/main">
            <a:pPr marL="1145100" lvl="1" indent="-457200">
              <a:buAutoNum type="arabicPeriod"/>
            </a:pPr>
            <a:r>
              <a:t>Google </a:t>
            </a:r>
            <a:r>
              <a:t>CoLab</a:t>
            </a:r>
            <a:r>
              <a:t> Exercise</a:t>
            </a:r>
          </a:p>
          <a:p xmlns:a="http://schemas.openxmlformats.org/drawingml/2006/main">
            <a:pPr marL="457200" indent="-457200">
              <a:buAutoNum type="arabicPeriod"/>
            </a:pPr>
            <a:r>
              <a:t>Conclusion &amp; Look Ahead</a:t>
            </a:r>
          </a:p>
        </p:txBody>
      </p:sp>
      <p:sp>
        <p:nvSpPr>
          <p:cNvPr id="3" name="Title 2">
            <a:extLst xmlns:a="http://schemas.openxmlformats.org/drawingml/2006/main">
              <a:ext uri="{FF2B5EF4-FFF2-40B4-BE49-F238E27FC236}">
                <a16:creationId xmlns:a16="http://schemas.microsoft.com/office/drawing/2014/main" id="{0257129C-F48B-B91A-202B-99600A6CD3E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Agenda</a:t>
            </a:r>
          </a:p>
        </p:txBody>
      </p:sp>
    </p:spTree>
    <p:extLst>
      <p:ext uri="{BB962C8B-B14F-4D97-AF65-F5344CB8AC3E}">
        <p14:creationId xmlns:p14="http://schemas.microsoft.com/office/powerpoint/2010/main" val="4272180523"/>
      </p:ext>
    </p:extLst>
  </p:cSld>
</p:sld>
</file>

<file path=ppt/slides/slide3.xml><?xml version="1.0" encoding="utf-8"?>
<p:sld xmlns:p="http://schemas.openxmlformats.org/presentationml/2006/main" show="0">
  <p:cSld>
    <p:spTree>
      <p:nvGrpSpPr>
        <p:cNvPr id="1" name=""/>
        <p:cNvGrpSpPr/>
        <p:nvPr/>
      </p:nvGrpSpPr>
      <p:grpSpPr>
        <a:xfrm xmlns:a="http://schemas.openxmlformats.org/drawingml/2006/main"/>
      </p:grpSpPr>
      <p:pic>
        <p:nvPicPr>
          <p:cNvPr id="5" name="Content Placeholder 4">
            <a:extLst xmlns:a="http://schemas.openxmlformats.org/drawingml/2006/main">
              <a:ext uri="{FF2B5EF4-FFF2-40B4-BE49-F238E27FC236}">
                <a16:creationId xmlns:a16="http://schemas.microsoft.com/office/drawing/2014/main" id="{C3253D36-5F65-4A54-AD84-AB96B8E6A83F}"/>
              </a:ext>
            </a:extLst>
          </p:cNvPr>
          <p:cNvPicPr>
            <a:picLocks xmlns:a="http://schemas.openxmlformats.org/drawingml/2006/main" noChangeAspect="1"/>
          </p:cNvPicPr>
          <p:nvPr>
            <p:ph idx="11"/>
          </p:nvPr>
        </p:nvPicPr>
        <p:blipFill>
          <a:blip xmlns:r="http://schemas.openxmlformats.org/officeDocument/2006/relationships" xmlns:a="http://schemas.openxmlformats.org/drawingml/2006/main" r:embed="Rf9f2587296754402"/>
          <a:srcRect xmlns:a="http://schemas.openxmlformats.org/drawingml/2006/main" l="803" t="0" r="2512" b="1"/>
          <a:stretch xmlns:a="http://schemas.openxmlformats.org/drawingml/2006/main">
            <a:fillRect l="0" t="0" r="0" b="0"/>
          </a:stretch>
        </p:blipFill>
        <p:spPr>
          <a:xfrm xmlns:a="http://schemas.openxmlformats.org/drawingml/2006/main">
            <a:off x="241300" y="61175"/>
            <a:ext cx="11950700" cy="6180137"/>
          </a:xfrm>
          <a:prstGeom xmlns:a="http://schemas.openxmlformats.org/drawingml/2006/main" prst="rect">
            <a:avLst/>
          </a:prstGeom>
        </p:spPr>
      </p:pic>
    </p:spTree>
    <p:extLst>
      <p:ext uri="{BB962C8B-B14F-4D97-AF65-F5344CB8AC3E}">
        <p14:creationId xmlns:p14="http://schemas.microsoft.com/office/powerpoint/2010/main" val="1768303522"/>
      </p:ext>
    </p:extLst>
  </p:cSld>
</p:sld>
</file>

<file path=ppt/slides/slide4.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C4A84980-89EB-B993-AC78-03A1A07F45B4}"/>
              </a:ext>
            </a:extLst>
          </p:cNvPr>
          <p:cNvSpPr>
            <a:spLocks xmlns:a="http://schemas.openxmlformats.org/drawingml/2006/main" noGrp="1"/>
          </p:cNvSpPr>
          <p:nvPr>
            <p:ph idx="11"/>
          </p:nvPr>
        </p:nvSpPr>
        <p:spPr>
          <a:xfrm xmlns:a="http://schemas.openxmlformats.org/drawingml/2006/main">
            <a:off x="609599" y="1744134"/>
            <a:ext cx="9712569" cy="4068165"/>
          </a:xfrm>
        </p:spPr>
        <p:txBody>
          <a:bodyPr xmlns:a="http://schemas.openxmlformats.org/drawingml/2006/main"/>
          <a:lstStyle xmlns:a="http://schemas.openxmlformats.org/drawingml/2006/main"/>
          <a:p xmlns:a="http://schemas.openxmlformats.org/drawingml/2006/main">
            <a:pPr>
              <a:spcAft>
                <a:spcPts val="700"/>
              </a:spcAft>
              <a:buNone/>
              <a:defRPr sz="2000"/>
            </a:pPr>
            <a:r>
              <a:t>Today's key takeaway: </a:t>
            </a:r>
            <a:r>
              <a:rPr b="1"/>
              <a:t>Understanding how relational data is structured and how we query it to transform that data to answer questions is essential to producing reliable analytical evidence.</a:t>
            </a:r>
          </a:p>
          <a:p xmlns:a="http://schemas.openxmlformats.org/drawingml/2006/main">
            <a:pPr marL="342900" indent="-342900">
              <a:spcAft>
                <a:spcPts val="700"/>
              </a:spcAft>
              <a:buFont typeface="Arial"/>
              <a:buChar char="•"/>
              <a:defRPr sz="2000"/>
            </a:pPr>
            <a:endParaRPr/>
          </a:p>
          <a:p xmlns:a="http://schemas.openxmlformats.org/drawingml/2006/main">
            <a:pPr marL="342900" indent="-342900">
              <a:spcAft>
                <a:spcPts val="700"/>
              </a:spcAft>
              <a:buFont typeface="Arial"/>
              <a:buChar char="•"/>
              <a:defRPr sz="2000"/>
            </a:pPr>
            <a:r>
              <a:t>Relational data can be queried with Structured Query Language (SQL) to directly answer questions.</a:t>
            </a:r>
          </a:p>
          <a:p xmlns:a="http://schemas.openxmlformats.org/drawingml/2006/main">
            <a:pPr marL="342900" indent="-342900">
              <a:spcAft>
                <a:spcPts val="700"/>
              </a:spcAft>
              <a:buFont typeface="Arial"/>
              <a:buChar char="•"/>
              <a:defRPr sz="2000"/>
            </a:pPr>
            <a:r>
              <a:t>SQL provides a very rich and flexible way to query relational databases.</a:t>
            </a:r>
          </a:p>
          <a:p xmlns:a="http://schemas.openxmlformats.org/drawingml/2006/main">
            <a:endParaRPr/>
          </a:p>
        </p:txBody>
      </p:sp>
      <p:sp>
        <p:nvSpPr>
          <p:cNvPr id="3" name="Title 2">
            <a:extLst xmlns:a="http://schemas.openxmlformats.org/drawingml/2006/main">
              <a:ext uri="{FF2B5EF4-FFF2-40B4-BE49-F238E27FC236}">
                <a16:creationId xmlns:a16="http://schemas.microsoft.com/office/drawing/2014/main" id="{41256D3F-A330-CA41-F5E8-E48D78D21E1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Review</a:t>
            </a:r>
          </a:p>
        </p:txBody>
      </p:sp>
    </p:spTree>
    <p:extLst>
      <p:ext uri="{BB962C8B-B14F-4D97-AF65-F5344CB8AC3E}">
        <p14:creationId xmlns:p14="http://schemas.microsoft.com/office/powerpoint/2010/main" val="2331784910"/>
      </p:ext>
    </p:extLst>
  </p:cSld>
</p:sld>
</file>

<file path=ppt/slides/slide5.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44AD25AA-BE8D-5EB5-7991-95D633D2D38E}"/>
              </a:ext>
            </a:extLst>
          </p:cNvPr>
          <p:cNvSpPr>
            <a:spLocks xmlns:a="http://schemas.openxmlformats.org/drawingml/2006/main" noGrp="1"/>
          </p:cNvSpPr>
          <p:nvPr>
            <p:ph idx="11"/>
          </p:nvPr>
        </p:nvSpPr>
        <p:spPr>
          <a:xfrm xmlns:a="http://schemas.openxmlformats.org/drawingml/2006/main">
            <a:off x="609600" y="1744134"/>
            <a:ext cx="7315200" cy="2252796"/>
          </a:xfrm>
        </p:spPr>
        <p:txBody>
          <a:bodyPr xmlns:a="http://schemas.openxmlformats.org/drawingml/2006/main"/>
          <a:lstStyle xmlns:a="http://schemas.openxmlformats.org/drawingml/2006/main"/>
          <a:p xmlns:a="http://schemas.openxmlformats.org/drawingml/2006/main">
            <a:pPr marL="457200" indent="-457200">
              <a:buAutoNum type="arabicPeriod"/>
            </a:pPr>
            <a:r>
              <a:rPr>
                <a:solidFill>
                  <a:schemeClr val="bg1">
                    <a:lumMod val="65000"/>
                  </a:schemeClr>
                </a:solidFill>
              </a:rPr>
              <a:t>Review</a:t>
            </a:r>
            <a:r>
              <a:rPr b="1">
                <a:solidFill>
                  <a:schemeClr val="tx2"/>
                </a:solidFill>
              </a:rPr>
              <a:t> </a:t>
            </a:r>
          </a:p>
          <a:p xmlns:a="http://schemas.openxmlformats.org/drawingml/2006/main">
            <a:pPr marL="457200" indent="-457200">
              <a:buAutoNum type="arabicPeriod"/>
            </a:pPr>
            <a:r>
              <a:rPr b="1">
                <a:solidFill>
                  <a:schemeClr val="tx2"/>
                </a:solidFill>
              </a:rPr>
              <a:t>Labs Enron Email Regex Exercises</a:t>
            </a:r>
          </a:p>
          <a:p xmlns:a="http://schemas.openxmlformats.org/drawingml/2006/main">
            <a:pPr marL="1145100" lvl="1" indent="-457200">
              <a:buAutoNum type="arabicPeriod"/>
            </a:pPr>
            <a:r>
              <a:rPr b="1">
                <a:solidFill>
                  <a:schemeClr val="tx2"/>
                </a:solidFill>
              </a:rPr>
              <a:t>Regex101.com practice</a:t>
            </a:r>
          </a:p>
          <a:p xmlns:a="http://schemas.openxmlformats.org/drawingml/2006/main">
            <a:pPr marL="1145100" lvl="1" indent="-457200">
              <a:buAutoNum type="arabicPeriod"/>
            </a:pPr>
            <a:r>
              <a:t>Google </a:t>
            </a:r>
            <a:r>
              <a:t>CoLab</a:t>
            </a:r>
            <a:r>
              <a:t> Exercise</a:t>
            </a:r>
          </a:p>
          <a:p xmlns:a="http://schemas.openxmlformats.org/drawingml/2006/main">
            <a:pPr marL="457200" indent="-457200">
              <a:buAutoNum type="arabicPeriod"/>
            </a:pPr>
            <a:r>
              <a:t>Conclusion &amp; Look Ahead</a:t>
            </a:r>
          </a:p>
        </p:txBody>
      </p:sp>
      <p:sp>
        <p:nvSpPr>
          <p:cNvPr id="3" name="Title 2">
            <a:extLst xmlns:a="http://schemas.openxmlformats.org/drawingml/2006/main">
              <a:ext uri="{FF2B5EF4-FFF2-40B4-BE49-F238E27FC236}">
                <a16:creationId xmlns:a16="http://schemas.microsoft.com/office/drawing/2014/main" id="{36E5BA21-8FA5-18A5-46C7-7AF0ACF63B1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Agenda</a:t>
            </a:r>
          </a:p>
        </p:txBody>
      </p:sp>
    </p:spTree>
    <p:extLst>
      <p:ext uri="{BB962C8B-B14F-4D97-AF65-F5344CB8AC3E}">
        <p14:creationId xmlns:p14="http://schemas.microsoft.com/office/powerpoint/2010/main" val="871076594"/>
      </p:ext>
    </p:extLst>
  </p:cSld>
</p:sld>
</file>

<file path=ppt/slides/slide6.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AC05B9E8-B654-4F63-84E4-AFB6FEC2DFE8}"/>
              </a:ext>
            </a:extLst>
          </p:cNvPr>
          <p:cNvSpPr>
            <a:spLocks xmlns:a="http://schemas.openxmlformats.org/drawingml/2006/main" noGrp="1"/>
          </p:cNvSpPr>
          <p:nvPr>
            <p:ph idx="11"/>
          </p:nvPr>
        </p:nvSpPr>
        <p:spPr>
          <a:xfrm xmlns:a="http://schemas.openxmlformats.org/drawingml/2006/main">
            <a:off x="609599" y="1744134"/>
            <a:ext cx="10426995" cy="4286430"/>
          </a:xfrm>
        </p:spPr>
        <p:txBody>
          <a:bodyPr xmlns:a="http://schemas.openxmlformats.org/drawingml/2006/main"/>
          <a:lstStyle xmlns:a="http://schemas.openxmlformats.org/drawingml/2006/main"/>
          <a:p xmlns:a="http://schemas.openxmlformats.org/drawingml/2006/main">
            <a:r>
              <a:t>A free online regex tool that we can use to cover some of the basics.</a:t>
            </a:r>
          </a:p>
          <a:p xmlns:a="http://schemas.openxmlformats.org/drawingml/2006/main">
            <a:pPr marL="342900" indent="-342900">
              <a:buFont typeface="Arial"/>
              <a:buChar char="•"/>
            </a:pPr>
            <a:r>
              <a:rPr>
                <a:hlinkClick xmlns:r="http://schemas.openxmlformats.org/officeDocument/2006/relationships" r:id="Ra0b8196cff1949f0"/>
              </a:rPr>
              <a:t>https://regex101.com/</a:t>
            </a:r>
            <a:r>
              <a:t> </a:t>
            </a:r>
          </a:p>
          <a:p xmlns:a="http://schemas.openxmlformats.org/drawingml/2006/main">
            <a:pPr marL="342900" indent="-342900">
              <a:buFont typeface="Arial"/>
              <a:buChar char="•"/>
            </a:pPr>
            <a:r>
              <a:rPr sz="1400"/>
              <a:t>Message-ID: &lt;25828831.1075855376669.JavaMail.evans@thyme&gt; Date: Mon, 26 Nov 2001 07:25:16 -0800 (PST) From: k..allen@enron.com To: jsmith@austintx.com Subject: RE: Additional properties in San Antonio Jeff, Can you resend the info on the three properties you mailed and the one you faxed on Tuesday. I was out of the office last week. Phillip -----Original Message----- From: "JEFF SMITH" &lt;jsmith@austintx.com&gt;@ENRON Sent: Tuesday, November 20, 2001 3:43 PM To: Allen, Phillip K. Subject: Additional properties in San Antonio Phillip, I am waiting to get info. on two more properties in San Antonio. The broker will be faxing info. on Monday. One is 74 units for $1,900,000, and the other is 24 units for $550,000. Also, I have mailed you info. on three other properties in addition to the 100 unit property that I faxed this AM. Let me know if you have any questions. Jeff Smith The Smith Company 9400 Circle Drive Austin, TX 78736 512-394-0908 office 512-394-0913 fax 512-751-9728 mobile jsmith@austintx.com</a:t>
            </a:r>
            <a:endParaRPr sz="2400"/>
          </a:p>
          <a:p xmlns:a="http://schemas.openxmlformats.org/drawingml/2006/main">
            <a:pPr marL="342900" indent="-342900">
              <a:buFont typeface="Arial"/>
              <a:buChar char="•"/>
            </a:pPr>
            <a:endParaRPr/>
          </a:p>
        </p:txBody>
      </p:sp>
      <p:sp>
        <p:nvSpPr>
          <p:cNvPr id="3" name="Title 2">
            <a:extLst xmlns:a="http://schemas.openxmlformats.org/drawingml/2006/main">
              <a:ext uri="{FF2B5EF4-FFF2-40B4-BE49-F238E27FC236}">
                <a16:creationId xmlns:a16="http://schemas.microsoft.com/office/drawing/2014/main" id="{30C8FBC4-49C2-4133-A26C-F362ABED0B8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Regex101</a:t>
            </a:r>
          </a:p>
        </p:txBody>
      </p:sp>
    </p:spTree>
    <p:extLst>
      <p:ext uri="{BB962C8B-B14F-4D97-AF65-F5344CB8AC3E}">
        <p14:creationId xmlns:p14="http://schemas.microsoft.com/office/powerpoint/2010/main" val="2779994144"/>
      </p:ext>
    </p:extLst>
  </p:cSld>
</p:sld>
</file>

<file path=ppt/slides/slide7.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F3537DF4-B7DC-4B0E-2B17-5B79F475CC15}"/>
              </a:ext>
            </a:extLst>
          </p:cNvPr>
          <p:cNvSpPr>
            <a:spLocks xmlns:a="http://schemas.openxmlformats.org/drawingml/2006/main" noGrp="1"/>
          </p:cNvSpPr>
          <p:nvPr>
            <p:ph idx="11"/>
          </p:nvPr>
        </p:nvSpPr>
        <p:spPr>
          <a:xfrm xmlns:a="http://schemas.openxmlformats.org/drawingml/2006/main">
            <a:off x="609600" y="1744134"/>
            <a:ext cx="7315200" cy="2252796"/>
          </a:xfrm>
        </p:spPr>
        <p:txBody>
          <a:bodyPr xmlns:a="http://schemas.openxmlformats.org/drawingml/2006/main"/>
          <a:lstStyle xmlns:a="http://schemas.openxmlformats.org/drawingml/2006/main"/>
          <a:p xmlns:a="http://schemas.openxmlformats.org/drawingml/2006/main">
            <a:pPr marL="457200" indent="-457200">
              <a:buAutoNum type="arabicPeriod"/>
            </a:pPr>
            <a:r>
              <a:rPr>
                <a:solidFill>
                  <a:schemeClr val="bg1">
                    <a:lumMod val="65000"/>
                  </a:schemeClr>
                </a:solidFill>
              </a:rPr>
              <a:t>Review </a:t>
            </a:r>
          </a:p>
          <a:p xmlns:a="http://schemas.openxmlformats.org/drawingml/2006/main">
            <a:pPr marL="457200" indent="-457200">
              <a:buAutoNum type="arabicPeriod"/>
            </a:pPr>
            <a:r>
              <a:rPr b="1">
                <a:solidFill>
                  <a:schemeClr val="tx2"/>
                </a:solidFill>
              </a:rPr>
              <a:t>Labs Enron Email Regex Exercises</a:t>
            </a:r>
          </a:p>
          <a:p xmlns:a="http://schemas.openxmlformats.org/drawingml/2006/main">
            <a:pPr marL="1145100" lvl="1" indent="-457200">
              <a:buAutoNum type="arabicPeriod"/>
            </a:pPr>
            <a:r>
              <a:rPr>
                <a:solidFill>
                  <a:schemeClr val="bg1">
                    <a:lumMod val="65000"/>
                  </a:schemeClr>
                </a:solidFill>
              </a:rPr>
              <a:t>Regex101.com practice</a:t>
            </a:r>
          </a:p>
          <a:p xmlns:a="http://schemas.openxmlformats.org/drawingml/2006/main">
            <a:pPr marL="1145100" lvl="1" indent="-457200">
              <a:buAutoNum type="arabicPeriod"/>
            </a:pPr>
            <a:r>
              <a:rPr b="1">
                <a:solidFill>
                  <a:schemeClr val="tx2"/>
                </a:solidFill>
              </a:rPr>
              <a:t>Google </a:t>
            </a:r>
            <a:r>
              <a:rPr b="1">
                <a:solidFill>
                  <a:schemeClr val="tx2"/>
                </a:solidFill>
              </a:rPr>
              <a:t>CoLab</a:t>
            </a:r>
            <a:r>
              <a:rPr b="1">
                <a:solidFill>
                  <a:schemeClr val="tx2"/>
                </a:solidFill>
              </a:rPr>
              <a:t> Exercise</a:t>
            </a:r>
          </a:p>
          <a:p xmlns:a="http://schemas.openxmlformats.org/drawingml/2006/main">
            <a:pPr marL="457200" indent="-457200">
              <a:buAutoNum type="arabicPeriod"/>
            </a:pPr>
            <a:r>
              <a:t>Conclusion &amp; Look Ahead</a:t>
            </a:r>
          </a:p>
        </p:txBody>
      </p:sp>
      <p:sp>
        <p:nvSpPr>
          <p:cNvPr id="3" name="Title 2">
            <a:extLst xmlns:a="http://schemas.openxmlformats.org/drawingml/2006/main">
              <a:ext uri="{FF2B5EF4-FFF2-40B4-BE49-F238E27FC236}">
                <a16:creationId xmlns:a16="http://schemas.microsoft.com/office/drawing/2014/main" id="{797891E9-8750-2C8B-4AAC-66CB60CED7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Agenda</a:t>
            </a:r>
          </a:p>
        </p:txBody>
      </p:sp>
    </p:spTree>
    <p:extLst>
      <p:ext uri="{BB962C8B-B14F-4D97-AF65-F5344CB8AC3E}">
        <p14:creationId xmlns:p14="http://schemas.microsoft.com/office/powerpoint/2010/main" val="3410896302"/>
      </p:ext>
    </p:extLst>
  </p:cSld>
</p:sld>
</file>

<file path=ppt/slides/slide8.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77A9C9CC-6B52-5F63-29C1-290552F60C7C}"/>
              </a:ext>
            </a:extLst>
          </p:cNvPr>
          <p:cNvSpPr>
            <a:spLocks xmlns:a="http://schemas.openxmlformats.org/drawingml/2006/main" noGrp="1"/>
          </p:cNvSpPr>
          <p:nvPr>
            <p:ph idx="11"/>
          </p:nvPr>
        </p:nvSpPr>
        <p:spPr>
          <a:xfrm xmlns:a="http://schemas.openxmlformats.org/drawingml/2006/main">
            <a:off x="609599" y="1744134"/>
            <a:ext cx="11213805" cy="4015330"/>
          </a:xfrm>
        </p:spPr>
        <p:txBody>
          <a:bodyPr xmlns:a="http://schemas.openxmlformats.org/drawingml/2006/main"/>
          <a:lstStyle xmlns:a="http://schemas.openxmlformats.org/drawingml/2006/main"/>
          <a:p xmlns:a="http://schemas.openxmlformats.org/drawingml/2006/main">
            <a:r>
              <a:t>We can upload the entire email dataset to </a:t>
            </a:r>
            <a:r>
              <a:t>colab</a:t>
            </a:r>
            <a:r>
              <a:t> and process it online:</a:t>
            </a:r>
          </a:p>
          <a:p xmlns:a="http://schemas.openxmlformats.org/drawingml/2006/main">
            <a:endParaRPr/>
          </a:p>
          <a:p xmlns:a="http://schemas.openxmlformats.org/drawingml/2006/main">
            <a:pPr marL="342900" indent="-342900">
              <a:buFont typeface="Arial"/>
              <a:buChar char="•"/>
            </a:pPr>
            <a:r>
              <a:rPr>
                <a:hlinkClick xmlns:r="http://schemas.openxmlformats.org/officeDocument/2006/relationships" r:id="Rcde4fb90070d4683"/>
              </a:rPr>
              <a:t>https://colab.research.google.com/</a:t>
            </a:r>
            <a:endParaRPr/>
          </a:p>
          <a:p xmlns:a="http://schemas.openxmlformats.org/drawingml/2006/main">
            <a:pPr marL="342900" indent="-342900">
              <a:buFont typeface="Arial"/>
              <a:buChar char="•"/>
            </a:pPr>
            <a:r>
              <a:t>Notebook </a:t>
            </a:r>
            <a:r>
              <a:t>(open&gt;</a:t>
            </a:r>
            <a:r>
              <a:t>github</a:t>
            </a:r>
            <a:r>
              <a:t>): </a:t>
            </a:r>
            <a:r>
              <a:rPr b="1"/>
              <a:t>ashercurtis</a:t>
            </a:r>
            <a:endParaRPr b="1"/>
          </a:p>
          <a:p xmlns:a="http://schemas.openxmlformats.org/drawingml/2006/main">
            <a:pPr marL="1030800" lvl="1" indent="-342900">
              <a:buFont typeface="Arial"/>
              <a:buChar char="•"/>
            </a:pPr>
            <a:r>
              <a:t>Select </a:t>
            </a:r>
            <a:r>
              <a:rPr b="1"/>
              <a:t>enron_email_new</a:t>
            </a:r>
            <a:r>
              <a:rPr b="1"/>
              <a:t> </a:t>
            </a:r>
          </a:p>
          <a:p xmlns:a="http://schemas.openxmlformats.org/drawingml/2006/main">
            <a:pPr marL="1030800" lvl="1" indent="-342900">
              <a:buFont typeface="Arial"/>
              <a:buChar char="•"/>
            </a:pPr>
            <a:r>
              <a:t>Select </a:t>
            </a:r>
            <a:r>
              <a:rPr b="1"/>
              <a:t>Enron_Email_Audit_Student.ipnyb</a:t>
            </a:r>
            <a:endParaRPr b="1"/>
          </a:p>
          <a:p xmlns:a="http://schemas.openxmlformats.org/drawingml/2006/main">
            <a:pPr marL="342900" indent="-342900">
              <a:buFont typeface="Arial"/>
              <a:buChar char="•"/>
            </a:pPr>
            <a:r>
              <a:rPr b="1"/>
              <a:t>Download data first: </a:t>
            </a:r>
            <a:r>
              <a:rPr b="1">
                <a:hlinkClick xmlns:r="http://schemas.openxmlformats.org/officeDocument/2006/relationships" r:id="Rcfe7e9944dae4500"/>
              </a:rPr>
              <a:t>https://github.com/ashercurtis/enron_email_new/blob/main/Cybersecurity_case_studies_Enron.csv</a:t>
            </a:r>
            <a:endParaRPr b="1"/>
          </a:p>
          <a:p xmlns:a="http://schemas.openxmlformats.org/drawingml/2006/main">
            <a:pPr marL="1030800" lvl="1" indent="-342900">
              <a:buFont typeface="Arial"/>
              <a:buChar char="•"/>
            </a:pPr>
            <a:r>
              <a:t>Upload it to google </a:t>
            </a:r>
            <a:r>
              <a:t>colab</a:t>
            </a:r>
            <a:r>
              <a:t> by running first command.</a:t>
            </a:r>
          </a:p>
        </p:txBody>
      </p:sp>
      <p:sp>
        <p:nvSpPr>
          <p:cNvPr id="3" name="Title 2">
            <a:extLst xmlns:a="http://schemas.openxmlformats.org/drawingml/2006/main">
              <a:ext uri="{FF2B5EF4-FFF2-40B4-BE49-F238E27FC236}">
                <a16:creationId xmlns:a16="http://schemas.microsoft.com/office/drawing/2014/main" id="{7102EA46-A0A6-795A-2850-CCDD50C8384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Google </a:t>
            </a:r>
            <a:r>
              <a:t>Colab</a:t>
            </a:r>
            <a:endParaRPr/>
          </a:p>
        </p:txBody>
      </p:sp>
    </p:spTree>
    <p:extLst>
      <p:ext uri="{BB962C8B-B14F-4D97-AF65-F5344CB8AC3E}">
        <p14:creationId xmlns:p14="http://schemas.microsoft.com/office/powerpoint/2010/main" val="2296426032"/>
      </p:ext>
    </p:extLst>
  </p:cSld>
</p:sld>
</file>

<file path=ppt/slides/slide9.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5938F9B9-6294-CBFD-6564-8EEA08BFE530}"/>
              </a:ext>
            </a:extLst>
          </p:cNvPr>
          <p:cNvSpPr>
            <a:spLocks xmlns:a="http://schemas.openxmlformats.org/drawingml/2006/main" noGrp="1"/>
          </p:cNvSpPr>
          <p:nvPr>
            <p:ph idx="11"/>
          </p:nvPr>
        </p:nvSpPr>
        <p:spPr>
          <a:xfrm xmlns:a="http://schemas.openxmlformats.org/drawingml/2006/main">
            <a:off x="609600" y="1744134"/>
            <a:ext cx="7315200" cy="2252796"/>
          </a:xfrm>
        </p:spPr>
        <p:txBody>
          <a:bodyPr xmlns:a="http://schemas.openxmlformats.org/drawingml/2006/main"/>
          <a:lstStyle xmlns:a="http://schemas.openxmlformats.org/drawingml/2006/main"/>
          <a:p xmlns:a="http://schemas.openxmlformats.org/drawingml/2006/main">
            <a:pPr marL="457200" indent="-457200">
              <a:buAutoNum type="arabicPeriod"/>
            </a:pPr>
            <a:r>
              <a:rPr>
                <a:solidFill>
                  <a:schemeClr val="bg1">
                    <a:lumMod val="65000"/>
                  </a:schemeClr>
                </a:solidFill>
              </a:rPr>
              <a:t>Review </a:t>
            </a:r>
          </a:p>
          <a:p xmlns:a="http://schemas.openxmlformats.org/drawingml/2006/main">
            <a:pPr marL="457200" indent="-457200">
              <a:buAutoNum type="arabicPeriod"/>
            </a:pPr>
            <a:r>
              <a:rPr>
                <a:solidFill>
                  <a:schemeClr val="bg1">
                    <a:lumMod val="65000"/>
                  </a:schemeClr>
                </a:solidFill>
              </a:rPr>
              <a:t>Labs Enron Email Regex Exercises</a:t>
            </a:r>
          </a:p>
          <a:p xmlns:a="http://schemas.openxmlformats.org/drawingml/2006/main">
            <a:pPr marL="1145100" lvl="1" indent="-457200">
              <a:buAutoNum type="arabicPeriod"/>
            </a:pPr>
            <a:r>
              <a:rPr>
                <a:solidFill>
                  <a:schemeClr val="bg1">
                    <a:lumMod val="65000"/>
                  </a:schemeClr>
                </a:solidFill>
              </a:rPr>
              <a:t>Regex101.com practice</a:t>
            </a:r>
          </a:p>
          <a:p xmlns:a="http://schemas.openxmlformats.org/drawingml/2006/main">
            <a:pPr marL="1145100" lvl="1" indent="-457200">
              <a:buAutoNum type="arabicPeriod"/>
            </a:pPr>
            <a:r>
              <a:rPr>
                <a:solidFill>
                  <a:schemeClr val="bg1">
                    <a:lumMod val="65000"/>
                  </a:schemeClr>
                </a:solidFill>
              </a:rPr>
              <a:t>Google </a:t>
            </a:r>
            <a:r>
              <a:rPr>
                <a:solidFill>
                  <a:schemeClr val="bg1">
                    <a:lumMod val="65000"/>
                  </a:schemeClr>
                </a:solidFill>
              </a:rPr>
              <a:t>CoLab</a:t>
            </a:r>
            <a:r>
              <a:rPr>
                <a:solidFill>
                  <a:schemeClr val="bg1">
                    <a:lumMod val="65000"/>
                  </a:schemeClr>
                </a:solidFill>
              </a:rPr>
              <a:t> Exercise</a:t>
            </a:r>
          </a:p>
          <a:p xmlns:a="http://schemas.openxmlformats.org/drawingml/2006/main">
            <a:pPr marL="457200" indent="-457200">
              <a:buAutoNum type="arabicPeriod"/>
            </a:pPr>
            <a:r>
              <a:rPr b="1">
                <a:solidFill>
                  <a:schemeClr val="tx2"/>
                </a:solidFill>
              </a:rPr>
              <a:t>Conclusion &amp; Look Ahead</a:t>
            </a:r>
          </a:p>
        </p:txBody>
      </p:sp>
      <p:sp>
        <p:nvSpPr>
          <p:cNvPr id="3" name="Title 2">
            <a:extLst xmlns:a="http://schemas.openxmlformats.org/drawingml/2006/main">
              <a:ext uri="{FF2B5EF4-FFF2-40B4-BE49-F238E27FC236}">
                <a16:creationId xmlns:a16="http://schemas.microsoft.com/office/drawing/2014/main" id="{7254FAE2-C110-8F84-9E1A-40B983107B1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Agenda</a:t>
            </a:r>
          </a:p>
        </p:txBody>
      </p:sp>
    </p:spTree>
    <p:extLst>
      <p:ext uri="{BB962C8B-B14F-4D97-AF65-F5344CB8AC3E}">
        <p14:creationId xmlns:p14="http://schemas.microsoft.com/office/powerpoint/2010/main" val="625574247"/>
      </p:ext>
    </p:extLst>
  </p:cSld>
</p:sld>
</file>

<file path=ppt/slides/slide10.xml><?xml version="1.0" encoding="utf-8"?>
<p:sld xmlns:p="http://schemas.openxmlformats.org/presentationml/2006/main" show="0">
  <p:cSld>
    <p:spTree>
      <p:nvGrpSpPr>
        <p:cNvPr id="1" name=""/>
        <p:cNvGrpSpPr/>
        <p:nvPr/>
      </p:nvGrpSpPr>
      <p:grpSpPr>
        <a:xfrm xmlns:a="http://schemas.openxmlformats.org/drawingml/2006/main"/>
      </p:grpSpPr>
      <p:pic>
        <p:nvPicPr>
          <p:cNvPr id="5" name="Content Placeholder 4">
            <a:extLst xmlns:a="http://schemas.openxmlformats.org/drawingml/2006/main">
              <a:ext uri="{FF2B5EF4-FFF2-40B4-BE49-F238E27FC236}">
                <a16:creationId xmlns:a16="http://schemas.microsoft.com/office/drawing/2014/main" id="{3DF1AEBC-341A-4FC4-98E5-BF550F3740AA}"/>
              </a:ext>
            </a:extLst>
          </p:cNvPr>
          <p:cNvPicPr>
            <a:picLocks xmlns:a="http://schemas.openxmlformats.org/drawingml/2006/main" noChangeAspect="1"/>
          </p:cNvPicPr>
          <p:nvPr>
            <p:ph idx="11"/>
          </p:nvPr>
        </p:nvPicPr>
        <p:blipFill>
          <a:blip xmlns:r="http://schemas.openxmlformats.org/officeDocument/2006/relationships" xmlns:a="http://schemas.openxmlformats.org/drawingml/2006/main" r:embed="Rc0f168e13b884602"/>
          <a:srcRect xmlns:a="http://schemas.openxmlformats.org/drawingml/2006/main" l="803" t="0" r="2512" b="1"/>
          <a:stretch xmlns:a="http://schemas.openxmlformats.org/drawingml/2006/main">
            <a:fillRect l="0" t="0" r="0" b="0"/>
          </a:stretch>
        </p:blipFill>
        <p:spPr>
          <a:xfrm xmlns:a="http://schemas.openxmlformats.org/drawingml/2006/main">
            <a:off x="241300" y="61175"/>
            <a:ext cx="11950700" cy="6180137"/>
          </a:xfrm>
          <a:prstGeom xmlns:a="http://schemas.openxmlformats.org/drawingml/2006/main" prst="rect">
            <a:avLst/>
          </a:prstGeom>
        </p:spPr>
      </p:pic>
    </p:spTree>
    <p:extLst>
      <p:ext uri="{BB962C8B-B14F-4D97-AF65-F5344CB8AC3E}">
        <p14:creationId xmlns:p14="http://schemas.microsoft.com/office/powerpoint/2010/main" val="3912361377"/>
      </p:ext>
    </p:extLst>
  </p:cSld>
</p:sld>
</file>

<file path=ppt/slides/slide11.xml><?xml version="1.0" encoding="utf-8"?>
<p:sld xmlns:p="http://schemas.openxmlformats.org/presentationml/2006/main" show="0">
  <p:cSld>
    <p:spTree>
      <p:nvGrpSpPr>
        <p:cNvPr id="1" name=""/>
        <p:cNvGrpSpPr/>
        <p:nvPr/>
      </p:nvGrpSpPr>
      <p:grpSpPr>
        <a:xfrm xmlns:a="http://schemas.openxmlformats.org/drawingml/2006/main"/>
      </p:grpSpPr>
      <p:sp>
        <p:nvSpPr>
          <p:cNvPr id="2" name="Content Placeholder 1">
            <a:extLst xmlns:a="http://schemas.openxmlformats.org/drawingml/2006/main">
              <a:ext uri="{FF2B5EF4-FFF2-40B4-BE49-F238E27FC236}">
                <a16:creationId xmlns:a16="http://schemas.microsoft.com/office/drawing/2014/main" id="{3343B51B-0A83-EDC8-5496-64D3A58ABEEB}"/>
              </a:ext>
            </a:extLst>
          </p:cNvPr>
          <p:cNvSpPr>
            <a:spLocks xmlns:a="http://schemas.openxmlformats.org/drawingml/2006/main" noGrp="1"/>
          </p:cNvSpPr>
          <p:nvPr>
            <p:ph idx="11"/>
          </p:nvPr>
        </p:nvSpPr>
        <p:spPr>
          <a:xfrm xmlns:a="http://schemas.openxmlformats.org/drawingml/2006/main">
            <a:off x="609599" y="1744134"/>
            <a:ext cx="9712569" cy="4991495"/>
          </a:xfrm>
        </p:spPr>
        <p:txBody>
          <a:bodyPr xmlns:a="http://schemas.openxmlformats.org/drawingml/2006/main"/>
          <a:lstStyle xmlns:a="http://schemas.openxmlformats.org/drawingml/2006/main"/>
          <a:p xmlns:a="http://schemas.openxmlformats.org/drawingml/2006/main">
            <a:pPr>
              <a:spcAft>
                <a:spcPts val="700"/>
              </a:spcAft>
              <a:buNone/>
              <a:defRPr sz="2000"/>
            </a:pPr>
            <a:r>
              <a:t>Today's key takeaway: </a:t>
            </a:r>
            <a:r>
              <a:rPr b="1"/>
              <a:t>Transforming unstructured email data into structured analytical evidence requires effective data preparation, pattern recognition, and careful interpretation of results.</a:t>
            </a:r>
          </a:p>
          <a:p xmlns:a="http://schemas.openxmlformats.org/drawingml/2006/main">
            <a:pPr marL="342900" indent="-342900">
              <a:spcAft>
                <a:spcPts val="700"/>
              </a:spcAft>
              <a:buFont typeface="Arial"/>
              <a:buChar char="•"/>
              <a:defRPr sz="2000"/>
            </a:pPr>
            <a:endParaRPr/>
          </a:p>
          <a:p xmlns:a="http://schemas.openxmlformats.org/drawingml/2006/main">
            <a:pPr marL="342900" indent="-342900">
              <a:spcAft>
                <a:spcPts val="700"/>
              </a:spcAft>
              <a:buFont typeface="Arial"/>
              <a:buChar char="•"/>
              <a:defRPr sz="2000"/>
            </a:pPr>
            <a:r>
              <a:t>Email data contains valuable information, but its unstructured nature makes systematic analysis challenging. Regular expressions (Regex) provide a flexible and powerful way to identify, extract, and transform patterns within text.</a:t>
            </a:r>
          </a:p>
          <a:p xmlns:a="http://schemas.openxmlformats.org/drawingml/2006/main">
            <a:pPr marL="342900" indent="-342900">
              <a:spcAft>
                <a:spcPts val="700"/>
              </a:spcAft>
              <a:buFont typeface="Arial"/>
              <a:buChar char="•"/>
              <a:defRPr sz="2000"/>
            </a:pPr>
            <a:r>
              <a:t>Analyzing the Enron emails illustrates how we can convert large volumes of communications into structured data to investigate potential risks.</a:t>
            </a:r>
          </a:p>
          <a:p xmlns:a="http://schemas.openxmlformats.org/drawingml/2006/main">
            <a:endParaRPr/>
          </a:p>
        </p:txBody>
      </p:sp>
      <p:sp>
        <p:nvSpPr>
          <p:cNvPr id="3" name="Title 2">
            <a:extLst xmlns:a="http://schemas.openxmlformats.org/drawingml/2006/main">
              <a:ext uri="{FF2B5EF4-FFF2-40B4-BE49-F238E27FC236}">
                <a16:creationId xmlns:a16="http://schemas.microsoft.com/office/drawing/2014/main" id="{8DD6B6A5-AB1F-874C-8C41-DE2C1859330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Summary</a:t>
            </a:r>
          </a:p>
        </p:txBody>
      </p:sp>
    </p:spTree>
    <p:extLst>
      <p:ext uri="{BB962C8B-B14F-4D97-AF65-F5344CB8AC3E}">
        <p14:creationId xmlns:p14="http://schemas.microsoft.com/office/powerpoint/2010/main" val="3118862969"/>
      </p:ext>
    </p:extLst>
  </p:cSld>
</p:sld>
</file>

<file path=ppt/slides/slide12.xml><?xml version="1.0" encoding="utf-8"?>
<p:sld xmlns:p="http://schemas.openxmlformats.org/presentationml/2006/main" show="0">
  <p:cSld>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084B59F3-FA70-48A1-8B0F-551483EAAA2F}"/>
              </a:ext>
            </a:extLst>
          </p:cNvPr>
          <p:cNvSpPr>
            <a:spLocks xmlns:a="http://schemas.openxmlformats.org/drawingml/2006/main" noGrp="1"/>
          </p:cNvSpPr>
          <p:nvPr/>
        </p:nvSpPr>
        <p:spPr>
          <a:xfrm xmlns:a="http://schemas.openxmlformats.org/drawingml/2006/main">
            <a:off x="628650" y="638175"/>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4B2E83"/>
                </a:solidFill>
                <a:latin typeface="Encode Sans Normal ExtraBold"/>
                <a:ea typeface="Encode Sans Normal ExtraBold"/>
                <a:cs typeface="Encode Sans Normal ExtraBold"/>
              </a:defRPr>
            </a:pPr>
            <a:r>
              <a:rPr sz="3000" b="1">
                <a:solidFill>
                  <a:srgbClr val="4B2E83"/>
                </a:solidFill>
                <a:latin typeface="Encode Sans Normal ExtraBold"/>
                <a:ea typeface="Encode Sans Normal ExtraBold"/>
                <a:cs typeface="Encode Sans Normal ExtraBold"/>
              </a:rPr>
              <a:t>N</a:t>
            </a:r>
            <a:r>
              <a:rPr sz="3000" b="1">
                <a:solidFill>
                  <a:srgbClr val="4B2E83"/>
                </a:solidFill>
                <a:latin typeface="Encode Sans Normal ExtraBold"/>
                <a:ea typeface="Encode Sans Normal ExtraBold"/>
                <a:cs typeface="Encode Sans Normal ExtraBold"/>
              </a:rPr>
              <a:t>ext steps</a:t>
            </a:r>
          </a:p>
        </p:txBody>
      </p:sp>
      <p:sp>
        <p:nvSpPr>
          <p:cNvPr id="2" name="Rectangle 1">
            <a:extLst xmlns:a="http://schemas.openxmlformats.org/drawingml/2006/main">
              <a:ext uri="{FF2B5EF4-FFF2-40B4-BE49-F238E27FC236}">
                <a16:creationId xmlns:a16="http://schemas.microsoft.com/office/drawing/2014/main" id="{11EC96EB-8371-4B7E-A0C3-573FD660BBA7}"/>
              </a:ext>
            </a:extLst>
          </p:cNvPr>
          <p:cNvSpPr>
            <a:spLocks xmlns:a="http://schemas.openxmlformats.org/drawingml/2006/main" noGrp="1"/>
          </p:cNvSpPr>
          <p:nvPr/>
        </p:nvSpPr>
        <p:spPr>
          <a:xfrm xmlns:a="http://schemas.openxmlformats.org/drawingml/2006/main">
            <a:off x="723900" y="157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r>
              <a:rPr sz="2100">
                <a:solidFill>
                  <a:srgbClr val="212529"/>
                </a:solidFill>
                <a:latin typeface="Open Sans Light"/>
                <a:ea typeface="Open Sans Light"/>
                <a:cs typeface="Open Sans Light"/>
              </a:rPr>
              <a:t>Next topic: </a:t>
            </a:r>
            <a:r>
              <a:rPr b="1"/>
              <a:t>The ETL Process: Text Analytics</a:t>
            </a:r>
          </a:p>
          <a:p xmlns:a="http://schemas.openxmlformats.org/drawingml/2006/main">
            <a:endParaRPr b="1"/>
          </a:p>
          <a:p xmlns:a="http://schemas.openxmlformats.org/drawingml/2006/main">
            <a:endParaRPr b="1"/>
          </a:p>
          <a:p xmlns:a="http://schemas.openxmlformats.org/drawingml/2006/main">
            <a:pPr marL="285750" indent="-285750">
              <a:buFont typeface="Arial"/>
              <a:buChar char="•"/>
            </a:pPr>
            <a:endParaRPr/>
          </a:p>
          <a:p xmlns:a="http://schemas.openxmlformats.org/drawingml/2006/main">
            <a:pPr marL="285750" indent="-285750">
              <a:buFont typeface="Arial"/>
              <a:buChar char="•"/>
            </a:pPr>
            <a:r>
              <a:t>Continue to develop data skills with Regular Expressions, to code text for analysis</a:t>
            </a:r>
          </a:p>
          <a:p xmlns:a="http://schemas.openxmlformats.org/drawingml/2006/main">
            <a:pPr marL="285750" indent="-285750">
              <a:buFont typeface="Arial"/>
              <a:buChar char="•"/>
            </a:pPr>
            <a:endParaRPr/>
          </a:p>
          <a:p xmlns:a="http://schemas.openxmlformats.org/drawingml/2006/main">
            <a:pPr marL="285750" indent="-285750">
              <a:buFont typeface="Arial"/>
              <a:buChar char="•"/>
            </a:pPr>
            <a:r>
              <a:t>We will use a combination of regex with other text analytics tools to undertake sentiment analysis</a:t>
            </a:r>
          </a:p>
        </p:txBody>
      </p:sp>
      <p:sp>
        <p:nvSpPr>
          <p:cNvPr id="4" name="Rectangle 3">
            <a:extLst xmlns:a="http://schemas.openxmlformats.org/drawingml/2006/main">
              <a:ext uri="{FF2B5EF4-FFF2-40B4-BE49-F238E27FC236}">
                <a16:creationId xmlns:a16="http://schemas.microsoft.com/office/drawing/2014/main" id="{D52BDF1C-957F-4AAB-ABE6-0C863FA7B0C5}"/>
              </a:ext>
            </a:extLst>
          </p:cNvPr>
          <p:cNvSpPr>
            <a:spLocks xmlns:a="http://schemas.openxmlformats.org/drawingml/2006/main" noGrp="1"/>
          </p:cNvSpPr>
          <p:nvPr/>
        </p:nvSpPr>
        <p:spPr>
          <a:xfrm xmlns:a="http://schemas.openxmlformats.org/drawingml/2006/main">
            <a:off x="723900" y="4172172"/>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2100" b="0">
                <a:solidFill>
                  <a:srgbClr val="917B4C"/>
                </a:solidFill>
                <a:latin typeface="Open Sans Light"/>
                <a:ea typeface="Open Sans Light"/>
                <a:cs typeface="Open Sans Light"/>
              </a:defRPr>
            </a:pPr>
            <a:r>
              <a:rPr sz="2100" b="0">
                <a:solidFill>
                  <a:srgbClr val="917B4C"/>
                </a:solidFill>
                <a:latin typeface="Open Sans Light"/>
                <a:ea typeface="Open Sans Light"/>
                <a:cs typeface="Open Sans Light"/>
              </a:rPr>
              <a:t>Thank you!</a:t>
            </a:r>
            <a:endParaRPr sz="2100" b="0">
              <a:solidFill>
                <a:srgbClr val="917B4C"/>
              </a:solidFill>
              <a:latin typeface="Open Sans Light"/>
              <a:ea typeface="Open Sans Light"/>
              <a:cs typeface="Open Sans Light"/>
            </a:endParaRPr>
          </a:p>
        </p:txBody>
      </p:sp>
    </p:spTree>
    <p:extLst>
      <p:ext uri="{BB962C8B-B14F-4D97-AF65-F5344CB8AC3E}">
        <p14:creationId xmlns:p14="http://schemas.microsoft.com/office/powerpoint/2010/main" val="293120894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1D73380-B954-4B3E-B4C7-585AAE1CBA4E}"/>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Textual analytics for financial analysis</a:t>
            </a:r>
          </a:p>
        </p:txBody>
      </p:sp>
      <p:sp>
        <p:nvSpPr>
          <p:cNvPr id="3" name="point-0">
            <a:extLst xmlns:a="http://schemas.openxmlformats.org/drawingml/2006/main">
              <a:ext uri="{FF2B5EF4-FFF2-40B4-BE49-F238E27FC236}">
                <a16:creationId xmlns:a16="http://schemas.microsoft.com/office/drawing/2014/main" id="{46785E3F-1F20-4018-ADB5-D45D80F97BCD}"/>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ACCTG522: Why the techniques matter</a:t>
            </a:r>
          </a:p>
        </p:txBody>
      </p:sp>
      <p:sp>
        <p:nvSpPr>
          <p:cNvPr id="4" name="point-1">
            <a:extLst xmlns:a="http://schemas.openxmlformats.org/drawingml/2006/main">
              <a:ext uri="{FF2B5EF4-FFF2-40B4-BE49-F238E27FC236}">
                <a16:creationId xmlns:a16="http://schemas.microsoft.com/office/drawing/2014/main" id="{074CE2C0-77E4-49B0-A677-8C5744DD64A6}"/>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CAVA annual-report narratives provide the shared example.</a:t>
            </a:r>
          </a:p>
        </p:txBody>
      </p:sp>
      <p:sp>
        <p:nvSpPr>
          <p:cNvPr id="5" name="point-2">
            <a:extLst xmlns:a="http://schemas.openxmlformats.org/drawingml/2006/main">
              <a:ext uri="{FF2B5EF4-FFF2-40B4-BE49-F238E27FC236}">
                <a16:creationId xmlns:a16="http://schemas.microsoft.com/office/drawing/2014/main" id="{5127110F-453B-4EF8-93FD-9527FD0B6970}"/>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Central question: Does positive language distinguish expansion from stronger demand at existing restaurants?</a:t>
            </a:r>
          </a:p>
        </p:txBody>
      </p:sp>
    </p:spTree>
    <p:extLst>
      <p:ext uri="{BB962C8B-B14F-4D97-AF65-F5344CB8AC3E}">
        <p14:creationId xmlns:p14="http://schemas.microsoft.com/office/powerpoint/2010/main" val="37609625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FF01F35-0CE6-4290-8FA4-AE7561E26DA0}"/>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The Enron workflow connects to textual analytics</a:t>
            </a:r>
          </a:p>
        </p:txBody>
      </p:sp>
      <p:sp>
        <p:nvSpPr>
          <p:cNvPr id="3" name="point-0">
            <a:extLst xmlns:a="http://schemas.openxmlformats.org/drawingml/2006/main">
              <a:ext uri="{FF2B5EF4-FFF2-40B4-BE49-F238E27FC236}">
                <a16:creationId xmlns:a16="http://schemas.microsoft.com/office/drawing/2014/main" id="{03F00DBA-E2B5-4A02-926F-18665A0E105B}"/>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In the Enron case, Python and regex helped us prepare email text and find specified keywords or patterns.</a:t>
            </a:r>
          </a:p>
        </p:txBody>
      </p:sp>
      <p:sp>
        <p:nvSpPr>
          <p:cNvPr id="4" name="point-1">
            <a:extLst xmlns:a="http://schemas.openxmlformats.org/drawingml/2006/main">
              <a:ext uri="{FF2B5EF4-FFF2-40B4-BE49-F238E27FC236}">
                <a16:creationId xmlns:a16="http://schemas.microsoft.com/office/drawing/2014/main" id="{FF082DCC-916E-4C73-A455-68F81298C2CC}"/>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same workflow applies to filings: load the source, prepare the text, apply a method, and inspect the output.</a:t>
            </a:r>
          </a:p>
        </p:txBody>
      </p:sp>
      <p:sp>
        <p:nvSpPr>
          <p:cNvPr id="5" name="point-2">
            <a:extLst xmlns:a="http://schemas.openxmlformats.org/drawingml/2006/main">
              <a:ext uri="{FF2B5EF4-FFF2-40B4-BE49-F238E27FC236}">
                <a16:creationId xmlns:a16="http://schemas.microsoft.com/office/drawing/2014/main" id="{A489A217-6129-4340-A08A-1B273C715B45}"/>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Readability measures writing complexity. Dictionary sentiment and FinBERT estimate tone. Semantic search retrieves related meaning.</a:t>
            </a:r>
          </a:p>
        </p:txBody>
      </p:sp>
      <p:sp>
        <p:nvSpPr>
          <p:cNvPr id="6" name="point-3">
            <a:extLst xmlns:a="http://schemas.openxmlformats.org/drawingml/2006/main">
              <a:ext uri="{FF2B5EF4-FFF2-40B4-BE49-F238E27FC236}">
                <a16:creationId xmlns:a16="http://schemas.microsoft.com/office/drawing/2014/main" id="{73CDD37F-7E3F-4040-B62F-9CBFA47DBBC5}"/>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analytical question remains: What does the output support, and what context or evidence is missing?</a:t>
            </a:r>
          </a:p>
        </p:txBody>
      </p:sp>
    </p:spTree>
    <p:extLst>
      <p:ext uri="{BB962C8B-B14F-4D97-AF65-F5344CB8AC3E}">
        <p14:creationId xmlns:p14="http://schemas.microsoft.com/office/powerpoint/2010/main" val="59672927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9ABD981-B2CC-48B4-B990-58B0ACEA2FDC}"/>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Financial narrative adds context to the numbers</a:t>
            </a:r>
          </a:p>
        </p:txBody>
      </p:sp>
      <p:sp>
        <p:nvSpPr>
          <p:cNvPr id="3" name="point-0">
            <a:extLst xmlns:a="http://schemas.openxmlformats.org/drawingml/2006/main">
              <a:ext uri="{FF2B5EF4-FFF2-40B4-BE49-F238E27FC236}">
                <a16:creationId xmlns:a16="http://schemas.microsoft.com/office/drawing/2014/main" id="{B812266B-6CA4-4F48-BFC6-8930EA85FE92}"/>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Financial statements report outcomes. Narrative describes management’s explanations and expectations.</a:t>
            </a:r>
          </a:p>
        </p:txBody>
      </p:sp>
      <p:sp>
        <p:nvSpPr>
          <p:cNvPr id="4" name="point-1">
            <a:extLst xmlns:a="http://schemas.openxmlformats.org/drawingml/2006/main">
              <a:ext uri="{FF2B5EF4-FFF2-40B4-BE49-F238E27FC236}">
                <a16:creationId xmlns:a16="http://schemas.microsoft.com/office/drawing/2014/main" id="{BF206F82-EE20-4085-A829-E659C8C01341}"/>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Textual analytics helps analysts examine many passages consistently.</a:t>
            </a:r>
          </a:p>
        </p:txBody>
      </p:sp>
      <p:sp>
        <p:nvSpPr>
          <p:cNvPr id="5" name="point-2">
            <a:extLst xmlns:a="http://schemas.openxmlformats.org/drawingml/2006/main">
              <a:ext uri="{FF2B5EF4-FFF2-40B4-BE49-F238E27FC236}">
                <a16:creationId xmlns:a16="http://schemas.microsoft.com/office/drawing/2014/main" id="{671FDEDD-4B18-4465-A003-8593D1BBC007}"/>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analytical task is to connect a measure to a business question and supporting evidence.</a:t>
            </a:r>
          </a:p>
        </p:txBody>
      </p:sp>
      <p:sp>
        <p:nvSpPr>
          <p:cNvPr id="6" name="point-3">
            <a:extLst xmlns:a="http://schemas.openxmlformats.org/drawingml/2006/main">
              <a:ext uri="{FF2B5EF4-FFF2-40B4-BE49-F238E27FC236}">
                <a16:creationId xmlns:a16="http://schemas.microsoft.com/office/drawing/2014/main" id="{73444D61-3EB6-49C0-883A-F5C0A0912623}"/>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Management’s stated explanation still requires corroboration.</a:t>
            </a:r>
          </a:p>
        </p:txBody>
      </p:sp>
    </p:spTree>
    <p:extLst>
      <p:ext uri="{BB962C8B-B14F-4D97-AF65-F5344CB8AC3E}">
        <p14:creationId xmlns:p14="http://schemas.microsoft.com/office/powerpoint/2010/main" val="187498176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63107B5-1458-4E47-B18B-ECCE1686305A}"/>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CAVA: growth has several meanings</a:t>
            </a:r>
          </a:p>
        </p:txBody>
      </p:sp>
      <p:sp>
        <p:nvSpPr>
          <p:cNvPr id="3" name="point-0">
            <a:extLst xmlns:a="http://schemas.openxmlformats.org/drawingml/2006/main">
              <a:ext uri="{FF2B5EF4-FFF2-40B4-BE49-F238E27FC236}">
                <a16:creationId xmlns:a16="http://schemas.microsoft.com/office/drawing/2014/main" id="{E1B21307-88EC-4E4B-B4BB-C909338129D8}"/>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FY2025 CAVA restaurant revenue increased 22.5%.</a:t>
            </a:r>
          </a:p>
        </p:txBody>
      </p:sp>
      <p:sp>
        <p:nvSpPr>
          <p:cNvPr id="4" name="point-1">
            <a:extLst xmlns:a="http://schemas.openxmlformats.org/drawingml/2006/main">
              <a:ext uri="{FF2B5EF4-FFF2-40B4-BE49-F238E27FC236}">
                <a16:creationId xmlns:a16="http://schemas.microsoft.com/office/drawing/2014/main" id="{318A8445-2D3A-46E0-A8CF-08085C82AF4D}"/>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Same-restaurant sales growth slowed from 13.4% in FY2024 to 4.0% in FY2025.</a:t>
            </a:r>
          </a:p>
        </p:txBody>
      </p:sp>
      <p:sp>
        <p:nvSpPr>
          <p:cNvPr id="5" name="point-2">
            <a:extLst xmlns:a="http://schemas.openxmlformats.org/drawingml/2006/main">
              <a:ext uri="{FF2B5EF4-FFF2-40B4-BE49-F238E27FC236}">
                <a16:creationId xmlns:a16="http://schemas.microsoft.com/office/drawing/2014/main" id="{9D5EC060-F6D7-4BEF-BD6F-3F7797E4C87E}"/>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guest traffic contribution slowed from 8.7% to 1.6%.</a:t>
            </a:r>
          </a:p>
        </p:txBody>
      </p:sp>
      <p:sp>
        <p:nvSpPr>
          <p:cNvPr id="6" name="point-3">
            <a:extLst xmlns:a="http://schemas.openxmlformats.org/drawingml/2006/main">
              <a:ext uri="{FF2B5EF4-FFF2-40B4-BE49-F238E27FC236}">
                <a16:creationId xmlns:a16="http://schemas.microsoft.com/office/drawing/2014/main" id="{9C01775F-4015-467F-A6C3-FA8A869FCCB9}"/>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Positive growth can coexist with weaker momentum at existing restaurants.</a:t>
            </a:r>
          </a:p>
        </p:txBody>
      </p:sp>
    </p:spTree>
    <p:extLst>
      <p:ext uri="{BB962C8B-B14F-4D97-AF65-F5344CB8AC3E}">
        <p14:creationId xmlns:p14="http://schemas.microsoft.com/office/powerpoint/2010/main" val="8914636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F537E85-E65E-4E9B-85A9-7CF2D558ADEE}"/>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Filing extraction makes the evidence usable</a:t>
            </a:r>
          </a:p>
        </p:txBody>
      </p:sp>
      <p:sp>
        <p:nvSpPr>
          <p:cNvPr id="3" name="point-0">
            <a:extLst xmlns:a="http://schemas.openxmlformats.org/drawingml/2006/main">
              <a:ext uri="{FF2B5EF4-FFF2-40B4-BE49-F238E27FC236}">
                <a16:creationId xmlns:a16="http://schemas.microsoft.com/office/drawing/2014/main" id="{AD94F195-FA38-4BBD-9CBC-60F2EC2704C2}"/>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filing mixes narrative, tables, navigation, and hidden technical markup.</a:t>
            </a:r>
          </a:p>
        </p:txBody>
      </p:sp>
      <p:sp>
        <p:nvSpPr>
          <p:cNvPr id="4" name="point-1">
            <a:extLst xmlns:a="http://schemas.openxmlformats.org/drawingml/2006/main">
              <a:ext uri="{FF2B5EF4-FFF2-40B4-BE49-F238E27FC236}">
                <a16:creationId xmlns:a16="http://schemas.microsoft.com/office/drawing/2014/main" id="{3F9C9943-0907-4805-B674-66EC81BFBE2C}"/>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Item detection identifies the relevant subject and preserves its reporting context.</a:t>
            </a:r>
          </a:p>
        </p:txBody>
      </p:sp>
      <p:sp>
        <p:nvSpPr>
          <p:cNvPr id="5" name="point-2">
            <a:extLst xmlns:a="http://schemas.openxmlformats.org/drawingml/2006/main">
              <a:ext uri="{FF2B5EF4-FFF2-40B4-BE49-F238E27FC236}">
                <a16:creationId xmlns:a16="http://schemas.microsoft.com/office/drawing/2014/main" id="{1E36E59C-4B0B-47DE-82B4-610BD16D344D}"/>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Separate narrative and table files support different analytical methods.</a:t>
            </a:r>
          </a:p>
        </p:txBody>
      </p:sp>
      <p:sp>
        <p:nvSpPr>
          <p:cNvPr id="6" name="point-3">
            <a:extLst xmlns:a="http://schemas.openxmlformats.org/drawingml/2006/main">
              <a:ext uri="{FF2B5EF4-FFF2-40B4-BE49-F238E27FC236}">
                <a16:creationId xmlns:a16="http://schemas.microsoft.com/office/drawing/2014/main" id="{B807DFC4-3E12-4D5C-B610-E2C1F7207543}"/>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Source links and paragraph IDs let an analyst trace every result back to the filing.</a:t>
            </a:r>
          </a:p>
        </p:txBody>
      </p:sp>
    </p:spTree>
    <p:extLst>
      <p:ext uri="{BB962C8B-B14F-4D97-AF65-F5344CB8AC3E}">
        <p14:creationId xmlns:p14="http://schemas.microsoft.com/office/powerpoint/2010/main" val="95091600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C0F3F95-4560-4F33-9CF2-2DC6BA297DA3}"/>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Table separation protects the text measures</a:t>
            </a:r>
          </a:p>
        </p:txBody>
      </p:sp>
      <p:sp>
        <p:nvSpPr>
          <p:cNvPr id="3" name="point-0">
            <a:extLst xmlns:a="http://schemas.openxmlformats.org/drawingml/2006/main">
              <a:ext uri="{FF2B5EF4-FFF2-40B4-BE49-F238E27FC236}">
                <a16:creationId xmlns:a16="http://schemas.microsoft.com/office/drawing/2014/main" id="{34637E43-5317-45A4-BDCC-5187F1E4DD62}"/>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Financial tables contain labels and values that do not form ordinary sentences.</a:t>
            </a:r>
          </a:p>
        </p:txBody>
      </p:sp>
      <p:sp>
        <p:nvSpPr>
          <p:cNvPr id="4" name="point-1">
            <a:extLst xmlns:a="http://schemas.openxmlformats.org/drawingml/2006/main">
              <a:ext uri="{FF2B5EF4-FFF2-40B4-BE49-F238E27FC236}">
                <a16:creationId xmlns:a16="http://schemas.microsoft.com/office/drawing/2014/main" id="{6B86F15D-95FE-450C-9202-6A3FD715A1C7}"/>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Including table cells can distort word counts, sentence lengths, and sentiment summaries.</a:t>
            </a:r>
          </a:p>
        </p:txBody>
      </p:sp>
      <p:sp>
        <p:nvSpPr>
          <p:cNvPr id="5" name="point-2">
            <a:extLst xmlns:a="http://schemas.openxmlformats.org/drawingml/2006/main">
              <a:ext uri="{FF2B5EF4-FFF2-40B4-BE49-F238E27FC236}">
                <a16:creationId xmlns:a16="http://schemas.microsoft.com/office/drawing/2014/main" id="{22946FB6-3689-4578-817C-ECD28F30A2A0}"/>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HTML layout tables may contain genuine narrative that must remain in the text.</a:t>
            </a:r>
          </a:p>
        </p:txBody>
      </p:sp>
      <p:sp>
        <p:nvSpPr>
          <p:cNvPr id="6" name="point-3">
            <a:extLst xmlns:a="http://schemas.openxmlformats.org/drawingml/2006/main">
              <a:ext uri="{FF2B5EF4-FFF2-40B4-BE49-F238E27FC236}">
                <a16:creationId xmlns:a16="http://schemas.microsoft.com/office/drawing/2014/main" id="{46F9131E-346C-4D2F-AF5C-7922647B18EB}"/>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Table titles, units, and Item assignments preserve context for later numerical analysis.</a:t>
            </a:r>
          </a:p>
        </p:txBody>
      </p:sp>
    </p:spTree>
    <p:extLst>
      <p:ext uri="{BB962C8B-B14F-4D97-AF65-F5344CB8AC3E}">
        <p14:creationId xmlns:p14="http://schemas.microsoft.com/office/powerpoint/2010/main" val="31332771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6775FEC-8A96-4EA4-85AF-E3024929DE79}"/>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Regex and keyword searches provide a baseline</a:t>
            </a:r>
          </a:p>
        </p:txBody>
      </p:sp>
      <p:sp>
        <p:nvSpPr>
          <p:cNvPr id="3" name="point-0">
            <a:extLst xmlns:a="http://schemas.openxmlformats.org/drawingml/2006/main">
              <a:ext uri="{FF2B5EF4-FFF2-40B4-BE49-F238E27FC236}">
                <a16:creationId xmlns:a16="http://schemas.microsoft.com/office/drawing/2014/main" id="{E2DB571F-3106-41B0-9245-BEA0E3E736E6}"/>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Exact searches find known words, patterns, and identifiers transparently.</a:t>
            </a:r>
          </a:p>
        </p:txBody>
      </p:sp>
      <p:sp>
        <p:nvSpPr>
          <p:cNvPr id="4" name="point-1">
            <a:extLst xmlns:a="http://schemas.openxmlformats.org/drawingml/2006/main">
              <a:ext uri="{FF2B5EF4-FFF2-40B4-BE49-F238E27FC236}">
                <a16:creationId xmlns:a16="http://schemas.microsoft.com/office/drawing/2014/main" id="{39EBBF7E-BEF7-4F97-91C6-D137CBCC0461}"/>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analyst can explain why a passage matched and inspect false positives.</a:t>
            </a:r>
          </a:p>
        </p:txBody>
      </p:sp>
      <p:sp>
        <p:nvSpPr>
          <p:cNvPr id="5" name="point-2">
            <a:extLst xmlns:a="http://schemas.openxmlformats.org/drawingml/2006/main">
              <a:ext uri="{FF2B5EF4-FFF2-40B4-BE49-F238E27FC236}">
                <a16:creationId xmlns:a16="http://schemas.microsoft.com/office/drawing/2014/main" id="{CA9AC961-CE94-472D-917E-45011495AA4C}"/>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search for “traffic” may miss a discussion that describes fewer customer visits.</a:t>
            </a:r>
          </a:p>
        </p:txBody>
      </p:sp>
      <p:sp>
        <p:nvSpPr>
          <p:cNvPr id="6" name="point-3">
            <a:extLst xmlns:a="http://schemas.openxmlformats.org/drawingml/2006/main">
              <a:ext uri="{FF2B5EF4-FFF2-40B4-BE49-F238E27FC236}">
                <a16:creationId xmlns:a16="http://schemas.microsoft.com/office/drawing/2014/main" id="{B2FADDE7-BE1F-4ACA-A9BE-A6722719EB64}"/>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baseline helps assess what a more complex method adds.</a:t>
            </a:r>
          </a:p>
        </p:txBody>
      </p:sp>
    </p:spTree>
    <p:extLst>
      <p:ext uri="{BB962C8B-B14F-4D97-AF65-F5344CB8AC3E}">
        <p14:creationId xmlns:p14="http://schemas.microsoft.com/office/powerpoint/2010/main" val="59273243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FF78648D-7256-40AC-AC7F-93F35E8E32C9}"/>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Word counts describe the disclosure’s coverage</a:t>
            </a:r>
          </a:p>
        </p:txBody>
      </p:sp>
      <p:sp>
        <p:nvSpPr>
          <p:cNvPr id="3" name="point-0">
            <a:extLst xmlns:a="http://schemas.openxmlformats.org/drawingml/2006/main">
              <a:ext uri="{FF2B5EF4-FFF2-40B4-BE49-F238E27FC236}">
                <a16:creationId xmlns:a16="http://schemas.microsoft.com/office/drawing/2014/main" id="{68B998AF-9EEF-46F0-8259-5D6DEFA53D72}"/>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Counts by Item and subsection show how much text an analyst must review.</a:t>
            </a:r>
          </a:p>
        </p:txBody>
      </p:sp>
      <p:sp>
        <p:nvSpPr>
          <p:cNvPr id="4" name="point-1">
            <a:extLst xmlns:a="http://schemas.openxmlformats.org/drawingml/2006/main">
              <a:ext uri="{FF2B5EF4-FFF2-40B4-BE49-F238E27FC236}">
                <a16:creationId xmlns:a16="http://schemas.microsoft.com/office/drawing/2014/main" id="{74BC89CE-1CD0-4F02-AE1A-D7DDC003BADA}"/>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Comparisons can reveal changes in the amount of discussion devoted to a subject.</a:t>
            </a:r>
          </a:p>
        </p:txBody>
      </p:sp>
      <p:sp>
        <p:nvSpPr>
          <p:cNvPr id="5" name="point-2">
            <a:extLst xmlns:a="http://schemas.openxmlformats.org/drawingml/2006/main">
              <a:ext uri="{FF2B5EF4-FFF2-40B4-BE49-F238E27FC236}">
                <a16:creationId xmlns:a16="http://schemas.microsoft.com/office/drawing/2014/main" id="{BB2C4C8F-5D0E-4246-A012-5092227006EF}"/>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Comparable boundaries and consistent counting rules make the results interpretable.</a:t>
            </a:r>
          </a:p>
        </p:txBody>
      </p:sp>
      <p:sp>
        <p:nvSpPr>
          <p:cNvPr id="6" name="point-3">
            <a:extLst xmlns:a="http://schemas.openxmlformats.org/drawingml/2006/main">
              <a:ext uri="{FF2B5EF4-FFF2-40B4-BE49-F238E27FC236}">
                <a16:creationId xmlns:a16="http://schemas.microsoft.com/office/drawing/2014/main" id="{6BA7AD2B-9EA2-4BB9-A084-C0CBB1501F7E}"/>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longer discussion may add useful explanation or impose greater processing costs.</a:t>
            </a:r>
          </a:p>
        </p:txBody>
      </p:sp>
    </p:spTree>
    <p:extLst>
      <p:ext uri="{BB962C8B-B14F-4D97-AF65-F5344CB8AC3E}">
        <p14:creationId xmlns:p14="http://schemas.microsoft.com/office/powerpoint/2010/main" val="213778908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73340D4D-39C8-49B4-B7CB-784FDC703CEA}"/>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Readability measures examine processing difficulty</a:t>
            </a:r>
          </a:p>
        </p:txBody>
      </p:sp>
      <p:sp>
        <p:nvSpPr>
          <p:cNvPr id="3" name="point-0">
            <a:extLst xmlns:a="http://schemas.openxmlformats.org/drawingml/2006/main">
              <a:ext uri="{FF2B5EF4-FFF2-40B4-BE49-F238E27FC236}">
                <a16:creationId xmlns:a16="http://schemas.microsoft.com/office/drawing/2014/main" id="{B9C5816B-D57D-4D26-A912-FEBFB43CD2AD}"/>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Sentence length and word complexity provide observable features of writing.</a:t>
            </a:r>
          </a:p>
        </p:txBody>
      </p:sp>
      <p:sp>
        <p:nvSpPr>
          <p:cNvPr id="4" name="point-1">
            <a:extLst xmlns:a="http://schemas.openxmlformats.org/drawingml/2006/main">
              <a:ext uri="{FF2B5EF4-FFF2-40B4-BE49-F238E27FC236}">
                <a16:creationId xmlns:a16="http://schemas.microsoft.com/office/drawing/2014/main" id="{3162C2A4-A30D-4626-976E-14C319329E42}"/>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Readability scores allow consistent comparisons across selected passages and years.</a:t>
            </a:r>
          </a:p>
        </p:txBody>
      </p:sp>
      <p:sp>
        <p:nvSpPr>
          <p:cNvPr id="5" name="point-2">
            <a:extLst xmlns:a="http://schemas.openxmlformats.org/drawingml/2006/main">
              <a:ext uri="{FF2B5EF4-FFF2-40B4-BE49-F238E27FC236}">
                <a16:creationId xmlns:a16="http://schemas.microsoft.com/office/drawing/2014/main" id="{BCA65B0D-780B-493F-9D84-18035DDFA31D}"/>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Inspecting the components helps explain why one passage receives a higher score.</a:t>
            </a:r>
          </a:p>
        </p:txBody>
      </p:sp>
      <p:sp>
        <p:nvSpPr>
          <p:cNvPr id="6" name="point-3">
            <a:extLst xmlns:a="http://schemas.openxmlformats.org/drawingml/2006/main">
              <a:ext uri="{FF2B5EF4-FFF2-40B4-BE49-F238E27FC236}">
                <a16:creationId xmlns:a16="http://schemas.microsoft.com/office/drawing/2014/main" id="{46389272-D90F-4D46-BDB3-F1A98A9775B3}"/>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Readers’ accounting knowledge affects how difficult the passage actually feels.</a:t>
            </a:r>
          </a:p>
        </p:txBody>
      </p:sp>
    </p:spTree>
    <p:extLst>
      <p:ext uri="{BB962C8B-B14F-4D97-AF65-F5344CB8AC3E}">
        <p14:creationId xmlns:p14="http://schemas.microsoft.com/office/powerpoint/2010/main" val="150807757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5029E457-1EAD-41DD-BC8F-A72996CC95E5}"/>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Gunning Fog makes the measurement visible</a:t>
            </a:r>
          </a:p>
        </p:txBody>
      </p:sp>
      <p:sp>
        <p:nvSpPr>
          <p:cNvPr id="3" name="point-0">
            <a:extLst xmlns:a="http://schemas.openxmlformats.org/drawingml/2006/main">
              <a:ext uri="{FF2B5EF4-FFF2-40B4-BE49-F238E27FC236}">
                <a16:creationId xmlns:a16="http://schemas.microsoft.com/office/drawing/2014/main" id="{C6DF1149-8186-45A9-A5BC-77151A7A8B48}"/>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Fog = 0.4 × [words per sentence + percentage of complex words].</a:t>
            </a:r>
          </a:p>
        </p:txBody>
      </p:sp>
      <p:sp>
        <p:nvSpPr>
          <p:cNvPr id="4" name="point-1">
            <a:extLst xmlns:a="http://schemas.openxmlformats.org/drawingml/2006/main">
              <a:ext uri="{FF2B5EF4-FFF2-40B4-BE49-F238E27FC236}">
                <a16:creationId xmlns:a16="http://schemas.microsoft.com/office/drawing/2014/main" id="{A3FD2FC2-6E7A-4BD9-88DA-00A4B97DF83B}"/>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Complex words generally have at least three syllables. Implementation rules vary.</a:t>
            </a:r>
          </a:p>
        </p:txBody>
      </p:sp>
      <p:sp>
        <p:nvSpPr>
          <p:cNvPr id="5" name="point-2">
            <a:extLst xmlns:a="http://schemas.openxmlformats.org/drawingml/2006/main">
              <a:ext uri="{FF2B5EF4-FFF2-40B4-BE49-F238E27FC236}">
                <a16:creationId xmlns:a16="http://schemas.microsoft.com/office/drawing/2014/main" id="{F2FAA57B-A736-4893-A359-ABD664040412}"/>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Example: 25 words per sentence and 20% complex words produce Fog = 18.</a:t>
            </a:r>
          </a:p>
        </p:txBody>
      </p:sp>
      <p:sp>
        <p:nvSpPr>
          <p:cNvPr id="6" name="point-3">
            <a:extLst xmlns:a="http://schemas.openxmlformats.org/drawingml/2006/main">
              <a:ext uri="{FF2B5EF4-FFF2-40B4-BE49-F238E27FC236}">
                <a16:creationId xmlns:a16="http://schemas.microsoft.com/office/drawing/2014/main" id="{6CE63D40-9C7A-4F4F-ABE4-8B69B01F33C4}"/>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Common financial vocabulary can raise the score without confusing a trained reader.</a:t>
            </a:r>
          </a:p>
        </p:txBody>
      </p:sp>
    </p:spTree>
    <p:extLst>
      <p:ext uri="{BB962C8B-B14F-4D97-AF65-F5344CB8AC3E}">
        <p14:creationId xmlns:p14="http://schemas.microsoft.com/office/powerpoint/2010/main" val="213553374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D5DC3A3-7984-40BC-ADE6-1E3EBCFA57C4}"/>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Dictionary sentiment provides an inspectable measure</a:t>
            </a:r>
          </a:p>
        </p:txBody>
      </p:sp>
      <p:sp>
        <p:nvSpPr>
          <p:cNvPr id="3" name="point-0">
            <a:extLst xmlns:a="http://schemas.openxmlformats.org/drawingml/2006/main">
              <a:ext uri="{FF2B5EF4-FFF2-40B4-BE49-F238E27FC236}">
                <a16:creationId xmlns:a16="http://schemas.microsoft.com/office/drawing/2014/main" id="{350F93BE-2F79-4652-A638-B8F45CB46DD1}"/>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dictionary assigns words to categories such as positive or negative.</a:t>
            </a:r>
          </a:p>
        </p:txBody>
      </p:sp>
      <p:sp>
        <p:nvSpPr>
          <p:cNvPr id="4" name="point-1">
            <a:extLst xmlns:a="http://schemas.openxmlformats.org/drawingml/2006/main">
              <a:ext uri="{FF2B5EF4-FFF2-40B4-BE49-F238E27FC236}">
                <a16:creationId xmlns:a16="http://schemas.microsoft.com/office/drawing/2014/main" id="{2D24294E-E648-4264-940B-162AFE156497}"/>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Students can inspect the exact words that contribute to a score.</a:t>
            </a:r>
          </a:p>
        </p:txBody>
      </p:sp>
      <p:sp>
        <p:nvSpPr>
          <p:cNvPr id="5" name="point-2">
            <a:extLst xmlns:a="http://schemas.openxmlformats.org/drawingml/2006/main">
              <a:ext uri="{FF2B5EF4-FFF2-40B4-BE49-F238E27FC236}">
                <a16:creationId xmlns:a16="http://schemas.microsoft.com/office/drawing/2014/main" id="{41F2F6AA-125A-4C8F-934D-915DCB7223EA}"/>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financial dictionary reduces some errors caused by general-language word meanings.</a:t>
            </a:r>
          </a:p>
        </p:txBody>
      </p:sp>
      <p:sp>
        <p:nvSpPr>
          <p:cNvPr id="6" name="point-3">
            <a:extLst xmlns:a="http://schemas.openxmlformats.org/drawingml/2006/main">
              <a:ext uri="{FF2B5EF4-FFF2-40B4-BE49-F238E27FC236}">
                <a16:creationId xmlns:a16="http://schemas.microsoft.com/office/drawing/2014/main" id="{48016A89-269F-4DD0-AEDB-CB341BBFD991}"/>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Word counts alone handle negation and sentence context poorly.</a:t>
            </a:r>
          </a:p>
        </p:txBody>
      </p:sp>
    </p:spTree>
    <p:extLst>
      <p:ext uri="{BB962C8B-B14F-4D97-AF65-F5344CB8AC3E}">
        <p14:creationId xmlns:p14="http://schemas.microsoft.com/office/powerpoint/2010/main" val="209426603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6460545-08BD-4D3A-A25C-56C930199FB4}"/>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FinBERT incorporates sentence context</a:t>
            </a:r>
          </a:p>
        </p:txBody>
      </p:sp>
      <p:sp>
        <p:nvSpPr>
          <p:cNvPr id="3" name="point-0">
            <a:extLst xmlns:a="http://schemas.openxmlformats.org/drawingml/2006/main">
              <a:ext uri="{FF2B5EF4-FFF2-40B4-BE49-F238E27FC236}">
                <a16:creationId xmlns:a16="http://schemas.microsoft.com/office/drawing/2014/main" id="{F0B8F32E-FCA5-4739-9C1E-D0A7E4B4F544}"/>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FinBERT is a pretrained model adapted for financial sentiment analysis.</a:t>
            </a:r>
          </a:p>
        </p:txBody>
      </p:sp>
      <p:sp>
        <p:nvSpPr>
          <p:cNvPr id="4" name="point-1">
            <a:extLst xmlns:a="http://schemas.openxmlformats.org/drawingml/2006/main">
              <a:ext uri="{FF2B5EF4-FFF2-40B4-BE49-F238E27FC236}">
                <a16:creationId xmlns:a16="http://schemas.microsoft.com/office/drawing/2014/main" id="{7604F64E-7B14-4F0A-876D-518F82078879}"/>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ProsusAI/finbert produces positive, neutral, and negative scores.</a:t>
            </a:r>
          </a:p>
        </p:txBody>
      </p:sp>
      <p:sp>
        <p:nvSpPr>
          <p:cNvPr id="5" name="point-2">
            <a:extLst xmlns:a="http://schemas.openxmlformats.org/drawingml/2006/main">
              <a:ext uri="{FF2B5EF4-FFF2-40B4-BE49-F238E27FC236}">
                <a16:creationId xmlns:a16="http://schemas.microsoft.com/office/drawing/2014/main" id="{2CB41FB5-B6CE-4175-9175-78FD674F02FB}"/>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It offers a contextual comparison with dictionary word counts.</a:t>
            </a:r>
          </a:p>
        </p:txBody>
      </p:sp>
      <p:sp>
        <p:nvSpPr>
          <p:cNvPr id="6" name="point-3">
            <a:extLst xmlns:a="http://schemas.openxmlformats.org/drawingml/2006/main">
              <a:ext uri="{FF2B5EF4-FFF2-40B4-BE49-F238E27FC236}">
                <a16:creationId xmlns:a16="http://schemas.microsoft.com/office/drawing/2014/main" id="{711975F8-B3EC-4B66-8661-94E50B068711}"/>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Its labels still require evaluation on the passages and task we care about.</a:t>
            </a:r>
          </a:p>
        </p:txBody>
      </p:sp>
    </p:spTree>
    <p:extLst>
      <p:ext uri="{BB962C8B-B14F-4D97-AF65-F5344CB8AC3E}">
        <p14:creationId xmlns:p14="http://schemas.microsoft.com/office/powerpoint/2010/main" val="93398231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16F9166-3088-4514-972E-B60832EE7FAE}"/>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Growth and slowing growth can receive different readings</a:t>
            </a:r>
          </a:p>
        </p:txBody>
      </p:sp>
      <p:sp>
        <p:nvSpPr>
          <p:cNvPr id="3" name="point-0">
            <a:extLst xmlns:a="http://schemas.openxmlformats.org/drawingml/2006/main">
              <a:ext uri="{FF2B5EF4-FFF2-40B4-BE49-F238E27FC236}">
                <a16:creationId xmlns:a16="http://schemas.microsoft.com/office/drawing/2014/main" id="{202C7FDE-174F-4EBE-9EB0-FBAFEFC6ED27}"/>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Hypothetical passage A: “Sales increased 4% this year.”</a:t>
            </a:r>
          </a:p>
        </p:txBody>
      </p:sp>
      <p:sp>
        <p:nvSpPr>
          <p:cNvPr id="4" name="point-1">
            <a:extLst xmlns:a="http://schemas.openxmlformats.org/drawingml/2006/main">
              <a:ext uri="{FF2B5EF4-FFF2-40B4-BE49-F238E27FC236}">
                <a16:creationId xmlns:a16="http://schemas.microsoft.com/office/drawing/2014/main" id="{42CE18C8-8F09-44BA-ACB2-0C2492925159}"/>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Hypothetical passage B: “Sales growth slowed from 13% to 4%.”</a:t>
            </a:r>
          </a:p>
        </p:txBody>
      </p:sp>
      <p:sp>
        <p:nvSpPr>
          <p:cNvPr id="5" name="point-2">
            <a:extLst xmlns:a="http://schemas.openxmlformats.org/drawingml/2006/main">
              <a:ext uri="{FF2B5EF4-FFF2-40B4-BE49-F238E27FC236}">
                <a16:creationId xmlns:a16="http://schemas.microsoft.com/office/drawing/2014/main" id="{07E2A950-F907-445D-ACFE-44D360C0050F}"/>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passages emphasize different comparisons even though both describe positive growth.</a:t>
            </a:r>
          </a:p>
        </p:txBody>
      </p:sp>
      <p:sp>
        <p:nvSpPr>
          <p:cNvPr id="6" name="point-3">
            <a:extLst xmlns:a="http://schemas.openxmlformats.org/drawingml/2006/main">
              <a:ext uri="{FF2B5EF4-FFF2-40B4-BE49-F238E27FC236}">
                <a16:creationId xmlns:a16="http://schemas.microsoft.com/office/drawing/2014/main" id="{3ABF7D24-C2A0-4BBC-BF89-9F8E715C22D2}"/>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Predict each label, run the model, and explain any disagreement with your reading.</a:t>
            </a:r>
          </a:p>
        </p:txBody>
      </p:sp>
    </p:spTree>
    <p:extLst>
      <p:ext uri="{BB962C8B-B14F-4D97-AF65-F5344CB8AC3E}">
        <p14:creationId xmlns:p14="http://schemas.microsoft.com/office/powerpoint/2010/main" val="59968840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06605B8-92E9-4A16-B6FD-77F879119678}"/>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Comparing years reveals changes in the narrative</a:t>
            </a:r>
          </a:p>
        </p:txBody>
      </p:sp>
      <p:sp>
        <p:nvSpPr>
          <p:cNvPr id="3" name="point-0">
            <a:extLst xmlns:a="http://schemas.openxmlformats.org/drawingml/2006/main">
              <a:ext uri="{FF2B5EF4-FFF2-40B4-BE49-F238E27FC236}">
                <a16:creationId xmlns:a16="http://schemas.microsoft.com/office/drawing/2014/main" id="{BFC869A8-358E-40E8-A864-6BDFE532EBED}"/>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Matching the same subject across years holds the comparison reasonably consistent.</a:t>
            </a:r>
          </a:p>
        </p:txBody>
      </p:sp>
      <p:sp>
        <p:nvSpPr>
          <p:cNvPr id="4" name="point-1">
            <a:extLst xmlns:a="http://schemas.openxmlformats.org/drawingml/2006/main">
              <a:ext uri="{FF2B5EF4-FFF2-40B4-BE49-F238E27FC236}">
                <a16:creationId xmlns:a16="http://schemas.microsoft.com/office/drawing/2014/main" id="{C81737D3-F9DB-4621-B9EE-E2C0A18983B8}"/>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Changes may involve tone, readability, numerical trends, or management’s explanations.</a:t>
            </a:r>
          </a:p>
        </p:txBody>
      </p:sp>
      <p:sp>
        <p:nvSpPr>
          <p:cNvPr id="5" name="point-2">
            <a:extLst xmlns:a="http://schemas.openxmlformats.org/drawingml/2006/main">
              <a:ext uri="{FF2B5EF4-FFF2-40B4-BE49-F238E27FC236}">
                <a16:creationId xmlns:a16="http://schemas.microsoft.com/office/drawing/2014/main" id="{F2BE8D5E-2B41-40F9-A9C2-53246416B302}"/>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CAVA’s traffic discussion can separate customer demand from restaurant expansion.</a:t>
            </a:r>
          </a:p>
        </p:txBody>
      </p:sp>
      <p:sp>
        <p:nvSpPr>
          <p:cNvPr id="6" name="point-3">
            <a:extLst xmlns:a="http://schemas.openxmlformats.org/drawingml/2006/main">
              <a:ext uri="{FF2B5EF4-FFF2-40B4-BE49-F238E27FC236}">
                <a16:creationId xmlns:a16="http://schemas.microsoft.com/office/drawing/2014/main" id="{60986FF0-D467-49E6-BCC9-6C8524D437D4}"/>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Reorganized sections and changing definitions require a source check.</a:t>
            </a:r>
          </a:p>
        </p:txBody>
      </p:sp>
    </p:spTree>
    <p:extLst>
      <p:ext uri="{BB962C8B-B14F-4D97-AF65-F5344CB8AC3E}">
        <p14:creationId xmlns:p14="http://schemas.microsoft.com/office/powerpoint/2010/main" val="208031151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F3CFFB6-C67F-457F-B6CA-D9D726D75FA0}"/>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Semantic search retrieves passages by meaning</a:t>
            </a:r>
          </a:p>
        </p:txBody>
      </p:sp>
      <p:sp>
        <p:nvSpPr>
          <p:cNvPr id="3" name="point-0">
            <a:extLst xmlns:a="http://schemas.openxmlformats.org/drawingml/2006/main">
              <a:ext uri="{FF2B5EF4-FFF2-40B4-BE49-F238E27FC236}">
                <a16:creationId xmlns:a16="http://schemas.microsoft.com/office/drawing/2014/main" id="{9FFA1451-7583-42D1-92E8-F1816143950A}"/>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Embeddings represent passages numerically so a query can retrieve related language.</a:t>
            </a:r>
          </a:p>
        </p:txBody>
      </p:sp>
      <p:sp>
        <p:nvSpPr>
          <p:cNvPr id="4" name="point-1">
            <a:extLst xmlns:a="http://schemas.openxmlformats.org/drawingml/2006/main">
              <a:ext uri="{FF2B5EF4-FFF2-40B4-BE49-F238E27FC236}">
                <a16:creationId xmlns:a16="http://schemas.microsoft.com/office/drawing/2014/main" id="{2387AE12-36A8-4482-B1B8-628D6E550AC5}"/>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query about weakening demand may find discussion of visits, spending, or consumer behavior.</a:t>
            </a:r>
          </a:p>
        </p:txBody>
      </p:sp>
      <p:sp>
        <p:nvSpPr>
          <p:cNvPr id="5" name="point-2">
            <a:extLst xmlns:a="http://schemas.openxmlformats.org/drawingml/2006/main">
              <a:ext uri="{FF2B5EF4-FFF2-40B4-BE49-F238E27FC236}">
                <a16:creationId xmlns:a16="http://schemas.microsoft.com/office/drawing/2014/main" id="{7A3FBD9E-B6EB-4B79-B83B-DA9097E90DA2}"/>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Compare the top results with an exact keyword search and judge their relevance.</a:t>
            </a:r>
          </a:p>
        </p:txBody>
      </p:sp>
      <p:sp>
        <p:nvSpPr>
          <p:cNvPr id="6" name="point-3">
            <a:extLst xmlns:a="http://schemas.openxmlformats.org/drawingml/2006/main">
              <a:ext uri="{FF2B5EF4-FFF2-40B4-BE49-F238E27FC236}">
                <a16:creationId xmlns:a16="http://schemas.microsoft.com/office/drawing/2014/main" id="{C6B07D41-FF5C-4F8D-AF32-739377020222}"/>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high similarity score supports retrieval. It does not establish the passage’s truth.</a:t>
            </a:r>
          </a:p>
        </p:txBody>
      </p:sp>
    </p:spTree>
    <p:extLst>
      <p:ext uri="{BB962C8B-B14F-4D97-AF65-F5344CB8AC3E}">
        <p14:creationId xmlns:p14="http://schemas.microsoft.com/office/powerpoint/2010/main" val="78951140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58150BE-8101-4890-8EF2-B2542123D9DA}"/>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Text classification organizes passages by question</a:t>
            </a:r>
          </a:p>
        </p:txBody>
      </p:sp>
      <p:sp>
        <p:nvSpPr>
          <p:cNvPr id="3" name="point-0">
            <a:extLst xmlns:a="http://schemas.openxmlformats.org/drawingml/2006/main">
              <a:ext uri="{FF2B5EF4-FFF2-40B4-BE49-F238E27FC236}">
                <a16:creationId xmlns:a16="http://schemas.microsoft.com/office/drawing/2014/main" id="{C405E034-09BB-4E40-AA15-F70AFD46F34B}"/>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Extension: assign passages to demand, pricing, expansion, or cost pressure.</a:t>
            </a:r>
          </a:p>
        </p:txBody>
      </p:sp>
      <p:sp>
        <p:nvSpPr>
          <p:cNvPr id="4" name="point-1">
            <a:extLst xmlns:a="http://schemas.openxmlformats.org/drawingml/2006/main">
              <a:ext uri="{FF2B5EF4-FFF2-40B4-BE49-F238E27FC236}">
                <a16:creationId xmlns:a16="http://schemas.microsoft.com/office/drawing/2014/main" id="{2B18D053-59BC-4A99-9E52-BAE1BAC039A1}"/>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Classification makes it easier to summarize a large collection by business subject.</a:t>
            </a:r>
          </a:p>
        </p:txBody>
      </p:sp>
      <p:sp>
        <p:nvSpPr>
          <p:cNvPr id="5" name="point-2">
            <a:extLst xmlns:a="http://schemas.openxmlformats.org/drawingml/2006/main">
              <a:ext uri="{FF2B5EF4-FFF2-40B4-BE49-F238E27FC236}">
                <a16:creationId xmlns:a16="http://schemas.microsoft.com/office/drawing/2014/main" id="{BD47BBCE-D0F0-448E-ACE3-3B8E3B3D1654}"/>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passage can address several subjects and may need multiple labels.</a:t>
            </a:r>
          </a:p>
        </p:txBody>
      </p:sp>
      <p:sp>
        <p:nvSpPr>
          <p:cNvPr id="6" name="point-3">
            <a:extLst xmlns:a="http://schemas.openxmlformats.org/drawingml/2006/main">
              <a:ext uri="{FF2B5EF4-FFF2-40B4-BE49-F238E27FC236}">
                <a16:creationId xmlns:a16="http://schemas.microsoft.com/office/drawing/2014/main" id="{51DE3283-02F5-477A-B299-361AF57B17EC}"/>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Category wording and a human-labeled evaluation sample determine how useful the labels are.</a:t>
            </a:r>
          </a:p>
        </p:txBody>
      </p:sp>
    </p:spTree>
    <p:extLst>
      <p:ext uri="{BB962C8B-B14F-4D97-AF65-F5344CB8AC3E}">
        <p14:creationId xmlns:p14="http://schemas.microsoft.com/office/powerpoint/2010/main" val="71639756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75585796-C75C-4D00-989B-3B941355FB36}"/>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Topic discovery identifies recurring themes</a:t>
            </a:r>
          </a:p>
        </p:txBody>
      </p:sp>
      <p:sp>
        <p:nvSpPr>
          <p:cNvPr id="3" name="point-0">
            <a:extLst xmlns:a="http://schemas.openxmlformats.org/drawingml/2006/main">
              <a:ext uri="{FF2B5EF4-FFF2-40B4-BE49-F238E27FC236}">
                <a16:creationId xmlns:a16="http://schemas.microsoft.com/office/drawing/2014/main" id="{D44074EA-9FD5-4B80-A009-D740DAAF0E70}"/>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Extension: group similar passages without assigning every topic in advance.</a:t>
            </a:r>
          </a:p>
        </p:txBody>
      </p:sp>
      <p:sp>
        <p:nvSpPr>
          <p:cNvPr id="4" name="point-1">
            <a:extLst xmlns:a="http://schemas.openxmlformats.org/drawingml/2006/main">
              <a:ext uri="{FF2B5EF4-FFF2-40B4-BE49-F238E27FC236}">
                <a16:creationId xmlns:a16="http://schemas.microsoft.com/office/drawing/2014/main" id="{E01949B8-35A9-48A5-BF1D-A4D6938058E7}"/>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result can reveal subjects the analyst did not anticipate.</a:t>
            </a:r>
          </a:p>
        </p:txBody>
      </p:sp>
      <p:sp>
        <p:nvSpPr>
          <p:cNvPr id="5" name="point-2">
            <a:extLst xmlns:a="http://schemas.openxmlformats.org/drawingml/2006/main">
              <a:ext uri="{FF2B5EF4-FFF2-40B4-BE49-F238E27FC236}">
                <a16:creationId xmlns:a16="http://schemas.microsoft.com/office/drawing/2014/main" id="{9BF30520-BB63-4A96-9EA0-FB6E05437DCB}"/>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broader collection of companies or years provides more scope for discovery.</a:t>
            </a:r>
          </a:p>
        </p:txBody>
      </p:sp>
      <p:sp>
        <p:nvSpPr>
          <p:cNvPr id="6" name="point-3">
            <a:extLst xmlns:a="http://schemas.openxmlformats.org/drawingml/2006/main">
              <a:ext uri="{FF2B5EF4-FFF2-40B4-BE49-F238E27FC236}">
                <a16:creationId xmlns:a16="http://schemas.microsoft.com/office/drawing/2014/main" id="{C8EFCDC0-AABC-48DC-ADB6-95169827AB41}"/>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Representative passages determine whether a cluster has a meaningful interpretation.</a:t>
            </a:r>
          </a:p>
        </p:txBody>
      </p:sp>
    </p:spTree>
    <p:extLst>
      <p:ext uri="{BB962C8B-B14F-4D97-AF65-F5344CB8AC3E}">
        <p14:creationId xmlns:p14="http://schemas.microsoft.com/office/powerpoint/2010/main" val="63666745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550E945-7484-450A-B70F-867069D5004C}"/>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Narrative-to-numbers creates records for analysis</a:t>
            </a:r>
          </a:p>
        </p:txBody>
      </p:sp>
      <p:sp>
        <p:nvSpPr>
          <p:cNvPr id="3" name="point-0">
            <a:extLst xmlns:a="http://schemas.openxmlformats.org/drawingml/2006/main">
              <a:ext uri="{FF2B5EF4-FFF2-40B4-BE49-F238E27FC236}">
                <a16:creationId xmlns:a16="http://schemas.microsoft.com/office/drawing/2014/main" id="{F9CAEBC3-E3D4-4A0F-A90A-B77CCB13E748}"/>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Extension: extract a metric, period, change, and management’s stated driver.</a:t>
            </a:r>
          </a:p>
        </p:txBody>
      </p:sp>
      <p:sp>
        <p:nvSpPr>
          <p:cNvPr id="4" name="point-1">
            <a:extLst xmlns:a="http://schemas.openxmlformats.org/drawingml/2006/main">
              <a:ext uri="{FF2B5EF4-FFF2-40B4-BE49-F238E27FC236}">
                <a16:creationId xmlns:a16="http://schemas.microsoft.com/office/drawing/2014/main" id="{3CF17F0D-D64F-4C1C-B589-25A88F04C683}"/>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structured record lets the analyst compare explanations with financial results.</a:t>
            </a:r>
          </a:p>
        </p:txBody>
      </p:sp>
      <p:sp>
        <p:nvSpPr>
          <p:cNvPr id="5" name="point-2">
            <a:extLst xmlns:a="http://schemas.openxmlformats.org/drawingml/2006/main">
              <a:ext uri="{FF2B5EF4-FFF2-40B4-BE49-F238E27FC236}">
                <a16:creationId xmlns:a16="http://schemas.microsoft.com/office/drawing/2014/main" id="{EF7F4DF8-CBC3-4511-A955-690BD6E92E25}"/>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Each extracted field needs a supporting passage and consistent units.</a:t>
            </a:r>
          </a:p>
        </p:txBody>
      </p:sp>
      <p:sp>
        <p:nvSpPr>
          <p:cNvPr id="6" name="point-3">
            <a:extLst xmlns:a="http://schemas.openxmlformats.org/drawingml/2006/main">
              <a:ext uri="{FF2B5EF4-FFF2-40B4-BE49-F238E27FC236}">
                <a16:creationId xmlns:a16="http://schemas.microsoft.com/office/drawing/2014/main" id="{EA7C9F2F-489D-4B94-81C5-F9C56A99D15A}"/>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An explanation in the narrative remains management’s claim about the outcome.</a:t>
            </a:r>
          </a:p>
        </p:txBody>
      </p:sp>
    </p:spTree>
    <p:extLst>
      <p:ext uri="{BB962C8B-B14F-4D97-AF65-F5344CB8AC3E}">
        <p14:creationId xmlns:p14="http://schemas.microsoft.com/office/powerpoint/2010/main" val="1222599054"/>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EE315E3-8E8D-4940-823E-764C35433DA9}"/>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Retrieval-supported answers preserve the evidence trail</a:t>
            </a:r>
          </a:p>
        </p:txBody>
      </p:sp>
      <p:sp>
        <p:nvSpPr>
          <p:cNvPr id="3" name="point-0">
            <a:extLst xmlns:a="http://schemas.openxmlformats.org/drawingml/2006/main">
              <a:ext uri="{FF2B5EF4-FFF2-40B4-BE49-F238E27FC236}">
                <a16:creationId xmlns:a16="http://schemas.microsoft.com/office/drawing/2014/main" id="{DB126FC8-8DE9-4807-AC50-A9620D097A53}"/>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Extension: retrieve relevant passages before asking an LLM to synthesize an answer.</a:t>
            </a:r>
          </a:p>
        </p:txBody>
      </p:sp>
      <p:sp>
        <p:nvSpPr>
          <p:cNvPr id="4" name="point-1">
            <a:extLst xmlns:a="http://schemas.openxmlformats.org/drawingml/2006/main">
              <a:ext uri="{FF2B5EF4-FFF2-40B4-BE49-F238E27FC236}">
                <a16:creationId xmlns:a16="http://schemas.microsoft.com/office/drawing/2014/main" id="{68180F82-0699-4893-8398-AEF250E30189}"/>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Source references allow readers to examine the basis of each conclusion.</a:t>
            </a:r>
          </a:p>
        </p:txBody>
      </p:sp>
      <p:sp>
        <p:nvSpPr>
          <p:cNvPr id="5" name="point-2">
            <a:extLst xmlns:a="http://schemas.openxmlformats.org/drawingml/2006/main">
              <a:ext uri="{FF2B5EF4-FFF2-40B4-BE49-F238E27FC236}">
                <a16:creationId xmlns:a16="http://schemas.microsoft.com/office/drawing/2014/main" id="{2F72868B-9998-47CF-BDCF-5CEE936B4643}"/>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analyst must check whether the cited passage actually supports the statement.</a:t>
            </a:r>
          </a:p>
        </p:txBody>
      </p:sp>
      <p:sp>
        <p:nvSpPr>
          <p:cNvPr id="6" name="point-3">
            <a:extLst xmlns:a="http://schemas.openxmlformats.org/drawingml/2006/main">
              <a:ext uri="{FF2B5EF4-FFF2-40B4-BE49-F238E27FC236}">
                <a16:creationId xmlns:a16="http://schemas.microsoft.com/office/drawing/2014/main" id="{DDED7C60-340B-40E5-83B6-22BA1B2F6CD1}"/>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A fluent answer can still omit relevant evidence or misinterpret a qualification.</a:t>
            </a:r>
          </a:p>
        </p:txBody>
      </p:sp>
    </p:spTree>
    <p:extLst>
      <p:ext uri="{BB962C8B-B14F-4D97-AF65-F5344CB8AC3E}">
        <p14:creationId xmlns:p14="http://schemas.microsoft.com/office/powerpoint/2010/main" val="90280542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61E3ADF-671D-4059-AF8C-43592056F4ED}"/>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Validation connects text measures to reliable evidence</a:t>
            </a:r>
          </a:p>
        </p:txBody>
      </p:sp>
      <p:sp>
        <p:nvSpPr>
          <p:cNvPr id="3" name="point-0">
            <a:extLst xmlns:a="http://schemas.openxmlformats.org/drawingml/2006/main">
              <a:ext uri="{FF2B5EF4-FFF2-40B4-BE49-F238E27FC236}">
                <a16:creationId xmlns:a16="http://schemas.microsoft.com/office/drawing/2014/main" id="{6F3F685A-F02D-4374-8BBA-450BAF521903}"/>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Check the extracted passage before interpreting its score.</a:t>
            </a:r>
          </a:p>
        </p:txBody>
      </p:sp>
      <p:sp>
        <p:nvSpPr>
          <p:cNvPr id="4" name="point-1">
            <a:extLst xmlns:a="http://schemas.openxmlformats.org/drawingml/2006/main">
              <a:ext uri="{FF2B5EF4-FFF2-40B4-BE49-F238E27FC236}">
                <a16:creationId xmlns:a16="http://schemas.microsoft.com/office/drawing/2014/main" id="{D58D46D1-D8B1-4EBD-9B82-6324BB691892}"/>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Compare automated results with a small set of independent human judgments.</a:t>
            </a:r>
          </a:p>
        </p:txBody>
      </p:sp>
      <p:sp>
        <p:nvSpPr>
          <p:cNvPr id="5" name="point-2">
            <a:extLst xmlns:a="http://schemas.openxmlformats.org/drawingml/2006/main">
              <a:ext uri="{FF2B5EF4-FFF2-40B4-BE49-F238E27FC236}">
                <a16:creationId xmlns:a16="http://schemas.microsoft.com/office/drawing/2014/main" id="{20B63F33-08B6-408C-96D0-F527B91F7836}"/>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Inspect disagreements, including mixed sentiment and missing context.</a:t>
            </a:r>
          </a:p>
        </p:txBody>
      </p:sp>
      <p:sp>
        <p:nvSpPr>
          <p:cNvPr id="6" name="point-3">
            <a:extLst xmlns:a="http://schemas.openxmlformats.org/drawingml/2006/main">
              <a:ext uri="{FF2B5EF4-FFF2-40B4-BE49-F238E27FC236}">
                <a16:creationId xmlns:a16="http://schemas.microsoft.com/office/drawing/2014/main" id="{9479C435-38F2-4DD6-9CDF-6464AB5ED821}"/>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Document source dates, model versions, counting rules, and aggregation choices.</a:t>
            </a:r>
          </a:p>
        </p:txBody>
      </p:sp>
    </p:spTree>
    <p:extLst>
      <p:ext uri="{BB962C8B-B14F-4D97-AF65-F5344CB8AC3E}">
        <p14:creationId xmlns:p14="http://schemas.microsoft.com/office/powerpoint/2010/main" val="339029458"/>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A12FB295-688E-4A85-AA74-B7FC0AA41EFB}"/>
              </a:ext>
            </a:extLst>
          </p:cNvPr>
          <p:cNvSpPr>
            <a:spLocks xmlns:a="http://schemas.openxmlformats.org/drawingml/2006/main" noGrp="1"/>
          </p:cNvSpPr>
          <p:nvPr/>
        </p:nvSpPr>
        <p:spPr>
          <a:xfrm xmlns:a="http://schemas.openxmlformats.org/drawingml/2006/main">
            <a:off x="625927" y="641802"/>
            <a:ext cx="10894141" cy="95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xmlns:a="http://schemas.openxmlformats.org/drawingml/2006/main">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The class task: a supported analytical conclusion</a:t>
            </a:r>
          </a:p>
        </p:txBody>
      </p:sp>
      <p:sp>
        <p:nvSpPr>
          <p:cNvPr id="3" name="point-0">
            <a:extLst xmlns:a="http://schemas.openxmlformats.org/drawingml/2006/main">
              <a:ext uri="{FF2B5EF4-FFF2-40B4-BE49-F238E27FC236}">
                <a16:creationId xmlns:a16="http://schemas.microsoft.com/office/drawing/2014/main" id="{6C006EC6-B136-4C8F-9B55-BE95FB2FAAFF}"/>
              </a:ext>
            </a:extLst>
          </p:cNvPr>
          <p:cNvSpPr>
            <a:spLocks xmlns:a="http://schemas.openxmlformats.org/drawingml/2006/main" noGrp="1"/>
          </p:cNvSpPr>
          <p:nvPr/>
        </p:nvSpPr>
        <p:spPr>
          <a:xfrm xmlns:a="http://schemas.openxmlformats.org/drawingml/2006/main">
            <a:off x="609600" y="17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Identify a change in CAVA’s discussion of operating performance.</a:t>
            </a:r>
          </a:p>
        </p:txBody>
      </p:sp>
      <p:sp>
        <p:nvSpPr>
          <p:cNvPr id="4" name="point-1">
            <a:extLst xmlns:a="http://schemas.openxmlformats.org/drawingml/2006/main">
              <a:ext uri="{FF2B5EF4-FFF2-40B4-BE49-F238E27FC236}">
                <a16:creationId xmlns:a16="http://schemas.microsoft.com/office/drawing/2014/main" id="{EEB8AB6B-861A-4AD2-878B-71C20EC43B16}"/>
              </a:ext>
            </a:extLst>
          </p:cNvPr>
          <p:cNvSpPr>
            <a:spLocks xmlns:a="http://schemas.openxmlformats.org/drawingml/2006/main" noGrp="1"/>
          </p:cNvSpPr>
          <p:nvPr/>
        </p:nvSpPr>
        <p:spPr>
          <a:xfrm xmlns:a="http://schemas.openxmlformats.org/drawingml/2006/main">
            <a:off x="609600" y="26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Use readability and sentiment to describe that change, then inspect the underlying text.</a:t>
            </a:r>
          </a:p>
        </p:txBody>
      </p:sp>
      <p:sp>
        <p:nvSpPr>
          <p:cNvPr id="5" name="point-2">
            <a:extLst xmlns:a="http://schemas.openxmlformats.org/drawingml/2006/main">
              <a:ext uri="{FF2B5EF4-FFF2-40B4-BE49-F238E27FC236}">
                <a16:creationId xmlns:a16="http://schemas.microsoft.com/office/drawing/2014/main" id="{30D23E28-2BBA-4C48-81F5-172D47B675D7}"/>
              </a:ext>
            </a:extLst>
          </p:cNvPr>
          <p:cNvSpPr>
            <a:spLocks xmlns:a="http://schemas.openxmlformats.org/drawingml/2006/main" noGrp="1"/>
          </p:cNvSpPr>
          <p:nvPr/>
        </p:nvSpPr>
        <p:spPr>
          <a:xfrm xmlns:a="http://schemas.openxmlformats.org/drawingml/2006/main">
            <a:off x="609600" y="35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Support the interpretation with two passages and a relevant operating metric.</a:t>
            </a:r>
          </a:p>
        </p:txBody>
      </p:sp>
      <p:sp>
        <p:nvSpPr>
          <p:cNvPr id="6" name="point-3">
            <a:extLst xmlns:a="http://schemas.openxmlformats.org/drawingml/2006/main">
              <a:ext uri="{FF2B5EF4-FFF2-40B4-BE49-F238E27FC236}">
                <a16:creationId xmlns:a16="http://schemas.microsoft.com/office/drawing/2014/main" id="{DE31196C-DB3B-493F-98F3-5C4916EAF0A3}"/>
              </a:ext>
            </a:extLst>
          </p:cNvPr>
          <p:cNvSpPr>
            <a:spLocks xmlns:a="http://schemas.openxmlformats.org/drawingml/2006/main" noGrp="1"/>
          </p:cNvSpPr>
          <p:nvPr/>
        </p:nvSpPr>
        <p:spPr>
          <a:xfrm xmlns:a="http://schemas.openxmlformats.org/drawingml/2006/main">
            <a:off x="609600" y="4444134"/>
            <a:ext cx="10972800" cy="800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xmlns:a="http://schemas.openxmlformats.org/drawingml/2006/main">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Explain one limitation and the additional evidence needed to assess management’s explanation.</a:t>
            </a:r>
          </a:p>
        </p:txBody>
      </p:sp>
    </p:spTree>
    <p:extLst>
      <p:ext uri="{BB962C8B-B14F-4D97-AF65-F5344CB8AC3E}">
        <p14:creationId xmlns:p14="http://schemas.microsoft.com/office/powerpoint/2010/main" val="5450307"/>
      </p:ext>
    </p:extLst>
  </p:cSld>
</p:sld>
</file>

<file path=ppt/theme/theme1.xml><?xml version="1.0" encoding="utf-8"?>
<a:theme xmlns:a="http://schemas.openxmlformats.org/drawingml/2006/main" name="W Foster MBA Career Mgmt">
  <a:themeElements>
    <a:clrScheme name="2024 FOSTER 2">
      <a:dk1>
        <a:srgbClr val="000000"/>
      </a:dk1>
      <a:lt1>
        <a:srgbClr val="FFFFFF"/>
      </a:lt1>
      <a:dk2>
        <a:srgbClr val="32006E"/>
      </a:dk2>
      <a:lt2>
        <a:srgbClr val="F5F5F9"/>
      </a:lt2>
      <a:accent1>
        <a:srgbClr val="B7A579"/>
      </a:accent1>
      <a:accent2>
        <a:srgbClr val="8C51FF"/>
      </a:accent2>
      <a:accent3>
        <a:srgbClr val="917B4C"/>
      </a:accent3>
      <a:accent4>
        <a:srgbClr val="000000"/>
      </a:accent4>
      <a:accent5>
        <a:srgbClr val="CACACA"/>
      </a:accent5>
      <a:accent6>
        <a:srgbClr val="E8E8E8"/>
      </a:accent6>
      <a:hlink>
        <a:srgbClr val="0000DE"/>
      </a:hlink>
      <a:folHlink>
        <a:srgbClr val="4B2E84"/>
      </a:folHlink>
    </a:clrScheme>
    <a:fontScheme name="Custom 1">
      <a:majorFont>
        <a:latin typeface="Encode Sans Normal ExtraBold"/>
        <a:ea typeface=""/>
        <a:cs typeface=""/>
      </a:majorFont>
      <a:minorFont>
        <a:latin typeface="Open Sans Light"/>
        <a:ea typeface=""/>
        <a:cs typeface=""/>
      </a:minorFont>
    </a:fontScheme>
    <a:fmtScheme name="2024 FOSTER 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2026-10-26T15:29:14.2380000Z</dcterms:created>
  <dcterms:modified xsi:type="dcterms:W3CDTF">2026-10-26T15:29:14.2380000Z</dcterms:modified>
</coreProperties>
</file>