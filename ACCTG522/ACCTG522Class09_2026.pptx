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97" r:id="rId3"/>
    <p:sldId id="300" r:id="rId4"/>
    <p:sldId id="305" r:id="rId5"/>
    <p:sldId id="308" r:id="rId6"/>
    <p:sldId id="258" r:id="rId7"/>
    <p:sldId id="257" r:id="rId8"/>
    <p:sldId id="307" r:id="rId9"/>
    <p:sldId id="271" r:id="rId10"/>
    <p:sldId id="309" r:id="rId11"/>
    <p:sldId id="272" r:id="rId12"/>
    <p:sldId id="299" r:id="rId13"/>
    <p:sldId id="310" r:id="rId14"/>
    <p:sldId id="277" r:id="rId15"/>
    <p:sldId id="301" r:id="rId16"/>
    <p:sldId id="259" r:id="rId17"/>
    <p:sldId id="260" r:id="rId18"/>
    <p:sldId id="302" r:id="rId19"/>
    <p:sldId id="262" r:id="rId20"/>
    <p:sldId id="263" r:id="rId21"/>
    <p:sldId id="264" r:id="rId22"/>
    <p:sldId id="265" r:id="rId23"/>
    <p:sldId id="303" r:id="rId24"/>
    <p:sldId id="304" r:id="rId25"/>
    <p:sldId id="268" r:id="rId26"/>
    <p:sldId id="269" r:id="rId27"/>
    <p:sldId id="270" r:id="rId28"/>
    <p:sldId id="273" r:id="rId29"/>
    <p:sldId id="274" r:id="rId30"/>
    <p:sldId id="275" r:id="rId31"/>
    <p:sldId id="276" r:id="rId32"/>
    <p:sldId id="267" r:id="rId3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4" autoAdjust="0"/>
  </p:normalViewPr>
  <p:slideViewPr>
    <p:cSldViewPr snapToGrid="0">
      <p:cViewPr varScale="1">
        <p:scale>
          <a:sx n="150" d="100"/>
          <a:sy n="150" d="100"/>
        </p:scale>
        <p:origin x="28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37EE0-9FFA-666E-F840-0ABE76B2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4AC65-0BA0-F997-5939-EBC5B5891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2F0A0-EE15-A195-DB35-7B222DEA6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F42C9-B0D8-FF0E-EB8D-2B617172464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6338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E23A-2154-C671-CFF7-258F524D1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83783-254B-A3E8-DE9E-A2B6A86EA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C3A8C-02D7-824C-8113-8E39374B7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B3B0B-2B7D-1B93-DAB4-CDA25852E20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513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8EA7-C6A3-49A2-A8C0-7EA6EFE0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2CB69-619C-E6F5-EC70-5EAB51A7A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15B1C-9896-6AD7-8735-738976D28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56918-174C-FCFA-CAF5-83500DFA7CA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633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2630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056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6940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1EF4-9496-09F3-46E1-4D1C07A2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5F406-B2FC-23CB-9444-645DA42DF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3BF28-14B0-9942-8F15-B91001AA9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F3D57-4766-A68D-06A0-097DEAD041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3261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4502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6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C4C7595-E493-4169-BFD7-A4C7366CD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6AC315E-AFFC-4A7B-8FAC-6306092C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EB9CF27B-126D-4C26-AB16-E2C388E566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F0B0DBB-58CC-47ED-A9C1-D95C6D92C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228A452-81C4-41C5-90C6-950D39347A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32CF5F-4501-47F7-883F-870CA21FD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9E26A2-B21C-4E5E-8795-88FD1632DF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Financial Screening and Signal Construction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(sit in Assessment teams)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buNone/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Class 0</a:t>
            </a: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9</a:t>
            </a:r>
            <a:r>
              <a:rPr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 | Autumn | 2026</a:t>
            </a: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EB980-1C88-D625-52F9-B7080F98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921F21-B9A5-1A23-A6D2-9323B136864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b="1" dirty="0">
                <a:solidFill>
                  <a:schemeClr val="tx2"/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/>
              <a:t>Overview and Discussion</a:t>
            </a:r>
          </a:p>
          <a:p>
            <a:pPr marL="457200" indent="-457200">
              <a:buAutoNum type="arabicPeriod"/>
            </a:pPr>
            <a:r>
              <a:rPr lang="en-US" dirty="0"/>
              <a:t>Final Project Screening Task &amp; Template</a:t>
            </a:r>
            <a:endParaRPr dirty="0"/>
          </a:p>
          <a:p>
            <a:pPr marL="457200" indent="-457200">
              <a:buAutoNum type="arabicPeriod"/>
            </a:pPr>
            <a:r>
              <a:rPr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FE73C5-1852-08E4-4AD6-DB0C86CF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4484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9D2DD0-7ACF-8A21-6195-374105DEC3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910468" cy="5752216"/>
          </a:xfrm>
        </p:spPr>
        <p:txBody>
          <a:bodyPr/>
          <a:lstStyle/>
          <a:p>
            <a:r>
              <a:rPr lang="en-US" sz="1800" dirty="0"/>
              <a:t>Text analytics provides opportunities to calculate quantitative data from text: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Regex can help find patterns and quickly return matches that can be used to:	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Count word searches, look up dictionaries of words.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Text Analytics is a developing field, with many new ways to quantify text being developed. Some reasonably established approaches can: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 readability analytics to measure writing complexity.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 various approaches to assess the sentiment/tone of text (e.g., Bag-of-words/Dictionary; </a:t>
            </a:r>
            <a:r>
              <a:rPr lang="en-US" sz="1800" dirty="0" err="1"/>
              <a:t>FinBERT</a:t>
            </a:r>
            <a:r>
              <a:rPr lang="en-US" sz="1800" dirty="0"/>
              <a:t>; and many more including Generative Pre-trained Transformers). 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Semantic search retrieves related meaning and can be used with other analytics (e.g., sentiment around specific paragraphs in the MD&amp;A).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F120F6-E008-D15F-67E1-CFE4432B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Analytics</a:t>
            </a:r>
          </a:p>
        </p:txBody>
      </p:sp>
    </p:spTree>
    <p:extLst>
      <p:ext uri="{BB962C8B-B14F-4D97-AF65-F5344CB8AC3E}">
        <p14:creationId xmlns:p14="http://schemas.microsoft.com/office/powerpoint/2010/main" val="9342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12BD-A46F-AA27-4A56-996C91CA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805408A-025B-B34A-0CA0-88AFA3587658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defPPr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Financial narrative adds context to the numbers</a:t>
            </a:r>
          </a:p>
        </p:txBody>
      </p:sp>
      <p:sp>
        <p:nvSpPr>
          <p:cNvPr id="3" name="point-0">
            <a:extLst>
              <a:ext uri="{FF2B5EF4-FFF2-40B4-BE49-F238E27FC236}">
                <a16:creationId xmlns:a16="http://schemas.microsoft.com/office/drawing/2014/main" id="{B86ADF29-A9E9-9A63-8A34-403178B8737E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defPPr>
            <a:lvl1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2000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Financial statements report outcomes. Narrative describes management’s explanations and expectations</a:t>
            </a:r>
            <a:r>
              <a:rPr lang="en-US" sz="2000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 (typically in the MD&amp;A but also in conference calls, other parts of the 10-K/Q, and 8-Ks)</a:t>
            </a:r>
            <a:r>
              <a:rPr sz="2000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.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E242B604-8A8A-F54C-9667-4B887D81DC1E}"/>
              </a:ext>
            </a:extLst>
          </p:cNvPr>
          <p:cNvSpPr>
            <a:spLocks noGrp="1"/>
          </p:cNvSpPr>
          <p:nvPr/>
        </p:nvSpPr>
        <p:spPr>
          <a:xfrm>
            <a:off x="625927" y="2967984"/>
            <a:ext cx="10972800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defPPr>
            <a:lvl1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2000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Textual analytics helps analysts examine many passages consistently</a:t>
            </a:r>
            <a:r>
              <a:rPr lang="en-US" sz="2000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 following a rule</a:t>
            </a:r>
            <a:r>
              <a:rPr sz="2000" b="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.</a:t>
            </a:r>
            <a:endParaRPr lang="en-US" sz="2000" b="0" dirty="0">
              <a:solidFill>
                <a:srgbClr val="212529"/>
              </a:solidFill>
              <a:latin typeface="Open Sans Light"/>
              <a:ea typeface="Open Sans Light"/>
              <a:cs typeface="Open Sans Ligh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lang="en-US" dirty="0"/>
              <a:t>To use modern text analytics, we will typically require an approach using code (e.g., Python is likely a good choice as it has modern open-source packages).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lang="en-US" dirty="0"/>
              <a:t>Other tools like Alteryx, </a:t>
            </a:r>
            <a:r>
              <a:rPr lang="en-US" dirty="0" err="1"/>
              <a:t>PowerBI</a:t>
            </a:r>
            <a:r>
              <a:rPr lang="en-US" dirty="0"/>
              <a:t>, Excel have shortcomings in this area.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lang="en-US" dirty="0"/>
              <a:t>SQL is not appropriate here; it is not designed for this task.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lang="en-US" dirty="0"/>
              <a:t>The key is understanding what data we want to extract (each team is different here).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lang="en-US" dirty="0"/>
              <a:t>Is there a role for Gen-AI? </a:t>
            </a:r>
            <a:endParaRPr b="0" dirty="0">
              <a:solidFill>
                <a:srgbClr val="212529"/>
              </a:solidFill>
              <a:latin typeface="Open Sans Light"/>
              <a:ea typeface="Open Sans Light"/>
              <a:cs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9246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E8CA-405C-E93C-5AE6-945EB77B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629888-03B6-A889-C0D1-A669203022D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Overview and Discussion</a:t>
            </a:r>
          </a:p>
          <a:p>
            <a:pPr marL="457200" indent="-457200">
              <a:buAutoNum type="arabicPeriod"/>
            </a:pPr>
            <a:r>
              <a:rPr lang="en-US" dirty="0"/>
              <a:t>Final Project Screening Task &amp; Template</a:t>
            </a:r>
            <a:endParaRPr dirty="0"/>
          </a:p>
          <a:p>
            <a:pPr marL="457200" indent="-457200">
              <a:buAutoNum type="arabicPeriod"/>
            </a:pPr>
            <a:r>
              <a:rPr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4C0C0-8169-DC30-5B7F-AF6AD506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5013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53D36-5F65-4A54-AD84-AB96B8E6A83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rcRect l="803" t="13908" r="2512" b="1"/>
          <a:stretch>
            <a:fillRect/>
          </a:stretch>
        </p:blipFill>
        <p:spPr>
          <a:xfrm>
            <a:off x="241300" y="920750"/>
            <a:ext cx="11950700" cy="53205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1AA060C9-396E-C08F-A331-978D34BD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How does screening fit?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393A12-C858-768E-E5C3-D0157B73FCCF}"/>
              </a:ext>
            </a:extLst>
          </p:cNvPr>
          <p:cNvSpPr txBox="1"/>
          <p:nvPr/>
        </p:nvSpPr>
        <p:spPr>
          <a:xfrm>
            <a:off x="8034154" y="857245"/>
            <a:ext cx="3821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01: has been given in the case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C7F800-00E7-234E-B975-B31C6282A853}"/>
              </a:ext>
            </a:extLst>
          </p:cNvPr>
          <p:cNvSpPr/>
          <p:nvPr/>
        </p:nvSpPr>
        <p:spPr>
          <a:xfrm>
            <a:off x="9277350" y="1917700"/>
            <a:ext cx="1987550" cy="2908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E4AB8-A6FF-60E3-2A64-0EAE4AE08CDF}"/>
              </a:ext>
            </a:extLst>
          </p:cNvPr>
          <p:cNvSpPr txBox="1"/>
          <p:nvPr/>
        </p:nvSpPr>
        <p:spPr>
          <a:xfrm>
            <a:off x="8987238" y="4947908"/>
            <a:ext cx="2868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02 and 03: Topic for today, lots of choices to make/plan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34260-7622-1EE6-A8D3-C92E025F3B80}"/>
              </a:ext>
            </a:extLst>
          </p:cNvPr>
          <p:cNvSpPr txBox="1"/>
          <p:nvPr/>
        </p:nvSpPr>
        <p:spPr>
          <a:xfrm>
            <a:off x="2159000" y="4826000"/>
            <a:ext cx="344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04: Undertake the screen against selected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BEFD1C-202A-105F-E6AD-1B7939204B80}"/>
              </a:ext>
            </a:extLst>
          </p:cNvPr>
          <p:cNvSpPr/>
          <p:nvPr/>
        </p:nvSpPr>
        <p:spPr>
          <a:xfrm>
            <a:off x="1638300" y="1689100"/>
            <a:ext cx="1600200" cy="29083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2AFD6-7B93-AC1F-6FDC-53E936D723EC}"/>
              </a:ext>
            </a:extLst>
          </p:cNvPr>
          <p:cNvSpPr txBox="1"/>
          <p:nvPr/>
        </p:nvSpPr>
        <p:spPr>
          <a:xfrm>
            <a:off x="196851" y="1733034"/>
            <a:ext cx="1339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05 and 06: Identify the long and the short. Proceed to the rest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170060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/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C274A1E3-BA59-4389-BE05-491F2564244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Stock screening and the extremes</a:t>
            </a:r>
          </a:p>
        </p:txBody>
      </p:sp>
      <p:sp>
        <p:nvSpPr>
          <p:cNvPr id="2" name="definition">
            <a:extLst>
              <a:ext uri="{FF2B5EF4-FFF2-40B4-BE49-F238E27FC236}">
                <a16:creationId xmlns:a16="http://schemas.microsoft.com/office/drawing/2014/main" id="{6B3FDB41-006F-4920-B6F0-2B7E7C0A844D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076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Stock screening applies defined criteria to a universe of stocks to identify candidates for further investigation.</a:t>
            </a:r>
          </a:p>
        </p:txBody>
      </p:sp>
      <p:sp>
        <p:nvSpPr>
          <p:cNvPr id="3" name="extremes">
            <a:extLst>
              <a:ext uri="{FF2B5EF4-FFF2-40B4-BE49-F238E27FC236}">
                <a16:creationId xmlns:a16="http://schemas.microsoft.com/office/drawing/2014/main" id="{DF02CFF2-C2BC-43B4-9384-CAD4CA54D893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1076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Why examine the extremes?</a:t>
            </a:r>
          </a:p>
          <a:p>
            <a: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The highest and lowest values reveal the strongest contrasts in the characteristic we want to study, such as valuation or accounting quality.</a:t>
            </a:r>
          </a:p>
        </p:txBody>
      </p:sp>
      <p:sp>
        <p:nvSpPr>
          <p:cNvPr id="4" name="backtesting">
            <a:extLst>
              <a:ext uri="{FF2B5EF4-FFF2-40B4-BE49-F238E27FC236}">
                <a16:creationId xmlns:a16="http://schemas.microsoft.com/office/drawing/2014/main" id="{AF0D670F-A431-487C-8A45-AE210C08D302}"/>
              </a:ext>
            </a:extLst>
          </p:cNvPr>
          <p:cNvSpPr>
            <a:spLocks noGrp="1"/>
          </p:cNvSpPr>
          <p:nvPr/>
        </p:nvSpPr>
        <p:spPr>
          <a:xfrm>
            <a:off x="666750" y="4352925"/>
            <a:ext cx="1076325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How does </a:t>
            </a:r>
            <a:r>
              <a:rPr sz="2250" b="0" dirty="0" err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backtesting</a:t>
            </a: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 help?</a:t>
            </a:r>
          </a:p>
          <a:p>
            <a: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Form historical groups using information available at the time, then compare their subsequent returns. This tests whether the extremes distinguished outcomes after costs and risk considerations.</a:t>
            </a:r>
          </a:p>
        </p:txBody>
      </p:sp>
      <p:sp>
        <p:nvSpPr>
          <p:cNvPr id="5" name="qualification">
            <a:extLst>
              <a:ext uri="{FF2B5EF4-FFF2-40B4-BE49-F238E27FC236}">
                <a16:creationId xmlns:a16="http://schemas.microsoft.com/office/drawing/2014/main" id="{D3EF0C80-1E7A-4E49-880C-2A8B959E0A80}"/>
              </a:ext>
            </a:extLst>
          </p:cNvPr>
          <p:cNvSpPr>
            <a:spLocks noGrp="1"/>
          </p:cNvSpPr>
          <p:nvPr/>
        </p:nvSpPr>
        <p:spPr>
          <a:xfrm>
            <a:off x="3625850" y="6019800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72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725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**</a:t>
            </a:r>
            <a:r>
              <a:rPr sz="1725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Historical evidence supports evaluation of a screen. It does not guarantee future returns.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7F156B3-6725-4B7D-BADB-0A22E382B944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991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F60BCB-0369-4C99-991A-681F0261D9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899650" cy="3140475"/>
          </a:xfrm>
        </p:spPr>
        <p:txBody>
          <a:bodyPr/>
          <a:lstStyle/>
          <a:p>
            <a:r>
              <a:rPr lang="en-US" dirty="0"/>
              <a:t>Data needed: Stock ID’s, Data to Test Eligibility, Data to measure economic indicators.</a:t>
            </a:r>
          </a:p>
          <a:p>
            <a:endParaRPr lang="en-US" dirty="0"/>
          </a:p>
          <a:p>
            <a:r>
              <a:rPr lang="en-US" dirty="0"/>
              <a:t>Where does the data come from?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Financial data can be found on EDGAR and through data providers.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FactSet as an example, has a screening tool, but it is limited.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Anything outside of FactSet will require a calculation and join to be useful.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57A3B-5F3A-46E5-0B2F-949CED72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Screen Stocks</a:t>
            </a:r>
          </a:p>
        </p:txBody>
      </p:sp>
    </p:spTree>
    <p:extLst>
      <p:ext uri="{BB962C8B-B14F-4D97-AF65-F5344CB8AC3E}">
        <p14:creationId xmlns:p14="http://schemas.microsoft.com/office/powerpoint/2010/main" val="1073840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FA401D7D-7698-441F-A0CD-7C7054AE90C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Data and technology choices</a:t>
            </a:r>
          </a:p>
        </p:txBody>
      </p:sp>
      <p:sp>
        <p:nvSpPr>
          <p:cNvPr id="3" name="point-0">
            <a:extLst>
              <a:ext uri="{FF2B5EF4-FFF2-40B4-BE49-F238E27FC236}">
                <a16:creationId xmlns:a16="http://schemas.microsoft.com/office/drawing/2014/main" id="{5D008257-2059-4FEF-B57E-238B129795F9}"/>
              </a:ext>
            </a:extLst>
          </p:cNvPr>
          <p:cNvSpPr>
            <a:spLocks noGrp="1"/>
          </p:cNvSpPr>
          <p:nvPr/>
        </p:nvSpPr>
        <p:spPr>
          <a:xfrm>
            <a:off x="666750" y="155257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FactSet: supplied fields and an integrated screen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CFCBA533-42F0-4A65-9C7A-331AFBEFE1B8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Compustat: historical accounting inputs and custom measures</a:t>
            </a:r>
          </a:p>
        </p:txBody>
      </p:sp>
      <p:sp>
        <p:nvSpPr>
          <p:cNvPr id="5" name="point-2">
            <a:extLst>
              <a:ext uri="{FF2B5EF4-FFF2-40B4-BE49-F238E27FC236}">
                <a16:creationId xmlns:a16="http://schemas.microsoft.com/office/drawing/2014/main" id="{592F56F9-B408-4376-B9A7-1458725FE5A6}"/>
              </a:ext>
            </a:extLst>
          </p:cNvPr>
          <p:cNvSpPr>
            <a:spLocks noGrp="1"/>
          </p:cNvSpPr>
          <p:nvPr/>
        </p:nvSpPr>
        <p:spPr>
          <a:xfrm>
            <a:off x="666750" y="328612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CRSP: returns, market inputs, and event windows</a:t>
            </a:r>
          </a:p>
        </p:txBody>
      </p:sp>
      <p:sp>
        <p:nvSpPr>
          <p:cNvPr id="6" name="point-3">
            <a:extLst>
              <a:ext uri="{FF2B5EF4-FFF2-40B4-BE49-F238E27FC236}">
                <a16:creationId xmlns:a16="http://schemas.microsoft.com/office/drawing/2014/main" id="{2B61E176-FBDA-4728-835B-81D2DD9E239A}"/>
              </a:ext>
            </a:extLst>
          </p:cNvPr>
          <p:cNvSpPr>
            <a:spLocks noGrp="1"/>
          </p:cNvSpPr>
          <p:nvPr/>
        </p:nvSpPr>
        <p:spPr>
          <a:xfrm>
            <a:off x="666750" y="415290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EDGAR and text: additional documents and derived evidence</a:t>
            </a:r>
          </a:p>
        </p:txBody>
      </p:sp>
      <p:sp>
        <p:nvSpPr>
          <p:cNvPr id="7" name="tools">
            <a:extLst>
              <a:ext uri="{FF2B5EF4-FFF2-40B4-BE49-F238E27FC236}">
                <a16:creationId xmlns:a16="http://schemas.microsoft.com/office/drawing/2014/main" id="{98ED6812-E224-4D32-A7A7-32D857D7BF5E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Implementation choices: </a:t>
            </a:r>
            <a:r>
              <a:rPr lang="en-US" sz="1950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EDGAR APIs, FactSet, </a:t>
            </a:r>
            <a:r>
              <a:rPr sz="1950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Excel, Alteryx, SQL, Python, Power BI, Tableau</a:t>
            </a:r>
          </a:p>
          <a:p>
            <a:pPr>
              <a:buNone/>
              <a:defRPr sz="19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EVAL supports forecasting and valuation for shortlisted firms.</a:t>
            </a:r>
          </a:p>
        </p:txBody>
      </p:sp>
    </p:spTree>
    <p:extLst>
      <p:ext uri="{BB962C8B-B14F-4D97-AF65-F5344CB8AC3E}">
        <p14:creationId xmlns:p14="http://schemas.microsoft.com/office/powerpoint/2010/main" val="45079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FB1DB5-2809-B533-A2BC-210529606947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762936362"/>
              </p:ext>
            </p:extLst>
          </p:nvPr>
        </p:nvGraphicFramePr>
        <p:xfrm>
          <a:off x="1183546" y="1744663"/>
          <a:ext cx="9763854" cy="3913186"/>
        </p:xfrm>
        <a:graphic>
          <a:graphicData uri="http://schemas.openxmlformats.org/drawingml/2006/table">
            <a:tbl>
              <a:tblPr firstRow="1" firstCol="1" bandRow="1"/>
              <a:tblGrid>
                <a:gridCol w="2062785">
                  <a:extLst>
                    <a:ext uri="{9D8B030D-6E8A-4147-A177-3AD203B41FA5}">
                      <a16:colId xmlns:a16="http://schemas.microsoft.com/office/drawing/2014/main" val="4094984757"/>
                    </a:ext>
                  </a:extLst>
                </a:gridCol>
                <a:gridCol w="7701069">
                  <a:extLst>
                    <a:ext uri="{9D8B030D-6E8A-4147-A177-3AD203B41FA5}">
                      <a16:colId xmlns:a16="http://schemas.microsoft.com/office/drawing/2014/main" val="3105311359"/>
                    </a:ext>
                  </a:extLst>
                </a:gridCol>
              </a:tblGrid>
              <a:tr h="417054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Stage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Decision and evidence to retain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361006"/>
                  </a:ext>
                </a:extLst>
              </a:tr>
              <a:tr h="665506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  Establish eligibility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Identify the permitted universe. Record filters, observation dates, and requirements needing separate verification.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55990"/>
                  </a:ext>
                </a:extLst>
              </a:tr>
              <a:tr h="665506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  Define the screen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Explain the economic rationale, factor definitions, ranking direction, and treatment of missing or invalid values.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827347"/>
                  </a:ext>
                </a:extLst>
              </a:tr>
              <a:tr h="665506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  Obtain and prepare data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Select sources, standardize units and periods, and check company and security identifiers.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46920"/>
                  </a:ext>
                </a:extLst>
              </a:tr>
              <a:tr h="417054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  Calculate and compare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Apply the same rules across peers. Retain inputs, calculations, exclusions, and ranked output.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943003"/>
                  </a:ext>
                </a:extLst>
              </a:tr>
              <a:tr h="417054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  Investigate candidates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Check surprising results and explain why the proposed long and short fit the intended traits.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155866"/>
                  </a:ext>
                </a:extLst>
              </a:tr>
              <a:tr h="665506"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  Analyze and value firms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4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Load historical information into one EVAL workbook per firm. Develop forecasts and valuations for shortlisted companies.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274" marR="51274" marT="51274" marB="5127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4133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5F4F2E2-4679-B128-8EB9-C09B49E4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The process that transfers between tools</a:t>
            </a:r>
          </a:p>
        </p:txBody>
      </p:sp>
    </p:spTree>
    <p:extLst>
      <p:ext uri="{BB962C8B-B14F-4D97-AF65-F5344CB8AC3E}">
        <p14:creationId xmlns:p14="http://schemas.microsoft.com/office/powerpoint/2010/main" val="333328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48B44D88-A78A-484D-86B7-493BFEA5ABA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Potential screening variables</a:t>
            </a:r>
          </a:p>
        </p:txBody>
      </p:sp>
      <p:sp>
        <p:nvSpPr>
          <p:cNvPr id="2" name="head-0">
            <a:extLst>
              <a:ext uri="{FF2B5EF4-FFF2-40B4-BE49-F238E27FC236}">
                <a16:creationId xmlns:a16="http://schemas.microsoft.com/office/drawing/2014/main" id="{E7EE9911-99FA-43E6-9168-BA4C800D1FF0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FactSet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E0D530E-2A08-4E21-A878-815BF371B402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657475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Industry and eligibility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Market value of equity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P/E and P/B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Other valuation ratios</a:t>
            </a:r>
          </a:p>
        </p:txBody>
      </p:sp>
      <p:sp>
        <p:nvSpPr>
          <p:cNvPr id="4" name="head-1">
            <a:extLst>
              <a:ext uri="{FF2B5EF4-FFF2-40B4-BE49-F238E27FC236}">
                <a16:creationId xmlns:a16="http://schemas.microsoft.com/office/drawing/2014/main" id="{64DD4975-82CA-472F-9E12-605D44209FA8}"/>
              </a:ext>
            </a:extLst>
          </p:cNvPr>
          <p:cNvSpPr>
            <a:spLocks noGrp="1"/>
          </p:cNvSpPr>
          <p:nvPr/>
        </p:nvSpPr>
        <p:spPr>
          <a:xfrm>
            <a:off x="3448050" y="1581150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Adding Compustat</a:t>
            </a:r>
          </a:p>
        </p:txBody>
      </p:sp>
      <p:sp>
        <p:nvSpPr>
          <p:cNvPr id="5" name="body-1">
            <a:extLst>
              <a:ext uri="{FF2B5EF4-FFF2-40B4-BE49-F238E27FC236}">
                <a16:creationId xmlns:a16="http://schemas.microsoft.com/office/drawing/2014/main" id="{2C4CC3D4-0E0D-4758-A6A3-9EC623F35E30}"/>
              </a:ext>
            </a:extLst>
          </p:cNvPr>
          <p:cNvSpPr>
            <a:spLocks noGrp="1"/>
          </p:cNvSpPr>
          <p:nvPr/>
        </p:nvSpPr>
        <p:spPr>
          <a:xfrm>
            <a:off x="3448050" y="2238375"/>
            <a:ext cx="2657475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Margins and turnover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Accruals / cash conversion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Working-capital trends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Asset growth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Earnings momentum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Piotroski F-score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Mohanram G-score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Dechow F-score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Beneish M-score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Altman Z-score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Financing / dilution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QMJ quality components</a:t>
            </a:r>
          </a:p>
        </p:txBody>
      </p:sp>
      <p:sp>
        <p:nvSpPr>
          <p:cNvPr id="6" name="head-2">
            <a:extLst>
              <a:ext uri="{FF2B5EF4-FFF2-40B4-BE49-F238E27FC236}">
                <a16:creationId xmlns:a16="http://schemas.microsoft.com/office/drawing/2014/main" id="{834BB2CF-AFCB-4452-BE63-0CA27397B607}"/>
              </a:ext>
            </a:extLst>
          </p:cNvPr>
          <p:cNvSpPr>
            <a:spLocks noGrp="1"/>
          </p:cNvSpPr>
          <p:nvPr/>
        </p:nvSpPr>
        <p:spPr>
          <a:xfrm>
            <a:off x="6286500" y="1581150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Adding CRSP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E506CAEA-E85B-4DAD-A7BD-F6B04D20ED00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2657475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Share-price momentum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Beta / return volatility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Custom valuation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Earnings surprise / PEAD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Quality / distress extensions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Short interest / days to cover*</a:t>
            </a:r>
          </a:p>
        </p:txBody>
      </p:sp>
      <p:sp>
        <p:nvSpPr>
          <p:cNvPr id="8" name="head-3">
            <a:extLst>
              <a:ext uri="{FF2B5EF4-FFF2-40B4-BE49-F238E27FC236}">
                <a16:creationId xmlns:a16="http://schemas.microsoft.com/office/drawing/2014/main" id="{EFBE2289-FA57-4F0B-BB91-341C51376DA1}"/>
              </a:ext>
            </a:extLst>
          </p:cNvPr>
          <p:cNvSpPr>
            <a:spLocks noGrp="1"/>
          </p:cNvSpPr>
          <p:nvPr/>
        </p:nvSpPr>
        <p:spPr>
          <a:xfrm>
            <a:off x="9124950" y="1581150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EDGAR and text</a:t>
            </a:r>
          </a:p>
        </p:txBody>
      </p:sp>
      <p:sp>
        <p:nvSpPr>
          <p:cNvPr id="9" name="body-3">
            <a:extLst>
              <a:ext uri="{FF2B5EF4-FFF2-40B4-BE49-F238E27FC236}">
                <a16:creationId xmlns:a16="http://schemas.microsoft.com/office/drawing/2014/main" id="{2630E5D9-B475-43C7-86EF-354B40A6A2D9}"/>
              </a:ext>
            </a:extLst>
          </p:cNvPr>
          <p:cNvSpPr>
            <a:spLocks noGrp="1"/>
          </p:cNvSpPr>
          <p:nvPr/>
        </p:nvSpPr>
        <p:spPr>
          <a:xfrm>
            <a:off x="9124950" y="2238375"/>
            <a:ext cx="2657475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MD&amp;A / call sentiment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Disclosure changes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Critical audit matters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SEC correspondence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Non-GAAP / GAAP gap</a:t>
            </a:r>
          </a:p>
          <a:p>
            <a:pPr>
              <a:buNone/>
              <a:def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Insider transactions</a:t>
            </a:r>
          </a:p>
        </p:txBody>
      </p:sp>
      <p:sp>
        <p:nvSpPr>
          <p:cNvPr id="10" name="footnote">
            <a:extLst>
              <a:ext uri="{FF2B5EF4-FFF2-40B4-BE49-F238E27FC236}">
                <a16:creationId xmlns:a16="http://schemas.microsoft.com/office/drawing/2014/main" id="{706F46D0-FF76-4B50-86B7-D05B7913FC7B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858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Categories can overlap. Full QMJ and some distress measures need market inputs.</a:t>
            </a:r>
          </a:p>
          <a:p>
            <a:pPr>
              <a:buNone/>
              <a:defRPr sz="150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dirty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*Short-interest positions require an additional dataset. CRSP supplies some denominator inputs.</a:t>
            </a:r>
          </a:p>
        </p:txBody>
      </p:sp>
      <p:sp>
        <p:nvSpPr>
          <p:cNvPr id="11" name="page">
            <a:extLst>
              <a:ext uri="{FF2B5EF4-FFF2-40B4-BE49-F238E27FC236}">
                <a16:creationId xmlns:a16="http://schemas.microsoft.com/office/drawing/2014/main" id="{967A8B84-FAEE-4FF6-96DD-2D458C6696AF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3469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85598B-7D2F-E941-78FD-6DF422B9AF7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243FA2-A238-52FC-BB80-AB4B42E0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WRDS: Data Available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5B5A1-8D78-8277-1442-A7CE8B5A1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91" y="1365250"/>
            <a:ext cx="6019813" cy="4929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ED6A6-33F6-4605-9408-67AFF0DD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304" y="431800"/>
            <a:ext cx="5675170" cy="6426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B61786-5963-5C3A-1ADE-1957C4511DD5}"/>
              </a:ext>
            </a:extLst>
          </p:cNvPr>
          <p:cNvSpPr/>
          <p:nvPr/>
        </p:nvSpPr>
        <p:spPr>
          <a:xfrm>
            <a:off x="6591300" y="1485900"/>
            <a:ext cx="2736850" cy="736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B9DBE-47C3-718D-D7A9-FE2AE08D8CD5}"/>
              </a:ext>
            </a:extLst>
          </p:cNvPr>
          <p:cNvSpPr/>
          <p:nvPr/>
        </p:nvSpPr>
        <p:spPr>
          <a:xfrm>
            <a:off x="6591300" y="735511"/>
            <a:ext cx="2736850" cy="7366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72B10C-7BBC-6B92-3C6A-9956D5D377BA}"/>
              </a:ext>
            </a:extLst>
          </p:cNvPr>
          <p:cNvSpPr/>
          <p:nvPr/>
        </p:nvSpPr>
        <p:spPr>
          <a:xfrm>
            <a:off x="6693484" y="3930650"/>
            <a:ext cx="2736850" cy="4799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733A1-E231-E801-5DD9-3FC6B2D86106}"/>
              </a:ext>
            </a:extLst>
          </p:cNvPr>
          <p:cNvSpPr/>
          <p:nvPr/>
        </p:nvSpPr>
        <p:spPr>
          <a:xfrm>
            <a:off x="9430334" y="3625968"/>
            <a:ext cx="2736850" cy="3709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D49DCF-1312-FE8A-DB69-FCA7A598BD4C}"/>
              </a:ext>
            </a:extLst>
          </p:cNvPr>
          <p:cNvSpPr/>
          <p:nvPr/>
        </p:nvSpPr>
        <p:spPr>
          <a:xfrm>
            <a:off x="9430334" y="5337806"/>
            <a:ext cx="2736850" cy="3709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D1C0D2-E290-CDC7-48E4-A9766DF8E1BE}"/>
              </a:ext>
            </a:extLst>
          </p:cNvPr>
          <p:cNvSpPr/>
          <p:nvPr/>
        </p:nvSpPr>
        <p:spPr>
          <a:xfrm>
            <a:off x="745547" y="5097837"/>
            <a:ext cx="2736850" cy="39491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2F5B5A-B69C-DC44-D2CF-514FDC14D1CA}"/>
              </a:ext>
            </a:extLst>
          </p:cNvPr>
          <p:cNvSpPr/>
          <p:nvPr/>
        </p:nvSpPr>
        <p:spPr>
          <a:xfrm>
            <a:off x="3654864" y="5097837"/>
            <a:ext cx="2736850" cy="76690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CBFCBA-A7D9-A67C-4E8D-E458F75F540A}"/>
              </a:ext>
            </a:extLst>
          </p:cNvPr>
          <p:cNvSpPr/>
          <p:nvPr/>
        </p:nvSpPr>
        <p:spPr>
          <a:xfrm>
            <a:off x="3654864" y="3164962"/>
            <a:ext cx="2736850" cy="4799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AA693-FB35-521E-F34A-4D58E8127E16}"/>
              </a:ext>
            </a:extLst>
          </p:cNvPr>
          <p:cNvSpPr/>
          <p:nvPr/>
        </p:nvSpPr>
        <p:spPr>
          <a:xfrm>
            <a:off x="3654864" y="4308594"/>
            <a:ext cx="2736850" cy="4799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5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6571-B1E0-3BC8-7A91-0CF08A5E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80E9E-D897-370B-9B56-DE4C2D7554F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Overview and Discussion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Final Project Screening Task &amp; Template</a:t>
            </a:r>
            <a:endParaRPr b="1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E92F21-02DC-AF05-DB92-92685B65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97057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1D8AAAA-DF89-43B0-8F22-771AE1BD706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dirty="0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Team data access requirements</a:t>
            </a:r>
            <a:r>
              <a:rPr lang="en-US" sz="3300" b="1" dirty="0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: Today’s task</a:t>
            </a:r>
            <a:endParaRPr sz="3300" b="1" dirty="0">
              <a:solidFill>
                <a:srgbClr val="4B2E83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82FAE05-6B30-4A9A-BBCF-92879A371E0B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t>22</a:t>
            </a:r>
          </a:p>
        </p:txBody>
      </p:sp>
      <p:sp>
        <p:nvSpPr>
          <p:cNvPr id="3" name="sources">
            <a:extLst>
              <a:ext uri="{FF2B5EF4-FFF2-40B4-BE49-F238E27FC236}">
                <a16:creationId xmlns:a16="http://schemas.microsoft.com/office/drawing/2014/main" id="{76229AF7-8E3C-4551-BBCC-5E65C57C4796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3815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FactSet</a:t>
            </a: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WRDS / Compustat</a:t>
            </a: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WRDS / CRSP and CCM</a:t>
            </a: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EDGAR</a:t>
            </a: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Additional datasets</a:t>
            </a: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EVAL</a:t>
            </a: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Other source</a:t>
            </a:r>
          </a:p>
        </p:txBody>
      </p:sp>
      <p:sp>
        <p:nvSpPr>
          <p:cNvPr id="4" name="checks">
            <a:extLst>
              <a:ext uri="{FF2B5EF4-FFF2-40B4-BE49-F238E27FC236}">
                <a16:creationId xmlns:a16="http://schemas.microsoft.com/office/drawing/2014/main" id="{8963F225-074A-41A4-B488-FBF0FCCDC69D}"/>
              </a:ext>
            </a:extLst>
          </p:cNvPr>
          <p:cNvSpPr>
            <a:spLocks noGrp="1"/>
          </p:cNvSpPr>
          <p:nvPr/>
        </p:nvSpPr>
        <p:spPr>
          <a:xfrm>
            <a:off x="5810250" y="1666875"/>
            <a:ext cx="566737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Required history and latest available date</a:t>
            </a:r>
          </a:p>
          <a:p>
            <a: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Identifiers needed to combine sources</a:t>
            </a:r>
          </a:p>
          <a:p>
            <a: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Source for November 6 eligibility checks</a:t>
            </a:r>
          </a:p>
          <a:p>
            <a: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Data to request from the instructor</a:t>
            </a:r>
          </a:p>
          <a:p>
            <a:pPr>
              <a:buNone/>
              <a:def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Access issue most likely to delay the team</a:t>
            </a:r>
          </a:p>
        </p:txBody>
      </p:sp>
      <p:sp>
        <p:nvSpPr>
          <p:cNvPr id="5" name="action">
            <a:extLst>
              <a:ext uri="{FF2B5EF4-FFF2-40B4-BE49-F238E27FC236}">
                <a16:creationId xmlns:a16="http://schemas.microsoft.com/office/drawing/2014/main" id="{8F3CCC55-0ACC-4B5D-9B34-BA84A6E15317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0763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For each source: data needed, access status, owner, and next action</a:t>
            </a:r>
          </a:p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Calculation environment, access test date, next check, and due date</a:t>
            </a:r>
          </a:p>
        </p:txBody>
      </p:sp>
    </p:spTree>
    <p:extLst>
      <p:ext uri="{BB962C8B-B14F-4D97-AF65-F5344CB8AC3E}">
        <p14:creationId xmlns:p14="http://schemas.microsoft.com/office/powerpoint/2010/main" val="1171679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F4AF8E2-7BC8-40E4-AF8C-0266537D35E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Eligibility, screening, and pair selection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9435D8E-6ED7-4D4C-A173-E2EFC35BD224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3" name="point-0">
            <a:extLst>
              <a:ext uri="{FF2B5EF4-FFF2-40B4-BE49-F238E27FC236}">
                <a16:creationId xmlns:a16="http://schemas.microsoft.com/office/drawing/2014/main" id="{E922DCFF-761B-4491-8EC1-A2FB130B3A35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Eligibility establishes which securities the project permits.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F18B520D-F382-4216-A4FA-3F34101F8FB0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Screening compares eligible firms using economically justified measures.</a:t>
            </a:r>
          </a:p>
        </p:txBody>
      </p:sp>
      <p:sp>
        <p:nvSpPr>
          <p:cNvPr id="5" name="point-2">
            <a:extLst>
              <a:ext uri="{FF2B5EF4-FFF2-40B4-BE49-F238E27FC236}">
                <a16:creationId xmlns:a16="http://schemas.microsoft.com/office/drawing/2014/main" id="{A9328988-63A7-4FF3-9B92-8650EE1C870C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Pair selection requires investigation and an explanation of the chosen firms.</a:t>
            </a:r>
          </a:p>
        </p:txBody>
      </p:sp>
      <p:sp>
        <p:nvSpPr>
          <p:cNvPr id="6" name="discussion-label">
            <a:extLst>
              <a:ext uri="{FF2B5EF4-FFF2-40B4-BE49-F238E27FC236}">
                <a16:creationId xmlns:a16="http://schemas.microsoft.com/office/drawing/2014/main" id="{76336EF0-1F7C-4BC4-A2D4-2BCAE0D97FFA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7" name="discussion">
            <a:extLst>
              <a:ext uri="{FF2B5EF4-FFF2-40B4-BE49-F238E27FC236}">
                <a16:creationId xmlns:a16="http://schemas.microsoft.com/office/drawing/2014/main" id="{510FD4C5-FF74-4B48-BC66-837DA74F1C51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Can a firm pass every eligibility filter and still be a poor long candidate?</a:t>
            </a:r>
          </a:p>
        </p:txBody>
      </p:sp>
    </p:spTree>
    <p:extLst>
      <p:ext uri="{BB962C8B-B14F-4D97-AF65-F5344CB8AC3E}">
        <p14:creationId xmlns:p14="http://schemas.microsoft.com/office/powerpoint/2010/main" val="1829791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694C9B70-E359-4916-8031-4C75F151D4C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use and completed business work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1960B15-335E-4D17-9C20-02AACB3E6FDD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3" name="point-0">
            <a:extLst>
              <a:ext uri="{FF2B5EF4-FFF2-40B4-BE49-F238E27FC236}">
                <a16:creationId xmlns:a16="http://schemas.microsoft.com/office/drawing/2014/main" id="{80CC88E6-1DCF-4E45-AAB3-41A6E9533B7F}"/>
              </a:ext>
            </a:extLst>
          </p:cNvPr>
          <p:cNvSpPr>
            <a:spLocks noGrp="1"/>
          </p:cNvSpPr>
          <p:nvPr/>
        </p:nvSpPr>
        <p:spPr>
          <a:xfrm>
            <a:off x="666750" y="159067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MIT </a:t>
            </a:r>
            <a:r>
              <a:rPr lang="en-US"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(2025) </a:t>
            </a: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and McKinsey </a:t>
            </a:r>
            <a:r>
              <a:rPr lang="en-US"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(2026) </a:t>
            </a: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reports describe a gap between AI use and business outcomes.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0C54B090-2F66-45D7-B322-2AA6E1A7A78C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Individual time savings can coexist with limited enterprise financial impact.</a:t>
            </a:r>
            <a:r>
              <a:rPr lang="en-US"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 For enterprises, AI coding assistants can help make processes more complete and accurate.</a:t>
            </a:r>
            <a:endParaRPr sz="2250" b="0" dirty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5" name="point-2">
            <a:extLst>
              <a:ext uri="{FF2B5EF4-FFF2-40B4-BE49-F238E27FC236}">
                <a16:creationId xmlns:a16="http://schemas.microsoft.com/office/drawing/2014/main" id="{716651C7-EEE1-4934-B179-8E0026D8F3E3}"/>
              </a:ext>
            </a:extLst>
          </p:cNvPr>
          <p:cNvSpPr>
            <a:spLocks noGrp="1"/>
          </p:cNvSpPr>
          <p:nvPr/>
        </p:nvSpPr>
        <p:spPr>
          <a:xfrm>
            <a:off x="666750" y="348932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For this project, assess the complete screening process, including verification.</a:t>
            </a:r>
            <a:r>
              <a:rPr lang="en-US" sz="2250" b="0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 If AI is used in the workflow, it needs to be part of the submitted workflow.</a:t>
            </a:r>
            <a:endParaRPr sz="2250" b="0" dirty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6" name="discussion-label">
            <a:extLst>
              <a:ext uri="{FF2B5EF4-FFF2-40B4-BE49-F238E27FC236}">
                <a16:creationId xmlns:a16="http://schemas.microsoft.com/office/drawing/2014/main" id="{BA98EE08-ABFB-4894-B313-1BB31B05A0A9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7" name="discussion">
            <a:extLst>
              <a:ext uri="{FF2B5EF4-FFF2-40B4-BE49-F238E27FC236}">
                <a16:creationId xmlns:a16="http://schemas.microsoft.com/office/drawing/2014/main" id="{E7B7AF93-01D2-4649-BF42-191383FE59E9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dirty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would demonstrate that AI improved your analysis?</a:t>
            </a:r>
          </a:p>
        </p:txBody>
      </p:sp>
    </p:spTree>
    <p:extLst>
      <p:ext uri="{BB962C8B-B14F-4D97-AF65-F5344CB8AC3E}">
        <p14:creationId xmlns:p14="http://schemas.microsoft.com/office/powerpoint/2010/main" val="30376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E0348CA7-E432-41E6-8530-FA6A83C3E17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as an assistant and as a measurement method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79CB113-DA0C-4B0B-892C-7C5BB1EDA3E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3" name="role1">
            <a:extLst>
              <a:ext uri="{FF2B5EF4-FFF2-40B4-BE49-F238E27FC236}">
                <a16:creationId xmlns:a16="http://schemas.microsoft.com/office/drawing/2014/main" id="{BAD86734-AA3A-4AC1-B5BA-B9BF1A9440B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helps build the analysis</a:t>
            </a:r>
          </a:p>
        </p:txBody>
      </p:sp>
      <p:sp>
        <p:nvSpPr>
          <p:cNvPr id="4" name="role1-body">
            <a:extLst>
              <a:ext uri="{FF2B5EF4-FFF2-40B4-BE49-F238E27FC236}">
                <a16:creationId xmlns:a16="http://schemas.microsoft.com/office/drawing/2014/main" id="{1FF553BF-6CB7-4E43-A2DE-47B323273730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50006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Drafts a formula, translates SAS, or writes a workflow.</a:t>
            </a:r>
          </a:p>
          <a:p>
            <a:endParaRPr sz="2250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Students inspect the logic and reproduce the calculations.</a:t>
            </a:r>
          </a:p>
        </p:txBody>
      </p:sp>
      <p:sp>
        <p:nvSpPr>
          <p:cNvPr id="5" name="role2">
            <a:extLst>
              <a:ext uri="{FF2B5EF4-FFF2-40B4-BE49-F238E27FC236}">
                <a16:creationId xmlns:a16="http://schemas.microsoft.com/office/drawing/2014/main" id="{232D3699-8012-4982-9F1D-D138A2DC791D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5095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supplies a measured value</a:t>
            </a:r>
          </a:p>
        </p:txBody>
      </p:sp>
      <p:sp>
        <p:nvSpPr>
          <p:cNvPr id="6" name="role2-body">
            <a:extLst>
              <a:ext uri="{FF2B5EF4-FFF2-40B4-BE49-F238E27FC236}">
                <a16:creationId xmlns:a16="http://schemas.microsoft.com/office/drawing/2014/main" id="{112AB1F3-DB07-4A70-AAC4-AE65393F8837}"/>
              </a:ext>
            </a:extLst>
          </p:cNvPr>
          <p:cNvSpPr>
            <a:spLocks noGrp="1"/>
          </p:cNvSpPr>
          <p:nvPr/>
        </p:nvSpPr>
        <p:spPr>
          <a:xfrm>
            <a:off x="6381750" y="2428875"/>
            <a:ext cx="509587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Assigns sentiment or classifies an accounting concern.</a:t>
            </a:r>
          </a:p>
          <a:p>
            <a:endParaRPr sz="2250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Students validate the labels against source passages.</a:t>
            </a:r>
          </a:p>
        </p:txBody>
      </p:sp>
      <p:sp>
        <p:nvSpPr>
          <p:cNvPr id="7" name="discussion-label">
            <a:extLst>
              <a:ext uri="{FF2B5EF4-FFF2-40B4-BE49-F238E27FC236}">
                <a16:creationId xmlns:a16="http://schemas.microsoft.com/office/drawing/2014/main" id="{7F3F24A8-64E2-4902-AA50-0FA1DE2536C5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8" name="discussion">
            <a:extLst>
              <a:ext uri="{FF2B5EF4-FFF2-40B4-BE49-F238E27FC236}">
                <a16:creationId xmlns:a16="http://schemas.microsoft.com/office/drawing/2014/main" id="{3F08EF1E-B4F4-4B04-B386-4F4732B3F153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Which role would AI play in your proposed screen?</a:t>
            </a:r>
          </a:p>
        </p:txBody>
      </p:sp>
    </p:spTree>
    <p:extLst>
      <p:ext uri="{BB962C8B-B14F-4D97-AF65-F5344CB8AC3E}">
        <p14:creationId xmlns:p14="http://schemas.microsoft.com/office/powerpoint/2010/main" val="671457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A997384-9287-4FB9-8B3F-E2E8877F86F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FactSet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9A117EDF-8AD9-438F-BBAF-1C436475301F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3" name="examples">
            <a:extLst>
              <a:ext uri="{FF2B5EF4-FFF2-40B4-BE49-F238E27FC236}">
                <a16:creationId xmlns:a16="http://schemas.microsoft.com/office/drawing/2014/main" id="{7C91EBE5-5EA5-4358-9A3A-F1CEAAC291E5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Examples: industry filters, P/E, P/B, and market value of equity</a:t>
            </a:r>
          </a:p>
        </p:txBody>
      </p:sp>
      <p:sp>
        <p:nvSpPr>
          <p:cNvPr id="4" name="help-label">
            <a:extLst>
              <a:ext uri="{FF2B5EF4-FFF2-40B4-BE49-F238E27FC236}">
                <a16:creationId xmlns:a16="http://schemas.microsoft.com/office/drawing/2014/main" id="{2672256F-2C83-48C8-9B0D-38729ADEE140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contribution</a:t>
            </a:r>
          </a:p>
        </p:txBody>
      </p:sp>
      <p:sp>
        <p:nvSpPr>
          <p:cNvPr id="5" name="verify-label">
            <a:extLst>
              <a:ext uri="{FF2B5EF4-FFF2-40B4-BE49-F238E27FC236}">
                <a16:creationId xmlns:a16="http://schemas.microsoft.com/office/drawing/2014/main" id="{5869DD98-BB38-4255-84E5-730E4C61FAF8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5095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Student verification</a:t>
            </a:r>
          </a:p>
        </p:txBody>
      </p:sp>
      <p:sp>
        <p:nvSpPr>
          <p:cNvPr id="6" name="help">
            <a:extLst>
              <a:ext uri="{FF2B5EF4-FFF2-40B4-BE49-F238E27FC236}">
                <a16:creationId xmlns:a16="http://schemas.microsoft.com/office/drawing/2014/main" id="{2FF66E4E-471A-4532-9E35-C1C31D6C8105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4953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Translate an investment idea into candidate filters.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Explain ratios and suggest comparisons.</a:t>
            </a:r>
          </a:p>
        </p:txBody>
      </p:sp>
      <p:sp>
        <p:nvSpPr>
          <p:cNvPr id="7" name="verify">
            <a:extLst>
              <a:ext uri="{FF2B5EF4-FFF2-40B4-BE49-F238E27FC236}">
                <a16:creationId xmlns:a16="http://schemas.microsoft.com/office/drawing/2014/main" id="{2A212FB1-9D43-44B2-9FF4-6B36F97B0472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509587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Confirm actual fields and dates.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Check that the executed screen matches the economic question.</a:t>
            </a:r>
          </a:p>
        </p:txBody>
      </p:sp>
      <p:sp>
        <p:nvSpPr>
          <p:cNvPr id="8" name="discussion-label">
            <a:extLst>
              <a:ext uri="{FF2B5EF4-FFF2-40B4-BE49-F238E27FC236}">
                <a16:creationId xmlns:a16="http://schemas.microsoft.com/office/drawing/2014/main" id="{13223385-315A-4806-9FEC-DBA8E014CCC6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9" name="discussion">
            <a:extLst>
              <a:ext uri="{FF2B5EF4-FFF2-40B4-BE49-F238E27FC236}">
                <a16:creationId xmlns:a16="http://schemas.microsoft.com/office/drawing/2014/main" id="{22D7C265-6E7B-4E85-94B6-F50877A4A36A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Would the lowest P/E firm necessarily be your best long candidate?</a:t>
            </a:r>
          </a:p>
        </p:txBody>
      </p:sp>
    </p:spTree>
    <p:extLst>
      <p:ext uri="{BB962C8B-B14F-4D97-AF65-F5344CB8AC3E}">
        <p14:creationId xmlns:p14="http://schemas.microsoft.com/office/powerpoint/2010/main" val="1935418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E41416B9-3AC7-4770-A83D-5BF336306B9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Adding Compustat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96467E0-E2B5-4607-AB2B-1735A605223D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7</a:t>
            </a:r>
          </a:p>
        </p:txBody>
      </p:sp>
      <p:sp>
        <p:nvSpPr>
          <p:cNvPr id="3" name="examples">
            <a:extLst>
              <a:ext uri="{FF2B5EF4-FFF2-40B4-BE49-F238E27FC236}">
                <a16:creationId xmlns:a16="http://schemas.microsoft.com/office/drawing/2014/main" id="{67A153D3-6FD0-40D0-B55D-6DCE44357907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Examples: accruals, asset growth, Piotroski, Dechow, and Mohanram scores</a:t>
            </a:r>
          </a:p>
        </p:txBody>
      </p:sp>
      <p:sp>
        <p:nvSpPr>
          <p:cNvPr id="4" name="help-label">
            <a:extLst>
              <a:ext uri="{FF2B5EF4-FFF2-40B4-BE49-F238E27FC236}">
                <a16:creationId xmlns:a16="http://schemas.microsoft.com/office/drawing/2014/main" id="{A7D9EEDD-D542-4B5A-AA1A-C8B7A29CFEEA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contribution</a:t>
            </a:r>
          </a:p>
        </p:txBody>
      </p:sp>
      <p:sp>
        <p:nvSpPr>
          <p:cNvPr id="5" name="verify-label">
            <a:extLst>
              <a:ext uri="{FF2B5EF4-FFF2-40B4-BE49-F238E27FC236}">
                <a16:creationId xmlns:a16="http://schemas.microsoft.com/office/drawing/2014/main" id="{030BE29C-062B-43EE-97BB-A07050707B84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5095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Student verification</a:t>
            </a:r>
          </a:p>
        </p:txBody>
      </p:sp>
      <p:sp>
        <p:nvSpPr>
          <p:cNvPr id="6" name="help">
            <a:extLst>
              <a:ext uri="{FF2B5EF4-FFF2-40B4-BE49-F238E27FC236}">
                <a16:creationId xmlns:a16="http://schemas.microsoft.com/office/drawing/2014/main" id="{2FA2E1F1-DF07-43F8-87A6-22E90470872F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4953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Translate published definitions into calculations.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Generate intermediate outputs and checks.</a:t>
            </a:r>
          </a:p>
        </p:txBody>
      </p:sp>
      <p:sp>
        <p:nvSpPr>
          <p:cNvPr id="7" name="verify">
            <a:extLst>
              <a:ext uri="{FF2B5EF4-FFF2-40B4-BE49-F238E27FC236}">
                <a16:creationId xmlns:a16="http://schemas.microsoft.com/office/drawing/2014/main" id="{30356939-A6AB-48A6-8582-56EC5F7049E8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509587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Check model versions, base fields, units, lags, and missing values.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Recalculate selected firms independently.</a:t>
            </a:r>
          </a:p>
        </p:txBody>
      </p:sp>
      <p:sp>
        <p:nvSpPr>
          <p:cNvPr id="8" name="discussion-label">
            <a:extLst>
              <a:ext uri="{FF2B5EF4-FFF2-40B4-BE49-F238E27FC236}">
                <a16:creationId xmlns:a16="http://schemas.microsoft.com/office/drawing/2014/main" id="{BF9BD205-08D5-49D9-B022-2C0BE69C56FF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9" name="discussion">
            <a:extLst>
              <a:ext uri="{FF2B5EF4-FFF2-40B4-BE49-F238E27FC236}">
                <a16:creationId xmlns:a16="http://schemas.microsoft.com/office/drawing/2014/main" id="{4881428A-EEFF-42C1-927E-5317BE12640A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If the code runs successfully, what have we established?</a:t>
            </a:r>
          </a:p>
        </p:txBody>
      </p:sp>
    </p:spTree>
    <p:extLst>
      <p:ext uri="{BB962C8B-B14F-4D97-AF65-F5344CB8AC3E}">
        <p14:creationId xmlns:p14="http://schemas.microsoft.com/office/powerpoint/2010/main" val="2069609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2BEE082-8066-477F-89D9-003C2C537AD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Adding CRSP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5F4EBA87-8B99-43B5-82E3-4AD5B8DC9A1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3" name="examples">
            <a:extLst>
              <a:ext uri="{FF2B5EF4-FFF2-40B4-BE49-F238E27FC236}">
                <a16:creationId xmlns:a16="http://schemas.microsoft.com/office/drawing/2014/main" id="{DD4DA15B-6DA3-411F-9303-20CA3FF5D8E5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Examples: momentum, beta, custom valuation, and earnings-announcement analysis</a:t>
            </a:r>
          </a:p>
        </p:txBody>
      </p:sp>
      <p:sp>
        <p:nvSpPr>
          <p:cNvPr id="4" name="help-label">
            <a:extLst>
              <a:ext uri="{FF2B5EF4-FFF2-40B4-BE49-F238E27FC236}">
                <a16:creationId xmlns:a16="http://schemas.microsoft.com/office/drawing/2014/main" id="{A5FEDD3E-47BD-4607-A1D5-1D6A1D14D709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contribution</a:t>
            </a:r>
          </a:p>
        </p:txBody>
      </p:sp>
      <p:sp>
        <p:nvSpPr>
          <p:cNvPr id="5" name="verify-label">
            <a:extLst>
              <a:ext uri="{FF2B5EF4-FFF2-40B4-BE49-F238E27FC236}">
                <a16:creationId xmlns:a16="http://schemas.microsoft.com/office/drawing/2014/main" id="{7E645781-0C75-46F8-A693-48599EBF6709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5095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Student verification</a:t>
            </a:r>
          </a:p>
        </p:txBody>
      </p:sp>
      <p:sp>
        <p:nvSpPr>
          <p:cNvPr id="6" name="help">
            <a:extLst>
              <a:ext uri="{FF2B5EF4-FFF2-40B4-BE49-F238E27FC236}">
                <a16:creationId xmlns:a16="http://schemas.microsoft.com/office/drawing/2014/main" id="{88A59CB4-9297-490E-BD0C-E636046C9157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4953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Help implement company–security links.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Construct return windows and combine accounting with market data.</a:t>
            </a:r>
          </a:p>
        </p:txBody>
      </p:sp>
      <p:sp>
        <p:nvSpPr>
          <p:cNvPr id="7" name="verify">
            <a:extLst>
              <a:ext uri="{FF2B5EF4-FFF2-40B4-BE49-F238E27FC236}">
                <a16:creationId xmlns:a16="http://schemas.microsoft.com/office/drawing/2014/main" id="{F5F31490-F140-480A-BD6A-31DBBDAB0E6E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509587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Check link validity, dates, corporate actions, and duplicates.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Exclude information unavailable at the screening date.</a:t>
            </a:r>
          </a:p>
        </p:txBody>
      </p:sp>
      <p:sp>
        <p:nvSpPr>
          <p:cNvPr id="8" name="discussion-label">
            <a:extLst>
              <a:ext uri="{FF2B5EF4-FFF2-40B4-BE49-F238E27FC236}">
                <a16:creationId xmlns:a16="http://schemas.microsoft.com/office/drawing/2014/main" id="{91340D56-5F9B-4814-8393-E0BC6FF26139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9" name="discussion">
            <a:extLst>
              <a:ext uri="{FF2B5EF4-FFF2-40B4-BE49-F238E27FC236}">
                <a16:creationId xmlns:a16="http://schemas.microsoft.com/office/drawing/2014/main" id="{7A577F65-E5E2-41E7-B170-37A13614AEAA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How could a correct-looking merge produce an incorrect ranking?</a:t>
            </a:r>
          </a:p>
        </p:txBody>
      </p:sp>
    </p:spTree>
    <p:extLst>
      <p:ext uri="{BB962C8B-B14F-4D97-AF65-F5344CB8AC3E}">
        <p14:creationId xmlns:p14="http://schemas.microsoft.com/office/powerpoint/2010/main" val="1533878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D6FFDEEC-FBE7-498E-B0B0-F7EA4E28DC1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Adding EDGAR and textual analytics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182CEBA-EF62-4ECF-BE3B-25090E2B8D1C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9</a:t>
            </a:r>
          </a:p>
        </p:txBody>
      </p:sp>
      <p:sp>
        <p:nvSpPr>
          <p:cNvPr id="3" name="examples">
            <a:extLst>
              <a:ext uri="{FF2B5EF4-FFF2-40B4-BE49-F238E27FC236}">
                <a16:creationId xmlns:a16="http://schemas.microsoft.com/office/drawing/2014/main" id="{5B879CBC-E61C-4743-9B80-09514DA27346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Examples: MD&amp;A sentiment, disclosure changes, CAMs, and SEC correspondence</a:t>
            </a:r>
          </a:p>
        </p:txBody>
      </p:sp>
      <p:sp>
        <p:nvSpPr>
          <p:cNvPr id="4" name="help-label">
            <a:extLst>
              <a:ext uri="{FF2B5EF4-FFF2-40B4-BE49-F238E27FC236}">
                <a16:creationId xmlns:a16="http://schemas.microsoft.com/office/drawing/2014/main" id="{C599BAD4-F8DE-4C96-A31B-256257BA2202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AI contribution</a:t>
            </a:r>
          </a:p>
        </p:txBody>
      </p:sp>
      <p:sp>
        <p:nvSpPr>
          <p:cNvPr id="5" name="verify-label">
            <a:extLst>
              <a:ext uri="{FF2B5EF4-FFF2-40B4-BE49-F238E27FC236}">
                <a16:creationId xmlns:a16="http://schemas.microsoft.com/office/drawing/2014/main" id="{346B6861-1C61-470C-B42F-6A1BCB531916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5095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Student verification</a:t>
            </a:r>
          </a:p>
        </p:txBody>
      </p:sp>
      <p:sp>
        <p:nvSpPr>
          <p:cNvPr id="6" name="help">
            <a:extLst>
              <a:ext uri="{FF2B5EF4-FFF2-40B4-BE49-F238E27FC236}">
                <a16:creationId xmlns:a16="http://schemas.microsoft.com/office/drawing/2014/main" id="{FC068DBF-156C-4290-9B16-2CE8FCD7D66B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4953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Extract passages and compare documents.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Help classify topics or implement a defined text measure.</a:t>
            </a:r>
          </a:p>
        </p:txBody>
      </p:sp>
      <p:sp>
        <p:nvSpPr>
          <p:cNvPr id="7" name="verify">
            <a:extLst>
              <a:ext uri="{FF2B5EF4-FFF2-40B4-BE49-F238E27FC236}">
                <a16:creationId xmlns:a16="http://schemas.microsoft.com/office/drawing/2014/main" id="{E81604E3-F0DC-4C82-AFDE-50A5867618F2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509587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Check retrieval coverage and extraction.</a:t>
            </a:r>
          </a:p>
          <a:p>
            <a:endParaRPr sz="217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Retain supporting passages and review ambiguous classifications.</a:t>
            </a:r>
          </a:p>
        </p:txBody>
      </p:sp>
      <p:sp>
        <p:nvSpPr>
          <p:cNvPr id="8" name="discussion-label">
            <a:extLst>
              <a:ext uri="{FF2B5EF4-FFF2-40B4-BE49-F238E27FC236}">
                <a16:creationId xmlns:a16="http://schemas.microsoft.com/office/drawing/2014/main" id="{8A4D0019-C362-4A15-B457-82C99B13FE9F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9" name="discussion">
            <a:extLst>
              <a:ext uri="{FF2B5EF4-FFF2-40B4-BE49-F238E27FC236}">
                <a16:creationId xmlns:a16="http://schemas.microsoft.com/office/drawing/2014/main" id="{D3046CB4-6CBC-48DC-8926-2A730C0F92E6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How would you check whether the model applied the same rule to every firm?</a:t>
            </a:r>
          </a:p>
        </p:txBody>
      </p:sp>
    </p:spTree>
    <p:extLst>
      <p:ext uri="{BB962C8B-B14F-4D97-AF65-F5344CB8AC3E}">
        <p14:creationId xmlns:p14="http://schemas.microsoft.com/office/powerpoint/2010/main" val="533396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A58795CE-1EBE-42B0-B91E-7421C11C354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Example 1: an Apple quality decile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4693A8A-099E-4F49-9FB2-BAB4FC5AAB94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" name="prompt">
            <a:extLst>
              <a:ext uri="{FF2B5EF4-FFF2-40B4-BE49-F238E27FC236}">
                <a16:creationId xmlns:a16="http://schemas.microsoft.com/office/drawing/2014/main" id="{918A672C-C45D-458D-857A-1301DC06B567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“Can you calculate the AQR quality decile for AAPL?”</a:t>
            </a:r>
          </a:p>
        </p:txBody>
      </p:sp>
      <p:sp>
        <p:nvSpPr>
          <p:cNvPr id="4" name="context">
            <a:extLst>
              <a:ext uri="{FF2B5EF4-FFF2-40B4-BE49-F238E27FC236}">
                <a16:creationId xmlns:a16="http://schemas.microsoft.com/office/drawing/2014/main" id="{334346FE-8963-4584-8C3C-10CB0CB7978A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0668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The prompt omits the date, comparison universe, and available inputs.</a:t>
            </a:r>
          </a:p>
          <a:p>
            <a:endParaRPr sz="232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 plausible decile could reflect calculation, retrieval, or unsupported inference.</a:t>
            </a:r>
          </a:p>
        </p:txBody>
      </p:sp>
      <p:sp>
        <p:nvSpPr>
          <p:cNvPr id="5" name="discussion-label">
            <a:extLst>
              <a:ext uri="{FF2B5EF4-FFF2-40B4-BE49-F238E27FC236}">
                <a16:creationId xmlns:a16="http://schemas.microsoft.com/office/drawing/2014/main" id="{EA242189-1048-4A3F-958D-D998F57BF015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6" name="discussion">
            <a:extLst>
              <a:ext uri="{FF2B5EF4-FFF2-40B4-BE49-F238E27FC236}">
                <a16:creationId xmlns:a16="http://schemas.microsoft.com/office/drawing/2014/main" id="{B94A923A-C39B-4F88-A9EE-998219B63A15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evidence distinguishes calculation, retrieval, and unsupported inference for an Apple quality decile?</a:t>
            </a:r>
          </a:p>
        </p:txBody>
      </p:sp>
    </p:spTree>
    <p:extLst>
      <p:ext uri="{BB962C8B-B14F-4D97-AF65-F5344CB8AC3E}">
        <p14:creationId xmlns:p14="http://schemas.microsoft.com/office/powerpoint/2010/main" val="1867008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9A041D3-2BD2-4EEC-B7E8-CB05F60C46E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Example 2: a long and short recommendation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976B3D2-6ED8-4E67-A39E-3B1F995C55C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3" name="prompt">
            <a:extLst>
              <a:ext uri="{FF2B5EF4-FFF2-40B4-BE49-F238E27FC236}">
                <a16:creationId xmlns:a16="http://schemas.microsoft.com/office/drawing/2014/main" id="{675C0103-7548-446E-8667-00AEB7511647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“Pick one long and one short in consumer discretionary.”</a:t>
            </a:r>
          </a:p>
        </p:txBody>
      </p:sp>
      <p:sp>
        <p:nvSpPr>
          <p:cNvPr id="4" name="context">
            <a:extLst>
              <a:ext uri="{FF2B5EF4-FFF2-40B4-BE49-F238E27FC236}">
                <a16:creationId xmlns:a16="http://schemas.microsoft.com/office/drawing/2014/main" id="{A8588A65-F2B4-42C0-8978-5BDEB1B2B055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0668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 persuasive narrative may precede any systematic comparison.</a:t>
            </a:r>
          </a:p>
          <a:p>
            <a:endParaRPr sz="2325" b="0">
              <a:solidFill>
                <a:srgbClr val="20182E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Sector membership alone does not establish industry comparability or project eligibility.</a:t>
            </a:r>
          </a:p>
        </p:txBody>
      </p:sp>
      <p:sp>
        <p:nvSpPr>
          <p:cNvPr id="5" name="discussion-label">
            <a:extLst>
              <a:ext uri="{FF2B5EF4-FFF2-40B4-BE49-F238E27FC236}">
                <a16:creationId xmlns:a16="http://schemas.microsoft.com/office/drawing/2014/main" id="{ECCF61FE-10D6-4FEC-A5EB-B68842A4FC63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6" name="discussion">
            <a:extLst>
              <a:ext uri="{FF2B5EF4-FFF2-40B4-BE49-F238E27FC236}">
                <a16:creationId xmlns:a16="http://schemas.microsoft.com/office/drawing/2014/main" id="{9CED89EB-F6ED-4A94-82AC-234D4B83FC0E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would establish that a long and short screening process actually occurred?</a:t>
            </a:r>
          </a:p>
        </p:txBody>
      </p:sp>
    </p:spTree>
    <p:extLst>
      <p:ext uri="{BB962C8B-B14F-4D97-AF65-F5344CB8AC3E}">
        <p14:creationId xmlns:p14="http://schemas.microsoft.com/office/powerpoint/2010/main" val="764910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66634A2A-052A-48DE-B4A3-88530A767B4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Example 3: a supplied ticker list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48A8CC2-D012-4165-A279-A003E3313B4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3" name="tickers">
            <a:extLst>
              <a:ext uri="{FF2B5EF4-FFF2-40B4-BE49-F238E27FC236}">
                <a16:creationId xmlns:a16="http://schemas.microsoft.com/office/drawing/2014/main" id="{A052F5FC-003C-4440-8C2B-9DBA87E4D03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AAPL, MSFT, NVI, JGO, KJH, LMNT, FOOD, DATA</a:t>
            </a:r>
          </a:p>
        </p:txBody>
      </p:sp>
      <p:sp>
        <p:nvSpPr>
          <p:cNvPr id="4" name="prompt">
            <a:extLst>
              <a:ext uri="{FF2B5EF4-FFF2-40B4-BE49-F238E27FC236}">
                <a16:creationId xmlns:a16="http://schemas.microsoft.com/office/drawing/2014/main" id="{94F14171-FDB7-4125-84EA-2863D8252505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1066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“From this list, pick one short and one long.”</a:t>
            </a:r>
          </a:p>
        </p:txBody>
      </p:sp>
      <p:sp>
        <p:nvSpPr>
          <p:cNvPr id="5" name="context">
            <a:extLst>
              <a:ext uri="{FF2B5EF4-FFF2-40B4-BE49-F238E27FC236}">
                <a16:creationId xmlns:a16="http://schemas.microsoft.com/office/drawing/2014/main" id="{A2698034-EA11-471F-B96C-056E9C2931FD}"/>
              </a:ext>
            </a:extLst>
          </p:cNvPr>
          <p:cNvSpPr>
            <a:spLocks noGrp="1"/>
          </p:cNvSpPr>
          <p:nvPr/>
        </p:nvSpPr>
        <p:spPr>
          <a:xfrm>
            <a:off x="666750" y="4067175"/>
            <a:ext cx="1066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Company identity, listing status, and eligibility still require verification.</a:t>
            </a:r>
          </a:p>
        </p:txBody>
      </p:sp>
      <p:sp>
        <p:nvSpPr>
          <p:cNvPr id="6" name="discussion-label">
            <a:extLst>
              <a:ext uri="{FF2B5EF4-FFF2-40B4-BE49-F238E27FC236}">
                <a16:creationId xmlns:a16="http://schemas.microsoft.com/office/drawing/2014/main" id="{EA9C7456-FDFB-4421-A103-CE27764AB197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7" name="discussion">
            <a:extLst>
              <a:ext uri="{FF2B5EF4-FFF2-40B4-BE49-F238E27FC236}">
                <a16:creationId xmlns:a16="http://schemas.microsoft.com/office/drawing/2014/main" id="{646D4F62-D842-4827-9744-F3640D3A8B82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should the model do before choosing from a supplied ticker list?</a:t>
            </a:r>
          </a:p>
        </p:txBody>
      </p:sp>
    </p:spTree>
    <p:extLst>
      <p:ext uri="{BB962C8B-B14F-4D97-AF65-F5344CB8AC3E}">
        <p14:creationId xmlns:p14="http://schemas.microsoft.com/office/powerpoint/2010/main" val="972481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4BE3BFC-05E0-44FF-AEC9-F7A1454E0FF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Total effort and tool choice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0A76301-52E6-46C3-96D5-4D7B2657CDA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sp>
        <p:nvSpPr>
          <p:cNvPr id="3" name="point-0">
            <a:extLst>
              <a:ext uri="{FF2B5EF4-FFF2-40B4-BE49-F238E27FC236}">
                <a16:creationId xmlns:a16="http://schemas.microsoft.com/office/drawing/2014/main" id="{D7B97258-D7FF-4B5C-B495-34EF3F68E1FE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Generating an answer is one part of the work.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736FC3B5-D55A-4612-A364-C8352F9780F0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Data preparation, review, correction, and rerunning also require effort.</a:t>
            </a:r>
          </a:p>
        </p:txBody>
      </p:sp>
      <p:sp>
        <p:nvSpPr>
          <p:cNvPr id="5" name="point-2">
            <a:extLst>
              <a:ext uri="{FF2B5EF4-FFF2-40B4-BE49-F238E27FC236}">
                <a16:creationId xmlns:a16="http://schemas.microsoft.com/office/drawing/2014/main" id="{B94DBCE3-C73E-4D85-B4FD-AFC049D3751C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Tool choice should reflect the team’s question and ability to verify results.</a:t>
            </a:r>
          </a:p>
        </p:txBody>
      </p:sp>
      <p:sp>
        <p:nvSpPr>
          <p:cNvPr id="6" name="discussion-label">
            <a:extLst>
              <a:ext uri="{FF2B5EF4-FFF2-40B4-BE49-F238E27FC236}">
                <a16:creationId xmlns:a16="http://schemas.microsoft.com/office/drawing/2014/main" id="{9A8F51ED-1D07-4695-83C6-83264D78960C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DISCUSSION</a:t>
            </a:r>
          </a:p>
        </p:txBody>
      </p:sp>
      <p:sp>
        <p:nvSpPr>
          <p:cNvPr id="7" name="discussion">
            <a:extLst>
              <a:ext uri="{FF2B5EF4-FFF2-40B4-BE49-F238E27FC236}">
                <a16:creationId xmlns:a16="http://schemas.microsoft.com/office/drawing/2014/main" id="{F181CAFC-71B2-447B-A9BF-95E591494B42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076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If generation takes two minutes and checking takes two hours, what would you compare?</a:t>
            </a:r>
          </a:p>
        </p:txBody>
      </p:sp>
    </p:spTree>
    <p:extLst>
      <p:ext uri="{BB962C8B-B14F-4D97-AF65-F5344CB8AC3E}">
        <p14:creationId xmlns:p14="http://schemas.microsoft.com/office/powerpoint/2010/main" val="1389077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06FAFA1E-EB93-492A-AEAB-62E2073BFB6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Evidence that supports an AI contribution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7A826A6-449E-43EF-819F-3237E5E2017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14</a:t>
            </a:r>
          </a:p>
        </p:txBody>
      </p:sp>
      <p:sp>
        <p:nvSpPr>
          <p:cNvPr id="3" name="q1">
            <a:extLst>
              <a:ext uri="{FF2B5EF4-FFF2-40B4-BE49-F238E27FC236}">
                <a16:creationId xmlns:a16="http://schemas.microsoft.com/office/drawing/2014/main" id="{30542BD9-41D7-4DE2-8219-F9A056C235F5}"/>
              </a:ext>
            </a:extLst>
          </p:cNvPr>
          <p:cNvSpPr>
            <a:spLocks noGrp="1"/>
          </p:cNvSpPr>
          <p:nvPr/>
        </p:nvSpPr>
        <p:spPr>
          <a:xfrm>
            <a:off x="666750" y="1724025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work did AI perform?</a:t>
            </a:r>
          </a:p>
        </p:txBody>
      </p:sp>
      <p:sp>
        <p:nvSpPr>
          <p:cNvPr id="4" name="a1">
            <a:extLst>
              <a:ext uri="{FF2B5EF4-FFF2-40B4-BE49-F238E27FC236}">
                <a16:creationId xmlns:a16="http://schemas.microsoft.com/office/drawing/2014/main" id="{66D34232-7BC4-4AC0-A2B1-E8D51D70F32E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Identify its contribution to design, implementation, or measurement.</a:t>
            </a:r>
          </a:p>
        </p:txBody>
      </p:sp>
      <p:sp>
        <p:nvSpPr>
          <p:cNvPr id="5" name="q2">
            <a:extLst>
              <a:ext uri="{FF2B5EF4-FFF2-40B4-BE49-F238E27FC236}">
                <a16:creationId xmlns:a16="http://schemas.microsoft.com/office/drawing/2014/main" id="{B63469DC-51FE-43B4-AAFF-AB05D3D68DF9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evidence supports its output?</a:t>
            </a:r>
          </a:p>
        </p:txBody>
      </p:sp>
      <p:sp>
        <p:nvSpPr>
          <p:cNvPr id="6" name="a2">
            <a:extLst>
              <a:ext uri="{FF2B5EF4-FFF2-40B4-BE49-F238E27FC236}">
                <a16:creationId xmlns:a16="http://schemas.microsoft.com/office/drawing/2014/main" id="{87ECC7A7-5E15-48A0-AB1B-E6903FE6EBFD}"/>
              </a:ext>
            </a:extLst>
          </p:cNvPr>
          <p:cNvSpPr>
            <a:spLocks noGrp="1"/>
          </p:cNvSpPr>
          <p:nvPr/>
        </p:nvSpPr>
        <p:spPr>
          <a:xfrm>
            <a:off x="666750" y="38290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Retain sources, calculations, settings, and supporting passages.</a:t>
            </a:r>
          </a:p>
        </p:txBody>
      </p:sp>
      <p:sp>
        <p:nvSpPr>
          <p:cNvPr id="7" name="q3">
            <a:extLst>
              <a:ext uri="{FF2B5EF4-FFF2-40B4-BE49-F238E27FC236}">
                <a16:creationId xmlns:a16="http://schemas.microsoft.com/office/drawing/2014/main" id="{9E6DC30B-B81D-4218-8F3D-000E85BA00B4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How would we detect an incorrect result?</a:t>
            </a:r>
          </a:p>
        </p:txBody>
      </p:sp>
      <p:sp>
        <p:nvSpPr>
          <p:cNvPr id="8" name="a3">
            <a:extLst>
              <a:ext uri="{FF2B5EF4-FFF2-40B4-BE49-F238E27FC236}">
                <a16:creationId xmlns:a16="http://schemas.microsoft.com/office/drawing/2014/main" id="{F433E423-3908-4E9E-A8C0-C5B333A5DCE5}"/>
              </a:ext>
            </a:extLst>
          </p:cNvPr>
          <p:cNvSpPr>
            <a:spLocks noGrp="1"/>
          </p:cNvSpPr>
          <p:nvPr/>
        </p:nvSpPr>
        <p:spPr>
          <a:xfrm>
            <a:off x="666750" y="5324475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Use independent checks and inspect exceptions.</a:t>
            </a:r>
          </a:p>
        </p:txBody>
      </p:sp>
    </p:spTree>
    <p:extLst>
      <p:ext uri="{BB962C8B-B14F-4D97-AF65-F5344CB8AC3E}">
        <p14:creationId xmlns:p14="http://schemas.microsoft.com/office/powerpoint/2010/main" val="507162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B49A9BF6-C94F-4B94-881B-D8E411819EE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Team screening plan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9F516F8-472F-4187-9B99-894E89E55EDD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3" name="point-0">
            <a:extLst>
              <a:ext uri="{FF2B5EF4-FFF2-40B4-BE49-F238E27FC236}">
                <a16:creationId xmlns:a16="http://schemas.microsoft.com/office/drawing/2014/main" id="{9ACA6F7E-EB58-49FC-84FA-43A3F901C537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Which economic characteristic will your team’s screen identify?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F3CD704C-725A-49D4-A1C1-7746FD58A579}"/>
              </a:ext>
            </a:extLst>
          </p:cNvPr>
          <p:cNvSpPr>
            <a:spLocks noGrp="1"/>
          </p:cNvSpPr>
          <p:nvPr/>
        </p:nvSpPr>
        <p:spPr>
          <a:xfrm>
            <a:off x="666750" y="248602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Which data category and technology will your team use?</a:t>
            </a:r>
          </a:p>
        </p:txBody>
      </p:sp>
      <p:sp>
        <p:nvSpPr>
          <p:cNvPr id="5" name="point-2">
            <a:extLst>
              <a:ext uri="{FF2B5EF4-FFF2-40B4-BE49-F238E27FC236}">
                <a16:creationId xmlns:a16="http://schemas.microsoft.com/office/drawing/2014/main" id="{CB135438-F2B1-4219-9481-B00A0486ED4A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Where could AI help, and how will your team check its contribution?</a:t>
            </a:r>
          </a:p>
        </p:txBody>
      </p:sp>
      <p:sp>
        <p:nvSpPr>
          <p:cNvPr id="6" name="point-3">
            <a:extLst>
              <a:ext uri="{FF2B5EF4-FFF2-40B4-BE49-F238E27FC236}">
                <a16:creationId xmlns:a16="http://schemas.microsoft.com/office/drawing/2014/main" id="{A00005B0-26DD-4E1C-98B2-5860DB84C788}"/>
              </a:ext>
            </a:extLst>
          </p:cNvPr>
          <p:cNvSpPr>
            <a:spLocks noGrp="1"/>
          </p:cNvSpPr>
          <p:nvPr/>
        </p:nvSpPr>
        <p:spPr>
          <a:xfrm>
            <a:off x="666750" y="4219575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is the next missing input or implementation step?</a:t>
            </a:r>
          </a:p>
        </p:txBody>
      </p:sp>
      <p:sp>
        <p:nvSpPr>
          <p:cNvPr id="7" name="next">
            <a:extLst>
              <a:ext uri="{FF2B5EF4-FFF2-40B4-BE49-F238E27FC236}">
                <a16:creationId xmlns:a16="http://schemas.microsoft.com/office/drawing/2014/main" id="{2C72926F-75C0-488E-96AF-7530BBDB55B9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Before submission: retain the process, investigate the pair, and refresh required eligibility checks.</a:t>
            </a:r>
          </a:p>
        </p:txBody>
      </p:sp>
    </p:spTree>
    <p:extLst>
      <p:ext uri="{BB962C8B-B14F-4D97-AF65-F5344CB8AC3E}">
        <p14:creationId xmlns:p14="http://schemas.microsoft.com/office/powerpoint/2010/main" val="1590847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0765570-26E9-4468-ABBE-C36F6991A87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FactSet screening discussion</a:t>
            </a:r>
          </a:p>
        </p:txBody>
      </p:sp>
      <p:sp>
        <p:nvSpPr>
          <p:cNvPr id="2" name="prompt-0">
            <a:extLst>
              <a:ext uri="{FF2B5EF4-FFF2-40B4-BE49-F238E27FC236}">
                <a16:creationId xmlns:a16="http://schemas.microsoft.com/office/drawing/2014/main" id="{DCF50DB0-4C24-46DD-880E-3F7573686389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Which characteristic is your team trying to identify?</a:t>
            </a:r>
          </a:p>
        </p:txBody>
      </p:sp>
      <p:sp>
        <p:nvSpPr>
          <p:cNvPr id="3" name="prompt-1">
            <a:extLst>
              <a:ext uri="{FF2B5EF4-FFF2-40B4-BE49-F238E27FC236}">
                <a16:creationId xmlns:a16="http://schemas.microsoft.com/office/drawing/2014/main" id="{C6B34127-96B5-4456-94D0-8E506DD69FD7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Is a supplied field an adequate measure?</a:t>
            </a:r>
          </a:p>
        </p:txBody>
      </p:sp>
      <p:sp>
        <p:nvSpPr>
          <p:cNvPr id="4" name="prompt-2">
            <a:extLst>
              <a:ext uri="{FF2B5EF4-FFF2-40B4-BE49-F238E27FC236}">
                <a16:creationId xmlns:a16="http://schemas.microsoft.com/office/drawing/2014/main" id="{CD56AB26-81AC-4418-A47C-3BCDD177301C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What additional evidence would distinguish an inexpensive company from a company that deserves a low price?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9E33C354-E5B5-4F53-946E-544B48B630A1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51958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2BF5341-24FA-4FE4-8719-655A15573F1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Compustat screening discussion</a:t>
            </a:r>
          </a:p>
        </p:txBody>
      </p:sp>
      <p:sp>
        <p:nvSpPr>
          <p:cNvPr id="2" name="prompt-0">
            <a:extLst>
              <a:ext uri="{FF2B5EF4-FFF2-40B4-BE49-F238E27FC236}">
                <a16:creationId xmlns:a16="http://schemas.microsoft.com/office/drawing/2014/main" id="{27D54C1D-949B-41E3-A424-E3C62CB85D41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If two firms receive the same composite score, do their underlying strengths and weaknesses have to be the same?</a:t>
            </a:r>
          </a:p>
        </p:txBody>
      </p:sp>
      <p:sp>
        <p:nvSpPr>
          <p:cNvPr id="3" name="prompt-1">
            <a:extLst>
              <a:ext uri="{FF2B5EF4-FFF2-40B4-BE49-F238E27FC236}">
                <a16:creationId xmlns:a16="http://schemas.microsoft.com/office/drawing/2014/main" id="{F0AA6AF1-3300-4B51-81F3-BE0D55A95E2C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Which score fits your economic question?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93031C9-827F-4769-A41B-9E72B0B199A5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84033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67D45B30-521D-4C83-B408-797DD6F395E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CRSP data requirements</a:t>
            </a:r>
          </a:p>
        </p:txBody>
      </p:sp>
      <p:sp>
        <p:nvSpPr>
          <p:cNvPr id="2" name="prompt-0">
            <a:extLst>
              <a:ext uri="{FF2B5EF4-FFF2-40B4-BE49-F238E27FC236}">
                <a16:creationId xmlns:a16="http://schemas.microsoft.com/office/drawing/2014/main" id="{425A19DF-201E-4B6C-B0BB-F1720C36F1A3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Market observations add return histories and event windows to accounting measures.</a:t>
            </a:r>
          </a:p>
        </p:txBody>
      </p:sp>
      <p:sp>
        <p:nvSpPr>
          <p:cNvPr id="3" name="prompt-1">
            <a:extLst>
              <a:ext uri="{FF2B5EF4-FFF2-40B4-BE49-F238E27FC236}">
                <a16:creationId xmlns:a16="http://schemas.microsoft.com/office/drawing/2014/main" id="{1E9DDCA6-07EC-4395-AB16-6151F7E4961E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The handout identifies the inputs needed for momentum, valuation, PEAD, and quality extensions.</a:t>
            </a:r>
          </a:p>
        </p:txBody>
      </p:sp>
      <p:sp>
        <p:nvSpPr>
          <p:cNvPr id="4" name="prompt-2">
            <a:extLst>
              <a:ext uri="{FF2B5EF4-FFF2-40B4-BE49-F238E27FC236}">
                <a16:creationId xmlns:a16="http://schemas.microsoft.com/office/drawing/2014/main" id="{C4D2E4EB-E657-44D5-BEC3-5A3B5195E8F5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Short-interest positions require an additional dataset.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266F5009-62C4-4DF2-81EA-D809347D02B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70985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C329845-44F9-4B8F-97ED-A9A10B2C619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4B2E83"/>
                </a:solidFill>
                <a:latin typeface="Nimbus Sans"/>
                <a:ea typeface="Nimbus Sans"/>
                <a:cs typeface="Nimbus Sans"/>
              </a:rPr>
              <a:t>EDGAR and additional sources</a:t>
            </a:r>
          </a:p>
        </p:txBody>
      </p:sp>
      <p:sp>
        <p:nvSpPr>
          <p:cNvPr id="2" name="prompt-0">
            <a:extLst>
              <a:ext uri="{FF2B5EF4-FFF2-40B4-BE49-F238E27FC236}">
                <a16:creationId xmlns:a16="http://schemas.microsoft.com/office/drawing/2014/main" id="{9C82E969-F7D4-4998-809B-83B467DFD392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0182E"/>
                </a:solidFill>
                <a:latin typeface="Nimbus Sans"/>
                <a:ea typeface="Nimbus Sans"/>
                <a:cs typeface="Nimbus Sans"/>
              </a:rPr>
              <a:t>Which added source would change your ranking enough to justify its retrieval and validation effort?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A6A83F8-0B9F-49A7-9125-ACBC7E44F54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350" b="0">
                <a:solidFill>
                  <a:srgbClr val="51515A"/>
                </a:solidFill>
                <a:latin typeface="Nimbus Sans"/>
                <a:ea typeface="Nimbus Sans"/>
                <a:cs typeface="Nimbus Sans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82412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4B2E83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000" b="1">
                <a:solidFill>
                  <a:srgbClr val="4B2E83"/>
                </a:solidFill>
                <a:latin typeface="Encode Sans Normal ExtraBold"/>
                <a:ea typeface="Encode Sans Normal ExtraBold"/>
                <a:cs typeface="Encode Sans Normal ExtraBold"/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dirty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Next topic: </a:t>
            </a:r>
            <a:r>
              <a:rPr lang="en-US" b="1" dirty="0"/>
              <a:t>Data Veracity and Validation</a:t>
            </a:r>
          </a:p>
          <a:p>
            <a:endParaRPr b="1" dirty="0"/>
          </a:p>
          <a:p>
            <a:endParaRPr b="1" dirty="0"/>
          </a:p>
          <a:p>
            <a:pPr marL="285750" indent="-285750">
              <a:buFont typeface="Arial"/>
              <a:buChar char="•"/>
            </a:pPr>
            <a:endParaRPr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Understand verification/validation and data veracity in a world with Generative AI.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76653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210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210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4581821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 ExtraBold"/>
        <a:ea typeface=""/>
        <a:cs typeface=""/>
      </a:majorFont>
      <a:minorFont>
        <a:latin typeface="Open Sans Light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 ExtraBold"/>
        <a:ea typeface=""/>
        <a:cs typeface=""/>
      </a:majorFont>
      <a:minorFont>
        <a:latin typeface="Open Sans Light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1989</Words>
  <Application>Microsoft Office PowerPoint</Application>
  <DocSecurity>0</DocSecurity>
  <PresentationFormat>Widescreen</PresentationFormat>
  <Paragraphs>278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Encode Sans Normal ExtraBold</vt:lpstr>
      <vt:lpstr>Nimbus Sans</vt:lpstr>
      <vt:lpstr>Open Sans Light</vt:lpstr>
      <vt:lpstr>Segoe UI</vt:lpstr>
      <vt:lpstr>W Foster MBA Career Mgmt</vt:lpstr>
      <vt:lpstr>PowerPoint Presentation</vt:lpstr>
      <vt:lpstr>Agenda</vt:lpstr>
      <vt:lpstr>Text Analytics</vt:lpstr>
      <vt:lpstr>PowerPoint Presentation</vt:lpstr>
      <vt:lpstr>Agenda</vt:lpstr>
      <vt:lpstr>How does screening fit?</vt:lpstr>
      <vt:lpstr>PowerPoint Presentation</vt:lpstr>
      <vt:lpstr>How to Screen Stocks</vt:lpstr>
      <vt:lpstr>PowerPoint Presentation</vt:lpstr>
      <vt:lpstr>The process that transfers between tools</vt:lpstr>
      <vt:lpstr>PowerPoint Presentation</vt:lpstr>
      <vt:lpstr>WRDS: Data Available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5</cp:revision>
  <dcterms:created xsi:type="dcterms:W3CDTF">2026-10-26T15:29:14Z</dcterms:created>
  <dcterms:modified xsi:type="dcterms:W3CDTF">2026-10-28T17:13:32Z</dcterms:modified>
</cp:coreProperties>
</file>