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6"/>
  </p:notesMasterIdLst>
  <p:sldIdLst>
    <p:sldId id="947" r:id="rId2"/>
    <p:sldId id="948" r:id="rId3"/>
    <p:sldId id="2033" r:id="rId4"/>
    <p:sldId id="2147481792" r:id="rId5"/>
    <p:sldId id="2147481789" r:id="rId6"/>
    <p:sldId id="2147481791" r:id="rId7"/>
    <p:sldId id="2034" r:id="rId8"/>
    <p:sldId id="2037" r:id="rId9"/>
    <p:sldId id="2035" r:id="rId10"/>
    <p:sldId id="2038" r:id="rId11"/>
    <p:sldId id="2036" r:id="rId12"/>
    <p:sldId id="2039" r:id="rId13"/>
    <p:sldId id="2147481793" r:id="rId14"/>
    <p:sldId id="2049" r:id="rId15"/>
    <p:sldId id="2147481794" r:id="rId16"/>
    <p:sldId id="2147481795" r:id="rId17"/>
    <p:sldId id="2147481796" r:id="rId18"/>
    <p:sldId id="2147481797" r:id="rId19"/>
    <p:sldId id="2147481798" r:id="rId20"/>
    <p:sldId id="2147481799" r:id="rId21"/>
    <p:sldId id="2147481800" r:id="rId22"/>
    <p:sldId id="2147481801" r:id="rId23"/>
    <p:sldId id="2147481802" r:id="rId24"/>
    <p:sldId id="89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2985"/>
    <a:srgbClr val="4B2E84"/>
    <a:srgbClr val="715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1684F-FAD6-4B1B-A4C7-B5380D09115D}" v="26" dt="2025-11-24T18:25:50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9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3229F-290C-4F18-9BC2-F59739490F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4417D-1188-4C37-8002-C7B0954B3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8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CB22-1ACA-F9F2-5592-E386BFFB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F1BD1-D522-3A9A-D584-7B8713563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E74AB-6465-E8DF-CB26-29D0D19C3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4A3D-2456-432B-7127-E28914D50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19110"/>
            <a:ext cx="7871689" cy="68743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67" b="0">
                <a:solidFill>
                  <a:schemeClr val="tx2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1978961"/>
            <a:ext cx="7871689" cy="16099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6133"/>
              </a:lnSpc>
              <a:spcBef>
                <a:spcPts val="0"/>
              </a:spcBef>
              <a:defRPr sz="4400" b="0" cap="all" spc="-4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551875"/>
            <a:ext cx="12192000" cy="306125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3620243"/>
            <a:ext cx="6501384" cy="169333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5DB9B2FA-4418-4794-B0BC-0E6815046AA2}"/>
              </a:ext>
            </a:extLst>
          </p:cNvPr>
          <p:cNvSpPr>
            <a:spLocks/>
          </p:cNvSpPr>
          <p:nvPr userDrawn="1"/>
        </p:nvSpPr>
        <p:spPr bwMode="auto">
          <a:xfrm>
            <a:off x="1" y="381215"/>
            <a:ext cx="970889" cy="650631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C02FC-EED9-489D-B8A1-ECFBA2B3D86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48" y="321539"/>
            <a:ext cx="2084429" cy="79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1FDA-CCAE-4272-99EE-EE0E4A60B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59" b="8545"/>
          <a:stretch/>
        </p:blipFill>
        <p:spPr>
          <a:xfrm>
            <a:off x="8068147" y="0"/>
            <a:ext cx="4123852" cy="654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60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568">
          <p15:clr>
            <a:srgbClr val="FBAE40"/>
          </p15:clr>
        </p15:guide>
        <p15:guide id="3" pos="32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46918"/>
            <a:ext cx="10350500" cy="67710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00" b="0">
                <a:solidFill>
                  <a:schemeClr val="bg2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2091146"/>
            <a:ext cx="10325100" cy="1491007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5333"/>
              </a:lnSpc>
              <a:spcBef>
                <a:spcPts val="0"/>
              </a:spcBef>
              <a:defRPr sz="5067" b="0" cap="all" spc="-4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3821" y="3620243"/>
            <a:ext cx="3413760" cy="169333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3006" y="5905649"/>
            <a:ext cx="256031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400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39726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360595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443794"/>
            <a:ext cx="11074400" cy="10259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5867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333501"/>
            <a:ext cx="10972800" cy="2103140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459306" indent="-459306">
              <a:buFont typeface="Arial" panose="020B0604020202020204" pitchFamily="34" charset="0"/>
              <a:buChar char="•"/>
              <a:defRPr lang="en-US" sz="4267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1363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253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68847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8" y="2695484"/>
            <a:ext cx="10894141" cy="1928733"/>
          </a:xfrm>
        </p:spPr>
        <p:txBody>
          <a:bodyPr/>
          <a:lstStyle>
            <a:lvl1pPr algn="ctr">
              <a:defRPr sz="5867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3966" y="5966609"/>
            <a:ext cx="256031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04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82600" y="449891"/>
            <a:ext cx="10894141" cy="74898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82600" y="1337859"/>
            <a:ext cx="10894141" cy="2325423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70863" y="6133789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6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>
    <p:fade/>
  </p:transition>
  <p:hf hdr="0" ftr="0" dt="0"/>
  <p:txStyles>
    <p:titleStyle>
      <a:lvl1pPr algn="l" defTabSz="609585" rtl="0" fontAlgn="base">
        <a:spcBef>
          <a:spcPct val="0"/>
        </a:spcBef>
        <a:spcAft>
          <a:spcPct val="0"/>
        </a:spcAft>
        <a:defRPr sz="4267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609585" rtl="0" fontAlgn="base">
        <a:spcBef>
          <a:spcPts val="0"/>
        </a:spcBef>
        <a:spcAft>
          <a:spcPts val="133"/>
        </a:spcAft>
        <a:buFont typeface="Arial" charset="0"/>
        <a:buNone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59865" indent="-304792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068891" indent="-302676" algn="l" defTabSz="609585" rtl="0" fontAlgn="base">
        <a:spcBef>
          <a:spcPts val="0"/>
        </a:spcBef>
        <a:spcAft>
          <a:spcPts val="133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369450" indent="-294210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678475" indent="-319609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  <p15:guide id="6" pos="542">
          <p15:clr>
            <a:srgbClr val="F26B43"/>
          </p15:clr>
        </p15:guide>
        <p15:guide id="7" pos="55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0203" y="1196697"/>
            <a:ext cx="8685177" cy="2392193"/>
          </a:xfrm>
        </p:spPr>
        <p:txBody>
          <a:bodyPr/>
          <a:lstStyle/>
          <a:p>
            <a:r>
              <a:rPr lang="en-US" b="1" dirty="0"/>
              <a:t>Advanced Analytics and Final Project Workshop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3" y="4019111"/>
            <a:ext cx="8502777" cy="1928733"/>
          </a:xfrm>
        </p:spPr>
        <p:txBody>
          <a:bodyPr/>
          <a:lstStyle/>
          <a:p>
            <a:r>
              <a:rPr lang="en-US" sz="3600" dirty="0"/>
              <a:t>Data Analytics for Professional Accountants </a:t>
            </a:r>
            <a:r>
              <a:rPr lang="en-US" sz="4000" dirty="0"/>
              <a:t>(ACCTG 522)</a:t>
            </a:r>
          </a:p>
          <a:p>
            <a:r>
              <a:rPr lang="en-US" sz="3600" dirty="0"/>
              <a:t>Class 17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10628712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D141-81F8-4A93-87DE-D9885DC6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7BDE-DD2F-4C40-9423-74EA2798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345697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Welcome!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Review: Final Project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Goal for today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Final Project Checklist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Final Project Appendices</a:t>
            </a:r>
          </a:p>
          <a:p>
            <a:pPr marL="1331365" lvl="1" indent="-571500"/>
            <a:r>
              <a:rPr lang="en-US" sz="2133" dirty="0"/>
              <a:t>EDGAR Explorer and Extensions/Helpers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Final Project Workshop: </a:t>
            </a:r>
          </a:p>
          <a:p>
            <a:pPr marL="1331365" lvl="1" indent="-571500"/>
            <a:r>
              <a:rPr lang="en-US" sz="2133" dirty="0"/>
              <a:t>Teams to work in assessment teams locally/remotely</a:t>
            </a:r>
          </a:p>
          <a:p>
            <a:pPr marL="1331365" lvl="1" indent="-571500"/>
            <a:r>
              <a:rPr lang="en-US" sz="2133" dirty="0"/>
              <a:t>Finalize any requests</a:t>
            </a:r>
          </a:p>
        </p:txBody>
      </p:sp>
    </p:spTree>
    <p:extLst>
      <p:ext uri="{BB962C8B-B14F-4D97-AF65-F5344CB8AC3E}">
        <p14:creationId xmlns:p14="http://schemas.microsoft.com/office/powerpoint/2010/main" val="1722691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8C09-296B-E50D-EED1-ACF01C39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Workshop classes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44BD96-B982-5B19-B942-E5DF75188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89138"/>
              </p:ext>
            </p:extLst>
          </p:nvPr>
        </p:nvGraphicFramePr>
        <p:xfrm>
          <a:off x="360285" y="2394894"/>
          <a:ext cx="11306751" cy="319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420">
                  <a:extLst>
                    <a:ext uri="{9D8B030D-6E8A-4147-A177-3AD203B41FA5}">
                      <a16:colId xmlns:a16="http://schemas.microsoft.com/office/drawing/2014/main" val="4088601814"/>
                    </a:ext>
                  </a:extLst>
                </a:gridCol>
                <a:gridCol w="4092748">
                  <a:extLst>
                    <a:ext uri="{9D8B030D-6E8A-4147-A177-3AD203B41FA5}">
                      <a16:colId xmlns:a16="http://schemas.microsoft.com/office/drawing/2014/main" val="3740894976"/>
                    </a:ext>
                  </a:extLst>
                </a:gridCol>
                <a:gridCol w="5613583">
                  <a:extLst>
                    <a:ext uri="{9D8B030D-6E8A-4147-A177-3AD203B41FA5}">
                      <a16:colId xmlns:a16="http://schemas.microsoft.com/office/drawing/2014/main" val="3472347770"/>
                    </a:ext>
                  </a:extLst>
                </a:gridCol>
              </a:tblGrid>
              <a:tr h="477223">
                <a:tc>
                  <a:txBody>
                    <a:bodyPr/>
                    <a:lstStyle/>
                    <a:p>
                      <a:r>
                        <a:rPr lang="en-US" sz="2400" dirty="0"/>
                        <a:t>Class 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ACCTG 522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ACCTG521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76954909"/>
                  </a:ext>
                </a:extLst>
              </a:tr>
              <a:tr h="477223">
                <a:tc>
                  <a:txBody>
                    <a:bodyPr/>
                    <a:lstStyle/>
                    <a:p>
                      <a:r>
                        <a:rPr lang="en-US" sz="2400" dirty="0"/>
                        <a:t>18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412985"/>
                          </a:solidFill>
                        </a:rPr>
                        <a:t>11/24 Workshop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11/25 Blockchain (individual)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07616084"/>
                  </a:ext>
                </a:extLst>
              </a:tr>
              <a:tr h="454162">
                <a:tc>
                  <a:txBody>
                    <a:bodyPr/>
                    <a:lstStyle/>
                    <a:p>
                      <a:r>
                        <a:rPr lang="en-US" sz="2400" dirty="0"/>
                        <a:t>19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11/26 Thanksgiving break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11/27 Thanksgiving break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2159572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12/2 Workshop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12/2 Workshop *Audit Plan Deadline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270039033"/>
                  </a:ext>
                </a:extLst>
              </a:tr>
              <a:tr h="1240781">
                <a:tc>
                  <a:txBody>
                    <a:bodyPr/>
                    <a:lstStyle/>
                    <a:p>
                      <a:r>
                        <a:rPr lang="en-US" sz="2400" dirty="0"/>
                        <a:t>21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12/3 Workshop </a:t>
                      </a:r>
                    </a:p>
                    <a:p>
                      <a:r>
                        <a:rPr lang="en-US" sz="2400" dirty="0"/>
                        <a:t>*Final Project Due by 11:59PM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12/4 Final Presentations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923160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DA9A52-3795-ED9B-AE6C-094AF8F41DB4}"/>
              </a:ext>
            </a:extLst>
          </p:cNvPr>
          <p:cNvSpPr txBox="1"/>
          <p:nvPr/>
        </p:nvSpPr>
        <p:spPr>
          <a:xfrm>
            <a:off x="580876" y="1761777"/>
            <a:ext cx="5845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Goal facilitate completion of the final project.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64E1A-1A2B-FFB0-2D24-2536FDA96B5A}"/>
              </a:ext>
            </a:extLst>
          </p:cNvPr>
          <p:cNvSpPr txBox="1"/>
          <p:nvPr/>
        </p:nvSpPr>
        <p:spPr>
          <a:xfrm>
            <a:off x="360285" y="5672770"/>
            <a:ext cx="11462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Workshops do not require classroom presence, if teams want to meet remotely or in break out rooms, let me know.</a:t>
            </a:r>
          </a:p>
        </p:txBody>
      </p:sp>
    </p:spTree>
    <p:extLst>
      <p:ext uri="{BB962C8B-B14F-4D97-AF65-F5344CB8AC3E}">
        <p14:creationId xmlns:p14="http://schemas.microsoft.com/office/powerpoint/2010/main" val="38750412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D2E0-E6F1-0963-19AD-A45D2E03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Goals / 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4D662-F8C1-7C6C-5883-1BBC22CBC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200329"/>
          </a:xfrm>
        </p:spPr>
        <p:txBody>
          <a:bodyPr/>
          <a:lstStyle/>
          <a:p>
            <a:r>
              <a:rPr lang="en-US" dirty="0"/>
              <a:t>Today: Goal is to complete ETL for historical data, e.g., in Alteryx: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6AFF2-3E61-0F50-96A6-F6C842FF2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32" y="4230025"/>
            <a:ext cx="4096322" cy="15242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7195C0-9BF7-19AD-BC4D-2E9AF92B5C83}"/>
              </a:ext>
            </a:extLst>
          </p:cNvPr>
          <p:cNvCxnSpPr/>
          <p:nvPr/>
        </p:nvCxnSpPr>
        <p:spPr>
          <a:xfrm flipV="1">
            <a:off x="3997411" y="4254738"/>
            <a:ext cx="1167714" cy="543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54E906-5932-9632-4A5E-6F2F5053CB81}"/>
              </a:ext>
            </a:extLst>
          </p:cNvPr>
          <p:cNvCxnSpPr/>
          <p:nvPr/>
        </p:nvCxnSpPr>
        <p:spPr>
          <a:xfrm>
            <a:off x="3997411" y="4868562"/>
            <a:ext cx="1940011" cy="883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3323FF-6BBF-2861-E996-6807552C6960}"/>
              </a:ext>
            </a:extLst>
          </p:cNvPr>
          <p:cNvSpPr txBox="1"/>
          <p:nvPr/>
        </p:nvSpPr>
        <p:spPr>
          <a:xfrm>
            <a:off x="299892" y="3896509"/>
            <a:ext cx="4062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Workflow 0. EDGAR Download Workflow </a:t>
            </a:r>
          </a:p>
          <a:p>
            <a:r>
              <a:rPr lang="en-US" dirty="0">
                <a:latin typeface="+mn-lt"/>
              </a:rPr>
              <a:t>(example in this class)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F02E3-5E88-FBE0-60EA-C00859297827}"/>
              </a:ext>
            </a:extLst>
          </p:cNvPr>
          <p:cNvSpPr txBox="1"/>
          <p:nvPr/>
        </p:nvSpPr>
        <p:spPr>
          <a:xfrm>
            <a:off x="5307227" y="3864002"/>
            <a:ext cx="624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Workflow 1. An input into a workflow for combining line-items for historical and forecast </a:t>
            </a:r>
            <a:r>
              <a:rPr lang="en-US" dirty="0" err="1">
                <a:latin typeface="+mn-lt"/>
              </a:rPr>
              <a:t>eVal</a:t>
            </a:r>
            <a:r>
              <a:rPr lang="en-US" dirty="0">
                <a:latin typeface="+mn-lt"/>
              </a:rPr>
              <a:t> level of disaggregation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9B75A-1673-EF94-2B65-2903C3973833}"/>
              </a:ext>
            </a:extLst>
          </p:cNvPr>
          <p:cNvSpPr txBox="1"/>
          <p:nvPr/>
        </p:nvSpPr>
        <p:spPr>
          <a:xfrm>
            <a:off x="6048633" y="5609968"/>
            <a:ext cx="6013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Workflow 2. An input into a workflow for disaggregate forecasting that uses workflow 1 again to combine to </a:t>
            </a:r>
            <a:r>
              <a:rPr lang="en-US" dirty="0" err="1">
                <a:latin typeface="+mn-lt"/>
              </a:rPr>
              <a:t>eVal</a:t>
            </a:r>
            <a:r>
              <a:rPr lang="en-US" dirty="0">
                <a:latin typeface="+mn-lt"/>
              </a:rPr>
              <a:t> level of disaggregation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03C0F1-300A-2AF5-32F5-F116C0D928D7}"/>
              </a:ext>
            </a:extLst>
          </p:cNvPr>
          <p:cNvSpPr/>
          <p:nvPr/>
        </p:nvSpPr>
        <p:spPr>
          <a:xfrm>
            <a:off x="253314" y="3864002"/>
            <a:ext cx="11187404" cy="1745966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B1C00-E2CC-4814-49BC-43B11BF8DD31}"/>
              </a:ext>
            </a:extLst>
          </p:cNvPr>
          <p:cNvSpPr txBox="1"/>
          <p:nvPr/>
        </p:nvSpPr>
        <p:spPr>
          <a:xfrm>
            <a:off x="210065" y="3478417"/>
            <a:ext cx="2136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412985"/>
                </a:solidFill>
                <a:latin typeface="+mn-lt"/>
              </a:rPr>
              <a:t>Before Thanksgiving</a:t>
            </a:r>
          </a:p>
        </p:txBody>
      </p:sp>
    </p:spTree>
    <p:extLst>
      <p:ext uri="{BB962C8B-B14F-4D97-AF65-F5344CB8AC3E}">
        <p14:creationId xmlns:p14="http://schemas.microsoft.com/office/powerpoint/2010/main" val="827856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4852-28EF-4794-1E43-7247EE571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4884-7396-B093-780A-36F32CC10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4008790"/>
          </a:xfrm>
        </p:spPr>
        <p:txBody>
          <a:bodyPr/>
          <a:lstStyle/>
          <a:p>
            <a:r>
              <a:rPr lang="en-US" dirty="0"/>
              <a:t>For each item you wish to enhance with data: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Where can I get the data? Is it free? Do I have an API key? Are there restrictions on the data?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Is the ETL easy or difficult to get into </a:t>
            </a:r>
            <a:r>
              <a:rPr lang="en-US" dirty="0" err="1"/>
              <a:t>eVal</a:t>
            </a:r>
            <a:r>
              <a:rPr lang="en-US" dirty="0"/>
              <a:t>? What kind of workflow do I need to use? Will the transpose be easy or difficult?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249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EBA0-4355-6012-E709-88C7610C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Checklist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97D23-05B0-3B04-FF96-36E4C22ED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318559"/>
              </p:ext>
            </p:extLst>
          </p:nvPr>
        </p:nvGraphicFramePr>
        <p:xfrm>
          <a:off x="369888" y="2060575"/>
          <a:ext cx="1099502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008">
                  <a:extLst>
                    <a:ext uri="{9D8B030D-6E8A-4147-A177-3AD203B41FA5}">
                      <a16:colId xmlns:a16="http://schemas.microsoft.com/office/drawing/2014/main" val="3931286831"/>
                    </a:ext>
                  </a:extLst>
                </a:gridCol>
                <a:gridCol w="3665008">
                  <a:extLst>
                    <a:ext uri="{9D8B030D-6E8A-4147-A177-3AD203B41FA5}">
                      <a16:colId xmlns:a16="http://schemas.microsoft.com/office/drawing/2014/main" val="3471976454"/>
                    </a:ext>
                  </a:extLst>
                </a:gridCol>
                <a:gridCol w="3665008">
                  <a:extLst>
                    <a:ext uri="{9D8B030D-6E8A-4147-A177-3AD203B41FA5}">
                      <a16:colId xmlns:a16="http://schemas.microsoft.com/office/drawing/2014/main" val="978082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to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ETL 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78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Replace </a:t>
                      </a:r>
                      <a:r>
                        <a:rPr lang="en-US" dirty="0" err="1"/>
                        <a:t>eVal</a:t>
                      </a:r>
                      <a:r>
                        <a:rPr lang="en-US" dirty="0"/>
                        <a:t> historical with EDGAR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EDGAR Explorer / SEC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needs extraction using CFRAME and will need to be transposed to be pasted to </a:t>
                      </a:r>
                      <a:r>
                        <a:rPr lang="en-US" dirty="0" err="1"/>
                        <a:t>eVal</a:t>
                      </a:r>
                      <a:r>
                        <a:rPr lang="en-US" dirty="0"/>
                        <a:t> Financial Statements Tab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99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Replace </a:t>
                      </a:r>
                      <a:r>
                        <a:rPr lang="en-US" dirty="0" err="1"/>
                        <a:t>eVal</a:t>
                      </a:r>
                      <a:r>
                        <a:rPr lang="en-US" dirty="0"/>
                        <a:t> forecasts with Predictive tools based forecasts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Workflow to be developed in Alteryx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Leverages data above, need to better understand predictive tools.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552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9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6421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A922-1197-9DED-6CA2-80D97D8E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Final Project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12690-5585-55B4-D037-B4286BA9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22" y="2217009"/>
            <a:ext cx="10972800" cy="232114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Data Source Appendix</a:t>
            </a:r>
          </a:p>
          <a:p>
            <a:r>
              <a:rPr lang="en-US" dirty="0"/>
              <a:t>Goal: Have a summary Table documenting the sources of data used and where the data was used. </a:t>
            </a:r>
          </a:p>
        </p:txBody>
      </p:sp>
    </p:spTree>
    <p:extLst>
      <p:ext uri="{BB962C8B-B14F-4D97-AF65-F5344CB8AC3E}">
        <p14:creationId xmlns:p14="http://schemas.microsoft.com/office/powerpoint/2010/main" val="3674720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79183-CE6E-CFDF-40A4-CE778789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24" y="1434822"/>
            <a:ext cx="8980153" cy="398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4028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2817-3961-9EBC-E840-5AF49682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F98B-1E95-C70E-4106-9405482F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Final Project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8885-613C-F745-1909-9F4E7FB9E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30" y="2229366"/>
            <a:ext cx="10972800" cy="2875146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Analytics Enhancement Appendix</a:t>
            </a:r>
          </a:p>
          <a:p>
            <a:r>
              <a:rPr lang="en-US" dirty="0"/>
              <a:t>Goal: Have a summary Table documenting the sources analytical methods used and where in the Financial Statement Analysis they were incorporated.</a:t>
            </a:r>
          </a:p>
        </p:txBody>
      </p:sp>
    </p:spTree>
    <p:extLst>
      <p:ext uri="{BB962C8B-B14F-4D97-AF65-F5344CB8AC3E}">
        <p14:creationId xmlns:p14="http://schemas.microsoft.com/office/powerpoint/2010/main" val="417763292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685E3-7183-B1DE-2243-1278AC75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76" y="1523734"/>
            <a:ext cx="894204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3503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8C3A-E727-B7C6-5914-2A1389C1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7862-1B19-B1DC-5613-E6DAD185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Final Project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FEEF-3D9F-4856-F4D2-4FB70BC83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92" y="2173761"/>
            <a:ext cx="10972800" cy="176715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XBRL Mapping to </a:t>
            </a:r>
            <a:r>
              <a:rPr lang="en-US" b="1" dirty="0" err="1">
                <a:solidFill>
                  <a:schemeClr val="tx2"/>
                </a:solidFill>
              </a:rPr>
              <a:t>eVal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Goal: Have a summary Table documenting the mapping of disaggregated tags to </a:t>
            </a:r>
            <a:r>
              <a:rPr lang="en-US" dirty="0" err="1"/>
              <a:t>eVal</a:t>
            </a:r>
            <a:r>
              <a:rPr lang="en-US" dirty="0"/>
              <a:t> line items.</a:t>
            </a:r>
          </a:p>
        </p:txBody>
      </p:sp>
    </p:spTree>
    <p:extLst>
      <p:ext uri="{BB962C8B-B14F-4D97-AF65-F5344CB8AC3E}">
        <p14:creationId xmlns:p14="http://schemas.microsoft.com/office/powerpoint/2010/main" val="150988921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3A137-8BF6-30A4-8395-6FF55B6A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82" y="0"/>
            <a:ext cx="8519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1237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7676-AD3C-BE73-DD31-E1451E9F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9D67-7243-79C5-834D-0F232FE8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13D99-6C29-803B-31AB-A3AF16C10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345697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Welcome!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Review: Final Project</a:t>
            </a: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Goal for today</a:t>
            </a: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Final Project Checklist</a:t>
            </a: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Final Project Appendices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EDGAR Explorer and Extensions/Helpers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Final Project Workshop: </a:t>
            </a:r>
          </a:p>
          <a:p>
            <a:pPr marL="1331365" lvl="1" indent="-571500"/>
            <a:r>
              <a:rPr lang="en-US" sz="2133" dirty="0"/>
              <a:t>Teams to work in assessment teams locally/remotely</a:t>
            </a:r>
          </a:p>
          <a:p>
            <a:pPr marL="1331365" lvl="1" indent="-571500"/>
            <a:r>
              <a:rPr lang="en-US" sz="2133" dirty="0"/>
              <a:t>Finalize any requests</a:t>
            </a:r>
          </a:p>
        </p:txBody>
      </p:sp>
    </p:spTree>
    <p:extLst>
      <p:ext uri="{BB962C8B-B14F-4D97-AF65-F5344CB8AC3E}">
        <p14:creationId xmlns:p14="http://schemas.microsoft.com/office/powerpoint/2010/main" val="103179250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D19C17-381D-A53A-2FAC-00CE9A066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114"/>
            <a:ext cx="12192000" cy="63417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8A4238-332F-CCEE-330D-5FBCC67158B6}"/>
              </a:ext>
            </a:extLst>
          </p:cNvPr>
          <p:cNvSpPr/>
          <p:nvPr/>
        </p:nvSpPr>
        <p:spPr>
          <a:xfrm>
            <a:off x="1" y="1629295"/>
            <a:ext cx="12025745" cy="191746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788E4-5882-36BD-EE7B-75B2BA7E080A}"/>
              </a:ext>
            </a:extLst>
          </p:cNvPr>
          <p:cNvSpPr txBox="1"/>
          <p:nvPr/>
        </p:nvSpPr>
        <p:spPr>
          <a:xfrm>
            <a:off x="6964352" y="40350"/>
            <a:ext cx="5114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Full text filing (text, tables, XBRL schema and more; </a:t>
            </a:r>
            <a:r>
              <a:rPr lang="en-US" sz="2400" b="1" i="1" dirty="0">
                <a:solidFill>
                  <a:srgbClr val="412985"/>
                </a:solidFill>
              </a:rPr>
              <a:t>includes product/service axis</a:t>
            </a:r>
            <a:r>
              <a:rPr lang="en-US" sz="24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56DB14-6E2C-6EBE-E488-94629BB416EC}"/>
              </a:ext>
            </a:extLst>
          </p:cNvPr>
          <p:cNvCxnSpPr/>
          <p:nvPr/>
        </p:nvCxnSpPr>
        <p:spPr>
          <a:xfrm>
            <a:off x="10850003" y="852063"/>
            <a:ext cx="403476" cy="1665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E32228-95C9-89F2-20A8-8D4D8B019A76}"/>
              </a:ext>
            </a:extLst>
          </p:cNvPr>
          <p:cNvCxnSpPr/>
          <p:nvPr/>
        </p:nvCxnSpPr>
        <p:spPr>
          <a:xfrm flipH="1">
            <a:off x="850808" y="5859177"/>
            <a:ext cx="4201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374CFB-7B37-7BCD-6955-50369123BECA}"/>
              </a:ext>
            </a:extLst>
          </p:cNvPr>
          <p:cNvSpPr txBox="1"/>
          <p:nvPr/>
        </p:nvSpPr>
        <p:spPr>
          <a:xfrm>
            <a:off x="5166252" y="5473244"/>
            <a:ext cx="6739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JSON file of XBRL (largely numeric)</a:t>
            </a:r>
          </a:p>
          <a:p>
            <a:r>
              <a:rPr lang="en-US" sz="2400" b="1" i="1" dirty="0">
                <a:solidFill>
                  <a:srgbClr val="412985"/>
                </a:solidFill>
              </a:rPr>
              <a:t>Usually at the aggregate level (does not include Product/Service Axis)</a:t>
            </a:r>
          </a:p>
        </p:txBody>
      </p:sp>
    </p:spTree>
    <p:extLst>
      <p:ext uri="{BB962C8B-B14F-4D97-AF65-F5344CB8AC3E}">
        <p14:creationId xmlns:p14="http://schemas.microsoft.com/office/powerpoint/2010/main" val="329698276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159F7-9EE1-C5FB-E8FE-49BDB9D80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514"/>
            <a:ext cx="12192000" cy="44149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BEDFB7-CAF5-7519-0211-830AD9464878}"/>
              </a:ext>
            </a:extLst>
          </p:cNvPr>
          <p:cNvSpPr/>
          <p:nvPr/>
        </p:nvSpPr>
        <p:spPr>
          <a:xfrm>
            <a:off x="2743201" y="3601995"/>
            <a:ext cx="4868562" cy="22242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5DFA09-EAE2-C946-A91C-3C6A60884471}"/>
              </a:ext>
            </a:extLst>
          </p:cNvPr>
          <p:cNvCxnSpPr/>
          <p:nvPr/>
        </p:nvCxnSpPr>
        <p:spPr>
          <a:xfrm flipH="1" flipV="1">
            <a:off x="741405" y="2452816"/>
            <a:ext cx="1927654" cy="1266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7B8F661-9E68-F105-DD0C-41001FDB07F2}"/>
              </a:ext>
            </a:extLst>
          </p:cNvPr>
          <p:cNvCxnSpPr>
            <a:cxnSpLocks/>
          </p:cNvCxnSpPr>
          <p:nvPr/>
        </p:nvCxnSpPr>
        <p:spPr>
          <a:xfrm flipV="1">
            <a:off x="5134232" y="2452816"/>
            <a:ext cx="3318820" cy="803189"/>
          </a:xfrm>
          <a:prstGeom prst="bentConnector3">
            <a:avLst>
              <a:gd name="adj1" fmla="val 738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676CFC-2E96-B096-4B9E-16F63BAB292D}"/>
              </a:ext>
            </a:extLst>
          </p:cNvPr>
          <p:cNvSpPr txBox="1"/>
          <p:nvPr/>
        </p:nvSpPr>
        <p:spPr>
          <a:xfrm>
            <a:off x="2335427" y="1161535"/>
            <a:ext cx="101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XBRL Tag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149ECD-2465-1888-290A-686A56BD62B7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54873" y="1346201"/>
            <a:ext cx="1643435" cy="1619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4957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51BC5-76C7-FA2F-3360-94E4A8E61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770" y="196255"/>
            <a:ext cx="9621593" cy="169568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E10862-A357-9899-8755-2642425C3EC7}"/>
              </a:ext>
            </a:extLst>
          </p:cNvPr>
          <p:cNvCxnSpPr>
            <a:cxnSpLocks/>
          </p:cNvCxnSpPr>
          <p:nvPr/>
        </p:nvCxnSpPr>
        <p:spPr>
          <a:xfrm>
            <a:off x="1105943" y="321282"/>
            <a:ext cx="939100" cy="244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1E670E-45AF-8DDB-FCB9-0165D1D396A4}"/>
              </a:ext>
            </a:extLst>
          </p:cNvPr>
          <p:cNvSpPr txBox="1"/>
          <p:nvPr/>
        </p:nvSpPr>
        <p:spPr>
          <a:xfrm>
            <a:off x="86497" y="196255"/>
            <a:ext cx="101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XBRL Tag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453FF-22BE-0776-29B9-12D762A4A8B7}"/>
              </a:ext>
            </a:extLst>
          </p:cNvPr>
          <p:cNvSpPr/>
          <p:nvPr/>
        </p:nvSpPr>
        <p:spPr>
          <a:xfrm>
            <a:off x="4633783" y="1669520"/>
            <a:ext cx="6487297" cy="22242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26949-F704-FAA6-3098-82DABE7C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0"/>
          <a:stretch>
            <a:fillRect/>
          </a:stretch>
        </p:blipFill>
        <p:spPr>
          <a:xfrm>
            <a:off x="194243" y="2224210"/>
            <a:ext cx="11917438" cy="431250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320002-7DD4-D4D4-D41B-99C5AA1ED665}"/>
              </a:ext>
            </a:extLst>
          </p:cNvPr>
          <p:cNvCxnSpPr/>
          <p:nvPr/>
        </p:nvCxnSpPr>
        <p:spPr>
          <a:xfrm>
            <a:off x="957649" y="2014151"/>
            <a:ext cx="2947086" cy="1668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92C080-E636-F485-EFCE-3EF6DA2509FD}"/>
              </a:ext>
            </a:extLst>
          </p:cNvPr>
          <p:cNvSpPr txBox="1"/>
          <p:nvPr/>
        </p:nvSpPr>
        <p:spPr>
          <a:xfrm>
            <a:off x="0" y="1749849"/>
            <a:ext cx="131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Same tag no axis info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935B7F-337C-209D-0467-60EAE8AABA54}"/>
              </a:ext>
            </a:extLst>
          </p:cNvPr>
          <p:cNvCxnSpPr/>
          <p:nvPr/>
        </p:nvCxnSpPr>
        <p:spPr>
          <a:xfrm>
            <a:off x="6096000" y="3947984"/>
            <a:ext cx="5099222" cy="166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E6C03B7-20D3-A441-1446-9CD3A295C879}"/>
              </a:ext>
            </a:extLst>
          </p:cNvPr>
          <p:cNvSpPr/>
          <p:nvPr/>
        </p:nvSpPr>
        <p:spPr>
          <a:xfrm>
            <a:off x="350108" y="3952794"/>
            <a:ext cx="967945" cy="22242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13926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85A31-5DF7-1675-CA25-84780B4D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01" y="2058314"/>
            <a:ext cx="7484197" cy="4384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DAE04-49EB-FE05-59B9-EAA25E5A7225}"/>
              </a:ext>
            </a:extLst>
          </p:cNvPr>
          <p:cNvSpPr txBox="1"/>
          <p:nvPr/>
        </p:nvSpPr>
        <p:spPr>
          <a:xfrm>
            <a:off x="395417" y="284206"/>
            <a:ext cx="10372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</a:t>
            </a:r>
            <a:r>
              <a:rPr lang="en-US" dirty="0" err="1">
                <a:latin typeface="+mn-lt"/>
              </a:rPr>
              <a:t>al</a:t>
            </a:r>
            <a:r>
              <a:rPr lang="en-US" dirty="0">
                <a:latin typeface="+mn-lt"/>
              </a:rPr>
              <a:t> Considerations: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Five years of historical data is the default can ETL more but only paste in 5 years to avoid messing w/ </a:t>
            </a:r>
            <a:r>
              <a:rPr lang="en-US" dirty="0" err="1"/>
              <a:t>eVal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n-lt"/>
              </a:rPr>
              <a:t>Look for key missing data or other issues e.g.</a:t>
            </a:r>
            <a:r>
              <a:rPr lang="en-US" dirty="0"/>
              <a:t>, more important missing data</a:t>
            </a:r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583E61-8910-3213-D0D5-139B1B8810A6}"/>
              </a:ext>
            </a:extLst>
          </p:cNvPr>
          <p:cNvCxnSpPr/>
          <p:nvPr/>
        </p:nvCxnSpPr>
        <p:spPr>
          <a:xfrm>
            <a:off x="5072449" y="1075038"/>
            <a:ext cx="4120978" cy="333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70AF67-2DD8-C92F-EA52-2E8566D3895B}"/>
              </a:ext>
            </a:extLst>
          </p:cNvPr>
          <p:cNvCxnSpPr/>
          <p:nvPr/>
        </p:nvCxnSpPr>
        <p:spPr>
          <a:xfrm>
            <a:off x="5041557" y="1075038"/>
            <a:ext cx="3299254" cy="342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D07104-A0BA-D255-7D2E-62F9AFE43D41}"/>
              </a:ext>
            </a:extLst>
          </p:cNvPr>
          <p:cNvSpPr txBox="1"/>
          <p:nvPr/>
        </p:nvSpPr>
        <p:spPr>
          <a:xfrm>
            <a:off x="10324070" y="5659395"/>
            <a:ext cx="157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Less important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4426F0-956E-02C9-2E14-3E006B81B9D1}"/>
              </a:ext>
            </a:extLst>
          </p:cNvPr>
          <p:cNvCxnSpPr/>
          <p:nvPr/>
        </p:nvCxnSpPr>
        <p:spPr>
          <a:xfrm flipH="1">
            <a:off x="9854514" y="5887995"/>
            <a:ext cx="376881" cy="210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656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51A67-08CD-33D5-671E-94A593227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168" y="949915"/>
            <a:ext cx="8390106" cy="52852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559B68-423C-A1EB-10CB-EB7A2141363F}"/>
              </a:ext>
            </a:extLst>
          </p:cNvPr>
          <p:cNvSpPr/>
          <p:nvPr/>
        </p:nvSpPr>
        <p:spPr>
          <a:xfrm>
            <a:off x="4511661" y="2802481"/>
            <a:ext cx="6135131" cy="22242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6FE3BA-4BB7-7E6A-824B-E3EF9C0D1168}"/>
              </a:ext>
            </a:extLst>
          </p:cNvPr>
          <p:cNvCxnSpPr/>
          <p:nvPr/>
        </p:nvCxnSpPr>
        <p:spPr>
          <a:xfrm flipH="1">
            <a:off x="10274643" y="1383957"/>
            <a:ext cx="932935" cy="1161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A64F25-86E4-EB42-5409-FC799A968387}"/>
              </a:ext>
            </a:extLst>
          </p:cNvPr>
          <p:cNvCxnSpPr/>
          <p:nvPr/>
        </p:nvCxnSpPr>
        <p:spPr>
          <a:xfrm flipH="1">
            <a:off x="8738156" y="1315995"/>
            <a:ext cx="2471351" cy="120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C33EF6-D843-B8CE-627E-856FE9ACACC1}"/>
              </a:ext>
            </a:extLst>
          </p:cNvPr>
          <p:cNvCxnSpPr>
            <a:cxnSpLocks/>
          </p:cNvCxnSpPr>
          <p:nvPr/>
        </p:nvCxnSpPr>
        <p:spPr>
          <a:xfrm flipH="1">
            <a:off x="4250724" y="5263978"/>
            <a:ext cx="6357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B82CA1-33A0-4243-E789-3F562381305D}"/>
              </a:ext>
            </a:extLst>
          </p:cNvPr>
          <p:cNvCxnSpPr>
            <a:cxnSpLocks/>
          </p:cNvCxnSpPr>
          <p:nvPr/>
        </p:nvCxnSpPr>
        <p:spPr>
          <a:xfrm flipV="1">
            <a:off x="1254345" y="3509319"/>
            <a:ext cx="7327423" cy="966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64D4F0-8BB0-378E-36E1-E303EE33D76C}"/>
              </a:ext>
            </a:extLst>
          </p:cNvPr>
          <p:cNvCxnSpPr/>
          <p:nvPr/>
        </p:nvCxnSpPr>
        <p:spPr>
          <a:xfrm flipV="1">
            <a:off x="1285103" y="4423719"/>
            <a:ext cx="7271951" cy="61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05AB76-9C11-A9E3-954C-9E161931D6FA}"/>
              </a:ext>
            </a:extLst>
          </p:cNvPr>
          <p:cNvSpPr txBox="1"/>
          <p:nvPr/>
        </p:nvSpPr>
        <p:spPr>
          <a:xfrm>
            <a:off x="-30892" y="3936327"/>
            <a:ext cx="221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Implies Total Debt =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0E1B8-03CC-9416-A806-CFE9DEAD9A84}"/>
              </a:ext>
            </a:extLst>
          </p:cNvPr>
          <p:cNvSpPr txBox="1"/>
          <p:nvPr/>
        </p:nvSpPr>
        <p:spPr>
          <a:xfrm>
            <a:off x="317181" y="308049"/>
            <a:ext cx="4686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12985"/>
                </a:solidFill>
                <a:latin typeface="+mn-lt"/>
              </a:rPr>
              <a:t>Asset classification and capital structure checks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4A099F-6EB2-94E8-1737-6E0CC83F753D}"/>
              </a:ext>
            </a:extLst>
          </p:cNvPr>
          <p:cNvCxnSpPr/>
          <p:nvPr/>
        </p:nvCxnSpPr>
        <p:spPr>
          <a:xfrm flipH="1">
            <a:off x="5591432" y="1254211"/>
            <a:ext cx="5560541" cy="124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156CC5-6C42-4CFA-1990-188D789CA37C}"/>
              </a:ext>
            </a:extLst>
          </p:cNvPr>
          <p:cNvSpPr txBox="1"/>
          <p:nvPr/>
        </p:nvSpPr>
        <p:spPr>
          <a:xfrm>
            <a:off x="9662397" y="507800"/>
            <a:ext cx="2529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Other assets is a plug,</a:t>
            </a:r>
          </a:p>
          <a:p>
            <a:r>
              <a:rPr lang="en-US" dirty="0"/>
              <a:t>e.g., missing investments</a:t>
            </a: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56550A-52C6-9761-15D2-670377C56E29}"/>
              </a:ext>
            </a:extLst>
          </p:cNvPr>
          <p:cNvCxnSpPr>
            <a:cxnSpLocks/>
          </p:cNvCxnSpPr>
          <p:nvPr/>
        </p:nvCxnSpPr>
        <p:spPr>
          <a:xfrm flipH="1">
            <a:off x="4250724" y="4726459"/>
            <a:ext cx="64811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84FECE-701F-1849-816F-07080B2F9A1B}"/>
              </a:ext>
            </a:extLst>
          </p:cNvPr>
          <p:cNvSpPr txBox="1"/>
          <p:nvPr/>
        </p:nvSpPr>
        <p:spPr>
          <a:xfrm>
            <a:off x="10646792" y="4064677"/>
            <a:ext cx="15198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Other candidates for missing data (less important)</a:t>
            </a:r>
          </a:p>
        </p:txBody>
      </p:sp>
    </p:spTree>
    <p:extLst>
      <p:ext uri="{BB962C8B-B14F-4D97-AF65-F5344CB8AC3E}">
        <p14:creationId xmlns:p14="http://schemas.microsoft.com/office/powerpoint/2010/main" val="70404455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75217-0FBE-ECB3-9B3E-8C6A0B587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53" y="1226696"/>
            <a:ext cx="8716591" cy="50965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9CEEF1-8481-8A5D-4290-34D494E0A130}"/>
              </a:ext>
            </a:extLst>
          </p:cNvPr>
          <p:cNvSpPr/>
          <p:nvPr/>
        </p:nvSpPr>
        <p:spPr>
          <a:xfrm>
            <a:off x="8007179" y="1692877"/>
            <a:ext cx="2718965" cy="2075934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9CDF2-43A1-0061-05B7-61619BB80ED7}"/>
              </a:ext>
            </a:extLst>
          </p:cNvPr>
          <p:cNvSpPr txBox="1"/>
          <p:nvPr/>
        </p:nvSpPr>
        <p:spPr>
          <a:xfrm>
            <a:off x="317181" y="308049"/>
            <a:ext cx="2320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12985"/>
                </a:solidFill>
                <a:latin typeface="+mn-lt"/>
              </a:rPr>
              <a:t>Other red-flags in </a:t>
            </a:r>
            <a:r>
              <a:rPr lang="en-US" b="1" dirty="0" err="1">
                <a:solidFill>
                  <a:srgbClr val="412985"/>
                </a:solidFill>
                <a:latin typeface="+mn-lt"/>
              </a:rPr>
              <a:t>eVal</a:t>
            </a:r>
            <a:endParaRPr lang="en-US" b="1" dirty="0">
              <a:solidFill>
                <a:srgbClr val="412985"/>
              </a:solidFill>
              <a:latin typeface="+mn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6595B6-0010-EADC-0127-D29B7D7137F1}"/>
              </a:ext>
            </a:extLst>
          </p:cNvPr>
          <p:cNvCxnSpPr/>
          <p:nvPr/>
        </p:nvCxnSpPr>
        <p:spPr>
          <a:xfrm>
            <a:off x="2842054" y="457200"/>
            <a:ext cx="6011562" cy="1050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BFD40A-1955-61FF-DA3D-4510B63864EC}"/>
              </a:ext>
            </a:extLst>
          </p:cNvPr>
          <p:cNvCxnSpPr/>
          <p:nvPr/>
        </p:nvCxnSpPr>
        <p:spPr>
          <a:xfrm>
            <a:off x="1390135" y="759941"/>
            <a:ext cx="3595816" cy="5189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101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21743-DF73-032F-5A57-9DF34F0C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3582"/>
            <a:ext cx="12192000" cy="4710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3170F-831F-CFF6-7F35-28299CE19D02}"/>
              </a:ext>
            </a:extLst>
          </p:cNvPr>
          <p:cNvSpPr txBox="1"/>
          <p:nvPr/>
        </p:nvSpPr>
        <p:spPr>
          <a:xfrm>
            <a:off x="1030" y="272534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1365" lvl="1" indent="-571500"/>
            <a:r>
              <a:rPr lang="en-US" sz="1800" b="1" dirty="0">
                <a:solidFill>
                  <a:srgbClr val="412985"/>
                </a:solidFill>
              </a:rPr>
              <a:t>EDGAR Explorer API data Helper</a:t>
            </a:r>
          </a:p>
        </p:txBody>
      </p:sp>
    </p:spTree>
    <p:extLst>
      <p:ext uri="{BB962C8B-B14F-4D97-AF65-F5344CB8AC3E}">
        <p14:creationId xmlns:p14="http://schemas.microsoft.com/office/powerpoint/2010/main" val="401811202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91B9-46BD-78D8-6792-58EA97C9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Other helpers/extractions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C9ED7-8C4E-941D-2484-33C957B01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213153"/>
          </a:xfrm>
        </p:spPr>
        <p:txBody>
          <a:bodyPr/>
          <a:lstStyle/>
          <a:p>
            <a:r>
              <a:rPr lang="en-US" dirty="0"/>
              <a:t>Hints on extraction from the full filing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4105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4FEC9-2D12-6880-4A60-C787B2C8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423" y="0"/>
            <a:ext cx="10076577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75FEEE-3451-8307-062F-738411C9097B}"/>
              </a:ext>
            </a:extLst>
          </p:cNvPr>
          <p:cNvCxnSpPr/>
          <p:nvPr/>
        </p:nvCxnSpPr>
        <p:spPr>
          <a:xfrm>
            <a:off x="914400" y="2570205"/>
            <a:ext cx="1315995" cy="80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D9DD3157-AF82-3888-0E51-7D17DCF41D73}"/>
              </a:ext>
            </a:extLst>
          </p:cNvPr>
          <p:cNvSpPr/>
          <p:nvPr/>
        </p:nvSpPr>
        <p:spPr>
          <a:xfrm>
            <a:off x="1983259" y="4930346"/>
            <a:ext cx="265671" cy="73522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8A823-F5D5-1976-39D4-92DA8DDEAE7B}"/>
              </a:ext>
            </a:extLst>
          </p:cNvPr>
          <p:cNvSpPr txBox="1"/>
          <p:nvPr/>
        </p:nvSpPr>
        <p:spPr>
          <a:xfrm>
            <a:off x="156096" y="4897563"/>
            <a:ext cx="1893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Full disaggregate and mappings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B8466-2BC5-3D8F-C176-95F567D32E11}"/>
              </a:ext>
            </a:extLst>
          </p:cNvPr>
          <p:cNvSpPr txBox="1"/>
          <p:nvPr/>
        </p:nvSpPr>
        <p:spPr>
          <a:xfrm>
            <a:off x="447188" y="2196922"/>
            <a:ext cx="93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Full text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E3F09-1DC1-E412-CE01-6C05909F4EA8}"/>
              </a:ext>
            </a:extLst>
          </p:cNvPr>
          <p:cNvCxnSpPr/>
          <p:nvPr/>
        </p:nvCxnSpPr>
        <p:spPr>
          <a:xfrm>
            <a:off x="1572397" y="4300151"/>
            <a:ext cx="1146089" cy="123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F15A25-8ACE-D537-80AB-216E2A004B69}"/>
              </a:ext>
            </a:extLst>
          </p:cNvPr>
          <p:cNvSpPr txBox="1"/>
          <p:nvPr/>
        </p:nvSpPr>
        <p:spPr>
          <a:xfrm>
            <a:off x="97178" y="3914428"/>
            <a:ext cx="201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What we download</a:t>
            </a:r>
          </a:p>
        </p:txBody>
      </p:sp>
    </p:spTree>
    <p:extLst>
      <p:ext uri="{BB962C8B-B14F-4D97-AF65-F5344CB8AC3E}">
        <p14:creationId xmlns:p14="http://schemas.microsoft.com/office/powerpoint/2010/main" val="208058214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8E01A-5CD4-1101-BAA4-9E59290FC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993" y="0"/>
            <a:ext cx="8350007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1DAE2D-00B0-D96A-00EF-AF19C902F8EA}"/>
              </a:ext>
            </a:extLst>
          </p:cNvPr>
          <p:cNvCxnSpPr/>
          <p:nvPr/>
        </p:nvCxnSpPr>
        <p:spPr>
          <a:xfrm>
            <a:off x="2465173" y="3688492"/>
            <a:ext cx="957648" cy="895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9AEF86C5-E82B-4EDF-4599-B49C4183F431}"/>
              </a:ext>
            </a:extLst>
          </p:cNvPr>
          <p:cNvSpPr/>
          <p:nvPr/>
        </p:nvSpPr>
        <p:spPr>
          <a:xfrm>
            <a:off x="3626708" y="4466968"/>
            <a:ext cx="200179" cy="5004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A8A9E-80B3-1371-9B61-48C9349D9A41}"/>
              </a:ext>
            </a:extLst>
          </p:cNvPr>
          <p:cNvSpPr txBox="1"/>
          <p:nvPr/>
        </p:nvSpPr>
        <p:spPr>
          <a:xfrm>
            <a:off x="617838" y="3039763"/>
            <a:ext cx="2928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Parse using known tags:</a:t>
            </a:r>
          </a:p>
          <a:p>
            <a:r>
              <a:rPr lang="en-US" dirty="0"/>
              <a:t>Document, Description</a:t>
            </a:r>
            <a:r>
              <a:rPr lang="en-US"/>
              <a:t>, </a:t>
            </a:r>
            <a:r>
              <a:rPr lang="en-US" dirty="0"/>
              <a:t>S</a:t>
            </a:r>
            <a:r>
              <a:rPr lang="en-US"/>
              <a:t>equence </a:t>
            </a:r>
            <a:r>
              <a:rPr lang="en-US" dirty="0"/>
              <a:t>etc.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680756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695485"/>
            <a:ext cx="10894141" cy="102592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6270"/>
            <a:ext cx="12192000" cy="8130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3279000" y="468554"/>
            <a:ext cx="4198585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70"/>
            <a:r>
              <a:rPr lang="en-US" sz="5867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40573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Custom 1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Widescreen</PresentationFormat>
  <Paragraphs>101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Open Sans</vt:lpstr>
      <vt:lpstr>W Foster MBA Career Mgmt</vt:lpstr>
      <vt:lpstr>Advanced Analytics and Final Project Workshop</vt:lpstr>
      <vt:lpstr>Agenda</vt:lpstr>
      <vt:lpstr>Workshop classes</vt:lpstr>
      <vt:lpstr>Goals / benchmarking</vt:lpstr>
      <vt:lpstr>Checklist</vt:lpstr>
      <vt:lpstr>Checklist</vt:lpstr>
      <vt:lpstr>Final Project Templates</vt:lpstr>
      <vt:lpstr>PowerPoint Presentation</vt:lpstr>
      <vt:lpstr>Final Project Templates</vt:lpstr>
      <vt:lpstr>PowerPoint Presentation</vt:lpstr>
      <vt:lpstr>Final Project Templates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helpers/extractions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2021-10-06T16:26:57Z</dcterms:created>
  <dcterms:modified xsi:type="dcterms:W3CDTF">2025-11-24T18:26:21Z</dcterms:modified>
</cp:coreProperties>
</file>