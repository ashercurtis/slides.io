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1"/>
  </p:sldMasterIdLst>
  <p:notesMasterIdLst>
    <p:notesMasterId r:id="rId22"/>
  </p:notesMasterIdLst>
  <p:sldIdLst>
    <p:sldId id="947" r:id="rId2"/>
    <p:sldId id="948" r:id="rId3"/>
    <p:sldId id="953" r:id="rId4"/>
    <p:sldId id="961" r:id="rId5"/>
    <p:sldId id="753" r:id="rId6"/>
    <p:sldId id="754" r:id="rId7"/>
    <p:sldId id="755" r:id="rId8"/>
    <p:sldId id="760" r:id="rId9"/>
    <p:sldId id="756" r:id="rId10"/>
    <p:sldId id="757" r:id="rId11"/>
    <p:sldId id="960" r:id="rId12"/>
    <p:sldId id="962" r:id="rId13"/>
    <p:sldId id="966" r:id="rId14"/>
    <p:sldId id="967" r:id="rId15"/>
    <p:sldId id="968" r:id="rId16"/>
    <p:sldId id="963" r:id="rId17"/>
    <p:sldId id="964" r:id="rId18"/>
    <p:sldId id="965" r:id="rId19"/>
    <p:sldId id="897" r:id="rId20"/>
    <p:sldId id="893"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B2E84"/>
    <a:srgbClr val="715FA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04" autoAdjust="0"/>
    <p:restoredTop sz="94660"/>
  </p:normalViewPr>
  <p:slideViewPr>
    <p:cSldViewPr snapToGrid="0">
      <p:cViewPr varScale="1">
        <p:scale>
          <a:sx n="155" d="100"/>
          <a:sy n="155" d="100"/>
        </p:scale>
        <p:origin x="2682" y="138"/>
      </p:cViewPr>
      <p:guideLst/>
    </p:cSldViewPr>
  </p:slideViewPr>
  <p:notesTextViewPr>
    <p:cViewPr>
      <p:scale>
        <a:sx n="1" d="1"/>
        <a:sy n="1" d="1"/>
      </p:scale>
      <p:origin x="0" y="0"/>
    </p:cViewPr>
  </p:notesTextViewPr>
  <p:notesViewPr>
    <p:cSldViewPr snapToGrid="0">
      <p:cViewPr varScale="1">
        <p:scale>
          <a:sx n="87" d="100"/>
          <a:sy n="87" d="100"/>
        </p:scale>
        <p:origin x="2988" y="6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A3229F-290C-4F18-9BC2-F59739490F78}" type="datetimeFigureOut">
              <a:rPr lang="en-US" smtClean="0"/>
              <a:t>11/10/2025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84417D-1188-4C37-8002-C7B0954B3805}" type="slidenum">
              <a:rPr lang="en-US" smtClean="0"/>
              <a:t>‹#›</a:t>
            </a:fld>
            <a:endParaRPr lang="en-US"/>
          </a:p>
        </p:txBody>
      </p:sp>
    </p:spTree>
    <p:extLst>
      <p:ext uri="{BB962C8B-B14F-4D97-AF65-F5344CB8AC3E}">
        <p14:creationId xmlns:p14="http://schemas.microsoft.com/office/powerpoint/2010/main" val="6226812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84417D-1188-4C37-8002-C7B0954B3805}" type="slidenum">
              <a:rPr lang="en-US" smtClean="0"/>
              <a:t>1</a:t>
            </a:fld>
            <a:endParaRPr lang="en-US"/>
          </a:p>
        </p:txBody>
      </p:sp>
    </p:spTree>
    <p:extLst>
      <p:ext uri="{BB962C8B-B14F-4D97-AF65-F5344CB8AC3E}">
        <p14:creationId xmlns:p14="http://schemas.microsoft.com/office/powerpoint/2010/main" val="11637750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84417D-1188-4C37-8002-C7B0954B3805}" type="slidenum">
              <a:rPr lang="en-US" smtClean="0"/>
              <a:t>2</a:t>
            </a:fld>
            <a:endParaRPr lang="en-US"/>
          </a:p>
        </p:txBody>
      </p:sp>
    </p:spTree>
    <p:extLst>
      <p:ext uri="{BB962C8B-B14F-4D97-AF65-F5344CB8AC3E}">
        <p14:creationId xmlns:p14="http://schemas.microsoft.com/office/powerpoint/2010/main" val="36210521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45392-DC8B-2100-89CD-56AACB90B7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799FF6-CDBD-EFAB-45A1-2CE73CFCCF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E3A9F5-E8DE-25C0-8A18-90844893078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838731-ED04-DAAA-2B83-26F31AE125C4}"/>
              </a:ext>
            </a:extLst>
          </p:cNvPr>
          <p:cNvSpPr>
            <a:spLocks noGrp="1"/>
          </p:cNvSpPr>
          <p:nvPr>
            <p:ph type="sldNum" sz="quarter" idx="5"/>
          </p:nvPr>
        </p:nvSpPr>
        <p:spPr/>
        <p:txBody>
          <a:bodyPr/>
          <a:lstStyle/>
          <a:p>
            <a:fld id="{9E84417D-1188-4C37-8002-C7B0954B3805}" type="slidenum">
              <a:rPr lang="en-US" smtClean="0"/>
              <a:t>4</a:t>
            </a:fld>
            <a:endParaRPr lang="en-US"/>
          </a:p>
        </p:txBody>
      </p:sp>
    </p:spTree>
    <p:extLst>
      <p:ext uri="{BB962C8B-B14F-4D97-AF65-F5344CB8AC3E}">
        <p14:creationId xmlns:p14="http://schemas.microsoft.com/office/powerpoint/2010/main" val="17470974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737CC-FB79-6647-4E75-50F9A9DDF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E8AEB9-4AF4-36CE-9C34-AE5CED1306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715CE6-4A01-8386-F80F-F4F6C5ABE5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5057E7-0C27-28B4-9D0B-74AC458FB653}"/>
              </a:ext>
            </a:extLst>
          </p:cNvPr>
          <p:cNvSpPr>
            <a:spLocks noGrp="1"/>
          </p:cNvSpPr>
          <p:nvPr>
            <p:ph type="sldNum" sz="quarter" idx="5"/>
          </p:nvPr>
        </p:nvSpPr>
        <p:spPr/>
        <p:txBody>
          <a:bodyPr/>
          <a:lstStyle/>
          <a:p>
            <a:fld id="{9E84417D-1188-4C37-8002-C7B0954B3805}" type="slidenum">
              <a:rPr lang="en-US" smtClean="0"/>
              <a:t>12</a:t>
            </a:fld>
            <a:endParaRPr lang="en-US"/>
          </a:p>
        </p:txBody>
      </p:sp>
    </p:spTree>
    <p:extLst>
      <p:ext uri="{BB962C8B-B14F-4D97-AF65-F5344CB8AC3E}">
        <p14:creationId xmlns:p14="http://schemas.microsoft.com/office/powerpoint/2010/main" val="3105461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84417D-1188-4C37-8002-C7B0954B3805}" type="slidenum">
              <a:rPr lang="en-US" smtClean="0"/>
              <a:t>19</a:t>
            </a:fld>
            <a:endParaRPr lang="en-US"/>
          </a:p>
        </p:txBody>
      </p:sp>
    </p:spTree>
    <p:extLst>
      <p:ext uri="{BB962C8B-B14F-4D97-AF65-F5344CB8AC3E}">
        <p14:creationId xmlns:p14="http://schemas.microsoft.com/office/powerpoint/2010/main" val="34480251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84417D-1188-4C37-8002-C7B0954B3805}" type="slidenum">
              <a:rPr lang="en-US" smtClean="0"/>
              <a:t>20</a:t>
            </a:fld>
            <a:endParaRPr lang="en-US"/>
          </a:p>
        </p:txBody>
      </p:sp>
    </p:spTree>
    <p:extLst>
      <p:ext uri="{BB962C8B-B14F-4D97-AF65-F5344CB8AC3E}">
        <p14:creationId xmlns:p14="http://schemas.microsoft.com/office/powerpoint/2010/main" val="685817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White">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482602" y="4019110"/>
            <a:ext cx="7871689" cy="687432"/>
          </a:xfrm>
          <a:prstGeom prst="rect">
            <a:avLst/>
          </a:prstGeom>
        </p:spPr>
        <p:txBody>
          <a:bodyPr anchor="t" anchorCtr="0"/>
          <a:lstStyle>
            <a:lvl1pPr marL="0" indent="0" algn="l">
              <a:spcBef>
                <a:spcPts val="0"/>
              </a:spcBef>
              <a:spcAft>
                <a:spcPts val="400"/>
              </a:spcAft>
              <a:buNone/>
              <a:defRPr sz="3867" b="0">
                <a:solidFill>
                  <a:schemeClr val="tx2"/>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Click to edit name</a:t>
            </a:r>
          </a:p>
        </p:txBody>
      </p:sp>
      <p:sp>
        <p:nvSpPr>
          <p:cNvPr id="7" name="Title 1"/>
          <p:cNvSpPr>
            <a:spLocks noGrp="1"/>
          </p:cNvSpPr>
          <p:nvPr>
            <p:ph type="title" hasCustomPrompt="1"/>
          </p:nvPr>
        </p:nvSpPr>
        <p:spPr>
          <a:xfrm>
            <a:off x="482602" y="1978961"/>
            <a:ext cx="7871689" cy="1609928"/>
          </a:xfrm>
          <a:prstGeom prst="rect">
            <a:avLst/>
          </a:prstGeom>
        </p:spPr>
        <p:txBody>
          <a:bodyPr anchor="b" anchorCtr="0"/>
          <a:lstStyle>
            <a:lvl1pPr algn="l">
              <a:lnSpc>
                <a:spcPts val="6133"/>
              </a:lnSpc>
              <a:spcBef>
                <a:spcPts val="0"/>
              </a:spcBef>
              <a:defRPr sz="4400" b="0" cap="all" spc="-40" baseline="0">
                <a:solidFill>
                  <a:schemeClr val="tx2"/>
                </a:solidFill>
                <a:latin typeface="Arial Black" panose="020B0A04020102020204" pitchFamily="34" charset="0"/>
              </a:defRPr>
            </a:lvl1pPr>
          </a:lstStyle>
          <a:p>
            <a:r>
              <a:rPr lang="en-US" dirty="0"/>
              <a:t>Click to edit master title style</a:t>
            </a:r>
          </a:p>
        </p:txBody>
      </p:sp>
      <p:grpSp>
        <p:nvGrpSpPr>
          <p:cNvPr id="5" name="Group 4"/>
          <p:cNvGrpSpPr/>
          <p:nvPr userDrawn="1"/>
        </p:nvGrpSpPr>
        <p:grpSpPr>
          <a:xfrm>
            <a:off x="0" y="6551875"/>
            <a:ext cx="12192000" cy="306125"/>
            <a:chOff x="0" y="4913906"/>
            <a:chExt cx="9144000" cy="229594"/>
          </a:xfrm>
        </p:grpSpPr>
        <p:pic>
          <p:nvPicPr>
            <p:cNvPr id="19" name="Picture 350" descr="C:\Users\Sarah\Documents\_SSD_Business\Clients\AKA Design\1388_UW Foster PPT template\Art\RainAngle-purple_CESMAS.pn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4807"/>
            <a:stretch/>
          </p:blipFill>
          <p:spPr bwMode="auto">
            <a:xfrm>
              <a:off x="0" y="4913906"/>
              <a:ext cx="9144000" cy="229594"/>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350" descr="C:\Users\Sarah\Documents\_SSD_Business\Clients\AKA Design\1388_UW Foster PPT template\Art\RainAngle-purple_CESMAS.pn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4807"/>
            <a:stretch/>
          </p:blipFill>
          <p:spPr bwMode="auto">
            <a:xfrm>
              <a:off x="0" y="4913906"/>
              <a:ext cx="9144000" cy="229594"/>
            </a:xfrm>
            <a:prstGeom prst="rect">
              <a:avLst/>
            </a:prstGeom>
            <a:noFill/>
            <a:extLst>
              <a:ext uri="{909E8E84-426E-40DD-AFC4-6F175D3DCCD1}">
                <a14:hiddenFill xmlns:a14="http://schemas.microsoft.com/office/drawing/2010/main">
                  <a:solidFill>
                    <a:srgbClr val="FFFFFF"/>
                  </a:solidFill>
                </a14:hiddenFill>
              </a:ext>
            </a:extLst>
          </p:spPr>
        </p:pic>
      </p:grpSp>
      <p:sp>
        <p:nvSpPr>
          <p:cNvPr id="14" name="Freeform 8"/>
          <p:cNvSpPr>
            <a:spLocks/>
          </p:cNvSpPr>
          <p:nvPr userDrawn="1"/>
        </p:nvSpPr>
        <p:spPr bwMode="auto">
          <a:xfrm>
            <a:off x="0" y="3620243"/>
            <a:ext cx="6501384" cy="169333"/>
          </a:xfrm>
          <a:custGeom>
            <a:avLst/>
            <a:gdLst/>
            <a:ahLst/>
            <a:cxnLst/>
            <a:rect l="l" t="t" r="r" b="b"/>
            <a:pathLst>
              <a:path w="4876038" h="127000">
                <a:moveTo>
                  <a:pt x="0" y="0"/>
                </a:moveTo>
                <a:lnTo>
                  <a:pt x="1651376" y="0"/>
                </a:lnTo>
                <a:lnTo>
                  <a:pt x="3224662" y="0"/>
                </a:lnTo>
                <a:lnTo>
                  <a:pt x="4876038" y="0"/>
                </a:lnTo>
                <a:lnTo>
                  <a:pt x="4842701" y="127000"/>
                </a:lnTo>
                <a:lnTo>
                  <a:pt x="3191325" y="127000"/>
                </a:lnTo>
                <a:lnTo>
                  <a:pt x="1651376" y="127000"/>
                </a:lnTo>
                <a:lnTo>
                  <a:pt x="0" y="127000"/>
                </a:lnTo>
                <a:close/>
              </a:path>
            </a:pathLst>
          </a:cu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solidFill>
                <a:schemeClr val="lt1"/>
              </a:solidFill>
              <a:latin typeface="+mn-lt"/>
              <a:cs typeface="+mn-cs"/>
            </a:endParaRPr>
          </a:p>
        </p:txBody>
      </p:sp>
      <p:sp>
        <p:nvSpPr>
          <p:cNvPr id="2" name="Freeform 12">
            <a:extLst>
              <a:ext uri="{FF2B5EF4-FFF2-40B4-BE49-F238E27FC236}">
                <a16:creationId xmlns:a16="http://schemas.microsoft.com/office/drawing/2014/main" id="{5DB9B2FA-4418-4794-B0BC-0E6815046AA2}"/>
              </a:ext>
            </a:extLst>
          </p:cNvPr>
          <p:cNvSpPr>
            <a:spLocks/>
          </p:cNvSpPr>
          <p:nvPr userDrawn="1"/>
        </p:nvSpPr>
        <p:spPr bwMode="auto">
          <a:xfrm>
            <a:off x="1" y="381215"/>
            <a:ext cx="970889" cy="650631"/>
          </a:xfrm>
          <a:custGeom>
            <a:avLst/>
            <a:gdLst>
              <a:gd name="T0" fmla="*/ 88 w 3456"/>
              <a:gd name="T1" fmla="*/ 0 h 2317"/>
              <a:gd name="T2" fmla="*/ 462 w 3456"/>
              <a:gd name="T3" fmla="*/ 0 h 2317"/>
              <a:gd name="T4" fmla="*/ 1159 w 3456"/>
              <a:gd name="T5" fmla="*/ 0 h 2317"/>
              <a:gd name="T6" fmla="*/ 1231 w 3456"/>
              <a:gd name="T7" fmla="*/ 419 h 2317"/>
              <a:gd name="T8" fmla="*/ 953 w 3456"/>
              <a:gd name="T9" fmla="*/ 419 h 2317"/>
              <a:gd name="T10" fmla="*/ 1239 w 3456"/>
              <a:gd name="T11" fmla="*/ 1591 h 2317"/>
              <a:gd name="T12" fmla="*/ 1298 w 3456"/>
              <a:gd name="T13" fmla="*/ 1374 h 2317"/>
              <a:gd name="T14" fmla="*/ 1387 w 3456"/>
              <a:gd name="T15" fmla="*/ 1044 h 2317"/>
              <a:gd name="T16" fmla="*/ 1487 w 3456"/>
              <a:gd name="T17" fmla="*/ 673 h 2317"/>
              <a:gd name="T18" fmla="*/ 1580 w 3456"/>
              <a:gd name="T19" fmla="*/ 328 h 2317"/>
              <a:gd name="T20" fmla="*/ 1646 w 3456"/>
              <a:gd name="T21" fmla="*/ 81 h 2317"/>
              <a:gd name="T22" fmla="*/ 1763 w 3456"/>
              <a:gd name="T23" fmla="*/ 0 h 2317"/>
              <a:gd name="T24" fmla="*/ 2093 w 3456"/>
              <a:gd name="T25" fmla="*/ 0 h 2317"/>
              <a:gd name="T26" fmla="*/ 2122 w 3456"/>
              <a:gd name="T27" fmla="*/ 113 h 2317"/>
              <a:gd name="T28" fmla="*/ 2189 w 3456"/>
              <a:gd name="T29" fmla="*/ 380 h 2317"/>
              <a:gd name="T30" fmla="*/ 2277 w 3456"/>
              <a:gd name="T31" fmla="*/ 734 h 2317"/>
              <a:gd name="T32" fmla="*/ 2369 w 3456"/>
              <a:gd name="T33" fmla="*/ 1105 h 2317"/>
              <a:gd name="T34" fmla="*/ 2447 w 3456"/>
              <a:gd name="T35" fmla="*/ 1420 h 2317"/>
              <a:gd name="T36" fmla="*/ 2496 w 3456"/>
              <a:gd name="T37" fmla="*/ 1611 h 2317"/>
              <a:gd name="T38" fmla="*/ 2634 w 3456"/>
              <a:gd name="T39" fmla="*/ 419 h 2317"/>
              <a:gd name="T40" fmla="*/ 2536 w 3456"/>
              <a:gd name="T41" fmla="*/ 281 h 2317"/>
              <a:gd name="T42" fmla="*/ 2536 w 3456"/>
              <a:gd name="T43" fmla="*/ 0 h 2317"/>
              <a:gd name="T44" fmla="*/ 3215 w 3456"/>
              <a:gd name="T45" fmla="*/ 419 h 2317"/>
              <a:gd name="T46" fmla="*/ 3178 w 3456"/>
              <a:gd name="T47" fmla="*/ 446 h 2317"/>
              <a:gd name="T48" fmla="*/ 3127 w 3456"/>
              <a:gd name="T49" fmla="*/ 640 h 2317"/>
              <a:gd name="T50" fmla="*/ 3041 w 3456"/>
              <a:gd name="T51" fmla="*/ 967 h 2317"/>
              <a:gd name="T52" fmla="*/ 2938 w 3456"/>
              <a:gd name="T53" fmla="*/ 1360 h 2317"/>
              <a:gd name="T54" fmla="*/ 2833 w 3456"/>
              <a:gd name="T55" fmla="*/ 1754 h 2317"/>
              <a:gd name="T56" fmla="*/ 2746 w 3456"/>
              <a:gd name="T57" fmla="*/ 2084 h 2317"/>
              <a:gd name="T58" fmla="*/ 2693 w 3456"/>
              <a:gd name="T59" fmla="*/ 2286 h 2317"/>
              <a:gd name="T60" fmla="*/ 2525 w 3456"/>
              <a:gd name="T61" fmla="*/ 2317 h 2317"/>
              <a:gd name="T62" fmla="*/ 2242 w 3456"/>
              <a:gd name="T63" fmla="*/ 2317 h 2317"/>
              <a:gd name="T64" fmla="*/ 2020 w 3456"/>
              <a:gd name="T65" fmla="*/ 2301 h 2317"/>
              <a:gd name="T66" fmla="*/ 1977 w 3456"/>
              <a:gd name="T67" fmla="*/ 2131 h 2317"/>
              <a:gd name="T68" fmla="*/ 1906 w 3456"/>
              <a:gd name="T69" fmla="*/ 1845 h 2317"/>
              <a:gd name="T70" fmla="*/ 1825 w 3456"/>
              <a:gd name="T71" fmla="*/ 1527 h 2317"/>
              <a:gd name="T72" fmla="*/ 1758 w 3456"/>
              <a:gd name="T73" fmla="*/ 1258 h 2317"/>
              <a:gd name="T74" fmla="*/ 1725 w 3456"/>
              <a:gd name="T75" fmla="*/ 1126 h 2317"/>
              <a:gd name="T76" fmla="*/ 1705 w 3456"/>
              <a:gd name="T77" fmla="*/ 1195 h 2317"/>
              <a:gd name="T78" fmla="*/ 1644 w 3456"/>
              <a:gd name="T79" fmla="*/ 1428 h 2317"/>
              <a:gd name="T80" fmla="*/ 1561 w 3456"/>
              <a:gd name="T81" fmla="*/ 1739 h 2317"/>
              <a:gd name="T82" fmla="*/ 1481 w 3456"/>
              <a:gd name="T83" fmla="*/ 2045 h 2317"/>
              <a:gd name="T84" fmla="*/ 1423 w 3456"/>
              <a:gd name="T85" fmla="*/ 2263 h 2317"/>
              <a:gd name="T86" fmla="*/ 1272 w 3456"/>
              <a:gd name="T87" fmla="*/ 2317 h 2317"/>
              <a:gd name="T88" fmla="*/ 1012 w 3456"/>
              <a:gd name="T89" fmla="*/ 2317 h 2317"/>
              <a:gd name="T90" fmla="*/ 748 w 3456"/>
              <a:gd name="T91" fmla="*/ 2313 h 2317"/>
              <a:gd name="T92" fmla="*/ 711 w 3456"/>
              <a:gd name="T93" fmla="*/ 2169 h 2317"/>
              <a:gd name="T94" fmla="*/ 638 w 3456"/>
              <a:gd name="T95" fmla="*/ 1874 h 2317"/>
              <a:gd name="T96" fmla="*/ 542 w 3456"/>
              <a:gd name="T97" fmla="*/ 1494 h 2317"/>
              <a:gd name="T98" fmla="*/ 442 w 3456"/>
              <a:gd name="T99" fmla="*/ 1093 h 2317"/>
              <a:gd name="T100" fmla="*/ 353 w 3456"/>
              <a:gd name="T101" fmla="*/ 738 h 2317"/>
              <a:gd name="T102" fmla="*/ 291 w 3456"/>
              <a:gd name="T103" fmla="*/ 492 h 2317"/>
              <a:gd name="T104" fmla="*/ 118 w 3456"/>
              <a:gd name="T105" fmla="*/ 419 h 2317"/>
              <a:gd name="T106" fmla="*/ 0 w 3456"/>
              <a:gd name="T107" fmla="*/ 419 h 2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456" h="2317">
                <a:moveTo>
                  <a:pt x="0" y="0"/>
                </a:moveTo>
                <a:lnTo>
                  <a:pt x="15" y="0"/>
                </a:lnTo>
                <a:lnTo>
                  <a:pt x="22" y="0"/>
                </a:lnTo>
                <a:lnTo>
                  <a:pt x="43" y="0"/>
                </a:lnTo>
                <a:lnTo>
                  <a:pt x="71" y="0"/>
                </a:lnTo>
                <a:lnTo>
                  <a:pt x="88" y="0"/>
                </a:lnTo>
                <a:lnTo>
                  <a:pt x="189" y="0"/>
                </a:lnTo>
                <a:lnTo>
                  <a:pt x="237" y="0"/>
                </a:lnTo>
                <a:lnTo>
                  <a:pt x="289" y="0"/>
                </a:lnTo>
                <a:lnTo>
                  <a:pt x="345" y="0"/>
                </a:lnTo>
                <a:lnTo>
                  <a:pt x="402" y="0"/>
                </a:lnTo>
                <a:lnTo>
                  <a:pt x="462" y="0"/>
                </a:lnTo>
                <a:lnTo>
                  <a:pt x="941" y="0"/>
                </a:lnTo>
                <a:lnTo>
                  <a:pt x="993" y="0"/>
                </a:lnTo>
                <a:lnTo>
                  <a:pt x="1042" y="0"/>
                </a:lnTo>
                <a:lnTo>
                  <a:pt x="1106" y="0"/>
                </a:lnTo>
                <a:lnTo>
                  <a:pt x="1125" y="0"/>
                </a:lnTo>
                <a:lnTo>
                  <a:pt x="1159" y="0"/>
                </a:lnTo>
                <a:lnTo>
                  <a:pt x="1188" y="0"/>
                </a:lnTo>
                <a:lnTo>
                  <a:pt x="1231" y="0"/>
                </a:lnTo>
                <a:lnTo>
                  <a:pt x="1231" y="372"/>
                </a:lnTo>
                <a:lnTo>
                  <a:pt x="1231" y="394"/>
                </a:lnTo>
                <a:lnTo>
                  <a:pt x="1231" y="410"/>
                </a:lnTo>
                <a:lnTo>
                  <a:pt x="1231" y="419"/>
                </a:lnTo>
                <a:lnTo>
                  <a:pt x="1082" y="419"/>
                </a:lnTo>
                <a:lnTo>
                  <a:pt x="1053" y="419"/>
                </a:lnTo>
                <a:lnTo>
                  <a:pt x="1024" y="419"/>
                </a:lnTo>
                <a:lnTo>
                  <a:pt x="997" y="419"/>
                </a:lnTo>
                <a:lnTo>
                  <a:pt x="973" y="419"/>
                </a:lnTo>
                <a:lnTo>
                  <a:pt x="953" y="419"/>
                </a:lnTo>
                <a:lnTo>
                  <a:pt x="924" y="419"/>
                </a:lnTo>
                <a:lnTo>
                  <a:pt x="1226" y="1638"/>
                </a:lnTo>
                <a:lnTo>
                  <a:pt x="1227" y="1635"/>
                </a:lnTo>
                <a:lnTo>
                  <a:pt x="1229" y="1627"/>
                </a:lnTo>
                <a:lnTo>
                  <a:pt x="1234" y="1611"/>
                </a:lnTo>
                <a:lnTo>
                  <a:pt x="1239" y="1591"/>
                </a:lnTo>
                <a:lnTo>
                  <a:pt x="1246" y="1566"/>
                </a:lnTo>
                <a:lnTo>
                  <a:pt x="1255" y="1536"/>
                </a:lnTo>
                <a:lnTo>
                  <a:pt x="1264" y="1502"/>
                </a:lnTo>
                <a:lnTo>
                  <a:pt x="1275" y="1463"/>
                </a:lnTo>
                <a:lnTo>
                  <a:pt x="1286" y="1420"/>
                </a:lnTo>
                <a:lnTo>
                  <a:pt x="1298" y="1374"/>
                </a:lnTo>
                <a:lnTo>
                  <a:pt x="1311" y="1325"/>
                </a:lnTo>
                <a:lnTo>
                  <a:pt x="1325" y="1273"/>
                </a:lnTo>
                <a:lnTo>
                  <a:pt x="1339" y="1219"/>
                </a:lnTo>
                <a:lnTo>
                  <a:pt x="1355" y="1162"/>
                </a:lnTo>
                <a:lnTo>
                  <a:pt x="1371" y="1104"/>
                </a:lnTo>
                <a:lnTo>
                  <a:pt x="1387" y="1044"/>
                </a:lnTo>
                <a:lnTo>
                  <a:pt x="1403" y="984"/>
                </a:lnTo>
                <a:lnTo>
                  <a:pt x="1420" y="922"/>
                </a:lnTo>
                <a:lnTo>
                  <a:pt x="1437" y="860"/>
                </a:lnTo>
                <a:lnTo>
                  <a:pt x="1454" y="797"/>
                </a:lnTo>
                <a:lnTo>
                  <a:pt x="1470" y="734"/>
                </a:lnTo>
                <a:lnTo>
                  <a:pt x="1487" y="673"/>
                </a:lnTo>
                <a:lnTo>
                  <a:pt x="1504" y="611"/>
                </a:lnTo>
                <a:lnTo>
                  <a:pt x="1520" y="551"/>
                </a:lnTo>
                <a:lnTo>
                  <a:pt x="1535" y="492"/>
                </a:lnTo>
                <a:lnTo>
                  <a:pt x="1551" y="436"/>
                </a:lnTo>
                <a:lnTo>
                  <a:pt x="1566" y="380"/>
                </a:lnTo>
                <a:lnTo>
                  <a:pt x="1580" y="328"/>
                </a:lnTo>
                <a:lnTo>
                  <a:pt x="1593" y="278"/>
                </a:lnTo>
                <a:lnTo>
                  <a:pt x="1605" y="231"/>
                </a:lnTo>
                <a:lnTo>
                  <a:pt x="1618" y="188"/>
                </a:lnTo>
                <a:lnTo>
                  <a:pt x="1629" y="149"/>
                </a:lnTo>
                <a:lnTo>
                  <a:pt x="1638" y="112"/>
                </a:lnTo>
                <a:lnTo>
                  <a:pt x="1646" y="81"/>
                </a:lnTo>
                <a:lnTo>
                  <a:pt x="1654" y="55"/>
                </a:lnTo>
                <a:lnTo>
                  <a:pt x="1660" y="33"/>
                </a:lnTo>
                <a:lnTo>
                  <a:pt x="1664" y="16"/>
                </a:lnTo>
                <a:lnTo>
                  <a:pt x="1667" y="6"/>
                </a:lnTo>
                <a:lnTo>
                  <a:pt x="1668" y="0"/>
                </a:lnTo>
                <a:lnTo>
                  <a:pt x="1763" y="0"/>
                </a:lnTo>
                <a:lnTo>
                  <a:pt x="1794" y="0"/>
                </a:lnTo>
                <a:lnTo>
                  <a:pt x="1811" y="0"/>
                </a:lnTo>
                <a:lnTo>
                  <a:pt x="1968" y="0"/>
                </a:lnTo>
                <a:lnTo>
                  <a:pt x="1999" y="0"/>
                </a:lnTo>
                <a:lnTo>
                  <a:pt x="2028" y="0"/>
                </a:lnTo>
                <a:lnTo>
                  <a:pt x="2093" y="0"/>
                </a:lnTo>
                <a:lnTo>
                  <a:pt x="2095" y="6"/>
                </a:lnTo>
                <a:lnTo>
                  <a:pt x="2098" y="16"/>
                </a:lnTo>
                <a:lnTo>
                  <a:pt x="2102" y="33"/>
                </a:lnTo>
                <a:lnTo>
                  <a:pt x="2107" y="55"/>
                </a:lnTo>
                <a:lnTo>
                  <a:pt x="2113" y="81"/>
                </a:lnTo>
                <a:lnTo>
                  <a:pt x="2122" y="113"/>
                </a:lnTo>
                <a:lnTo>
                  <a:pt x="2130" y="149"/>
                </a:lnTo>
                <a:lnTo>
                  <a:pt x="2141" y="188"/>
                </a:lnTo>
                <a:lnTo>
                  <a:pt x="2151" y="231"/>
                </a:lnTo>
                <a:lnTo>
                  <a:pt x="2163" y="278"/>
                </a:lnTo>
                <a:lnTo>
                  <a:pt x="2175" y="328"/>
                </a:lnTo>
                <a:lnTo>
                  <a:pt x="2189" y="380"/>
                </a:lnTo>
                <a:lnTo>
                  <a:pt x="2202" y="436"/>
                </a:lnTo>
                <a:lnTo>
                  <a:pt x="2216" y="492"/>
                </a:lnTo>
                <a:lnTo>
                  <a:pt x="2231" y="552"/>
                </a:lnTo>
                <a:lnTo>
                  <a:pt x="2246" y="611"/>
                </a:lnTo>
                <a:lnTo>
                  <a:pt x="2261" y="673"/>
                </a:lnTo>
                <a:lnTo>
                  <a:pt x="2277" y="734"/>
                </a:lnTo>
                <a:lnTo>
                  <a:pt x="2292" y="797"/>
                </a:lnTo>
                <a:lnTo>
                  <a:pt x="2308" y="860"/>
                </a:lnTo>
                <a:lnTo>
                  <a:pt x="2323" y="922"/>
                </a:lnTo>
                <a:lnTo>
                  <a:pt x="2339" y="984"/>
                </a:lnTo>
                <a:lnTo>
                  <a:pt x="2354" y="1044"/>
                </a:lnTo>
                <a:lnTo>
                  <a:pt x="2369" y="1105"/>
                </a:lnTo>
                <a:lnTo>
                  <a:pt x="2384" y="1162"/>
                </a:lnTo>
                <a:lnTo>
                  <a:pt x="2397" y="1219"/>
                </a:lnTo>
                <a:lnTo>
                  <a:pt x="2411" y="1273"/>
                </a:lnTo>
                <a:lnTo>
                  <a:pt x="2423" y="1325"/>
                </a:lnTo>
                <a:lnTo>
                  <a:pt x="2436" y="1374"/>
                </a:lnTo>
                <a:lnTo>
                  <a:pt x="2447" y="1420"/>
                </a:lnTo>
                <a:lnTo>
                  <a:pt x="2458" y="1463"/>
                </a:lnTo>
                <a:lnTo>
                  <a:pt x="2467" y="1502"/>
                </a:lnTo>
                <a:lnTo>
                  <a:pt x="2477" y="1536"/>
                </a:lnTo>
                <a:lnTo>
                  <a:pt x="2484" y="1565"/>
                </a:lnTo>
                <a:lnTo>
                  <a:pt x="2490" y="1591"/>
                </a:lnTo>
                <a:lnTo>
                  <a:pt x="2496" y="1611"/>
                </a:lnTo>
                <a:lnTo>
                  <a:pt x="2499" y="1627"/>
                </a:lnTo>
                <a:lnTo>
                  <a:pt x="2501" y="1635"/>
                </a:lnTo>
                <a:lnTo>
                  <a:pt x="2502" y="1638"/>
                </a:lnTo>
                <a:lnTo>
                  <a:pt x="2831" y="419"/>
                </a:lnTo>
                <a:lnTo>
                  <a:pt x="2663" y="419"/>
                </a:lnTo>
                <a:lnTo>
                  <a:pt x="2634" y="419"/>
                </a:lnTo>
                <a:lnTo>
                  <a:pt x="2607" y="419"/>
                </a:lnTo>
                <a:lnTo>
                  <a:pt x="2582" y="419"/>
                </a:lnTo>
                <a:lnTo>
                  <a:pt x="2562" y="419"/>
                </a:lnTo>
                <a:lnTo>
                  <a:pt x="2546" y="419"/>
                </a:lnTo>
                <a:lnTo>
                  <a:pt x="2536" y="419"/>
                </a:lnTo>
                <a:lnTo>
                  <a:pt x="2536" y="281"/>
                </a:lnTo>
                <a:lnTo>
                  <a:pt x="2536" y="246"/>
                </a:lnTo>
                <a:lnTo>
                  <a:pt x="2536" y="209"/>
                </a:lnTo>
                <a:lnTo>
                  <a:pt x="2536" y="47"/>
                </a:lnTo>
                <a:lnTo>
                  <a:pt x="2536" y="26"/>
                </a:lnTo>
                <a:lnTo>
                  <a:pt x="2536" y="10"/>
                </a:lnTo>
                <a:lnTo>
                  <a:pt x="2536" y="0"/>
                </a:lnTo>
                <a:lnTo>
                  <a:pt x="3456" y="0"/>
                </a:lnTo>
                <a:lnTo>
                  <a:pt x="3456" y="419"/>
                </a:lnTo>
                <a:lnTo>
                  <a:pt x="3283" y="419"/>
                </a:lnTo>
                <a:lnTo>
                  <a:pt x="3258" y="419"/>
                </a:lnTo>
                <a:lnTo>
                  <a:pt x="3234" y="419"/>
                </a:lnTo>
                <a:lnTo>
                  <a:pt x="3215" y="419"/>
                </a:lnTo>
                <a:lnTo>
                  <a:pt x="3199" y="419"/>
                </a:lnTo>
                <a:lnTo>
                  <a:pt x="3189" y="419"/>
                </a:lnTo>
                <a:lnTo>
                  <a:pt x="3186" y="419"/>
                </a:lnTo>
                <a:lnTo>
                  <a:pt x="3185" y="422"/>
                </a:lnTo>
                <a:lnTo>
                  <a:pt x="3183" y="431"/>
                </a:lnTo>
                <a:lnTo>
                  <a:pt x="3178" y="446"/>
                </a:lnTo>
                <a:lnTo>
                  <a:pt x="3173" y="466"/>
                </a:lnTo>
                <a:lnTo>
                  <a:pt x="3166" y="492"/>
                </a:lnTo>
                <a:lnTo>
                  <a:pt x="3159" y="522"/>
                </a:lnTo>
                <a:lnTo>
                  <a:pt x="3149" y="558"/>
                </a:lnTo>
                <a:lnTo>
                  <a:pt x="3139" y="597"/>
                </a:lnTo>
                <a:lnTo>
                  <a:pt x="3127" y="640"/>
                </a:lnTo>
                <a:lnTo>
                  <a:pt x="3115" y="687"/>
                </a:lnTo>
                <a:lnTo>
                  <a:pt x="3101" y="738"/>
                </a:lnTo>
                <a:lnTo>
                  <a:pt x="3087" y="791"/>
                </a:lnTo>
                <a:lnTo>
                  <a:pt x="3073" y="847"/>
                </a:lnTo>
                <a:lnTo>
                  <a:pt x="3057" y="906"/>
                </a:lnTo>
                <a:lnTo>
                  <a:pt x="3041" y="967"/>
                </a:lnTo>
                <a:lnTo>
                  <a:pt x="3025" y="1029"/>
                </a:lnTo>
                <a:lnTo>
                  <a:pt x="3008" y="1093"/>
                </a:lnTo>
                <a:lnTo>
                  <a:pt x="2990" y="1159"/>
                </a:lnTo>
                <a:lnTo>
                  <a:pt x="2973" y="1225"/>
                </a:lnTo>
                <a:lnTo>
                  <a:pt x="2955" y="1292"/>
                </a:lnTo>
                <a:lnTo>
                  <a:pt x="2938" y="1360"/>
                </a:lnTo>
                <a:lnTo>
                  <a:pt x="2920" y="1427"/>
                </a:lnTo>
                <a:lnTo>
                  <a:pt x="2902" y="1494"/>
                </a:lnTo>
                <a:lnTo>
                  <a:pt x="2884" y="1560"/>
                </a:lnTo>
                <a:lnTo>
                  <a:pt x="2867" y="1626"/>
                </a:lnTo>
                <a:lnTo>
                  <a:pt x="2850" y="1691"/>
                </a:lnTo>
                <a:lnTo>
                  <a:pt x="2833" y="1754"/>
                </a:lnTo>
                <a:lnTo>
                  <a:pt x="2817" y="1815"/>
                </a:lnTo>
                <a:lnTo>
                  <a:pt x="2801" y="1874"/>
                </a:lnTo>
                <a:lnTo>
                  <a:pt x="2787" y="1931"/>
                </a:lnTo>
                <a:lnTo>
                  <a:pt x="2772" y="1985"/>
                </a:lnTo>
                <a:lnTo>
                  <a:pt x="2759" y="2036"/>
                </a:lnTo>
                <a:lnTo>
                  <a:pt x="2746" y="2084"/>
                </a:lnTo>
                <a:lnTo>
                  <a:pt x="2734" y="2128"/>
                </a:lnTo>
                <a:lnTo>
                  <a:pt x="2724" y="2169"/>
                </a:lnTo>
                <a:lnTo>
                  <a:pt x="2715" y="2205"/>
                </a:lnTo>
                <a:lnTo>
                  <a:pt x="2706" y="2237"/>
                </a:lnTo>
                <a:lnTo>
                  <a:pt x="2699" y="2264"/>
                </a:lnTo>
                <a:lnTo>
                  <a:pt x="2693" y="2286"/>
                </a:lnTo>
                <a:lnTo>
                  <a:pt x="2688" y="2302"/>
                </a:lnTo>
                <a:lnTo>
                  <a:pt x="2686" y="2313"/>
                </a:lnTo>
                <a:lnTo>
                  <a:pt x="2684" y="2317"/>
                </a:lnTo>
                <a:lnTo>
                  <a:pt x="2584" y="2317"/>
                </a:lnTo>
                <a:lnTo>
                  <a:pt x="2548" y="2317"/>
                </a:lnTo>
                <a:lnTo>
                  <a:pt x="2525" y="2317"/>
                </a:lnTo>
                <a:lnTo>
                  <a:pt x="2490" y="2317"/>
                </a:lnTo>
                <a:lnTo>
                  <a:pt x="2466" y="2317"/>
                </a:lnTo>
                <a:lnTo>
                  <a:pt x="2422" y="2317"/>
                </a:lnTo>
                <a:lnTo>
                  <a:pt x="2312" y="2317"/>
                </a:lnTo>
                <a:lnTo>
                  <a:pt x="2286" y="2317"/>
                </a:lnTo>
                <a:lnTo>
                  <a:pt x="2242" y="2317"/>
                </a:lnTo>
                <a:lnTo>
                  <a:pt x="2058" y="2317"/>
                </a:lnTo>
                <a:lnTo>
                  <a:pt x="2045" y="2317"/>
                </a:lnTo>
                <a:lnTo>
                  <a:pt x="2032" y="2317"/>
                </a:lnTo>
                <a:lnTo>
                  <a:pt x="2024" y="2317"/>
                </a:lnTo>
                <a:lnTo>
                  <a:pt x="2023" y="2312"/>
                </a:lnTo>
                <a:lnTo>
                  <a:pt x="2020" y="2301"/>
                </a:lnTo>
                <a:lnTo>
                  <a:pt x="2016" y="2285"/>
                </a:lnTo>
                <a:lnTo>
                  <a:pt x="2011" y="2263"/>
                </a:lnTo>
                <a:lnTo>
                  <a:pt x="2003" y="2236"/>
                </a:lnTo>
                <a:lnTo>
                  <a:pt x="1996" y="2205"/>
                </a:lnTo>
                <a:lnTo>
                  <a:pt x="1988" y="2170"/>
                </a:lnTo>
                <a:lnTo>
                  <a:pt x="1977" y="2131"/>
                </a:lnTo>
                <a:lnTo>
                  <a:pt x="1967" y="2089"/>
                </a:lnTo>
                <a:lnTo>
                  <a:pt x="1956" y="2045"/>
                </a:lnTo>
                <a:lnTo>
                  <a:pt x="1944" y="1998"/>
                </a:lnTo>
                <a:lnTo>
                  <a:pt x="1931" y="1948"/>
                </a:lnTo>
                <a:lnTo>
                  <a:pt x="1919" y="1897"/>
                </a:lnTo>
                <a:lnTo>
                  <a:pt x="1906" y="1845"/>
                </a:lnTo>
                <a:lnTo>
                  <a:pt x="1892" y="1792"/>
                </a:lnTo>
                <a:lnTo>
                  <a:pt x="1879" y="1739"/>
                </a:lnTo>
                <a:lnTo>
                  <a:pt x="1865" y="1684"/>
                </a:lnTo>
                <a:lnTo>
                  <a:pt x="1852" y="1631"/>
                </a:lnTo>
                <a:lnTo>
                  <a:pt x="1839" y="1578"/>
                </a:lnTo>
                <a:lnTo>
                  <a:pt x="1825" y="1527"/>
                </a:lnTo>
                <a:lnTo>
                  <a:pt x="1813" y="1476"/>
                </a:lnTo>
                <a:lnTo>
                  <a:pt x="1801" y="1428"/>
                </a:lnTo>
                <a:lnTo>
                  <a:pt x="1790" y="1381"/>
                </a:lnTo>
                <a:lnTo>
                  <a:pt x="1778" y="1337"/>
                </a:lnTo>
                <a:lnTo>
                  <a:pt x="1768" y="1296"/>
                </a:lnTo>
                <a:lnTo>
                  <a:pt x="1758" y="1258"/>
                </a:lnTo>
                <a:lnTo>
                  <a:pt x="1750" y="1225"/>
                </a:lnTo>
                <a:lnTo>
                  <a:pt x="1743" y="1195"/>
                </a:lnTo>
                <a:lnTo>
                  <a:pt x="1736" y="1170"/>
                </a:lnTo>
                <a:lnTo>
                  <a:pt x="1731" y="1150"/>
                </a:lnTo>
                <a:lnTo>
                  <a:pt x="1727" y="1135"/>
                </a:lnTo>
                <a:lnTo>
                  <a:pt x="1725" y="1126"/>
                </a:lnTo>
                <a:lnTo>
                  <a:pt x="1725" y="1123"/>
                </a:lnTo>
                <a:lnTo>
                  <a:pt x="1724" y="1126"/>
                </a:lnTo>
                <a:lnTo>
                  <a:pt x="1722" y="1135"/>
                </a:lnTo>
                <a:lnTo>
                  <a:pt x="1718" y="1150"/>
                </a:lnTo>
                <a:lnTo>
                  <a:pt x="1712" y="1170"/>
                </a:lnTo>
                <a:lnTo>
                  <a:pt x="1705" y="1195"/>
                </a:lnTo>
                <a:lnTo>
                  <a:pt x="1698" y="1225"/>
                </a:lnTo>
                <a:lnTo>
                  <a:pt x="1688" y="1258"/>
                </a:lnTo>
                <a:lnTo>
                  <a:pt x="1679" y="1296"/>
                </a:lnTo>
                <a:lnTo>
                  <a:pt x="1668" y="1337"/>
                </a:lnTo>
                <a:lnTo>
                  <a:pt x="1657" y="1381"/>
                </a:lnTo>
                <a:lnTo>
                  <a:pt x="1644" y="1428"/>
                </a:lnTo>
                <a:lnTo>
                  <a:pt x="1632" y="1476"/>
                </a:lnTo>
                <a:lnTo>
                  <a:pt x="1618" y="1527"/>
                </a:lnTo>
                <a:lnTo>
                  <a:pt x="1604" y="1578"/>
                </a:lnTo>
                <a:lnTo>
                  <a:pt x="1591" y="1631"/>
                </a:lnTo>
                <a:lnTo>
                  <a:pt x="1576" y="1684"/>
                </a:lnTo>
                <a:lnTo>
                  <a:pt x="1561" y="1739"/>
                </a:lnTo>
                <a:lnTo>
                  <a:pt x="1548" y="1792"/>
                </a:lnTo>
                <a:lnTo>
                  <a:pt x="1534" y="1845"/>
                </a:lnTo>
                <a:lnTo>
                  <a:pt x="1520" y="1897"/>
                </a:lnTo>
                <a:lnTo>
                  <a:pt x="1507" y="1948"/>
                </a:lnTo>
                <a:lnTo>
                  <a:pt x="1493" y="1998"/>
                </a:lnTo>
                <a:lnTo>
                  <a:pt x="1481" y="2045"/>
                </a:lnTo>
                <a:lnTo>
                  <a:pt x="1469" y="2089"/>
                </a:lnTo>
                <a:lnTo>
                  <a:pt x="1458" y="2131"/>
                </a:lnTo>
                <a:lnTo>
                  <a:pt x="1448" y="2170"/>
                </a:lnTo>
                <a:lnTo>
                  <a:pt x="1439" y="2205"/>
                </a:lnTo>
                <a:lnTo>
                  <a:pt x="1431" y="2236"/>
                </a:lnTo>
                <a:lnTo>
                  <a:pt x="1423" y="2263"/>
                </a:lnTo>
                <a:lnTo>
                  <a:pt x="1418" y="2285"/>
                </a:lnTo>
                <a:lnTo>
                  <a:pt x="1414" y="2301"/>
                </a:lnTo>
                <a:lnTo>
                  <a:pt x="1411" y="2312"/>
                </a:lnTo>
                <a:lnTo>
                  <a:pt x="1410" y="2317"/>
                </a:lnTo>
                <a:lnTo>
                  <a:pt x="1308" y="2317"/>
                </a:lnTo>
                <a:lnTo>
                  <a:pt x="1272" y="2317"/>
                </a:lnTo>
                <a:lnTo>
                  <a:pt x="1250" y="2317"/>
                </a:lnTo>
                <a:lnTo>
                  <a:pt x="1215" y="2317"/>
                </a:lnTo>
                <a:lnTo>
                  <a:pt x="1191" y="2317"/>
                </a:lnTo>
                <a:lnTo>
                  <a:pt x="1147" y="2317"/>
                </a:lnTo>
                <a:lnTo>
                  <a:pt x="1037" y="2317"/>
                </a:lnTo>
                <a:lnTo>
                  <a:pt x="1012" y="2317"/>
                </a:lnTo>
                <a:lnTo>
                  <a:pt x="968" y="2317"/>
                </a:lnTo>
                <a:lnTo>
                  <a:pt x="782" y="2317"/>
                </a:lnTo>
                <a:lnTo>
                  <a:pt x="771" y="2317"/>
                </a:lnTo>
                <a:lnTo>
                  <a:pt x="756" y="2317"/>
                </a:lnTo>
                <a:lnTo>
                  <a:pt x="749" y="2317"/>
                </a:lnTo>
                <a:lnTo>
                  <a:pt x="748" y="2313"/>
                </a:lnTo>
                <a:lnTo>
                  <a:pt x="745" y="2301"/>
                </a:lnTo>
                <a:lnTo>
                  <a:pt x="740" y="2286"/>
                </a:lnTo>
                <a:lnTo>
                  <a:pt x="735" y="2264"/>
                </a:lnTo>
                <a:lnTo>
                  <a:pt x="729" y="2237"/>
                </a:lnTo>
                <a:lnTo>
                  <a:pt x="721" y="2205"/>
                </a:lnTo>
                <a:lnTo>
                  <a:pt x="711" y="2169"/>
                </a:lnTo>
                <a:lnTo>
                  <a:pt x="702" y="2128"/>
                </a:lnTo>
                <a:lnTo>
                  <a:pt x="690" y="2084"/>
                </a:lnTo>
                <a:lnTo>
                  <a:pt x="679" y="2036"/>
                </a:lnTo>
                <a:lnTo>
                  <a:pt x="665" y="1985"/>
                </a:lnTo>
                <a:lnTo>
                  <a:pt x="651" y="1931"/>
                </a:lnTo>
                <a:lnTo>
                  <a:pt x="638" y="1874"/>
                </a:lnTo>
                <a:lnTo>
                  <a:pt x="623" y="1815"/>
                </a:lnTo>
                <a:lnTo>
                  <a:pt x="607" y="1753"/>
                </a:lnTo>
                <a:lnTo>
                  <a:pt x="592" y="1691"/>
                </a:lnTo>
                <a:lnTo>
                  <a:pt x="576" y="1626"/>
                </a:lnTo>
                <a:lnTo>
                  <a:pt x="559" y="1560"/>
                </a:lnTo>
                <a:lnTo>
                  <a:pt x="542" y="1494"/>
                </a:lnTo>
                <a:lnTo>
                  <a:pt x="526" y="1427"/>
                </a:lnTo>
                <a:lnTo>
                  <a:pt x="509" y="1360"/>
                </a:lnTo>
                <a:lnTo>
                  <a:pt x="492" y="1292"/>
                </a:lnTo>
                <a:lnTo>
                  <a:pt x="474" y="1225"/>
                </a:lnTo>
                <a:lnTo>
                  <a:pt x="459" y="1159"/>
                </a:lnTo>
                <a:lnTo>
                  <a:pt x="442" y="1093"/>
                </a:lnTo>
                <a:lnTo>
                  <a:pt x="426" y="1029"/>
                </a:lnTo>
                <a:lnTo>
                  <a:pt x="411" y="966"/>
                </a:lnTo>
                <a:lnTo>
                  <a:pt x="395" y="906"/>
                </a:lnTo>
                <a:lnTo>
                  <a:pt x="380" y="847"/>
                </a:lnTo>
                <a:lnTo>
                  <a:pt x="367" y="791"/>
                </a:lnTo>
                <a:lnTo>
                  <a:pt x="353" y="738"/>
                </a:lnTo>
                <a:lnTo>
                  <a:pt x="340" y="687"/>
                </a:lnTo>
                <a:lnTo>
                  <a:pt x="328" y="640"/>
                </a:lnTo>
                <a:lnTo>
                  <a:pt x="317" y="597"/>
                </a:lnTo>
                <a:lnTo>
                  <a:pt x="308" y="558"/>
                </a:lnTo>
                <a:lnTo>
                  <a:pt x="298" y="522"/>
                </a:lnTo>
                <a:lnTo>
                  <a:pt x="291" y="492"/>
                </a:lnTo>
                <a:lnTo>
                  <a:pt x="285" y="466"/>
                </a:lnTo>
                <a:lnTo>
                  <a:pt x="280" y="446"/>
                </a:lnTo>
                <a:lnTo>
                  <a:pt x="275" y="431"/>
                </a:lnTo>
                <a:lnTo>
                  <a:pt x="273" y="422"/>
                </a:lnTo>
                <a:lnTo>
                  <a:pt x="272" y="419"/>
                </a:lnTo>
                <a:lnTo>
                  <a:pt x="118" y="419"/>
                </a:lnTo>
                <a:lnTo>
                  <a:pt x="91" y="419"/>
                </a:lnTo>
                <a:lnTo>
                  <a:pt x="66" y="419"/>
                </a:lnTo>
                <a:lnTo>
                  <a:pt x="43" y="419"/>
                </a:lnTo>
                <a:lnTo>
                  <a:pt x="24" y="419"/>
                </a:lnTo>
                <a:lnTo>
                  <a:pt x="9" y="419"/>
                </a:lnTo>
                <a:lnTo>
                  <a:pt x="0" y="419"/>
                </a:lnTo>
                <a:lnTo>
                  <a:pt x="0" y="0"/>
                </a:lnTo>
                <a:close/>
              </a:path>
            </a:pathLst>
          </a:custGeom>
          <a:solidFill>
            <a:schemeClr val="tx2"/>
          </a:solidFill>
          <a:ln w="0">
            <a:noFill/>
            <a:prstDash val="solid"/>
            <a:round/>
            <a:headEnd/>
            <a:tailEnd/>
          </a:ln>
        </p:spPr>
        <p:txBody>
          <a:bodyPr vert="horz" wrap="square" lIns="121920" tIns="60960" rIns="121920" bIns="60960" numCol="1" anchor="t" anchorCtr="0" compatLnSpc="1">
            <a:prstTxWarp prst="textNoShape">
              <a:avLst/>
            </a:prstTxWarp>
          </a:bodyPr>
          <a:lstStyle/>
          <a:p>
            <a:endParaRPr lang="en-US" sz="2400"/>
          </a:p>
        </p:txBody>
      </p:sp>
      <p:pic>
        <p:nvPicPr>
          <p:cNvPr id="4" name="Picture 3">
            <a:extLst>
              <a:ext uri="{FF2B5EF4-FFF2-40B4-BE49-F238E27FC236}">
                <a16:creationId xmlns:a16="http://schemas.microsoft.com/office/drawing/2014/main" id="{968C02FC-EED9-489D-B8A1-ECFBA2B3D86A}"/>
              </a:ext>
            </a:extLst>
          </p:cNvPr>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40548" y="321539"/>
            <a:ext cx="2084429" cy="796131"/>
          </a:xfrm>
          <a:prstGeom prst="rect">
            <a:avLst/>
          </a:prstGeom>
          <a:noFill/>
          <a:ln>
            <a:noFill/>
          </a:ln>
        </p:spPr>
      </p:pic>
      <p:pic>
        <p:nvPicPr>
          <p:cNvPr id="6" name="Picture 5">
            <a:extLst>
              <a:ext uri="{FF2B5EF4-FFF2-40B4-BE49-F238E27FC236}">
                <a16:creationId xmlns:a16="http://schemas.microsoft.com/office/drawing/2014/main" id="{D16D1FDA-CCAE-4272-99EE-EE0E4A60BE97}"/>
              </a:ext>
            </a:extLst>
          </p:cNvPr>
          <p:cNvPicPr>
            <a:picLocks noChangeAspect="1"/>
          </p:cNvPicPr>
          <p:nvPr userDrawn="1"/>
        </p:nvPicPr>
        <p:blipFill rotWithShape="1">
          <a:blip r:embed="rId4">
            <a:clrChange>
              <a:clrFrom>
                <a:srgbClr val="FFFFFF"/>
              </a:clrFrom>
              <a:clrTo>
                <a:srgbClr val="FFFFFF">
                  <a:alpha val="0"/>
                </a:srgbClr>
              </a:clrTo>
            </a:clrChange>
          </a:blip>
          <a:srcRect t="3759" b="8545"/>
          <a:stretch/>
        </p:blipFill>
        <p:spPr>
          <a:xfrm>
            <a:off x="8068147" y="0"/>
            <a:ext cx="4123852" cy="6543769"/>
          </a:xfrm>
          <a:prstGeom prst="rect">
            <a:avLst/>
          </a:prstGeom>
        </p:spPr>
      </p:pic>
    </p:spTree>
    <p:extLst>
      <p:ext uri="{BB962C8B-B14F-4D97-AF65-F5344CB8AC3E}">
        <p14:creationId xmlns:p14="http://schemas.microsoft.com/office/powerpoint/2010/main" val="2052760197"/>
      </p:ext>
    </p:extLst>
  </p:cSld>
  <p:clrMapOvr>
    <a:masterClrMapping/>
  </p:clrMapOvr>
  <p:transition>
    <p:fade/>
  </p:transition>
  <p:extLst>
    <p:ext uri="{DCECCB84-F9BA-43D5-87BE-67443E8EF086}">
      <p15:sldGuideLst xmlns:p15="http://schemas.microsoft.com/office/powerpoint/2012/main">
        <p15:guide id="1" pos="2880">
          <p15:clr>
            <a:srgbClr val="FBAE40"/>
          </p15:clr>
        </p15:guide>
        <p15:guide id="2" pos="5568">
          <p15:clr>
            <a:srgbClr val="FBAE40"/>
          </p15:clr>
        </p15:guide>
        <p15:guide id="3" pos="32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Section header_purple">
    <p:bg>
      <p:bgPr>
        <a:solidFill>
          <a:schemeClr val="tx2"/>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482602" y="4046918"/>
            <a:ext cx="10350500" cy="677108"/>
          </a:xfrm>
          <a:prstGeom prst="rect">
            <a:avLst/>
          </a:prstGeom>
        </p:spPr>
        <p:txBody>
          <a:bodyPr anchor="t" anchorCtr="0"/>
          <a:lstStyle>
            <a:lvl1pPr marL="0" indent="0" algn="l">
              <a:spcBef>
                <a:spcPts val="0"/>
              </a:spcBef>
              <a:spcAft>
                <a:spcPts val="400"/>
              </a:spcAft>
              <a:buNone/>
              <a:defRPr sz="3800" b="0">
                <a:solidFill>
                  <a:schemeClr val="bg2"/>
                </a:solidFill>
                <a:latin typeface="+mj-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Click to edit name</a:t>
            </a:r>
          </a:p>
        </p:txBody>
      </p:sp>
      <p:sp>
        <p:nvSpPr>
          <p:cNvPr id="7" name="Title 1"/>
          <p:cNvSpPr>
            <a:spLocks noGrp="1"/>
          </p:cNvSpPr>
          <p:nvPr>
            <p:ph type="title" hasCustomPrompt="1"/>
          </p:nvPr>
        </p:nvSpPr>
        <p:spPr>
          <a:xfrm>
            <a:off x="482602" y="2091146"/>
            <a:ext cx="10325100" cy="1491007"/>
          </a:xfrm>
          <a:prstGeom prst="rect">
            <a:avLst/>
          </a:prstGeom>
        </p:spPr>
        <p:txBody>
          <a:bodyPr anchor="t" anchorCtr="0"/>
          <a:lstStyle>
            <a:lvl1pPr algn="l">
              <a:lnSpc>
                <a:spcPts val="5333"/>
              </a:lnSpc>
              <a:spcBef>
                <a:spcPts val="0"/>
              </a:spcBef>
              <a:defRPr sz="5067" b="0" cap="all" spc="-40" baseline="0">
                <a:solidFill>
                  <a:schemeClr val="bg2"/>
                </a:solidFill>
                <a:latin typeface="Arial Black" panose="020B0A04020102020204" pitchFamily="34" charset="0"/>
              </a:defRPr>
            </a:lvl1pPr>
          </a:lstStyle>
          <a:p>
            <a:r>
              <a:rPr lang="en-US" dirty="0"/>
              <a:t>This Click to edit master title style</a:t>
            </a:r>
          </a:p>
        </p:txBody>
      </p:sp>
      <p:sp>
        <p:nvSpPr>
          <p:cNvPr id="11" name="Freeform 8"/>
          <p:cNvSpPr>
            <a:spLocks/>
          </p:cNvSpPr>
          <p:nvPr userDrawn="1"/>
        </p:nvSpPr>
        <p:spPr bwMode="auto">
          <a:xfrm>
            <a:off x="-3821" y="3620243"/>
            <a:ext cx="3413760" cy="169333"/>
          </a:xfrm>
          <a:custGeom>
            <a:avLst/>
            <a:gdLst/>
            <a:ahLst/>
            <a:cxnLst/>
            <a:rect l="l" t="t" r="r" b="b"/>
            <a:pathLst>
              <a:path w="3224662" h="127000">
                <a:moveTo>
                  <a:pt x="0" y="0"/>
                </a:moveTo>
                <a:lnTo>
                  <a:pt x="3224662" y="0"/>
                </a:lnTo>
                <a:lnTo>
                  <a:pt x="3191325" y="127000"/>
                </a:lnTo>
                <a:lnTo>
                  <a:pt x="0" y="127000"/>
                </a:lnTo>
                <a:close/>
              </a:path>
            </a:pathLst>
          </a:cu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solidFill>
                <a:schemeClr val="lt1"/>
              </a:solidFill>
              <a:latin typeface="+mn-lt"/>
              <a:cs typeface="+mn-cs"/>
            </a:endParaRPr>
          </a:p>
        </p:txBody>
      </p:sp>
      <p:pic>
        <p:nvPicPr>
          <p:cNvPr id="12" name="Picture 11"/>
          <p:cNvPicPr>
            <a:picLocks noChangeAspect="1"/>
          </p:cNvPicPr>
          <p:nvPr userDrawn="1"/>
        </p:nvPicPr>
        <p:blipFill>
          <a:blip r:embed="rId2"/>
          <a:stretch>
            <a:fillRect/>
          </a:stretch>
        </p:blipFill>
        <p:spPr>
          <a:xfrm>
            <a:off x="9353006" y="5905649"/>
            <a:ext cx="2560319" cy="731520"/>
          </a:xfrm>
          <a:prstGeom prst="rect">
            <a:avLst/>
          </a:prstGeom>
        </p:spPr>
      </p:pic>
    </p:spTree>
    <p:extLst>
      <p:ext uri="{BB962C8B-B14F-4D97-AF65-F5344CB8AC3E}">
        <p14:creationId xmlns:p14="http://schemas.microsoft.com/office/powerpoint/2010/main" val="2310140074"/>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354233"/>
            <a:ext cx="11187404" cy="1339726"/>
          </a:xfrm>
          <a:prstGeom prst="rect">
            <a:avLst/>
          </a:prstGeom>
          <a:solidFill>
            <a:srgbClr val="4B2E84">
              <a:alpha val="75000"/>
            </a:srgbClr>
          </a:solidFill>
        </p:spPr>
        <p:txBody>
          <a:bodyPr vert="horz" wrap="square" lIns="91440" tIns="45720" rIns="91440" bIns="45720" rtlCol="0" anchor="t" anchorCtr="0">
            <a:spAutoFit/>
          </a:bodyPr>
          <a:lstStyle>
            <a:lvl1pPr marL="457200">
              <a:lnSpc>
                <a:spcPct val="200000"/>
              </a:lnSpc>
              <a:spcBef>
                <a:spcPts val="1200"/>
              </a:spcBef>
              <a:spcAft>
                <a:spcPts val="1200"/>
              </a:spcAft>
              <a:defRPr lang="en-US" sz="4800" dirty="0">
                <a:solidFill>
                  <a:schemeClr val="bg1"/>
                </a:solidFill>
              </a:defRPr>
            </a:lvl1pPr>
          </a:lstStyle>
          <a:p>
            <a:pPr lvl="0"/>
            <a:r>
              <a:rPr lang="en-US" dirty="0"/>
              <a:t>Click to edit Master title style</a:t>
            </a:r>
          </a:p>
        </p:txBody>
      </p:sp>
      <p:sp>
        <p:nvSpPr>
          <p:cNvPr id="3" name="Content Placeholder 2"/>
          <p:cNvSpPr>
            <a:spLocks noGrp="1"/>
          </p:cNvSpPr>
          <p:nvPr>
            <p:ph idx="1"/>
          </p:nvPr>
        </p:nvSpPr>
        <p:spPr>
          <a:xfrm>
            <a:off x="370632" y="2061289"/>
            <a:ext cx="10994053" cy="1957011"/>
          </a:xfrm>
          <a:prstGeom prst="rect">
            <a:avLst/>
          </a:prstGeom>
        </p:spPr>
        <p:txBody>
          <a:bodyPr vert="horz" wrap="square" lIns="137160" tIns="45720" rIns="91440" bIns="45720" rtlCol="0">
            <a:spAutoFit/>
          </a:bodyPr>
          <a:lstStyle>
            <a:lvl1pPr>
              <a:defRPr lang="en-US" sz="3600" dirty="0" smtClean="0">
                <a:solidFill>
                  <a:schemeClr val="tx1">
                    <a:lumMod val="65000"/>
                    <a:lumOff val="35000"/>
                  </a:schemeClr>
                </a:solidFill>
                <a:latin typeface="+mj-lt"/>
              </a:defRPr>
            </a:lvl1pPr>
            <a:lvl2pPr>
              <a:defRPr lang="en-US" dirty="0" smtClean="0">
                <a:solidFill>
                  <a:schemeClr val="tx1">
                    <a:lumMod val="65000"/>
                    <a:lumOff val="35000"/>
                  </a:schemeClr>
                </a:solidFill>
                <a:latin typeface="+mj-lt"/>
              </a:defRPr>
            </a:lvl2pPr>
            <a:lvl3pPr>
              <a:defRPr lang="en-US" dirty="0" smtClean="0">
                <a:solidFill>
                  <a:schemeClr val="tx1">
                    <a:lumMod val="65000"/>
                    <a:lumOff val="35000"/>
                  </a:schemeClr>
                </a:solidFill>
                <a:latin typeface="+mj-lt"/>
              </a:defRPr>
            </a:lvl3pPr>
            <a:lvl4pPr>
              <a:defRPr lang="en-US" dirty="0">
                <a:solidFill>
                  <a:schemeClr val="tx1">
                    <a:lumMod val="65000"/>
                    <a:lumOff val="35000"/>
                  </a:schemeClr>
                </a:solidFill>
                <a:latin typeface="+mj-lt"/>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836059518"/>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Bullet">
    <p:spTree>
      <p:nvGrpSpPr>
        <p:cNvPr id="1" name=""/>
        <p:cNvGrpSpPr/>
        <p:nvPr/>
      </p:nvGrpSpPr>
      <p:grpSpPr>
        <a:xfrm>
          <a:off x="0" y="0"/>
          <a:ext cx="0" cy="0"/>
          <a:chOff x="0" y="0"/>
          <a:chExt cx="0" cy="0"/>
        </a:xfrm>
      </p:grpSpPr>
      <p:sp>
        <p:nvSpPr>
          <p:cNvPr id="2" name="Title 1"/>
          <p:cNvSpPr>
            <a:spLocks noGrp="1"/>
          </p:cNvSpPr>
          <p:nvPr>
            <p:ph type="title"/>
          </p:nvPr>
        </p:nvSpPr>
        <p:spPr>
          <a:xfrm>
            <a:off x="482600" y="443794"/>
            <a:ext cx="11074400" cy="1025921"/>
          </a:xfrm>
          <a:prstGeom prst="rect">
            <a:avLst/>
          </a:prstGeom>
        </p:spPr>
        <p:txBody>
          <a:bodyPr vert="horz" wrap="square" lIns="91440" tIns="45720" rIns="91440" bIns="45720" rtlCol="0" anchor="t" anchorCtr="0">
            <a:spAutoFit/>
          </a:bodyPr>
          <a:lstStyle>
            <a:lvl1pPr>
              <a:defRPr lang="en-US" sz="5867" dirty="0"/>
            </a:lvl1pPr>
          </a:lstStyle>
          <a:p>
            <a:pPr lvl="0"/>
            <a:r>
              <a:rPr lang="en-US" dirty="0"/>
              <a:t>Click to edit Master title style</a:t>
            </a:r>
          </a:p>
        </p:txBody>
      </p:sp>
      <p:sp>
        <p:nvSpPr>
          <p:cNvPr id="3" name="Content Placeholder 2"/>
          <p:cNvSpPr>
            <a:spLocks noGrp="1"/>
          </p:cNvSpPr>
          <p:nvPr>
            <p:ph idx="1"/>
          </p:nvPr>
        </p:nvSpPr>
        <p:spPr>
          <a:xfrm>
            <a:off x="482600" y="1333501"/>
            <a:ext cx="10972800" cy="2103140"/>
          </a:xfrm>
          <a:prstGeom prst="rect">
            <a:avLst/>
          </a:prstGeom>
        </p:spPr>
        <p:txBody>
          <a:bodyPr vert="horz" wrap="square" lIns="137160" tIns="45720" rIns="91440" bIns="45720" rtlCol="0">
            <a:spAutoFit/>
          </a:bodyPr>
          <a:lstStyle>
            <a:lvl1pPr marL="459306" indent="-459306">
              <a:buFont typeface="Arial" panose="020B0604020202020204" pitchFamily="34" charset="0"/>
              <a:buChar char="•"/>
              <a:defRPr lang="en-US" sz="4267" dirty="0" smtClean="0"/>
            </a:lvl1pPr>
            <a:lvl2pPr>
              <a:defRPr lang="en-US" dirty="0" smtClean="0"/>
            </a:lvl2pPr>
            <a:lvl3pPr>
              <a:defRPr lang="en-US" dirty="0" smtClean="0"/>
            </a:lvl3pPr>
            <a:lvl4pPr>
              <a:defRPr lang="en-US" dirty="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Slide Number Placeholder 6"/>
          <p:cNvSpPr>
            <a:spLocks noGrp="1"/>
          </p:cNvSpPr>
          <p:nvPr>
            <p:ph type="sldNum" sz="quarter" idx="4"/>
          </p:nvPr>
        </p:nvSpPr>
        <p:spPr>
          <a:xfrm>
            <a:off x="482601" y="6366984"/>
            <a:ext cx="680484" cy="365125"/>
          </a:xfrm>
          <a:prstGeom prst="rect">
            <a:avLst/>
          </a:prstGeom>
        </p:spPr>
        <p:txBody>
          <a:bodyPr vert="horz" lIns="91440" tIns="45720" rIns="91440" bIns="45720" rtlCol="0" anchor="ctr"/>
          <a:lstStyle>
            <a:lvl1pPr>
              <a:defRPr lang="en-US" smtClean="0"/>
            </a:lvl1pPr>
          </a:lstStyle>
          <a:p>
            <a:fld id="{D82AC86B-39BA-4CB3-92E4-E7DC2740F1BF}" type="slidenum">
              <a:rPr lang="en-US" smtClean="0"/>
              <a:pPr/>
              <a:t>‹#›</a:t>
            </a:fld>
            <a:endParaRPr lang="en-US" dirty="0"/>
          </a:p>
        </p:txBody>
      </p:sp>
    </p:spTree>
    <p:extLst>
      <p:ext uri="{BB962C8B-B14F-4D97-AF65-F5344CB8AC3E}">
        <p14:creationId xmlns:p14="http://schemas.microsoft.com/office/powerpoint/2010/main" val="2370513632"/>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with Logo">
    <p:spTree>
      <p:nvGrpSpPr>
        <p:cNvPr id="1" name=""/>
        <p:cNvGrpSpPr/>
        <p:nvPr/>
      </p:nvGrpSpPr>
      <p:grpSpPr>
        <a:xfrm>
          <a:off x="0" y="0"/>
          <a:ext cx="0" cy="0"/>
          <a:chOff x="0" y="0"/>
          <a:chExt cx="0" cy="0"/>
        </a:xfrm>
      </p:grpSpPr>
      <p:sp>
        <p:nvSpPr>
          <p:cNvPr id="2" name="Slide Number Placeholder 6"/>
          <p:cNvSpPr>
            <a:spLocks noGrp="1"/>
          </p:cNvSpPr>
          <p:nvPr>
            <p:ph type="sldNum" sz="quarter" idx="4"/>
          </p:nvPr>
        </p:nvSpPr>
        <p:spPr>
          <a:xfrm>
            <a:off x="482601" y="6366984"/>
            <a:ext cx="680484" cy="365125"/>
          </a:xfrm>
          <a:prstGeom prst="rect">
            <a:avLst/>
          </a:prstGeom>
        </p:spPr>
        <p:txBody>
          <a:bodyPr vert="horz" lIns="91440" tIns="45720" rIns="91440" bIns="45720" rtlCol="0" anchor="ctr"/>
          <a:lstStyle>
            <a:lvl1pPr>
              <a:defRPr lang="en-US" smtClean="0"/>
            </a:lvl1pPr>
          </a:lstStyle>
          <a:p>
            <a:fld id="{D82AC86B-39BA-4CB3-92E4-E7DC2740F1BF}" type="slidenum">
              <a:rPr lang="en-US" smtClean="0"/>
              <a:pPr/>
              <a:t>‹#›</a:t>
            </a:fld>
            <a:endParaRPr lang="en-US" dirty="0"/>
          </a:p>
        </p:txBody>
      </p:sp>
    </p:spTree>
    <p:extLst>
      <p:ext uri="{BB962C8B-B14F-4D97-AF65-F5344CB8AC3E}">
        <p14:creationId xmlns:p14="http://schemas.microsoft.com/office/powerpoint/2010/main" val="79282536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3688479"/>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hank You_purple">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8928" y="2695484"/>
            <a:ext cx="10894141" cy="1928733"/>
          </a:xfrm>
        </p:spPr>
        <p:txBody>
          <a:bodyPr/>
          <a:lstStyle>
            <a:lvl1pPr algn="ctr">
              <a:defRPr sz="5867" b="0" baseline="0">
                <a:solidFill>
                  <a:schemeClr val="bg2"/>
                </a:solidFill>
                <a:latin typeface="Arial Black" panose="020B0A04020102020204" pitchFamily="34" charset="0"/>
              </a:defRPr>
            </a:lvl1pPr>
          </a:lstStyle>
          <a:p>
            <a:r>
              <a:rPr lang="en-US" dirty="0"/>
              <a:t>Click to edit Master title style</a:t>
            </a:r>
          </a:p>
        </p:txBody>
      </p:sp>
      <p:pic>
        <p:nvPicPr>
          <p:cNvPr id="9" name="Picture 8"/>
          <p:cNvPicPr>
            <a:picLocks noChangeAspect="1"/>
          </p:cNvPicPr>
          <p:nvPr userDrawn="1"/>
        </p:nvPicPr>
        <p:blipFill>
          <a:blip r:embed="rId2"/>
          <a:stretch>
            <a:fillRect/>
          </a:stretch>
        </p:blipFill>
        <p:spPr>
          <a:xfrm>
            <a:off x="9413966" y="5966609"/>
            <a:ext cx="2560317" cy="731520"/>
          </a:xfrm>
          <a:prstGeom prst="rect">
            <a:avLst/>
          </a:prstGeom>
        </p:spPr>
      </p:pic>
    </p:spTree>
    <p:extLst>
      <p:ext uri="{BB962C8B-B14F-4D97-AF65-F5344CB8AC3E}">
        <p14:creationId xmlns:p14="http://schemas.microsoft.com/office/powerpoint/2010/main" val="4268380437"/>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itle Placeholder 2"/>
          <p:cNvSpPr>
            <a:spLocks noGrp="1"/>
          </p:cNvSpPr>
          <p:nvPr>
            <p:ph type="title"/>
          </p:nvPr>
        </p:nvSpPr>
        <p:spPr>
          <a:xfrm>
            <a:off x="482600" y="449891"/>
            <a:ext cx="10894141" cy="748988"/>
          </a:xfrm>
          <a:prstGeom prst="rect">
            <a:avLst/>
          </a:prstGeom>
        </p:spPr>
        <p:txBody>
          <a:bodyPr vert="horz" wrap="square" lIns="91440" tIns="45720" rIns="91440" bIns="45720" rtlCol="0" anchor="t" anchorCtr="0">
            <a:spAutoFit/>
          </a:bodyPr>
          <a:lstStyle/>
          <a:p>
            <a:r>
              <a:rPr lang="en-US" dirty="0"/>
              <a:t>Click to edit Master title style</a:t>
            </a:r>
          </a:p>
        </p:txBody>
      </p:sp>
      <p:sp>
        <p:nvSpPr>
          <p:cNvPr id="6" name="Text Placeholder 5"/>
          <p:cNvSpPr>
            <a:spLocks noGrp="1"/>
          </p:cNvSpPr>
          <p:nvPr>
            <p:ph type="body" idx="1"/>
          </p:nvPr>
        </p:nvSpPr>
        <p:spPr>
          <a:xfrm>
            <a:off x="482600" y="1337859"/>
            <a:ext cx="10894141" cy="2325423"/>
          </a:xfrm>
          <a:prstGeom prst="rect">
            <a:avLst/>
          </a:prstGeom>
        </p:spPr>
        <p:txBody>
          <a:bodyPr vert="horz" wrap="square" lIns="137160" tIns="45720" rIns="91440" bIns="4572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4"/>
          </p:nvPr>
        </p:nvSpPr>
        <p:spPr>
          <a:xfrm>
            <a:off x="482601" y="6366984"/>
            <a:ext cx="680484" cy="365125"/>
          </a:xfrm>
          <a:prstGeom prst="rect">
            <a:avLst/>
          </a:prstGeom>
        </p:spPr>
        <p:txBody>
          <a:bodyPr vert="horz" lIns="91440" tIns="45720" rIns="91440" bIns="45720" rtlCol="0" anchor="ctr"/>
          <a:lstStyle>
            <a:lvl1pPr algn="l">
              <a:defRPr sz="1200">
                <a:solidFill>
                  <a:schemeClr val="tx1"/>
                </a:solidFill>
                <a:latin typeface="Calibri" panose="020F0502020204030204" pitchFamily="34" charset="0"/>
                <a:ea typeface="Open Sans" panose="020B0606030504020204" pitchFamily="34" charset="0"/>
                <a:cs typeface="Open Sans" panose="020B0606030504020204" pitchFamily="34" charset="0"/>
              </a:defRPr>
            </a:lvl1pPr>
          </a:lstStyle>
          <a:p>
            <a:fld id="{D82AC86B-39BA-4CB3-92E4-E7DC2740F1BF}" type="slidenum">
              <a:rPr lang="en-US" smtClean="0"/>
              <a:pPr/>
              <a:t>‹#›</a:t>
            </a:fld>
            <a:endParaRPr lang="en-US" dirty="0"/>
          </a:p>
        </p:txBody>
      </p:sp>
      <p:pic>
        <p:nvPicPr>
          <p:cNvPr id="15" name="Picture 14"/>
          <p:cNvPicPr>
            <a:picLocks noChangeAspect="1"/>
          </p:cNvPicPr>
          <p:nvPr userDrawn="1"/>
        </p:nvPicPr>
        <p:blipFill>
          <a:blip r:embed="rId9"/>
          <a:stretch>
            <a:fillRect/>
          </a:stretch>
        </p:blipFill>
        <p:spPr>
          <a:xfrm>
            <a:off x="9970863" y="6133789"/>
            <a:ext cx="1920239" cy="548640"/>
          </a:xfrm>
          <a:prstGeom prst="rect">
            <a:avLst/>
          </a:prstGeom>
        </p:spPr>
      </p:pic>
    </p:spTree>
    <p:extLst>
      <p:ext uri="{BB962C8B-B14F-4D97-AF65-F5344CB8AC3E}">
        <p14:creationId xmlns:p14="http://schemas.microsoft.com/office/powerpoint/2010/main" val="36466633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transition>
    <p:fade/>
  </p:transition>
  <p:hf hdr="0" ftr="0" dt="0"/>
  <p:txStyles>
    <p:titleStyle>
      <a:lvl1pPr algn="l" defTabSz="609585" rtl="0" fontAlgn="base">
        <a:spcBef>
          <a:spcPct val="0"/>
        </a:spcBef>
        <a:spcAft>
          <a:spcPct val="0"/>
        </a:spcAft>
        <a:defRPr sz="4267" b="1" kern="1200">
          <a:solidFill>
            <a:schemeClr val="tx2"/>
          </a:solidFill>
          <a:latin typeface="+mj-lt"/>
          <a:ea typeface="+mj-ea"/>
          <a:cs typeface="Arial" panose="020B0604020202020204" pitchFamily="34" charset="0"/>
        </a:defRPr>
      </a:lvl1pPr>
      <a:lvl2pPr algn="ctr" defTabSz="609585" rtl="0" fontAlgn="base">
        <a:spcBef>
          <a:spcPct val="0"/>
        </a:spcBef>
        <a:spcAft>
          <a:spcPct val="0"/>
        </a:spcAft>
        <a:defRPr sz="5867">
          <a:solidFill>
            <a:schemeClr val="tx1"/>
          </a:solidFill>
          <a:latin typeface="Calibri" pitchFamily="34" charset="0"/>
        </a:defRPr>
      </a:lvl2pPr>
      <a:lvl3pPr algn="ctr" defTabSz="609585" rtl="0" fontAlgn="base">
        <a:spcBef>
          <a:spcPct val="0"/>
        </a:spcBef>
        <a:spcAft>
          <a:spcPct val="0"/>
        </a:spcAft>
        <a:defRPr sz="5867">
          <a:solidFill>
            <a:schemeClr val="tx1"/>
          </a:solidFill>
          <a:latin typeface="Calibri" pitchFamily="34" charset="0"/>
        </a:defRPr>
      </a:lvl3pPr>
      <a:lvl4pPr algn="ctr" defTabSz="609585" rtl="0" fontAlgn="base">
        <a:spcBef>
          <a:spcPct val="0"/>
        </a:spcBef>
        <a:spcAft>
          <a:spcPct val="0"/>
        </a:spcAft>
        <a:defRPr sz="5867">
          <a:solidFill>
            <a:schemeClr val="tx1"/>
          </a:solidFill>
          <a:latin typeface="Calibri" pitchFamily="34" charset="0"/>
        </a:defRPr>
      </a:lvl4pPr>
      <a:lvl5pPr algn="ctr" defTabSz="609585" rtl="0" fontAlgn="base">
        <a:spcBef>
          <a:spcPct val="0"/>
        </a:spcBef>
        <a:spcAft>
          <a:spcPct val="0"/>
        </a:spcAft>
        <a:defRPr sz="5867">
          <a:solidFill>
            <a:schemeClr val="tx1"/>
          </a:solidFill>
          <a:latin typeface="Calibri" pitchFamily="34" charset="0"/>
        </a:defRPr>
      </a:lvl5pPr>
      <a:lvl6pPr marL="609585" algn="ctr" defTabSz="609585" rtl="0" fontAlgn="base">
        <a:spcBef>
          <a:spcPct val="0"/>
        </a:spcBef>
        <a:spcAft>
          <a:spcPct val="0"/>
        </a:spcAft>
        <a:defRPr sz="5867">
          <a:solidFill>
            <a:schemeClr val="tx1"/>
          </a:solidFill>
          <a:latin typeface="Calibri" pitchFamily="34" charset="0"/>
        </a:defRPr>
      </a:lvl6pPr>
      <a:lvl7pPr marL="1219170" algn="ctr" defTabSz="609585" rtl="0" fontAlgn="base">
        <a:spcBef>
          <a:spcPct val="0"/>
        </a:spcBef>
        <a:spcAft>
          <a:spcPct val="0"/>
        </a:spcAft>
        <a:defRPr sz="5867">
          <a:solidFill>
            <a:schemeClr val="tx1"/>
          </a:solidFill>
          <a:latin typeface="Calibri" pitchFamily="34" charset="0"/>
        </a:defRPr>
      </a:lvl7pPr>
      <a:lvl8pPr marL="1828754" algn="ctr" defTabSz="609585" rtl="0" fontAlgn="base">
        <a:spcBef>
          <a:spcPct val="0"/>
        </a:spcBef>
        <a:spcAft>
          <a:spcPct val="0"/>
        </a:spcAft>
        <a:defRPr sz="5867">
          <a:solidFill>
            <a:schemeClr val="tx1"/>
          </a:solidFill>
          <a:latin typeface="Calibri" pitchFamily="34" charset="0"/>
        </a:defRPr>
      </a:lvl8pPr>
      <a:lvl9pPr marL="2438339" algn="ctr" defTabSz="609585" rtl="0" fontAlgn="base">
        <a:spcBef>
          <a:spcPct val="0"/>
        </a:spcBef>
        <a:spcAft>
          <a:spcPct val="0"/>
        </a:spcAft>
        <a:defRPr sz="5867">
          <a:solidFill>
            <a:schemeClr val="tx1"/>
          </a:solidFill>
          <a:latin typeface="Calibri" pitchFamily="34" charset="0"/>
        </a:defRPr>
      </a:lvl9pPr>
    </p:titleStyle>
    <p:bodyStyle>
      <a:lvl1pPr marL="0" indent="0" algn="l" defTabSz="609585" rtl="0" fontAlgn="base">
        <a:spcBef>
          <a:spcPts val="0"/>
        </a:spcBef>
        <a:spcAft>
          <a:spcPts val="133"/>
        </a:spcAft>
        <a:buFont typeface="Arial" charset="0"/>
        <a:buNone/>
        <a:defRPr sz="2933" kern="1200">
          <a:solidFill>
            <a:schemeClr val="tx1"/>
          </a:solidFill>
          <a:latin typeface="+mn-lt"/>
          <a:ea typeface="Open Sans" panose="020B0606030504020204" pitchFamily="34" charset="0"/>
          <a:cs typeface="Open Sans" panose="020B0606030504020204" pitchFamily="34" charset="0"/>
        </a:defRPr>
      </a:lvl1pPr>
      <a:lvl2pPr marL="759865" indent="-304792" algn="l" defTabSz="609585" rtl="0" fontAlgn="base">
        <a:spcBef>
          <a:spcPts val="0"/>
        </a:spcBef>
        <a:spcAft>
          <a:spcPts val="133"/>
        </a:spcAft>
        <a:buFont typeface="Arial" panose="020B0604020202020204" pitchFamily="34" charset="0"/>
        <a:buChar char="•"/>
        <a:defRPr sz="2933" kern="1200">
          <a:solidFill>
            <a:schemeClr val="tx1"/>
          </a:solidFill>
          <a:latin typeface="+mn-lt"/>
          <a:ea typeface="Open Sans" panose="020B0606030504020204" pitchFamily="34" charset="0"/>
          <a:cs typeface="Open Sans" panose="020B0606030504020204" pitchFamily="34" charset="0"/>
        </a:defRPr>
      </a:lvl2pPr>
      <a:lvl3pPr marL="1068891" indent="-302676" algn="l" defTabSz="609585" rtl="0" fontAlgn="base">
        <a:spcBef>
          <a:spcPts val="0"/>
        </a:spcBef>
        <a:spcAft>
          <a:spcPts val="133"/>
        </a:spcAft>
        <a:buFont typeface="Arial" charset="0"/>
        <a:buChar char="•"/>
        <a:defRPr sz="2667" kern="1200">
          <a:solidFill>
            <a:schemeClr val="tx1"/>
          </a:solidFill>
          <a:latin typeface="+mn-lt"/>
          <a:ea typeface="Open Sans" panose="020B0606030504020204" pitchFamily="34" charset="0"/>
          <a:cs typeface="Open Sans" panose="020B0606030504020204" pitchFamily="34" charset="0"/>
        </a:defRPr>
      </a:lvl3pPr>
      <a:lvl4pPr marL="1369450" indent="-294210" algn="l" defTabSz="609585" rtl="0" fontAlgn="base">
        <a:spcBef>
          <a:spcPts val="0"/>
        </a:spcBef>
        <a:spcAft>
          <a:spcPts val="133"/>
        </a:spcAft>
        <a:buFont typeface="Arial" panose="020B0604020202020204" pitchFamily="34" charset="0"/>
        <a:buChar char="•"/>
        <a:defRPr sz="2667" kern="1200">
          <a:solidFill>
            <a:schemeClr val="tx1"/>
          </a:solidFill>
          <a:latin typeface="+mn-lt"/>
          <a:ea typeface="Open Sans" panose="020B0606030504020204" pitchFamily="34" charset="0"/>
          <a:cs typeface="Open Sans" panose="020B0606030504020204" pitchFamily="34" charset="0"/>
        </a:defRPr>
      </a:lvl4pPr>
      <a:lvl5pPr marL="1678475" indent="-319609" algn="l" defTabSz="609585" rtl="0" fontAlgn="base">
        <a:spcBef>
          <a:spcPts val="0"/>
        </a:spcBef>
        <a:spcAft>
          <a:spcPts val="133"/>
        </a:spcAft>
        <a:buFont typeface="Arial" panose="020B0604020202020204" pitchFamily="34" charset="0"/>
        <a:buChar char="•"/>
        <a:defRPr sz="2667" kern="1200">
          <a:solidFill>
            <a:schemeClr val="tx1"/>
          </a:solidFill>
          <a:latin typeface="+mn-lt"/>
          <a:ea typeface="Open Sans" panose="020B0606030504020204" pitchFamily="34" charset="0"/>
          <a:cs typeface="Open Sans" panose="020B060603050402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guide id="3" pos="288">
          <p15:clr>
            <a:srgbClr val="F26B43"/>
          </p15:clr>
        </p15:guide>
        <p15:guide id="4" orient="horz" pos="279">
          <p15:clr>
            <a:srgbClr val="F26B43"/>
          </p15:clr>
        </p15:guide>
        <p15:guide id="5" orient="horz" pos="840">
          <p15:clr>
            <a:srgbClr val="F26B43"/>
          </p15:clr>
        </p15:guide>
        <p15:guide id="6" pos="542">
          <p15:clr>
            <a:srgbClr val="F26B43"/>
          </p15:clr>
        </p15:guide>
        <p15:guide id="7" pos="556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00203" y="1992427"/>
            <a:ext cx="8685177" cy="1596463"/>
          </a:xfrm>
        </p:spPr>
        <p:txBody>
          <a:bodyPr/>
          <a:lstStyle/>
          <a:p>
            <a:r>
              <a:rPr lang="en-US" sz="4000" dirty="0"/>
              <a:t>Accounting &amp; Finance Function 2</a:t>
            </a:r>
          </a:p>
        </p:txBody>
      </p:sp>
      <p:sp>
        <p:nvSpPr>
          <p:cNvPr id="9" name="Subtitle 8">
            <a:extLst>
              <a:ext uri="{FF2B5EF4-FFF2-40B4-BE49-F238E27FC236}">
                <a16:creationId xmlns:a16="http://schemas.microsoft.com/office/drawing/2014/main" id="{B2773AAD-913F-4F7D-B76C-297F2718F473}"/>
              </a:ext>
            </a:extLst>
          </p:cNvPr>
          <p:cNvSpPr>
            <a:spLocks noGrp="1"/>
          </p:cNvSpPr>
          <p:nvPr>
            <p:ph type="subTitle" idx="1"/>
          </p:nvPr>
        </p:nvSpPr>
        <p:spPr>
          <a:xfrm>
            <a:off x="482603" y="4019111"/>
            <a:ext cx="8502777" cy="1928733"/>
          </a:xfrm>
        </p:spPr>
        <p:txBody>
          <a:bodyPr/>
          <a:lstStyle/>
          <a:p>
            <a:r>
              <a:rPr lang="en-US" sz="3600" dirty="0"/>
              <a:t>Data Analytics for Professional Accountants </a:t>
            </a:r>
            <a:r>
              <a:rPr lang="en-US" sz="4000" dirty="0"/>
              <a:t>(ACCTG 522)</a:t>
            </a:r>
          </a:p>
          <a:p>
            <a:r>
              <a:rPr lang="en-US" sz="3600" dirty="0"/>
              <a:t>Class 14 | MPAcc Class of 2026</a:t>
            </a:r>
          </a:p>
        </p:txBody>
      </p:sp>
    </p:spTree>
    <p:extLst>
      <p:ext uri="{BB962C8B-B14F-4D97-AF65-F5344CB8AC3E}">
        <p14:creationId xmlns:p14="http://schemas.microsoft.com/office/powerpoint/2010/main" val="1062871234"/>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CD141-81F8-4A93-87DE-D9885DC62340}"/>
              </a:ext>
            </a:extLst>
          </p:cNvPr>
          <p:cNvSpPr>
            <a:spLocks noGrp="1"/>
          </p:cNvSpPr>
          <p:nvPr>
            <p:ph type="title"/>
          </p:nvPr>
        </p:nvSpPr>
        <p:spPr/>
        <p:txBody>
          <a:bodyPr/>
          <a:lstStyle/>
          <a:p>
            <a:r>
              <a:rPr lang="en-US" dirty="0"/>
              <a:t>Welcome!</a:t>
            </a:r>
          </a:p>
        </p:txBody>
      </p:sp>
      <p:sp>
        <p:nvSpPr>
          <p:cNvPr id="3" name="Content Placeholder 2">
            <a:extLst>
              <a:ext uri="{FF2B5EF4-FFF2-40B4-BE49-F238E27FC236}">
                <a16:creationId xmlns:a16="http://schemas.microsoft.com/office/drawing/2014/main" id="{0D437BDE-DD2F-4C40-9423-74EA2798C118}"/>
              </a:ext>
            </a:extLst>
          </p:cNvPr>
          <p:cNvSpPr>
            <a:spLocks noGrp="1"/>
          </p:cNvSpPr>
          <p:nvPr>
            <p:ph idx="1"/>
          </p:nvPr>
        </p:nvSpPr>
        <p:spPr>
          <a:xfrm>
            <a:off x="370632" y="2061289"/>
            <a:ext cx="10994053" cy="2980175"/>
          </a:xfrm>
        </p:spPr>
        <p:txBody>
          <a:bodyPr/>
          <a:lstStyle/>
          <a:p>
            <a:r>
              <a:rPr lang="en-US" sz="2800" b="1" dirty="0"/>
              <a:t>Class Agenda</a:t>
            </a:r>
          </a:p>
          <a:p>
            <a:pPr marL="571500" indent="-571500">
              <a:buFont typeface="Arial" panose="020B0604020202020204" pitchFamily="34" charset="0"/>
              <a:buChar char="•"/>
            </a:pPr>
            <a:r>
              <a:rPr lang="en-US" sz="2800" b="1" dirty="0">
                <a:solidFill>
                  <a:srgbClr val="4B2E84"/>
                </a:solidFill>
              </a:rPr>
              <a:t>Review: Multi-Row Formula tool</a:t>
            </a:r>
          </a:p>
          <a:p>
            <a:pPr marL="571500" indent="-571500">
              <a:buFont typeface="Arial" panose="020B0604020202020204" pitchFamily="34" charset="0"/>
              <a:buChar char="•"/>
            </a:pPr>
            <a:r>
              <a:rPr lang="en-US" sz="2800" dirty="0"/>
              <a:t>Lab:</a:t>
            </a:r>
          </a:p>
          <a:p>
            <a:pPr marL="1331365" lvl="1" indent="-571500"/>
            <a:r>
              <a:rPr lang="en-US" sz="2133" dirty="0"/>
              <a:t>Case 2. Vendor Analysis / Suspect Vendors</a:t>
            </a:r>
          </a:p>
          <a:p>
            <a:pPr marL="1331365" lvl="1" indent="-571500"/>
            <a:r>
              <a:rPr lang="en-US" sz="2133" dirty="0"/>
              <a:t>Case 3. PO Splitting</a:t>
            </a:r>
            <a:endParaRPr lang="en-US" sz="2800" dirty="0"/>
          </a:p>
          <a:p>
            <a:pPr marL="571500" indent="-571500">
              <a:buFont typeface="Arial" panose="020B0604020202020204" pitchFamily="34" charset="0"/>
              <a:buChar char="•"/>
            </a:pPr>
            <a:r>
              <a:rPr lang="en-US" sz="2800" dirty="0"/>
              <a:t>Conclusion and look ahead</a:t>
            </a:r>
          </a:p>
          <a:p>
            <a:pPr marL="571500" indent="-571500">
              <a:buFont typeface="Arial" panose="020B0604020202020204" pitchFamily="34" charset="0"/>
              <a:buChar char="•"/>
            </a:pPr>
            <a:endParaRPr lang="en-US" sz="2800" dirty="0"/>
          </a:p>
        </p:txBody>
      </p:sp>
    </p:spTree>
    <p:extLst>
      <p:ext uri="{BB962C8B-B14F-4D97-AF65-F5344CB8AC3E}">
        <p14:creationId xmlns:p14="http://schemas.microsoft.com/office/powerpoint/2010/main" val="172269189"/>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1360E-C0EE-C3B0-E4F3-C3F56475F429}"/>
              </a:ext>
            </a:extLst>
          </p:cNvPr>
          <p:cNvSpPr>
            <a:spLocks noGrp="1"/>
          </p:cNvSpPr>
          <p:nvPr>
            <p:ph type="title"/>
          </p:nvPr>
        </p:nvSpPr>
        <p:spPr>
          <a:xfrm>
            <a:off x="0" y="354233"/>
            <a:ext cx="11187404" cy="1359283"/>
          </a:xfrm>
        </p:spPr>
        <p:txBody>
          <a:bodyPr/>
          <a:lstStyle/>
          <a:p>
            <a:r>
              <a:rPr lang="en-US" dirty="0"/>
              <a:t>Multi-Row Formula Tool</a:t>
            </a:r>
          </a:p>
        </p:txBody>
      </p:sp>
      <p:pic>
        <p:nvPicPr>
          <p:cNvPr id="5" name="Picture 4">
            <a:extLst>
              <a:ext uri="{FF2B5EF4-FFF2-40B4-BE49-F238E27FC236}">
                <a16:creationId xmlns:a16="http://schemas.microsoft.com/office/drawing/2014/main" id="{20E30634-F5AA-991D-D127-A984444173C7}"/>
              </a:ext>
            </a:extLst>
          </p:cNvPr>
          <p:cNvPicPr>
            <a:picLocks noChangeAspect="1"/>
          </p:cNvPicPr>
          <p:nvPr/>
        </p:nvPicPr>
        <p:blipFill>
          <a:blip r:embed="rId2"/>
          <a:srcRect t="6543" b="7703"/>
          <a:stretch>
            <a:fillRect/>
          </a:stretch>
        </p:blipFill>
        <p:spPr>
          <a:xfrm>
            <a:off x="0" y="2502242"/>
            <a:ext cx="12192000" cy="1828801"/>
          </a:xfrm>
          <a:prstGeom prst="rect">
            <a:avLst/>
          </a:prstGeom>
        </p:spPr>
      </p:pic>
      <p:cxnSp>
        <p:nvCxnSpPr>
          <p:cNvPr id="7" name="Straight Arrow Connector 6">
            <a:extLst>
              <a:ext uri="{FF2B5EF4-FFF2-40B4-BE49-F238E27FC236}">
                <a16:creationId xmlns:a16="http://schemas.microsoft.com/office/drawing/2014/main" id="{9F93802F-697B-8719-C0FC-99F0126014B2}"/>
              </a:ext>
            </a:extLst>
          </p:cNvPr>
          <p:cNvCxnSpPr>
            <a:cxnSpLocks/>
          </p:cNvCxnSpPr>
          <p:nvPr/>
        </p:nvCxnSpPr>
        <p:spPr>
          <a:xfrm flipV="1">
            <a:off x="4769708" y="3713205"/>
            <a:ext cx="203887" cy="803189"/>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A13B15B2-AFC4-74BD-A3B6-538B1ADCDD03}"/>
              </a:ext>
            </a:extLst>
          </p:cNvPr>
          <p:cNvCxnSpPr/>
          <p:nvPr/>
        </p:nvCxnSpPr>
        <p:spPr>
          <a:xfrm flipV="1">
            <a:off x="4466968" y="3700849"/>
            <a:ext cx="1872048" cy="16125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811FD971-AB5F-6D63-69AC-F465036C079D}"/>
              </a:ext>
            </a:extLst>
          </p:cNvPr>
          <p:cNvCxnSpPr/>
          <p:nvPr/>
        </p:nvCxnSpPr>
        <p:spPr>
          <a:xfrm flipV="1">
            <a:off x="4497859" y="3713205"/>
            <a:ext cx="2860590" cy="160637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DED2DC28-7CCE-E368-064F-830283C08F6A}"/>
              </a:ext>
            </a:extLst>
          </p:cNvPr>
          <p:cNvCxnSpPr/>
          <p:nvPr/>
        </p:nvCxnSpPr>
        <p:spPr>
          <a:xfrm flipV="1">
            <a:off x="4429897" y="3645243"/>
            <a:ext cx="6450227" cy="16681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1D170759-499B-022B-DE43-1892E204396E}"/>
              </a:ext>
            </a:extLst>
          </p:cNvPr>
          <p:cNvSpPr txBox="1"/>
          <p:nvPr/>
        </p:nvSpPr>
        <p:spPr>
          <a:xfrm>
            <a:off x="105033" y="4479324"/>
            <a:ext cx="5097742" cy="1200329"/>
          </a:xfrm>
          <a:prstGeom prst="rect">
            <a:avLst/>
          </a:prstGeom>
          <a:noFill/>
        </p:spPr>
        <p:txBody>
          <a:bodyPr wrap="none" rtlCol="0">
            <a:spAutoFit/>
          </a:bodyPr>
          <a:lstStyle/>
          <a:p>
            <a:pPr marL="342900" indent="-342900">
              <a:buAutoNum type="arabicPeriod"/>
            </a:pPr>
            <a:r>
              <a:rPr lang="en-US" dirty="0">
                <a:latin typeface="+mn-lt"/>
              </a:rPr>
              <a:t>Parse related field like row1:number, row2:name</a:t>
            </a:r>
          </a:p>
          <a:p>
            <a:pPr marL="342900" indent="-342900">
              <a:buAutoNum type="arabicPeriod"/>
            </a:pPr>
            <a:endParaRPr lang="en-US" dirty="0"/>
          </a:p>
          <a:p>
            <a:pPr marL="342900" indent="-342900">
              <a:buAutoNum type="arabicPeriod"/>
            </a:pPr>
            <a:endParaRPr lang="en-US" dirty="0">
              <a:latin typeface="+mn-lt"/>
            </a:endParaRPr>
          </a:p>
          <a:p>
            <a:pPr marL="342900" indent="-342900">
              <a:buAutoNum type="arabicPeriod"/>
            </a:pPr>
            <a:r>
              <a:rPr lang="en-US" dirty="0">
                <a:latin typeface="+mn-lt"/>
              </a:rPr>
              <a:t>Fill in missing values within a field (i.e., column)</a:t>
            </a:r>
          </a:p>
        </p:txBody>
      </p:sp>
    </p:spTree>
    <p:extLst>
      <p:ext uri="{BB962C8B-B14F-4D97-AF65-F5344CB8AC3E}">
        <p14:creationId xmlns:p14="http://schemas.microsoft.com/office/powerpoint/2010/main" val="328747082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D70E3-E155-C4BC-CCB8-3470A28721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C86682-E818-3F0A-152C-29827887A532}"/>
              </a:ext>
            </a:extLst>
          </p:cNvPr>
          <p:cNvSpPr>
            <a:spLocks noGrp="1"/>
          </p:cNvSpPr>
          <p:nvPr>
            <p:ph type="title"/>
          </p:nvPr>
        </p:nvSpPr>
        <p:spPr/>
        <p:txBody>
          <a:bodyPr/>
          <a:lstStyle/>
          <a:p>
            <a:r>
              <a:rPr lang="en-US" dirty="0"/>
              <a:t>Welcome!</a:t>
            </a:r>
          </a:p>
        </p:txBody>
      </p:sp>
      <p:sp>
        <p:nvSpPr>
          <p:cNvPr id="3" name="Content Placeholder 2">
            <a:extLst>
              <a:ext uri="{FF2B5EF4-FFF2-40B4-BE49-F238E27FC236}">
                <a16:creationId xmlns:a16="http://schemas.microsoft.com/office/drawing/2014/main" id="{B217F0DA-B2D2-1E50-8C28-B8521A070A71}"/>
              </a:ext>
            </a:extLst>
          </p:cNvPr>
          <p:cNvSpPr>
            <a:spLocks noGrp="1"/>
          </p:cNvSpPr>
          <p:nvPr>
            <p:ph idx="1"/>
          </p:nvPr>
        </p:nvSpPr>
        <p:spPr>
          <a:xfrm>
            <a:off x="370632" y="2061289"/>
            <a:ext cx="10994053" cy="2980175"/>
          </a:xfrm>
        </p:spPr>
        <p:txBody>
          <a:bodyPr/>
          <a:lstStyle/>
          <a:p>
            <a:r>
              <a:rPr lang="en-US" sz="2800" b="1" dirty="0"/>
              <a:t>Class Agenda</a:t>
            </a:r>
          </a:p>
          <a:p>
            <a:pPr marL="571500" indent="-571500">
              <a:buFont typeface="Arial" panose="020B0604020202020204" pitchFamily="34" charset="0"/>
              <a:buChar char="•"/>
            </a:pPr>
            <a:r>
              <a:rPr lang="en-US" sz="2800" dirty="0">
                <a:solidFill>
                  <a:schemeClr val="bg1">
                    <a:lumMod val="75000"/>
                  </a:schemeClr>
                </a:solidFill>
              </a:rPr>
              <a:t>Review: Multi-Row Formula tool</a:t>
            </a:r>
          </a:p>
          <a:p>
            <a:pPr marL="571500" indent="-571500">
              <a:buFont typeface="Arial" panose="020B0604020202020204" pitchFamily="34" charset="0"/>
              <a:buChar char="•"/>
            </a:pPr>
            <a:r>
              <a:rPr lang="en-US" sz="2800" b="1" dirty="0">
                <a:solidFill>
                  <a:srgbClr val="4B2E84"/>
                </a:solidFill>
              </a:rPr>
              <a:t>Lab:</a:t>
            </a:r>
          </a:p>
          <a:p>
            <a:pPr marL="1331365" lvl="1" indent="-571500"/>
            <a:r>
              <a:rPr lang="en-US" sz="2133" b="1" dirty="0">
                <a:solidFill>
                  <a:srgbClr val="4B2E84"/>
                </a:solidFill>
              </a:rPr>
              <a:t>Case 2. Vendor Analysis / Suspect Vendors</a:t>
            </a:r>
          </a:p>
          <a:p>
            <a:pPr marL="1331365" lvl="1" indent="-571500"/>
            <a:r>
              <a:rPr lang="en-US" sz="2133" dirty="0"/>
              <a:t>Case 3. PO Splitting</a:t>
            </a:r>
            <a:endParaRPr lang="en-US" sz="2800" dirty="0"/>
          </a:p>
          <a:p>
            <a:pPr marL="571500" indent="-571500">
              <a:buFont typeface="Arial" panose="020B0604020202020204" pitchFamily="34" charset="0"/>
              <a:buChar char="•"/>
            </a:pPr>
            <a:r>
              <a:rPr lang="en-US" sz="2800" dirty="0"/>
              <a:t>Conclusion and look ahead</a:t>
            </a:r>
          </a:p>
          <a:p>
            <a:pPr marL="571500" indent="-571500">
              <a:buFont typeface="Arial" panose="020B0604020202020204" pitchFamily="34" charset="0"/>
              <a:buChar char="•"/>
            </a:pPr>
            <a:endParaRPr lang="en-US" sz="2800" dirty="0"/>
          </a:p>
        </p:txBody>
      </p:sp>
    </p:spTree>
    <p:extLst>
      <p:ext uri="{BB962C8B-B14F-4D97-AF65-F5344CB8AC3E}">
        <p14:creationId xmlns:p14="http://schemas.microsoft.com/office/powerpoint/2010/main" val="899360662"/>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44AFE-530B-EA60-3787-D46716626DAF}"/>
              </a:ext>
            </a:extLst>
          </p:cNvPr>
          <p:cNvSpPr>
            <a:spLocks noGrp="1"/>
          </p:cNvSpPr>
          <p:nvPr>
            <p:ph type="title"/>
          </p:nvPr>
        </p:nvSpPr>
        <p:spPr>
          <a:xfrm>
            <a:off x="0" y="354233"/>
            <a:ext cx="11187404" cy="1359283"/>
          </a:xfrm>
        </p:spPr>
        <p:txBody>
          <a:bodyPr/>
          <a:lstStyle/>
          <a:p>
            <a:r>
              <a:rPr lang="en-US" dirty="0"/>
              <a:t>Overview</a:t>
            </a:r>
          </a:p>
        </p:txBody>
      </p:sp>
      <p:sp>
        <p:nvSpPr>
          <p:cNvPr id="3" name="Content Placeholder 2">
            <a:extLst>
              <a:ext uri="{FF2B5EF4-FFF2-40B4-BE49-F238E27FC236}">
                <a16:creationId xmlns:a16="http://schemas.microsoft.com/office/drawing/2014/main" id="{A106D511-7AD1-C62F-1FBE-8DD99131A1A9}"/>
              </a:ext>
            </a:extLst>
          </p:cNvPr>
          <p:cNvSpPr>
            <a:spLocks noGrp="1"/>
          </p:cNvSpPr>
          <p:nvPr>
            <p:ph idx="1"/>
          </p:nvPr>
        </p:nvSpPr>
        <p:spPr>
          <a:xfrm>
            <a:off x="451709" y="1852484"/>
            <a:ext cx="10972800" cy="4485010"/>
          </a:xfrm>
        </p:spPr>
        <p:txBody>
          <a:bodyPr/>
          <a:lstStyle/>
          <a:p>
            <a:pPr>
              <a:lnSpc>
                <a:spcPct val="107000"/>
              </a:lnSpc>
              <a:spcAft>
                <a:spcPts val="1067"/>
              </a:spcAft>
            </a:pPr>
            <a:r>
              <a:rPr lang="en-US" sz="2400" dirty="0">
                <a:latin typeface="Calibri" panose="020F0502020204030204" pitchFamily="34" charset="0"/>
                <a:ea typeface="Calibri" panose="020F0502020204030204" pitchFamily="34" charset="0"/>
                <a:cs typeface="Times New Roman" panose="02020603050405020304" pitchFamily="18" charset="0"/>
              </a:rPr>
              <a:t>The U.S. Department of the Treasury's Office of Foreign Assets Control (OFAC) oversees U.S. economic and trade sanctions. These sanctions target certain foreign countries, known terrorists, narcotics traffickers, and other threats. OFAC strongly encourages companies to have a sanction compliance program that includes internal controls and auditing.</a:t>
            </a:r>
          </a:p>
          <a:p>
            <a:pPr>
              <a:lnSpc>
                <a:spcPct val="107000"/>
              </a:lnSpc>
              <a:spcAft>
                <a:spcPts val="1067"/>
              </a:spcAft>
            </a:pPr>
            <a:r>
              <a:rPr lang="en-US" sz="2400" dirty="0">
                <a:latin typeface="Calibri" panose="020F0502020204030204" pitchFamily="34" charset="0"/>
                <a:ea typeface="Calibri" panose="020F0502020204030204" pitchFamily="34" charset="0"/>
                <a:cs typeface="Times New Roman" panose="02020603050405020304" pitchFamily="18" charset="0"/>
              </a:rPr>
              <a:t>To ensure compliance with OFAC policies, invoices authorized for payment are checked against the OFAC Consolidated Screening List (CSL), which is a list of sanctioned individuals or entities maintained by the Office of Foreign Assets Control. Identify whether any of the provided vendors are on the OFAC CSL.</a:t>
            </a:r>
          </a:p>
          <a:p>
            <a:endParaRPr lang="en-US" dirty="0"/>
          </a:p>
        </p:txBody>
      </p:sp>
    </p:spTree>
    <p:extLst>
      <p:ext uri="{BB962C8B-B14F-4D97-AF65-F5344CB8AC3E}">
        <p14:creationId xmlns:p14="http://schemas.microsoft.com/office/powerpoint/2010/main" val="236936738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1901F-F5D0-43C6-D902-134D5C64BBCB}"/>
              </a:ext>
            </a:extLst>
          </p:cNvPr>
          <p:cNvSpPr>
            <a:spLocks noGrp="1"/>
          </p:cNvSpPr>
          <p:nvPr>
            <p:ph type="title"/>
          </p:nvPr>
        </p:nvSpPr>
        <p:spPr>
          <a:xfrm>
            <a:off x="0" y="354233"/>
            <a:ext cx="11187404" cy="1359283"/>
          </a:xfrm>
        </p:spPr>
        <p:txBody>
          <a:bodyPr/>
          <a:lstStyle/>
          <a:p>
            <a:r>
              <a:rPr lang="en-US" dirty="0"/>
              <a:t>Objective</a:t>
            </a:r>
          </a:p>
        </p:txBody>
      </p:sp>
      <p:sp>
        <p:nvSpPr>
          <p:cNvPr id="3" name="Content Placeholder 2">
            <a:extLst>
              <a:ext uri="{FF2B5EF4-FFF2-40B4-BE49-F238E27FC236}">
                <a16:creationId xmlns:a16="http://schemas.microsoft.com/office/drawing/2014/main" id="{64065C4E-348B-4E60-7C16-5271B568B3C9}"/>
              </a:ext>
            </a:extLst>
          </p:cNvPr>
          <p:cNvSpPr>
            <a:spLocks noGrp="1"/>
          </p:cNvSpPr>
          <p:nvPr>
            <p:ph idx="1"/>
          </p:nvPr>
        </p:nvSpPr>
        <p:spPr>
          <a:xfrm>
            <a:off x="439351" y="2223187"/>
            <a:ext cx="10972800" cy="2581028"/>
          </a:xfrm>
        </p:spPr>
        <p:txBody>
          <a:bodyPr/>
          <a:lstStyle/>
          <a:p>
            <a:pPr>
              <a:lnSpc>
                <a:spcPct val="107000"/>
              </a:lnSpc>
              <a:spcAft>
                <a:spcPts val="1067"/>
              </a:spcAft>
            </a:pPr>
            <a:r>
              <a:rPr lang="en-US" sz="2400" dirty="0">
                <a:latin typeface="Calibri" panose="020F0502020204030204" pitchFamily="34" charset="0"/>
                <a:ea typeface="Calibri" panose="020F0502020204030204" pitchFamily="34" charset="0"/>
                <a:cs typeface="Times New Roman" panose="02020603050405020304" pitchFamily="18" charset="0"/>
              </a:rPr>
              <a:t>Determine whether any of the vendors are on the OFAC CSL. Create a single output file with all of the vendors that are on the list separated into three tabs based on the vendor’s status. </a:t>
            </a:r>
          </a:p>
          <a:p>
            <a:endParaRPr lang="en-US" sz="1867" i="1" dirty="0">
              <a:latin typeface="Calibri" panose="020F0502020204030204" pitchFamily="34" charset="0"/>
              <a:ea typeface="Calibri" panose="020F0502020204030204" pitchFamily="34" charset="0"/>
              <a:cs typeface="Times New Roman" panose="02020603050405020304" pitchFamily="18" charset="0"/>
            </a:endParaRPr>
          </a:p>
          <a:p>
            <a:r>
              <a:rPr lang="en-US" sz="1867" i="1" dirty="0">
                <a:latin typeface="Calibri" panose="020F0502020204030204" pitchFamily="34" charset="0"/>
                <a:ea typeface="Calibri" panose="020F0502020204030204" pitchFamily="34" charset="0"/>
                <a:cs typeface="Times New Roman" panose="02020603050405020304" pitchFamily="18" charset="0"/>
              </a:rPr>
              <a:t>Additional note: In a real-world process we would want to check for names that are similar but slightly different (think Fred vs. Freddy). In this example, exact matches are all we are looking for, but in some instances companies might want to utilize fuzzy matching to identify pairs that are close but not exact.</a:t>
            </a:r>
            <a:endParaRPr lang="en-US" sz="3200" dirty="0"/>
          </a:p>
        </p:txBody>
      </p:sp>
    </p:spTree>
    <p:extLst>
      <p:ext uri="{BB962C8B-B14F-4D97-AF65-F5344CB8AC3E}">
        <p14:creationId xmlns:p14="http://schemas.microsoft.com/office/powerpoint/2010/main" val="4248857975"/>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9DC7C-7E6D-AEF8-AFDA-F023E484E2B0}"/>
              </a:ext>
            </a:extLst>
          </p:cNvPr>
          <p:cNvSpPr>
            <a:spLocks noGrp="1"/>
          </p:cNvSpPr>
          <p:nvPr>
            <p:ph type="title"/>
          </p:nvPr>
        </p:nvSpPr>
        <p:spPr>
          <a:xfrm>
            <a:off x="0" y="354233"/>
            <a:ext cx="11187404" cy="1359283"/>
          </a:xfrm>
        </p:spPr>
        <p:txBody>
          <a:bodyPr/>
          <a:lstStyle/>
          <a:p>
            <a:r>
              <a:rPr lang="en-US" dirty="0"/>
              <a:t>Processes</a:t>
            </a:r>
          </a:p>
        </p:txBody>
      </p:sp>
      <p:sp>
        <p:nvSpPr>
          <p:cNvPr id="3" name="Content Placeholder 2">
            <a:extLst>
              <a:ext uri="{FF2B5EF4-FFF2-40B4-BE49-F238E27FC236}">
                <a16:creationId xmlns:a16="http://schemas.microsoft.com/office/drawing/2014/main" id="{CBB7B1C7-5F69-B506-15A0-2FEC5607F0C6}"/>
              </a:ext>
            </a:extLst>
          </p:cNvPr>
          <p:cNvSpPr>
            <a:spLocks noGrp="1"/>
          </p:cNvSpPr>
          <p:nvPr>
            <p:ph idx="1"/>
          </p:nvPr>
        </p:nvSpPr>
        <p:spPr>
          <a:xfrm>
            <a:off x="408460" y="2105799"/>
            <a:ext cx="10972800" cy="3987245"/>
          </a:xfrm>
        </p:spPr>
        <p:txBody>
          <a:bodyPr/>
          <a:lstStyle/>
          <a:p>
            <a:pPr marL="457189" indent="-457189">
              <a:lnSpc>
                <a:spcPct val="107000"/>
              </a:lnSpc>
              <a:buFont typeface="+mj-lt"/>
              <a:buAutoNum type="arabicPeriod"/>
            </a:pPr>
            <a:r>
              <a:rPr lang="en-US" sz="2400" dirty="0">
                <a:latin typeface="Calibri" panose="020F0502020204030204" pitchFamily="34" charset="0"/>
                <a:ea typeface="Calibri" panose="020F0502020204030204" pitchFamily="34" charset="0"/>
                <a:cs typeface="Times New Roman" panose="02020603050405020304" pitchFamily="18" charset="0"/>
              </a:rPr>
              <a:t>Pull in the </a:t>
            </a:r>
            <a:r>
              <a:rPr lang="en-US" sz="2400" dirty="0" err="1">
                <a:latin typeface="Calibri" panose="020F0502020204030204" pitchFamily="34" charset="0"/>
                <a:ea typeface="Calibri" panose="020F0502020204030204" pitchFamily="34" charset="0"/>
                <a:cs typeface="Times New Roman" panose="02020603050405020304" pitchFamily="18" charset="0"/>
              </a:rPr>
              <a:t>Vendors.yxdb</a:t>
            </a:r>
            <a:r>
              <a:rPr lang="en-US" sz="2400" dirty="0">
                <a:latin typeface="Calibri" panose="020F0502020204030204" pitchFamily="34" charset="0"/>
                <a:ea typeface="Calibri" panose="020F0502020204030204" pitchFamily="34" charset="0"/>
                <a:cs typeface="Times New Roman" panose="02020603050405020304" pitchFamily="18" charset="0"/>
              </a:rPr>
              <a:t> file, clean the names by removing punctuation and standardizing the case, and ensure there is only one record for each Vendor ID.</a:t>
            </a:r>
          </a:p>
          <a:p>
            <a:pPr marL="457189" indent="-457189">
              <a:lnSpc>
                <a:spcPct val="107000"/>
              </a:lnSpc>
              <a:buFont typeface="+mj-lt"/>
              <a:buAutoNum type="arabicPeriod"/>
            </a:pPr>
            <a:r>
              <a:rPr lang="en-US" sz="2400" dirty="0">
                <a:latin typeface="Calibri" panose="020F0502020204030204" pitchFamily="34" charset="0"/>
                <a:ea typeface="Calibri" panose="020F0502020204030204" pitchFamily="34" charset="0"/>
                <a:cs typeface="Times New Roman" panose="02020603050405020304" pitchFamily="18" charset="0"/>
              </a:rPr>
              <a:t>Pull in the Consolidated Screening List – </a:t>
            </a:r>
            <a:r>
              <a:rPr lang="en-US" sz="2400" dirty="0" err="1">
                <a:latin typeface="Calibri" panose="020F0502020204030204" pitchFamily="34" charset="0"/>
                <a:ea typeface="Calibri" panose="020F0502020204030204" pitchFamily="34" charset="0"/>
                <a:cs typeface="Times New Roman" panose="02020603050405020304" pitchFamily="18" charset="0"/>
              </a:rPr>
              <a:t>Modified.yxdb</a:t>
            </a:r>
            <a:r>
              <a:rPr lang="en-US" sz="2400" dirty="0">
                <a:latin typeface="Calibri" panose="020F0502020204030204" pitchFamily="34" charset="0"/>
                <a:ea typeface="Calibri" panose="020F0502020204030204" pitchFamily="34" charset="0"/>
                <a:cs typeface="Times New Roman" panose="02020603050405020304" pitchFamily="18" charset="0"/>
              </a:rPr>
              <a:t>, clean the names by removing punctuation and standardizing case, and add a unique identifier to each record.</a:t>
            </a:r>
          </a:p>
          <a:p>
            <a:pPr marL="457189" indent="-457189">
              <a:lnSpc>
                <a:spcPct val="107000"/>
              </a:lnSpc>
              <a:buFont typeface="+mj-lt"/>
              <a:buAutoNum type="arabicPeriod"/>
            </a:pPr>
            <a:r>
              <a:rPr lang="en-US" sz="2400" dirty="0">
                <a:latin typeface="Calibri" panose="020F0502020204030204" pitchFamily="34" charset="0"/>
                <a:ea typeface="Calibri" panose="020F0502020204030204" pitchFamily="34" charset="0"/>
                <a:cs typeface="Times New Roman" panose="02020603050405020304" pitchFamily="18" charset="0"/>
              </a:rPr>
              <a:t>Identify the vendors that are present on the OFAC list, and organize those vendors by date with the newest vendors first. Remove any fields that are entirely blank.</a:t>
            </a:r>
          </a:p>
          <a:p>
            <a:pPr marL="457189" indent="-457189">
              <a:lnSpc>
                <a:spcPct val="107000"/>
              </a:lnSpc>
              <a:spcAft>
                <a:spcPts val="1067"/>
              </a:spcAft>
              <a:buFont typeface="+mj-lt"/>
              <a:buAutoNum type="arabicPeriod"/>
            </a:pPr>
            <a:r>
              <a:rPr lang="en-US" sz="2400" dirty="0">
                <a:latin typeface="Calibri" panose="020F0502020204030204" pitchFamily="34" charset="0"/>
                <a:ea typeface="Calibri" panose="020F0502020204030204" pitchFamily="34" charset="0"/>
                <a:cs typeface="Times New Roman" panose="02020603050405020304" pitchFamily="18" charset="0"/>
              </a:rPr>
              <a:t>Output an Excel file of those vendors with a separate tab for each status.</a:t>
            </a:r>
          </a:p>
          <a:p>
            <a:endParaRPr lang="en-US" dirty="0"/>
          </a:p>
        </p:txBody>
      </p:sp>
    </p:spTree>
    <p:extLst>
      <p:ext uri="{BB962C8B-B14F-4D97-AF65-F5344CB8AC3E}">
        <p14:creationId xmlns:p14="http://schemas.microsoft.com/office/powerpoint/2010/main" val="106104232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710DF-EC49-041F-183B-FA4D57C096A4}"/>
              </a:ext>
            </a:extLst>
          </p:cNvPr>
          <p:cNvSpPr>
            <a:spLocks noGrp="1"/>
          </p:cNvSpPr>
          <p:nvPr>
            <p:ph type="title"/>
          </p:nvPr>
        </p:nvSpPr>
        <p:spPr>
          <a:xfrm>
            <a:off x="0" y="354233"/>
            <a:ext cx="11187404" cy="1359283"/>
          </a:xfrm>
        </p:spPr>
        <p:txBody>
          <a:bodyPr/>
          <a:lstStyle/>
          <a:p>
            <a:r>
              <a:rPr lang="en-US" dirty="0"/>
              <a:t>Starter files</a:t>
            </a:r>
          </a:p>
        </p:txBody>
      </p:sp>
      <p:pic>
        <p:nvPicPr>
          <p:cNvPr id="8" name="Picture 7">
            <a:extLst>
              <a:ext uri="{FF2B5EF4-FFF2-40B4-BE49-F238E27FC236}">
                <a16:creationId xmlns:a16="http://schemas.microsoft.com/office/drawing/2014/main" id="{BF659FC1-3F8D-C819-EA23-FF036C467B2E}"/>
              </a:ext>
            </a:extLst>
          </p:cNvPr>
          <p:cNvPicPr>
            <a:picLocks noChangeAspect="1"/>
          </p:cNvPicPr>
          <p:nvPr/>
        </p:nvPicPr>
        <p:blipFill>
          <a:blip r:embed="rId2"/>
          <a:stretch>
            <a:fillRect/>
          </a:stretch>
        </p:blipFill>
        <p:spPr>
          <a:xfrm>
            <a:off x="1556716" y="2719045"/>
            <a:ext cx="9078567" cy="1605819"/>
          </a:xfrm>
          <a:prstGeom prst="rect">
            <a:avLst/>
          </a:prstGeom>
        </p:spPr>
      </p:pic>
    </p:spTree>
    <p:extLst>
      <p:ext uri="{BB962C8B-B14F-4D97-AF65-F5344CB8AC3E}">
        <p14:creationId xmlns:p14="http://schemas.microsoft.com/office/powerpoint/2010/main" val="3905361534"/>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6716F-E26B-BEF3-8671-36DC24499D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97F232-7103-3529-D912-6E74C4251A63}"/>
              </a:ext>
            </a:extLst>
          </p:cNvPr>
          <p:cNvSpPr>
            <a:spLocks noGrp="1"/>
          </p:cNvSpPr>
          <p:nvPr>
            <p:ph type="title"/>
          </p:nvPr>
        </p:nvSpPr>
        <p:spPr>
          <a:xfrm>
            <a:off x="0" y="354233"/>
            <a:ext cx="11187404" cy="1359283"/>
          </a:xfrm>
        </p:spPr>
        <p:txBody>
          <a:bodyPr/>
          <a:lstStyle/>
          <a:p>
            <a:r>
              <a:rPr lang="en-US" dirty="0"/>
              <a:t>Extension</a:t>
            </a:r>
          </a:p>
        </p:txBody>
      </p:sp>
      <p:sp>
        <p:nvSpPr>
          <p:cNvPr id="3" name="Content Placeholder 2">
            <a:extLst>
              <a:ext uri="{FF2B5EF4-FFF2-40B4-BE49-F238E27FC236}">
                <a16:creationId xmlns:a16="http://schemas.microsoft.com/office/drawing/2014/main" id="{33B70A2F-8F50-2EC7-D47A-0A01020C2F92}"/>
              </a:ext>
            </a:extLst>
          </p:cNvPr>
          <p:cNvSpPr>
            <a:spLocks noGrp="1"/>
          </p:cNvSpPr>
          <p:nvPr>
            <p:ph idx="1"/>
          </p:nvPr>
        </p:nvSpPr>
        <p:spPr>
          <a:xfrm>
            <a:off x="214604" y="1611916"/>
            <a:ext cx="10972800" cy="2896242"/>
          </a:xfrm>
        </p:spPr>
        <p:txBody>
          <a:bodyPr/>
          <a:lstStyle/>
          <a:p>
            <a:pPr>
              <a:lnSpc>
                <a:spcPct val="107000"/>
              </a:lnSpc>
              <a:spcAft>
                <a:spcPts val="1067"/>
              </a:spcAft>
            </a:pPr>
            <a:r>
              <a:rPr lang="en-US" sz="2400" dirty="0">
                <a:latin typeface="Calibri" panose="020F0502020204030204" pitchFamily="34" charset="0"/>
                <a:ea typeface="Calibri" panose="020F0502020204030204" pitchFamily="34" charset="0"/>
                <a:cs typeface="Times New Roman" panose="02020603050405020304" pitchFamily="18" charset="0"/>
              </a:rPr>
              <a:t>Determine whether any of the vendors are on the OFAC CSL. Create a single output file with all of the vendors that are on the list separated into three tabs based on the vendor’s status. </a:t>
            </a:r>
          </a:p>
          <a:p>
            <a:r>
              <a:rPr lang="en-US" sz="2400" b="1" i="1" dirty="0">
                <a:solidFill>
                  <a:srgbClr val="412985"/>
                </a:solidFill>
                <a:latin typeface="Calibri" panose="020F0502020204030204" pitchFamily="34" charset="0"/>
                <a:ea typeface="Calibri" panose="020F0502020204030204" pitchFamily="34" charset="0"/>
                <a:cs typeface="Times New Roman" panose="02020603050405020304" pitchFamily="18" charset="0"/>
              </a:rPr>
              <a:t>Also attempt</a:t>
            </a:r>
            <a:r>
              <a:rPr lang="en-US" sz="2400" i="1" dirty="0">
                <a:latin typeface="Calibri" panose="020F0502020204030204" pitchFamily="34" charset="0"/>
                <a:ea typeface="Calibri" panose="020F0502020204030204" pitchFamily="34" charset="0"/>
                <a:cs typeface="Times New Roman" panose="02020603050405020304" pitchFamily="18" charset="0"/>
              </a:rPr>
              <a:t>: In a real-world process we would want to check for names that are similar but slightly different (think Fred vs. Freddy). In this example, exact matches are all we are looking for, but in some instances companies might want to </a:t>
            </a:r>
            <a:r>
              <a:rPr lang="en-US" sz="2400" b="1" i="1" dirty="0">
                <a:solidFill>
                  <a:srgbClr val="412985"/>
                </a:solidFill>
                <a:latin typeface="Calibri" panose="020F0502020204030204" pitchFamily="34" charset="0"/>
                <a:ea typeface="Calibri" panose="020F0502020204030204" pitchFamily="34" charset="0"/>
                <a:cs typeface="Times New Roman" panose="02020603050405020304" pitchFamily="18" charset="0"/>
              </a:rPr>
              <a:t>utilize fuzzy matching to identify pairs that are close but not exact</a:t>
            </a:r>
            <a:r>
              <a:rPr lang="en-US" sz="2400" i="1" dirty="0">
                <a:latin typeface="Calibri" panose="020F0502020204030204" pitchFamily="34" charset="0"/>
                <a:ea typeface="Calibri" panose="020F0502020204030204" pitchFamily="34" charset="0"/>
                <a:cs typeface="Times New Roman" panose="02020603050405020304" pitchFamily="18" charset="0"/>
              </a:rPr>
              <a:t>.</a:t>
            </a:r>
            <a:endParaRPr lang="en-US" dirty="0"/>
          </a:p>
        </p:txBody>
      </p:sp>
      <p:pic>
        <p:nvPicPr>
          <p:cNvPr id="5" name="Picture 4">
            <a:extLst>
              <a:ext uri="{FF2B5EF4-FFF2-40B4-BE49-F238E27FC236}">
                <a16:creationId xmlns:a16="http://schemas.microsoft.com/office/drawing/2014/main" id="{4AF116A5-3739-954A-5667-F33CEAD332FB}"/>
              </a:ext>
            </a:extLst>
          </p:cNvPr>
          <p:cNvPicPr>
            <a:picLocks noChangeAspect="1"/>
          </p:cNvPicPr>
          <p:nvPr/>
        </p:nvPicPr>
        <p:blipFill>
          <a:blip r:embed="rId2"/>
          <a:stretch>
            <a:fillRect/>
          </a:stretch>
        </p:blipFill>
        <p:spPr>
          <a:xfrm>
            <a:off x="2721966" y="4432535"/>
            <a:ext cx="6434391" cy="2425465"/>
          </a:xfrm>
          <a:prstGeom prst="rect">
            <a:avLst/>
          </a:prstGeom>
        </p:spPr>
      </p:pic>
    </p:spTree>
    <p:extLst>
      <p:ext uri="{BB962C8B-B14F-4D97-AF65-F5344CB8AC3E}">
        <p14:creationId xmlns:p14="http://schemas.microsoft.com/office/powerpoint/2010/main" val="1675341330"/>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A7188ED-CD1E-3C52-B450-FDCF205ADF87}"/>
              </a:ext>
            </a:extLst>
          </p:cNvPr>
          <p:cNvPicPr>
            <a:picLocks noChangeAspect="1"/>
          </p:cNvPicPr>
          <p:nvPr/>
        </p:nvPicPr>
        <p:blipFill>
          <a:blip r:embed="rId2"/>
          <a:stretch>
            <a:fillRect/>
          </a:stretch>
        </p:blipFill>
        <p:spPr>
          <a:xfrm>
            <a:off x="5187211" y="0"/>
            <a:ext cx="6887904" cy="6858000"/>
          </a:xfrm>
          <a:prstGeom prst="rect">
            <a:avLst/>
          </a:prstGeom>
        </p:spPr>
      </p:pic>
      <p:cxnSp>
        <p:nvCxnSpPr>
          <p:cNvPr id="7" name="Straight Arrow Connector 6">
            <a:extLst>
              <a:ext uri="{FF2B5EF4-FFF2-40B4-BE49-F238E27FC236}">
                <a16:creationId xmlns:a16="http://schemas.microsoft.com/office/drawing/2014/main" id="{67239E85-47BD-5839-5037-CEB75D0F1C4A}"/>
              </a:ext>
            </a:extLst>
          </p:cNvPr>
          <p:cNvCxnSpPr/>
          <p:nvPr/>
        </p:nvCxnSpPr>
        <p:spPr>
          <a:xfrm>
            <a:off x="2741587" y="1438527"/>
            <a:ext cx="2722236" cy="4064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D72F8040-A270-5038-09B2-05E21482F53C}"/>
              </a:ext>
            </a:extLst>
          </p:cNvPr>
          <p:cNvCxnSpPr>
            <a:cxnSpLocks/>
          </p:cNvCxnSpPr>
          <p:nvPr/>
        </p:nvCxnSpPr>
        <p:spPr>
          <a:xfrm>
            <a:off x="2360991" y="2425499"/>
            <a:ext cx="3102832" cy="174171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F011F113-1750-3262-0504-27E590DC0C8C}"/>
              </a:ext>
            </a:extLst>
          </p:cNvPr>
          <p:cNvSpPr txBox="1"/>
          <p:nvPr/>
        </p:nvSpPr>
        <p:spPr>
          <a:xfrm>
            <a:off x="986973" y="946085"/>
            <a:ext cx="3116431" cy="461665"/>
          </a:xfrm>
          <a:prstGeom prst="rect">
            <a:avLst/>
          </a:prstGeom>
          <a:noFill/>
        </p:spPr>
        <p:txBody>
          <a:bodyPr wrap="none" rtlCol="0">
            <a:spAutoFit/>
          </a:bodyPr>
          <a:lstStyle/>
          <a:p>
            <a:r>
              <a:rPr lang="en-US" sz="2400" dirty="0"/>
              <a:t>Are any of these names</a:t>
            </a:r>
          </a:p>
        </p:txBody>
      </p:sp>
      <p:sp>
        <p:nvSpPr>
          <p:cNvPr id="13" name="TextBox 12">
            <a:extLst>
              <a:ext uri="{FF2B5EF4-FFF2-40B4-BE49-F238E27FC236}">
                <a16:creationId xmlns:a16="http://schemas.microsoft.com/office/drawing/2014/main" id="{5F9D266C-37AE-643F-4315-486D04565ACD}"/>
              </a:ext>
            </a:extLst>
          </p:cNvPr>
          <p:cNvSpPr txBox="1"/>
          <p:nvPr/>
        </p:nvSpPr>
        <p:spPr>
          <a:xfrm>
            <a:off x="793448" y="2115862"/>
            <a:ext cx="1646348" cy="461665"/>
          </a:xfrm>
          <a:prstGeom prst="rect">
            <a:avLst/>
          </a:prstGeom>
          <a:noFill/>
        </p:spPr>
        <p:txBody>
          <a:bodyPr wrap="none" rtlCol="0">
            <a:spAutoFit/>
          </a:bodyPr>
          <a:lstStyle/>
          <a:p>
            <a:r>
              <a:rPr lang="en-US" sz="2400" dirty="0"/>
              <a:t>On this list?</a:t>
            </a:r>
          </a:p>
        </p:txBody>
      </p:sp>
    </p:spTree>
    <p:extLst>
      <p:ext uri="{BB962C8B-B14F-4D97-AF65-F5344CB8AC3E}">
        <p14:creationId xmlns:p14="http://schemas.microsoft.com/office/powerpoint/2010/main" val="2485182487"/>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75D000-6812-3972-A9BA-EAFDC875CFCC}"/>
              </a:ext>
            </a:extLst>
          </p:cNvPr>
          <p:cNvPicPr>
            <a:picLocks noChangeAspect="1"/>
          </p:cNvPicPr>
          <p:nvPr/>
        </p:nvPicPr>
        <p:blipFill>
          <a:blip r:embed="rId2"/>
          <a:stretch>
            <a:fillRect/>
          </a:stretch>
        </p:blipFill>
        <p:spPr>
          <a:xfrm>
            <a:off x="0" y="455003"/>
            <a:ext cx="12192000" cy="5947994"/>
          </a:xfrm>
          <a:prstGeom prst="rect">
            <a:avLst/>
          </a:prstGeom>
        </p:spPr>
      </p:pic>
    </p:spTree>
    <p:extLst>
      <p:ext uri="{BB962C8B-B14F-4D97-AF65-F5344CB8AC3E}">
        <p14:creationId xmlns:p14="http://schemas.microsoft.com/office/powerpoint/2010/main" val="1256636490"/>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94D41-0433-083F-B07E-784B105C26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259C06-240A-6346-8438-A7EC931BB3C0}"/>
              </a:ext>
            </a:extLst>
          </p:cNvPr>
          <p:cNvSpPr>
            <a:spLocks noGrp="1"/>
          </p:cNvSpPr>
          <p:nvPr>
            <p:ph type="title"/>
          </p:nvPr>
        </p:nvSpPr>
        <p:spPr/>
        <p:txBody>
          <a:bodyPr/>
          <a:lstStyle/>
          <a:p>
            <a:r>
              <a:rPr lang="en-US" dirty="0"/>
              <a:t>Welcome!</a:t>
            </a:r>
          </a:p>
        </p:txBody>
      </p:sp>
      <p:sp>
        <p:nvSpPr>
          <p:cNvPr id="3" name="Content Placeholder 2">
            <a:extLst>
              <a:ext uri="{FF2B5EF4-FFF2-40B4-BE49-F238E27FC236}">
                <a16:creationId xmlns:a16="http://schemas.microsoft.com/office/drawing/2014/main" id="{54D02DC5-7062-FD06-8D0F-7D90D9B458FE}"/>
              </a:ext>
            </a:extLst>
          </p:cNvPr>
          <p:cNvSpPr>
            <a:spLocks noGrp="1"/>
          </p:cNvSpPr>
          <p:nvPr>
            <p:ph idx="1"/>
          </p:nvPr>
        </p:nvSpPr>
        <p:spPr>
          <a:xfrm>
            <a:off x="370632" y="2061289"/>
            <a:ext cx="10994053" cy="2980175"/>
          </a:xfrm>
        </p:spPr>
        <p:txBody>
          <a:bodyPr/>
          <a:lstStyle/>
          <a:p>
            <a:r>
              <a:rPr lang="en-US" sz="2800" b="1" dirty="0"/>
              <a:t>Class Agenda</a:t>
            </a:r>
          </a:p>
          <a:p>
            <a:pPr marL="571500" indent="-571500">
              <a:buFont typeface="Arial" panose="020B0604020202020204" pitchFamily="34" charset="0"/>
              <a:buChar char="•"/>
            </a:pPr>
            <a:r>
              <a:rPr lang="en-US" sz="2800" dirty="0">
                <a:solidFill>
                  <a:schemeClr val="bg1">
                    <a:lumMod val="75000"/>
                  </a:schemeClr>
                </a:solidFill>
              </a:rPr>
              <a:t>Review: Multi-Row Formula tool</a:t>
            </a:r>
          </a:p>
          <a:p>
            <a:pPr marL="571500" indent="-571500">
              <a:buFont typeface="Arial" panose="020B0604020202020204" pitchFamily="34" charset="0"/>
              <a:buChar char="•"/>
            </a:pPr>
            <a:r>
              <a:rPr lang="en-US" sz="2800" b="1" dirty="0">
                <a:solidFill>
                  <a:srgbClr val="4B2E84"/>
                </a:solidFill>
              </a:rPr>
              <a:t>Lab:</a:t>
            </a:r>
          </a:p>
          <a:p>
            <a:pPr marL="1331365" lvl="1" indent="-571500"/>
            <a:r>
              <a:rPr lang="en-US" sz="2133" dirty="0">
                <a:solidFill>
                  <a:schemeClr val="bg1">
                    <a:lumMod val="75000"/>
                  </a:schemeClr>
                </a:solidFill>
              </a:rPr>
              <a:t>Case 2. Vendor Analysis / Suspect Vendors</a:t>
            </a:r>
          </a:p>
          <a:p>
            <a:pPr marL="1331365" lvl="1" indent="-571500"/>
            <a:r>
              <a:rPr lang="en-US" sz="2133" b="1" dirty="0">
                <a:solidFill>
                  <a:srgbClr val="4B2E84"/>
                </a:solidFill>
              </a:rPr>
              <a:t>Case 3. PO Splitting</a:t>
            </a:r>
            <a:endParaRPr lang="en-US" sz="2800" b="1" dirty="0">
              <a:solidFill>
                <a:srgbClr val="4B2E84"/>
              </a:solidFill>
            </a:endParaRPr>
          </a:p>
          <a:p>
            <a:pPr marL="571500" indent="-571500">
              <a:buFont typeface="Arial" panose="020B0604020202020204" pitchFamily="34" charset="0"/>
              <a:buChar char="•"/>
            </a:pPr>
            <a:r>
              <a:rPr lang="en-US" sz="2800" dirty="0"/>
              <a:t>Conclusion and look ahead</a:t>
            </a:r>
          </a:p>
          <a:p>
            <a:pPr marL="571500" indent="-571500">
              <a:buFont typeface="Arial" panose="020B0604020202020204" pitchFamily="34" charset="0"/>
              <a:buChar char="•"/>
            </a:pPr>
            <a:endParaRPr lang="en-US" sz="2800" dirty="0"/>
          </a:p>
        </p:txBody>
      </p:sp>
    </p:spTree>
    <p:extLst>
      <p:ext uri="{BB962C8B-B14F-4D97-AF65-F5344CB8AC3E}">
        <p14:creationId xmlns:p14="http://schemas.microsoft.com/office/powerpoint/2010/main" val="227363844"/>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DD89E-A2F5-2AD2-9EB2-857BF2AFC92E}"/>
              </a:ext>
            </a:extLst>
          </p:cNvPr>
          <p:cNvSpPr>
            <a:spLocks noGrp="1"/>
          </p:cNvSpPr>
          <p:nvPr>
            <p:ph type="title"/>
          </p:nvPr>
        </p:nvSpPr>
        <p:spPr>
          <a:xfrm>
            <a:off x="0" y="354233"/>
            <a:ext cx="11187404" cy="1359283"/>
          </a:xfrm>
        </p:spPr>
        <p:txBody>
          <a:bodyPr/>
          <a:lstStyle/>
          <a:p>
            <a:r>
              <a:rPr lang="en-US" dirty="0"/>
              <a:t>Overview</a:t>
            </a:r>
          </a:p>
        </p:txBody>
      </p:sp>
      <p:sp>
        <p:nvSpPr>
          <p:cNvPr id="3" name="Content Placeholder 2">
            <a:extLst>
              <a:ext uri="{FF2B5EF4-FFF2-40B4-BE49-F238E27FC236}">
                <a16:creationId xmlns:a16="http://schemas.microsoft.com/office/drawing/2014/main" id="{FA9AE3BB-B9E0-2E52-7378-CF6FD452B434}"/>
              </a:ext>
            </a:extLst>
          </p:cNvPr>
          <p:cNvSpPr>
            <a:spLocks noGrp="1"/>
          </p:cNvSpPr>
          <p:nvPr>
            <p:ph idx="1"/>
          </p:nvPr>
        </p:nvSpPr>
        <p:spPr>
          <a:xfrm>
            <a:off x="370632" y="2061289"/>
            <a:ext cx="10994053" cy="3785652"/>
          </a:xfrm>
        </p:spPr>
        <p:txBody>
          <a:bodyPr/>
          <a:lstStyle/>
          <a:p>
            <a:r>
              <a:rPr lang="en-US" sz="2400" dirty="0"/>
              <a:t>In most companies, employees with purchasing authority have a monetary limit on how much they can purchase without management authorization. For example, an IT manager may be able to purchase up to $50,000 in software and equipment. Any amount over that would require director approval. In practice, this means that the IT manager requires director approval for any Purchase Order (PO) with a purchase amount over $50,000. If a manager wants to purchase $75,000, they could try to get around this by issuing two POs to the same vendor totaling $75,000 but each being less than $50,000. This is a violation of corporate compliance rules known as “PO Splitting.”</a:t>
            </a:r>
          </a:p>
        </p:txBody>
      </p:sp>
    </p:spTree>
    <p:extLst>
      <p:ext uri="{BB962C8B-B14F-4D97-AF65-F5344CB8AC3E}">
        <p14:creationId xmlns:p14="http://schemas.microsoft.com/office/powerpoint/2010/main" val="372431251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D56DD-26F9-C1C3-AD23-1EFE19B3E320}"/>
              </a:ext>
            </a:extLst>
          </p:cNvPr>
          <p:cNvSpPr>
            <a:spLocks noGrp="1"/>
          </p:cNvSpPr>
          <p:nvPr>
            <p:ph type="title"/>
          </p:nvPr>
        </p:nvSpPr>
        <p:spPr>
          <a:xfrm>
            <a:off x="0" y="354233"/>
            <a:ext cx="11187404" cy="1359283"/>
          </a:xfrm>
        </p:spPr>
        <p:txBody>
          <a:bodyPr/>
          <a:lstStyle/>
          <a:p>
            <a:r>
              <a:rPr lang="en-US" dirty="0"/>
              <a:t>Objective</a:t>
            </a:r>
          </a:p>
        </p:txBody>
      </p:sp>
      <p:sp>
        <p:nvSpPr>
          <p:cNvPr id="3" name="Content Placeholder 2">
            <a:extLst>
              <a:ext uri="{FF2B5EF4-FFF2-40B4-BE49-F238E27FC236}">
                <a16:creationId xmlns:a16="http://schemas.microsoft.com/office/drawing/2014/main" id="{1750BA79-5515-3365-0401-F0C55A08D123}"/>
              </a:ext>
            </a:extLst>
          </p:cNvPr>
          <p:cNvSpPr>
            <a:spLocks noGrp="1"/>
          </p:cNvSpPr>
          <p:nvPr>
            <p:ph idx="1"/>
          </p:nvPr>
        </p:nvSpPr>
        <p:spPr>
          <a:xfrm>
            <a:off x="370632" y="2061289"/>
            <a:ext cx="10994053" cy="3244478"/>
          </a:xfrm>
        </p:spPr>
        <p:txBody>
          <a:bodyPr/>
          <a:lstStyle/>
          <a:p>
            <a:r>
              <a:rPr lang="en-US" sz="2800" dirty="0"/>
              <a:t>Create a simple workflow to detect PO splitting. In this case we are looking for multiple POs to the same vendor within a three-day period. At this point we are not checking to see if the same buyer is issuing the POs. (It is possible that there is collusion between employees to hide the splitting so there would need to be further examination of the POs found by our analysis). </a:t>
            </a:r>
          </a:p>
          <a:p>
            <a:endParaRPr lang="en-US" dirty="0"/>
          </a:p>
        </p:txBody>
      </p:sp>
    </p:spTree>
    <p:extLst>
      <p:ext uri="{BB962C8B-B14F-4D97-AF65-F5344CB8AC3E}">
        <p14:creationId xmlns:p14="http://schemas.microsoft.com/office/powerpoint/2010/main" val="3413305566"/>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08330-B4AA-43E5-FA9B-F8A997D4632E}"/>
              </a:ext>
            </a:extLst>
          </p:cNvPr>
          <p:cNvSpPr>
            <a:spLocks noGrp="1"/>
          </p:cNvSpPr>
          <p:nvPr>
            <p:ph type="title"/>
          </p:nvPr>
        </p:nvSpPr>
        <p:spPr>
          <a:xfrm>
            <a:off x="0" y="354233"/>
            <a:ext cx="11187404" cy="1359283"/>
          </a:xfrm>
        </p:spPr>
        <p:txBody>
          <a:bodyPr/>
          <a:lstStyle/>
          <a:p>
            <a:r>
              <a:rPr lang="en-US" dirty="0"/>
              <a:t>Process</a:t>
            </a:r>
          </a:p>
        </p:txBody>
      </p:sp>
      <p:sp>
        <p:nvSpPr>
          <p:cNvPr id="3" name="Content Placeholder 2">
            <a:extLst>
              <a:ext uri="{FF2B5EF4-FFF2-40B4-BE49-F238E27FC236}">
                <a16:creationId xmlns:a16="http://schemas.microsoft.com/office/drawing/2014/main" id="{3D71BB82-CB18-8F69-F00F-861FA3E593C4}"/>
              </a:ext>
            </a:extLst>
          </p:cNvPr>
          <p:cNvSpPr>
            <a:spLocks noGrp="1"/>
          </p:cNvSpPr>
          <p:nvPr>
            <p:ph idx="1"/>
          </p:nvPr>
        </p:nvSpPr>
        <p:spPr>
          <a:xfrm>
            <a:off x="370632" y="2061289"/>
            <a:ext cx="10994053" cy="4144724"/>
          </a:xfrm>
        </p:spPr>
        <p:txBody>
          <a:bodyPr/>
          <a:lstStyle/>
          <a:p>
            <a:pPr marL="514350" indent="-514350">
              <a:buFont typeface="+mj-lt"/>
              <a:buAutoNum type="arabicPeriod"/>
            </a:pPr>
            <a:r>
              <a:rPr lang="en-US" sz="2800" dirty="0"/>
              <a:t>The input file has PO line-item detail. The first step is to remove inactive PO’s, eliminate fields specific to the PO line, and retain only one record for each PO. </a:t>
            </a:r>
          </a:p>
          <a:p>
            <a:pPr marL="514350" indent="-514350">
              <a:buFont typeface="+mj-lt"/>
              <a:buAutoNum type="arabicPeriod"/>
            </a:pPr>
            <a:r>
              <a:rPr lang="en-US" sz="2800" dirty="0"/>
              <a:t>Then identify the vendors to whom multiple POs have been issued. </a:t>
            </a:r>
          </a:p>
          <a:p>
            <a:pPr marL="514350" indent="-514350">
              <a:buFont typeface="+mj-lt"/>
              <a:buAutoNum type="arabicPeriod"/>
            </a:pPr>
            <a:r>
              <a:rPr lang="en-US" sz="2800" dirty="0"/>
              <a:t>Determine if there are any vendors where the interval between their consecutive transaction dates is 3 days or less. </a:t>
            </a:r>
          </a:p>
          <a:p>
            <a:pPr marL="514350" indent="-514350">
              <a:buFont typeface="+mj-lt"/>
              <a:buAutoNum type="arabicPeriod"/>
            </a:pPr>
            <a:r>
              <a:rPr lang="en-US" sz="2800" dirty="0"/>
              <a:t>Output this list for further investigation.</a:t>
            </a:r>
          </a:p>
          <a:p>
            <a:endParaRPr lang="en-US" dirty="0"/>
          </a:p>
        </p:txBody>
      </p:sp>
    </p:spTree>
    <p:extLst>
      <p:ext uri="{BB962C8B-B14F-4D97-AF65-F5344CB8AC3E}">
        <p14:creationId xmlns:p14="http://schemas.microsoft.com/office/powerpoint/2010/main" val="956702471"/>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F72C7-ED17-D657-090D-E63D55078FDC}"/>
              </a:ext>
            </a:extLst>
          </p:cNvPr>
          <p:cNvSpPr>
            <a:spLocks noGrp="1"/>
          </p:cNvSpPr>
          <p:nvPr>
            <p:ph type="title"/>
          </p:nvPr>
        </p:nvSpPr>
        <p:spPr>
          <a:xfrm>
            <a:off x="0" y="354233"/>
            <a:ext cx="11187404" cy="1359283"/>
          </a:xfrm>
        </p:spPr>
        <p:txBody>
          <a:bodyPr/>
          <a:lstStyle/>
          <a:p>
            <a:r>
              <a:rPr lang="en-US" dirty="0"/>
              <a:t>Starter Files</a:t>
            </a:r>
          </a:p>
        </p:txBody>
      </p:sp>
      <p:pic>
        <p:nvPicPr>
          <p:cNvPr id="5" name="Picture 4">
            <a:extLst>
              <a:ext uri="{FF2B5EF4-FFF2-40B4-BE49-F238E27FC236}">
                <a16:creationId xmlns:a16="http://schemas.microsoft.com/office/drawing/2014/main" id="{B21EAEFA-57B2-B1CC-9BBA-FB833A934917}"/>
              </a:ext>
            </a:extLst>
          </p:cNvPr>
          <p:cNvPicPr>
            <a:picLocks noChangeAspect="1"/>
          </p:cNvPicPr>
          <p:nvPr/>
        </p:nvPicPr>
        <p:blipFill>
          <a:blip r:embed="rId2"/>
          <a:stretch>
            <a:fillRect/>
          </a:stretch>
        </p:blipFill>
        <p:spPr>
          <a:xfrm>
            <a:off x="1132109" y="2717356"/>
            <a:ext cx="8923185" cy="2077066"/>
          </a:xfrm>
          <a:prstGeom prst="rect">
            <a:avLst/>
          </a:prstGeom>
        </p:spPr>
      </p:pic>
    </p:spTree>
    <p:extLst>
      <p:ext uri="{BB962C8B-B14F-4D97-AF65-F5344CB8AC3E}">
        <p14:creationId xmlns:p14="http://schemas.microsoft.com/office/powerpoint/2010/main" val="2859756677"/>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996B890-5C50-FEF1-B66D-DE1FB11843B5}"/>
              </a:ext>
            </a:extLst>
          </p:cNvPr>
          <p:cNvPicPr>
            <a:picLocks noChangeAspect="1"/>
          </p:cNvPicPr>
          <p:nvPr/>
        </p:nvPicPr>
        <p:blipFill>
          <a:blip r:embed="rId2"/>
          <a:stretch>
            <a:fillRect/>
          </a:stretch>
        </p:blipFill>
        <p:spPr>
          <a:xfrm>
            <a:off x="5152574" y="51916"/>
            <a:ext cx="6458851" cy="6754168"/>
          </a:xfrm>
          <a:prstGeom prst="rect">
            <a:avLst/>
          </a:prstGeom>
        </p:spPr>
      </p:pic>
    </p:spTree>
    <p:extLst>
      <p:ext uri="{BB962C8B-B14F-4D97-AF65-F5344CB8AC3E}">
        <p14:creationId xmlns:p14="http://schemas.microsoft.com/office/powerpoint/2010/main" val="3425985265"/>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8F7DB39-F9C3-FA71-25A3-4B23E9FBDBB6}"/>
              </a:ext>
            </a:extLst>
          </p:cNvPr>
          <p:cNvPicPr>
            <a:picLocks noChangeAspect="1"/>
          </p:cNvPicPr>
          <p:nvPr/>
        </p:nvPicPr>
        <p:blipFill>
          <a:blip r:embed="rId2"/>
          <a:stretch>
            <a:fillRect/>
          </a:stretch>
        </p:blipFill>
        <p:spPr>
          <a:xfrm>
            <a:off x="0" y="2312267"/>
            <a:ext cx="12192000" cy="2233466"/>
          </a:xfrm>
          <a:prstGeom prst="rect">
            <a:avLst/>
          </a:prstGeom>
        </p:spPr>
      </p:pic>
    </p:spTree>
    <p:extLst>
      <p:ext uri="{BB962C8B-B14F-4D97-AF65-F5344CB8AC3E}">
        <p14:creationId xmlns:p14="http://schemas.microsoft.com/office/powerpoint/2010/main" val="477483285"/>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A6FD9-0B8C-482E-AC95-60C518531042}"/>
              </a:ext>
            </a:extLst>
          </p:cNvPr>
          <p:cNvSpPr>
            <a:spLocks noGrp="1"/>
          </p:cNvSpPr>
          <p:nvPr>
            <p:ph type="title"/>
          </p:nvPr>
        </p:nvSpPr>
        <p:spPr/>
        <p:txBody>
          <a:bodyPr/>
          <a:lstStyle/>
          <a:p>
            <a:r>
              <a:rPr lang="en-US" dirty="0"/>
              <a:t>Conclusion and look-ahead</a:t>
            </a:r>
          </a:p>
        </p:txBody>
      </p:sp>
      <p:sp>
        <p:nvSpPr>
          <p:cNvPr id="3" name="Content Placeholder 2">
            <a:extLst>
              <a:ext uri="{FF2B5EF4-FFF2-40B4-BE49-F238E27FC236}">
                <a16:creationId xmlns:a16="http://schemas.microsoft.com/office/drawing/2014/main" id="{DCC94BA5-329A-4FA8-8D31-F5D00F1C6098}"/>
              </a:ext>
            </a:extLst>
          </p:cNvPr>
          <p:cNvSpPr>
            <a:spLocks noGrp="1"/>
          </p:cNvSpPr>
          <p:nvPr>
            <p:ph idx="1"/>
          </p:nvPr>
        </p:nvSpPr>
        <p:spPr>
          <a:xfrm>
            <a:off x="370632" y="2061289"/>
            <a:ext cx="10994053" cy="2346796"/>
          </a:xfrm>
        </p:spPr>
        <p:txBody>
          <a:bodyPr/>
          <a:lstStyle/>
          <a:p>
            <a:r>
              <a:rPr lang="en-US" sz="3200" b="1" dirty="0"/>
              <a:t>Next 2 classes:</a:t>
            </a:r>
          </a:p>
          <a:p>
            <a:pPr marL="571500" indent="-571500">
              <a:buFont typeface="Arial" panose="020B0604020202020204" pitchFamily="34" charset="0"/>
              <a:buChar char="•"/>
            </a:pPr>
            <a:r>
              <a:rPr lang="en-US" sz="2800" dirty="0"/>
              <a:t>Accounting and finance function analytics part 3 using  Alteryx (1 class / 1-2 longer cases).</a:t>
            </a:r>
          </a:p>
          <a:p>
            <a:pPr marL="571500" indent="-571500">
              <a:buFont typeface="Arial" panose="020B0604020202020204" pitchFamily="34" charset="0"/>
              <a:buChar char="•"/>
            </a:pPr>
            <a:r>
              <a:rPr lang="en-US" sz="2800" dirty="0"/>
              <a:t>Alteryx Escape Room Challenge. </a:t>
            </a:r>
          </a:p>
          <a:p>
            <a:endParaRPr lang="en-US" sz="2800" b="1" dirty="0"/>
          </a:p>
        </p:txBody>
      </p:sp>
    </p:spTree>
    <p:extLst>
      <p:ext uri="{BB962C8B-B14F-4D97-AF65-F5344CB8AC3E}">
        <p14:creationId xmlns:p14="http://schemas.microsoft.com/office/powerpoint/2010/main" val="155794058"/>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8E59E-D035-442F-B808-80D34A409A26}"/>
              </a:ext>
            </a:extLst>
          </p:cNvPr>
          <p:cNvSpPr>
            <a:spLocks noGrp="1"/>
          </p:cNvSpPr>
          <p:nvPr>
            <p:ph type="title"/>
          </p:nvPr>
        </p:nvSpPr>
        <p:spPr>
          <a:xfrm>
            <a:off x="648928" y="2695485"/>
            <a:ext cx="10894141" cy="1025921"/>
          </a:xfrm>
        </p:spPr>
        <p:txBody>
          <a:bodyPr/>
          <a:lstStyle/>
          <a:p>
            <a:endParaRPr lang="en-US"/>
          </a:p>
        </p:txBody>
      </p:sp>
      <p:pic>
        <p:nvPicPr>
          <p:cNvPr id="4" name="Picture 3">
            <a:extLst>
              <a:ext uri="{FF2B5EF4-FFF2-40B4-BE49-F238E27FC236}">
                <a16:creationId xmlns:a16="http://schemas.microsoft.com/office/drawing/2014/main" id="{D34F8A0F-A392-468B-83F5-F4CB4C1F3C57}"/>
              </a:ext>
            </a:extLst>
          </p:cNvPr>
          <p:cNvPicPr>
            <a:picLocks noChangeAspect="1"/>
          </p:cNvPicPr>
          <p:nvPr/>
        </p:nvPicPr>
        <p:blipFill>
          <a:blip r:embed="rId3"/>
          <a:stretch>
            <a:fillRect/>
          </a:stretch>
        </p:blipFill>
        <p:spPr>
          <a:xfrm>
            <a:off x="0" y="-636270"/>
            <a:ext cx="12192000" cy="8130539"/>
          </a:xfrm>
          <a:prstGeom prst="rect">
            <a:avLst/>
          </a:prstGeom>
        </p:spPr>
      </p:pic>
      <p:sp>
        <p:nvSpPr>
          <p:cNvPr id="5" name="TextBox 4">
            <a:extLst>
              <a:ext uri="{FF2B5EF4-FFF2-40B4-BE49-F238E27FC236}">
                <a16:creationId xmlns:a16="http://schemas.microsoft.com/office/drawing/2014/main" id="{BCC65860-206F-486C-94A8-1A3581784A71}"/>
              </a:ext>
            </a:extLst>
          </p:cNvPr>
          <p:cNvSpPr txBox="1"/>
          <p:nvPr/>
        </p:nvSpPr>
        <p:spPr>
          <a:xfrm>
            <a:off x="3279000" y="468554"/>
            <a:ext cx="4198585" cy="995209"/>
          </a:xfrm>
          <a:prstGeom prst="rect">
            <a:avLst/>
          </a:prstGeom>
          <a:noFill/>
        </p:spPr>
        <p:txBody>
          <a:bodyPr wrap="none" rtlCol="0">
            <a:spAutoFit/>
          </a:bodyPr>
          <a:lstStyle/>
          <a:p>
            <a:pPr defTabSz="609570"/>
            <a:r>
              <a:rPr lang="en-US" sz="5867" b="1" dirty="0">
                <a:solidFill>
                  <a:prstClr val="white"/>
                </a:solidFill>
                <a:latin typeface="Arial"/>
                <a:cs typeface="Arial" panose="020B0604020202020204" pitchFamily="34" charset="0"/>
              </a:rPr>
              <a:t>Thank you!</a:t>
            </a:r>
            <a:endParaRPr lang="en-US" sz="2400" dirty="0">
              <a:solidFill>
                <a:prstClr val="white"/>
              </a:solidFill>
              <a:latin typeface="Calibri"/>
            </a:endParaRPr>
          </a:p>
        </p:txBody>
      </p:sp>
    </p:spTree>
    <p:extLst>
      <p:ext uri="{BB962C8B-B14F-4D97-AF65-F5344CB8AC3E}">
        <p14:creationId xmlns:p14="http://schemas.microsoft.com/office/powerpoint/2010/main" val="1812405739"/>
      </p:ext>
    </p:extLst>
  </p:cSld>
  <p:clrMapOvr>
    <a:masterClrMapping/>
  </p:clrMapOvr>
  <p:transition>
    <p:fade/>
  </p:transition>
</p:sld>
</file>

<file path=ppt/theme/theme1.xml><?xml version="1.0" encoding="utf-8"?>
<a:theme xmlns:a="http://schemas.openxmlformats.org/drawingml/2006/main" name="W Foster MBA Career Mgmt">
  <a:themeElements>
    <a:clrScheme name="Foster">
      <a:dk1>
        <a:sysClr val="windowText" lastClr="000000"/>
      </a:dk1>
      <a:lt1>
        <a:sysClr val="window" lastClr="FFFFFF"/>
      </a:lt1>
      <a:dk2>
        <a:srgbClr val="4B2E84"/>
      </a:dk2>
      <a:lt2>
        <a:srgbClr val="B9A077"/>
      </a:lt2>
      <a:accent1>
        <a:srgbClr val="86754D"/>
      </a:accent1>
      <a:accent2>
        <a:srgbClr val="0988C1"/>
      </a:accent2>
      <a:accent3>
        <a:srgbClr val="3CB2A7"/>
      </a:accent3>
      <a:accent4>
        <a:srgbClr val="41AD49"/>
      </a:accent4>
      <a:accent5>
        <a:srgbClr val="DC4327"/>
      </a:accent5>
      <a:accent6>
        <a:srgbClr val="D2B887"/>
      </a:accent6>
      <a:hlink>
        <a:srgbClr val="4B2E84"/>
      </a:hlink>
      <a:folHlink>
        <a:srgbClr val="4B2E84"/>
      </a:folHlink>
    </a:clrScheme>
    <a:fontScheme name="Custom 1">
      <a:majorFont>
        <a:latin typeface="Open Sans"/>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defRPr dirty="0">
            <a:latin typeface="+mn-lt"/>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6b6dd5b-f02f-441a-99a0-162ac5060bd2}" enabled="0" method="" siteId="{f6b6dd5b-f02f-441a-99a0-162ac5060bd2}" removed="1"/>
</clbl:labelList>
</file>

<file path=docProps/app.xml><?xml version="1.0" encoding="utf-8"?>
<Properties xmlns="http://schemas.openxmlformats.org/officeDocument/2006/extended-properties" xmlns:vt="http://schemas.openxmlformats.org/officeDocument/2006/docPropsVTypes">
  <TotalTime>0</TotalTime>
  <Words>883</Words>
  <Application>Microsoft Office PowerPoint</Application>
  <PresentationFormat>Widescreen</PresentationFormat>
  <Paragraphs>68</Paragraphs>
  <Slides>20</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Arial Black</vt:lpstr>
      <vt:lpstr>Calibri</vt:lpstr>
      <vt:lpstr>Open Sans</vt:lpstr>
      <vt:lpstr>W Foster MBA Career Mgmt</vt:lpstr>
      <vt:lpstr>Accounting &amp; Finance Function 2</vt:lpstr>
      <vt:lpstr>Welcome!</vt:lpstr>
      <vt:lpstr>Multi-Row Formula Tool</vt:lpstr>
      <vt:lpstr>Welcome!</vt:lpstr>
      <vt:lpstr>Overview</vt:lpstr>
      <vt:lpstr>Objective</vt:lpstr>
      <vt:lpstr>Processes</vt:lpstr>
      <vt:lpstr>Starter files</vt:lpstr>
      <vt:lpstr>Extension</vt:lpstr>
      <vt:lpstr>PowerPoint Presentation</vt:lpstr>
      <vt:lpstr>PowerPoint Presentation</vt:lpstr>
      <vt:lpstr>Welcome!</vt:lpstr>
      <vt:lpstr>Overview</vt:lpstr>
      <vt:lpstr>Objective</vt:lpstr>
      <vt:lpstr>Process</vt:lpstr>
      <vt:lpstr>Starter Files</vt:lpstr>
      <vt:lpstr>PowerPoint Presentation</vt:lpstr>
      <vt:lpstr>PowerPoint Presentation</vt:lpstr>
      <vt:lpstr>Conclusion and look-ahead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2021-10-06T16:26:57Z</dcterms:created>
  <dcterms:modified xsi:type="dcterms:W3CDTF">2025-11-10T17:52:27Z</dcterms:modified>
</cp:coreProperties>
</file>