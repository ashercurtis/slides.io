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363" r:id="rId5"/>
    <p:sldId id="398" r:id="rId6"/>
    <p:sldId id="887" r:id="rId7"/>
    <p:sldId id="954" r:id="rId8"/>
    <p:sldId id="928" r:id="rId9"/>
    <p:sldId id="955" r:id="rId10"/>
    <p:sldId id="961" r:id="rId11"/>
    <p:sldId id="956" r:id="rId12"/>
    <p:sldId id="957" r:id="rId13"/>
    <p:sldId id="958" r:id="rId14"/>
    <p:sldId id="959" r:id="rId15"/>
    <p:sldId id="960" r:id="rId16"/>
    <p:sldId id="962" r:id="rId17"/>
    <p:sldId id="964" r:id="rId18"/>
    <p:sldId id="965" r:id="rId19"/>
    <p:sldId id="967" r:id="rId20"/>
    <p:sldId id="968" r:id="rId21"/>
    <p:sldId id="969" r:id="rId22"/>
    <p:sldId id="970" r:id="rId23"/>
    <p:sldId id="966" r:id="rId24"/>
    <p:sldId id="971" r:id="rId25"/>
    <p:sldId id="972" r:id="rId26"/>
    <p:sldId id="974" r:id="rId27"/>
    <p:sldId id="975" r:id="rId28"/>
    <p:sldId id="976" r:id="rId29"/>
    <p:sldId id="977" r:id="rId30"/>
    <p:sldId id="983" r:id="rId31"/>
    <p:sldId id="978" r:id="rId32"/>
    <p:sldId id="979" r:id="rId33"/>
    <p:sldId id="980" r:id="rId34"/>
    <p:sldId id="981" r:id="rId35"/>
    <p:sldId id="984" r:id="rId36"/>
    <p:sldId id="985" r:id="rId37"/>
    <p:sldId id="412" r:id="rId38"/>
    <p:sldId id="963" r:id="rId39"/>
    <p:sldId id="939" r:id="rId40"/>
    <p:sldId id="949" r:id="rId41"/>
    <p:sldId id="942" r:id="rId42"/>
    <p:sldId id="940" r:id="rId43"/>
    <p:sldId id="941" r:id="rId44"/>
    <p:sldId id="943" r:id="rId45"/>
    <p:sldId id="944" r:id="rId46"/>
    <p:sldId id="945" r:id="rId47"/>
    <p:sldId id="946" r:id="rId48"/>
    <p:sldId id="948" r:id="rId49"/>
    <p:sldId id="950" r:id="rId50"/>
    <p:sldId id="951" r:id="rId51"/>
  </p:sldIdLst>
  <p:sldSz cx="9144000" cy="5143500" type="screen16x9"/>
  <p:notesSz cx="7315200" cy="9601200"/>
  <p:embeddedFontLst>
    <p:embeddedFont>
      <p:font typeface="Encode Sans Normal ExtraBold" panose="02000000000000000000" pitchFamily="2" charset="0"/>
      <p:bold r:id="rId54"/>
    </p:embeddedFont>
    <p:embeddedFont>
      <p:font typeface="Encode Sans Normal Medium" panose="02000000000000000000" pitchFamily="2" charset="0"/>
      <p:regular r:id="rId55"/>
    </p:embeddedFont>
    <p:embeddedFont>
      <p:font typeface="Open Sans" panose="020B0606030504020204" pitchFamily="34" charset="0"/>
      <p:regular r:id="rId56"/>
      <p:bold r:id="rId57"/>
      <p:italic r:id="rId58"/>
      <p:boldItalic r:id="rId59"/>
    </p:embeddedFont>
    <p:embeddedFont>
      <p:font typeface="Open Sans Light" panose="020B0306030504020204" pitchFamily="34" charset="0"/>
      <p:regular r:id="rId60"/>
      <p:italic r:id="rId61"/>
    </p:embeddedFont>
  </p:embeddedFont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Slide Template" id="{8D555BDC-712A-D847-BE44-26DF3EC466F7}">
          <p14:sldIdLst>
            <p14:sldId id="363"/>
            <p14:sldId id="398"/>
            <p14:sldId id="887"/>
            <p14:sldId id="954"/>
            <p14:sldId id="928"/>
            <p14:sldId id="955"/>
            <p14:sldId id="961"/>
            <p14:sldId id="956"/>
            <p14:sldId id="957"/>
            <p14:sldId id="958"/>
            <p14:sldId id="959"/>
            <p14:sldId id="960"/>
            <p14:sldId id="962"/>
            <p14:sldId id="964"/>
            <p14:sldId id="965"/>
            <p14:sldId id="967"/>
            <p14:sldId id="968"/>
            <p14:sldId id="969"/>
            <p14:sldId id="970"/>
            <p14:sldId id="966"/>
            <p14:sldId id="971"/>
            <p14:sldId id="972"/>
            <p14:sldId id="974"/>
            <p14:sldId id="975"/>
            <p14:sldId id="976"/>
            <p14:sldId id="977"/>
            <p14:sldId id="983"/>
            <p14:sldId id="978"/>
            <p14:sldId id="979"/>
            <p14:sldId id="980"/>
            <p14:sldId id="981"/>
            <p14:sldId id="984"/>
            <p14:sldId id="985"/>
            <p14:sldId id="412"/>
            <p14:sldId id="963"/>
            <p14:sldId id="939"/>
            <p14:sldId id="949"/>
            <p14:sldId id="942"/>
            <p14:sldId id="940"/>
            <p14:sldId id="941"/>
            <p14:sldId id="943"/>
            <p14:sldId id="944"/>
            <p14:sldId id="945"/>
            <p14:sldId id="946"/>
            <p14:sldId id="948"/>
            <p14:sldId id="950"/>
            <p14:sldId id="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28">
          <p15:clr>
            <a:srgbClr val="A4A3A4"/>
          </p15:clr>
        </p15:guide>
        <p15:guide id="5" pos="28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9F29"/>
    <a:srgbClr val="32006E"/>
    <a:srgbClr val="361F6D"/>
    <a:srgbClr val="41298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D85E6-CB04-402C-AF3A-C7489BE9BC2A}" v="31" dt="2026-05-06T00:07:17.8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92"/>
    <p:restoredTop sz="78716" autoAdjust="0"/>
  </p:normalViewPr>
  <p:slideViewPr>
    <p:cSldViewPr snapToGrid="0">
      <p:cViewPr varScale="1">
        <p:scale>
          <a:sx n="154" d="100"/>
          <a:sy n="154" d="100"/>
        </p:scale>
        <p:origin x="150" y="318"/>
      </p:cViewPr>
      <p:guideLst>
        <p:guide orient="horz" pos="2160"/>
        <p:guide pos="2880"/>
        <p:guide orient="horz" pos="1620"/>
        <p:guide pos="228"/>
        <p:guide pos="28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5320" y="15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font" Target="fonts/font2.fntdata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font" Target="fonts/font5.fntdata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font" Target="fonts/font8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3.fntdata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.fntdata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7.fntdata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latin typeface="Open Sans Light" panose="020B0606030504020204" pitchFamily="34" charset="0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F87AE820-DFE1-4C3C-B564-108A438BD633}" type="datetimeFigureOut">
              <a:rPr lang="en-US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rPr>
              <a:pPr>
                <a:defRPr/>
              </a:pPr>
              <a:t>5/5/2026</a:t>
            </a:fld>
            <a:endParaRPr lang="en-US">
              <a:latin typeface="Open Sans Light" panose="020B0606030504020204" pitchFamily="34" charset="0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latin typeface="Open Sans Light" panose="020B0606030504020204" pitchFamily="34" charset="0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9C84BD-FF2B-4119-9416-77652C2C47E2}" type="slidenum">
              <a:rPr lang="en-US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rPr>
              <a:pPr>
                <a:defRPr/>
              </a:pPr>
              <a:t>‹#›</a:t>
            </a:fld>
            <a:endParaRPr lang="en-US">
              <a:latin typeface="Open Sans Light" panose="020B0606030504020204" pitchFamily="34" charset="0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175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>
              <a:defRPr/>
            </a:pPr>
            <a:fld id="{7C0560D2-22A1-4522-9A61-5BC081CC233D}" type="datetimeFigureOut">
              <a:rPr lang="en-US" smtClean="0"/>
              <a:pPr>
                <a:defRPr/>
              </a:pPr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14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 Light" panose="020B0606030504020204" pitchFamily="34" charset="0"/>
        <a:ea typeface="Open Sans Light" panose="020B0606030504020204" pitchFamily="34" charset="0"/>
        <a:cs typeface="Open Sans Light" panose="020B0606030504020204" pitchFamily="34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 Light" panose="020B0606030504020204" pitchFamily="34" charset="0"/>
        <a:ea typeface="Open Sans Light" panose="020B0606030504020204" pitchFamily="34" charset="0"/>
        <a:cs typeface="Open Sans Light" panose="020B0606030504020204" pitchFamily="34" charset="0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 Light" panose="020B0606030504020204" pitchFamily="34" charset="0"/>
        <a:ea typeface="Open Sans Light" panose="020B0606030504020204" pitchFamily="34" charset="0"/>
        <a:cs typeface="Open Sans Light" panose="020B0606030504020204" pitchFamily="34" charset="0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 Light" panose="020B0606030504020204" pitchFamily="34" charset="0"/>
        <a:ea typeface="Open Sans Light" panose="020B0606030504020204" pitchFamily="34" charset="0"/>
        <a:cs typeface="Open Sans Light" panose="020B0606030504020204" pitchFamily="34" charset="0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 Light" panose="020B0606030504020204" pitchFamily="34" charset="0"/>
        <a:ea typeface="Open Sans Light" panose="020B0606030504020204" pitchFamily="34" charset="0"/>
        <a:cs typeface="Open Sans Light" panose="020B0606030504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73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80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34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51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5FF7-FE65-2BE6-86D1-30088572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C4161-160E-E3E8-624F-532B1EF71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CD222-2838-73FD-365B-81F9B729D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33DDE-6979-083C-6171-1FCBDE49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27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58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50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31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29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8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87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76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A273E-511C-020E-C4F8-52F779FA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8A473-53FB-7471-E49F-36F01029F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823CF-701B-CF85-2366-7882F9D42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5469F-D2D1-E606-EED1-04EB6CD8C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63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04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21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36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9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21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0BE29-9B4C-29F4-0525-2A144B59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19946-4894-927B-7621-D58737040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B9559-908C-BFC1-8ABE-492182472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83E43-5F7F-D751-5405-D6D5FC8F1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16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13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99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3DD8-1418-6544-B5A7-8DFD1853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64DF8-E69B-09DC-21B9-6A6628C82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51808-1285-8658-5D8D-9752767CA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DF004-E7E3-71D3-B8A8-37BF96C0F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150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38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36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433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6967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094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8E749-2A1C-B62D-7DC5-B3B30134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524C8-2F23-D6FB-6B7F-5B429DBD3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030B9-6A8B-972E-38BC-B62305A25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5A88B-9425-0918-7DCD-157AF6210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934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88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886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544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367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217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042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194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804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115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759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161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372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293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003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235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67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851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14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8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c Title Slide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1" y="966275"/>
            <a:ext cx="7743825" cy="2039113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100000"/>
              </a:lnSpc>
              <a:spcBef>
                <a:spcPts val="0"/>
              </a:spcBef>
              <a:defRPr sz="5400" b="1" i="0" cap="none" spc="-30" baseline="0">
                <a:solidFill>
                  <a:schemeClr val="bg1"/>
                </a:solidFill>
                <a:latin typeface="Encode Sans Normal ExtraBold" panose="02000000000000000000" pitchFamily="2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951" y="3005389"/>
            <a:ext cx="7762875" cy="45268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1800" b="1" i="0" spc="0">
                <a:solidFill>
                  <a:schemeClr val="bg2">
                    <a:lumMod val="90000"/>
                  </a:schemeClr>
                </a:solidFill>
                <a:latin typeface="Encode Sans Normal ExtraBold" panose="02000000000000000000" pitchFamily="2" charset="7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– ALL CAPS</a:t>
            </a:r>
          </a:p>
        </p:txBody>
      </p:sp>
      <p:pic>
        <p:nvPicPr>
          <p:cNvPr id="4" name="Picture 3" descr="White text on a dark background of a logo reading Foster School of Business, University of Washington">
            <a:extLst>
              <a:ext uri="{FF2B5EF4-FFF2-40B4-BE49-F238E27FC236}">
                <a16:creationId xmlns:a16="http://schemas.microsoft.com/office/drawing/2014/main" id="{972C56C5-2F0E-B13F-6B45-D0F73E9B1AB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11253" y="4157062"/>
            <a:ext cx="1314906" cy="64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8607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Editable Imag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D98F01-CF66-FB1D-080E-A5DC501E8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1" y="966275"/>
            <a:ext cx="8151113" cy="1605475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100000"/>
              </a:lnSpc>
              <a:spcBef>
                <a:spcPts val="0"/>
              </a:spcBef>
              <a:defRPr sz="5400" b="1" i="0" cap="none" spc="-30" baseline="0">
                <a:solidFill>
                  <a:schemeClr val="bg1"/>
                </a:solidFill>
                <a:latin typeface="Encode Sans Normal ExtraBold" panose="02000000000000000000" pitchFamily="2" charset="77"/>
              </a:defRPr>
            </a:lvl1pPr>
          </a:lstStyle>
          <a:p>
            <a:r>
              <a:rPr lang="en-US" dirty="0"/>
              <a:t>CLICK Insert Picture TO ADD BACKGROUND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C1B67E1-136D-93A1-515C-30F74BCF4E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951" y="3005389"/>
            <a:ext cx="7762875" cy="45268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1800" b="1" i="0" spc="0">
                <a:solidFill>
                  <a:schemeClr val="bg2">
                    <a:lumMod val="90000"/>
                  </a:schemeClr>
                </a:solidFill>
                <a:latin typeface="Encode Sans Normal ExtraBold" panose="02000000000000000000" pitchFamily="2" charset="7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– ALL CAPS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977" y="0"/>
            <a:ext cx="9144000" cy="514349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5" name="Picture 4" descr="White text on a dark background of a logo reading Foster School of Business, University of Washington">
            <a:extLst>
              <a:ext uri="{FF2B5EF4-FFF2-40B4-BE49-F238E27FC236}">
                <a16:creationId xmlns:a16="http://schemas.microsoft.com/office/drawing/2014/main" id="{EB21C709-91F3-6CAF-A8BD-E48E13397E4E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1253" y="4157062"/>
            <a:ext cx="1314906" cy="64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5172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07EADFC-8076-BBF7-0C18-A21C6E2C17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1" y="966275"/>
            <a:ext cx="7743825" cy="2039113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100000"/>
              </a:lnSpc>
              <a:spcBef>
                <a:spcPts val="0"/>
              </a:spcBef>
              <a:defRPr sz="5400" b="1" i="0" cap="none" spc="-30" baseline="0">
                <a:solidFill>
                  <a:schemeClr val="bg1"/>
                </a:solidFill>
                <a:latin typeface="Encode Sans Normal ExtraBold" panose="02000000000000000000" pitchFamily="2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C3B490-F950-1939-70F3-B37185950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951" y="3005389"/>
            <a:ext cx="7762875" cy="45268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1800" b="1" i="0" spc="0">
                <a:solidFill>
                  <a:schemeClr val="accent1"/>
                </a:solidFill>
                <a:latin typeface="Encode Sans Normal ExtraBold" panose="02000000000000000000" pitchFamily="2" charset="7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– ALL CAPS</a:t>
            </a:r>
          </a:p>
        </p:txBody>
      </p:sp>
      <p:pic>
        <p:nvPicPr>
          <p:cNvPr id="2" name="Picture 1" descr="White text on a black background of a logo reading Foster School of Business, University of Washington">
            <a:extLst>
              <a:ext uri="{FF2B5EF4-FFF2-40B4-BE49-F238E27FC236}">
                <a16:creationId xmlns:a16="http://schemas.microsoft.com/office/drawing/2014/main" id="{7E2379E8-F2CC-8B81-C601-399651B1C1E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1253" y="4157062"/>
            <a:ext cx="1314906" cy="64868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0AAD930-ED54-664A-1E97-0233B4FA4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1" y="966275"/>
            <a:ext cx="7743825" cy="2039113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100000"/>
              </a:lnSpc>
              <a:spcBef>
                <a:spcPts val="0"/>
              </a:spcBef>
              <a:defRPr sz="5400" b="1" i="0" cap="none" spc="-30" baseline="0">
                <a:solidFill>
                  <a:schemeClr val="tx1"/>
                </a:solidFill>
                <a:latin typeface="Encode Sans Normal ExtraBold" panose="02000000000000000000" pitchFamily="2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5B9D8E-3EB1-968E-7670-B7DB44AABE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951" y="3005389"/>
            <a:ext cx="7762875" cy="45268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1800" b="1" i="0" spc="0">
                <a:solidFill>
                  <a:schemeClr val="tx2"/>
                </a:solidFill>
                <a:latin typeface="Encode Sans Normal ExtraBold" panose="02000000000000000000" pitchFamily="2" charset="7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– ALL CAPS</a:t>
            </a:r>
          </a:p>
        </p:txBody>
      </p:sp>
      <p:pic>
        <p:nvPicPr>
          <p:cNvPr id="3" name="Picture 2" descr="Black text on a gold background of a logo reading Foster School of Business, University of Washington">
            <a:extLst>
              <a:ext uri="{FF2B5EF4-FFF2-40B4-BE49-F238E27FC236}">
                <a16:creationId xmlns:a16="http://schemas.microsoft.com/office/drawing/2014/main" id="{FC35D0AB-3D5D-25E5-AA78-FD3B13ACFBFF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1254" y="4159567"/>
            <a:ext cx="1314904" cy="64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9205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Foster Purple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DA4939C-77CE-3DA1-0128-ADAAB515A0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1" y="966275"/>
            <a:ext cx="7743825" cy="2039113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100000"/>
              </a:lnSpc>
              <a:spcBef>
                <a:spcPts val="0"/>
              </a:spcBef>
              <a:defRPr sz="5400" b="1" i="0" cap="none" spc="-30" baseline="0">
                <a:solidFill>
                  <a:schemeClr val="bg1"/>
                </a:solidFill>
                <a:latin typeface="Encode Sans Normal ExtraBold" panose="02000000000000000000" pitchFamily="2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DF57B08-8C4A-3347-B462-B99823F58A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1951" y="3005389"/>
            <a:ext cx="7762875" cy="45268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1800" b="1" i="0" spc="0">
                <a:solidFill>
                  <a:schemeClr val="accent1"/>
                </a:solidFill>
                <a:latin typeface="Encode Sans Normal ExtraBold" panose="02000000000000000000" pitchFamily="2" charset="7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– ALL CAPS</a:t>
            </a:r>
          </a:p>
        </p:txBody>
      </p:sp>
      <p:pic>
        <p:nvPicPr>
          <p:cNvPr id="3" name="Picture 2" descr="White text on a purple background of a logo reading Foster School of Business, University of Washington">
            <a:extLst>
              <a:ext uri="{FF2B5EF4-FFF2-40B4-BE49-F238E27FC236}">
                <a16:creationId xmlns:a16="http://schemas.microsoft.com/office/drawing/2014/main" id="{9F5EA4AC-71C6-D854-3BA5-146AD76AEF5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1253" y="4157062"/>
            <a:ext cx="1314906" cy="64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237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N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3242DCD-EC6C-845B-8C72-889CBB153D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445" y="1083527"/>
            <a:ext cx="6134555" cy="20844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717011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- N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280641-9D77-2460-1A27-076A4B03E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66439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3242DCD-EC6C-845B-8C72-889CBB153D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444" y="1084196"/>
            <a:ext cx="6134555" cy="20844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156608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Slide - N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280641-9D77-2460-1A27-076A4B03E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66439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3242DCD-EC6C-845B-8C72-889CBB153D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444" y="1084196"/>
            <a:ext cx="6134555" cy="20844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723882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- Editab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>
            <a:extLst>
              <a:ext uri="{FF2B5EF4-FFF2-40B4-BE49-F238E27FC236}">
                <a16:creationId xmlns:a16="http://schemas.microsoft.com/office/drawing/2014/main" id="{D6B2EAA1-56C8-BE7C-EE51-68C128950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446" y="406036"/>
            <a:ext cx="4873022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78475" y="0"/>
            <a:ext cx="3565525" cy="5143500"/>
          </a:xfrm>
          <a:noFill/>
        </p:spPr>
        <p:txBody>
          <a:bodyPr wrap="square" lIns="0" tIns="0" rIns="0" bIns="0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0BF171-C36A-97F6-13E8-1D538C2626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430" y="1085336"/>
            <a:ext cx="4872038" cy="2084481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Lists 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9445" y="406036"/>
            <a:ext cx="8186406" cy="3693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6696" y="1323994"/>
            <a:ext cx="3958304" cy="369332"/>
          </a:xfrm>
        </p:spPr>
        <p:txBody>
          <a:bodyPr lIns="0" tIns="0" rIns="0" bIns="0">
            <a:noAutofit/>
          </a:bodyPr>
          <a:lstStyle>
            <a:lvl1pPr>
              <a:defRPr sz="1800" b="1" i="0" spc="0">
                <a:solidFill>
                  <a:schemeClr val="accent1"/>
                </a:solidFill>
                <a:latin typeface="Encode Sans Normal ExtraBold" panose="02000000000000000000" pitchFamily="2" charset="77"/>
              </a:defRPr>
            </a:lvl1pPr>
            <a:lvl2pPr marL="0" indent="0">
              <a:buNone/>
              <a:defRPr sz="1800"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86695" y="1785963"/>
            <a:ext cx="3958303" cy="369332"/>
          </a:xfrm>
        </p:spPr>
        <p:txBody>
          <a:bodyPr wrap="square" lIns="0" tIns="0" rIns="0" b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696" y="2499651"/>
            <a:ext cx="3958304" cy="369332"/>
          </a:xfrm>
        </p:spPr>
        <p:txBody>
          <a:bodyPr lIns="0" tIns="0" rIns="0" bIns="0">
            <a:noAutofit/>
          </a:bodyPr>
          <a:lstStyle>
            <a:lvl1pPr>
              <a:defRPr sz="1800" b="1" i="0" spc="0">
                <a:solidFill>
                  <a:schemeClr val="accent1"/>
                </a:solidFill>
                <a:latin typeface="Encode Sans Normal ExtraBold" panose="02000000000000000000" pitchFamily="2" charset="77"/>
              </a:defRPr>
            </a:lvl1pPr>
            <a:lvl2pPr marL="0" indent="0">
              <a:buNone/>
              <a:defRPr sz="1800"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695" y="2970083"/>
            <a:ext cx="3958303" cy="369332"/>
          </a:xfrm>
        </p:spPr>
        <p:txBody>
          <a:bodyPr wrap="square" lIns="0" tIns="0" rIns="0" b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547" y="1323994"/>
            <a:ext cx="3958304" cy="369332"/>
          </a:xfrm>
        </p:spPr>
        <p:txBody>
          <a:bodyPr lIns="0" tIns="0" rIns="0" bIns="0">
            <a:noAutofit/>
          </a:bodyPr>
          <a:lstStyle>
            <a:lvl1pPr>
              <a:defRPr sz="1800" b="1" i="0" spc="0">
                <a:solidFill>
                  <a:schemeClr val="accent1"/>
                </a:solidFill>
                <a:latin typeface="Encode Sans Normal ExtraBold" panose="02000000000000000000" pitchFamily="2" charset="77"/>
              </a:defRPr>
            </a:lvl1pPr>
            <a:lvl2pPr marL="0" indent="0">
              <a:buNone/>
              <a:defRPr sz="1800"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3095" y="1785963"/>
            <a:ext cx="3958303" cy="369332"/>
          </a:xfrm>
        </p:spPr>
        <p:txBody>
          <a:bodyPr wrap="square" lIns="0" tIns="0" rIns="0" b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7547" y="2499651"/>
            <a:ext cx="3958304" cy="369332"/>
          </a:xfrm>
        </p:spPr>
        <p:txBody>
          <a:bodyPr lIns="0" tIns="0" rIns="0" bIns="0">
            <a:noAutofit/>
          </a:bodyPr>
          <a:lstStyle>
            <a:lvl1pPr>
              <a:defRPr sz="1800" b="1" i="0" spc="0">
                <a:solidFill>
                  <a:schemeClr val="accent1"/>
                </a:solidFill>
                <a:latin typeface="Encode Sans Normal ExtraBold" panose="02000000000000000000" pitchFamily="2" charset="77"/>
              </a:defRPr>
            </a:lvl1pPr>
            <a:lvl2pPr marL="0" indent="0">
              <a:buNone/>
              <a:defRPr sz="1800"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3095" y="2966044"/>
            <a:ext cx="3958303" cy="369332"/>
          </a:xfrm>
        </p:spPr>
        <p:txBody>
          <a:bodyPr wrap="square" lIns="0" tIns="0" rIns="0" bIns="0">
            <a:noAutofit/>
          </a:bodyPr>
          <a:lstStyle>
            <a:lvl1pPr>
              <a:defRPr sz="18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9479997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6730" y="4367181"/>
            <a:ext cx="1222603" cy="369332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900"/>
            </a:lvl1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8000" y="0"/>
            <a:ext cx="7366000" cy="51435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Bulleted Lis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9445" y="1089739"/>
            <a:ext cx="7061200" cy="1436291"/>
          </a:xfrm>
        </p:spPr>
        <p:txBody>
          <a:bodyPr lIns="0" tIns="0" rIns="0" bIns="0">
            <a:noAutofit/>
          </a:bodyPr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/>
              <a:buNone/>
              <a:tabLst/>
              <a:defRPr sz="1800">
                <a:solidFill>
                  <a:schemeClr val="tx1"/>
                </a:solidFill>
              </a:defRPr>
            </a:lvl1pPr>
          </a:lstStyle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/>
              <a:t>Optional list of considerations</a:t>
            </a:r>
          </a:p>
          <a:p>
            <a:pPr lvl="0"/>
            <a:endParaRPr lang="en-US"/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/>
              <a:t>Optional list of considerations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/>
              <a:buChar char="•"/>
              <a:tabLst/>
              <a:defRPr/>
            </a:pPr>
            <a:endParaRPr lang="en-US"/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/>
              <a:t>Optional list of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02425082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ite text on a purple background of a logo reading Foster School of Business, University of Washington">
            <a:extLst>
              <a:ext uri="{FF2B5EF4-FFF2-40B4-BE49-F238E27FC236}">
                <a16:creationId xmlns:a16="http://schemas.microsoft.com/office/drawing/2014/main" id="{5B1E3909-C49C-88C9-7739-53611D8906B0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1253" y="4157062"/>
            <a:ext cx="1314906" cy="64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4668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ite text on a black background of a logo reading Foster School of Business, University of Washington">
            <a:extLst>
              <a:ext uri="{FF2B5EF4-FFF2-40B4-BE49-F238E27FC236}">
                <a16:creationId xmlns:a16="http://schemas.microsoft.com/office/drawing/2014/main" id="{896C50C3-4866-1537-1649-67A0A4D5C70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1253" y="4157062"/>
            <a:ext cx="1314906" cy="64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9630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73558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69445" y="406036"/>
            <a:ext cx="613455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69445" y="928079"/>
            <a:ext cx="6134555" cy="20844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 txBox="1"/>
          <p:nvPr userDrawn="1"/>
        </p:nvSpPr>
        <p:spPr>
          <a:xfrm>
            <a:off x="285895" y="4807183"/>
            <a:ext cx="32062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0" i="0" spc="2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Uni Sans Regular" pitchFamily="2" charset="77"/>
                <a:ea typeface="Open Sans Light" panose="020B0306030504020204" pitchFamily="34" charset="0"/>
                <a:cs typeface="Open Sans Light" panose="020B0306030504020204" pitchFamily="34" charset="0"/>
              </a:rPr>
              <a:t> FOSTER SCHOOL OF BUSINESS, UNIVERSITY OF WASHINGTON</a:t>
            </a:r>
            <a:endParaRPr lang="en-US" sz="1600" b="0" i="0" spc="20" baseline="0" dirty="0">
              <a:solidFill>
                <a:schemeClr val="tx1">
                  <a:lumMod val="65000"/>
                  <a:lumOff val="35000"/>
                </a:schemeClr>
              </a:solidFill>
              <a:latin typeface="Uni Sans Regular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 txBox="1"/>
          <p:nvPr userDrawn="1"/>
        </p:nvSpPr>
        <p:spPr>
          <a:xfrm>
            <a:off x="6182426" y="4807183"/>
            <a:ext cx="257051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 panose="02000000000000000000" pitchFamily="2" charset="77"/>
                <a:ea typeface="Open Sans Light" panose="020B0306030504020204" pitchFamily="34" charset="0"/>
                <a:cs typeface="Open Sans Light" panose="020B0306030504020204" pitchFamily="34" charset="0"/>
              </a:rPr>
              <a:t>foster.uw.edu</a:t>
            </a:r>
            <a:endParaRPr lang="en-US" sz="1600" b="0" i="0" dirty="0">
              <a:solidFill>
                <a:schemeClr val="tx1">
                  <a:lumMod val="65000"/>
                  <a:lumOff val="35000"/>
                </a:schemeClr>
              </a:solidFill>
              <a:latin typeface="Encode Sans Normal Medium" panose="02000000000000000000" pitchFamily="2" charset="77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F715F98-A0BC-AA2E-45A5-62072B08C576}"/>
              </a:ext>
            </a:extLst>
          </p:cNvPr>
          <p:cNvCxnSpPr>
            <a:cxnSpLocks/>
          </p:cNvCxnSpPr>
          <p:nvPr userDrawn="1"/>
        </p:nvCxnSpPr>
        <p:spPr>
          <a:xfrm>
            <a:off x="391886" y="4737463"/>
            <a:ext cx="828266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49" r:id="rId3"/>
    <p:sldLayoutId id="2147483663" r:id="rId4"/>
    <p:sldLayoutId id="2147483668" r:id="rId5"/>
    <p:sldLayoutId id="2147483669" r:id="rId6"/>
    <p:sldLayoutId id="2147483675" r:id="rId7"/>
    <p:sldLayoutId id="2147483676" r:id="rId8"/>
    <p:sldLayoutId id="2147483650" r:id="rId9"/>
    <p:sldLayoutId id="2147483665" r:id="rId10"/>
    <p:sldLayoutId id="2147483653" r:id="rId11"/>
    <p:sldLayoutId id="2147483671" r:id="rId12"/>
    <p:sldLayoutId id="2147483662" r:id="rId13"/>
    <p:sldLayoutId id="2147483667" r:id="rId14"/>
    <p:sldLayoutId id="2147483683" r:id="rId15"/>
  </p:sldLayoutIdLst>
  <p:transition>
    <p:fade/>
  </p:transition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i="0" kern="1200">
          <a:solidFill>
            <a:schemeClr val="tx2"/>
          </a:solidFill>
          <a:latin typeface="Encode Sans Normal ExtraBold" panose="02000000000000000000" pitchFamily="2" charset="77"/>
          <a:ea typeface="+mj-ea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l" defTabSz="457200" rtl="0" eaLnBrk="1" fontAlgn="base" hangingPunct="1">
        <a:lnSpc>
          <a:spcPct val="100000"/>
        </a:lnSpc>
        <a:spcBef>
          <a:spcPts val="0"/>
        </a:spcBef>
        <a:spcAft>
          <a:spcPts val="700"/>
        </a:spcAft>
        <a:buFont typeface="Arial" charset="0"/>
        <a:buNone/>
        <a:defRPr sz="18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515938" indent="-174625" algn="l" defTabSz="457200" rtl="0" eaLnBrk="1" fontAlgn="base" hangingPunct="1">
        <a:lnSpc>
          <a:spcPct val="100000"/>
        </a:lnSpc>
        <a:spcBef>
          <a:spcPts val="0"/>
        </a:spcBef>
        <a:spcAft>
          <a:spcPts val="7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685800" indent="-169863" algn="l" defTabSz="457200" rtl="0" eaLnBrk="1" fontAlgn="base" hangingPunct="1">
        <a:lnSpc>
          <a:spcPct val="100000"/>
        </a:lnSpc>
        <a:spcBef>
          <a:spcPts val="0"/>
        </a:spcBef>
        <a:spcAft>
          <a:spcPts val="700"/>
        </a:spcAft>
        <a:buFont typeface="Arial" charset="0"/>
        <a:buChar char="•"/>
        <a:defRPr sz="18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855663" indent="-169863" algn="l" defTabSz="457200" rtl="0" eaLnBrk="1" fontAlgn="base" hangingPunct="1">
        <a:lnSpc>
          <a:spcPct val="100000"/>
        </a:lnSpc>
        <a:spcBef>
          <a:spcPts val="0"/>
        </a:spcBef>
        <a:spcAft>
          <a:spcPts val="7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031875" indent="-176213" algn="l" defTabSz="457200" rtl="0" eaLnBrk="1" fontAlgn="base" hangingPunct="1">
        <a:lnSpc>
          <a:spcPct val="100000"/>
        </a:lnSpc>
        <a:spcBef>
          <a:spcPts val="0"/>
        </a:spcBef>
        <a:spcAft>
          <a:spcPts val="7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orient="horz" pos="279" userDrawn="1">
          <p15:clr>
            <a:srgbClr val="F26B43"/>
          </p15:clr>
        </p15:guide>
        <p15:guide id="5" orient="horz" pos="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26B0663-EF24-1647-73F5-01EDE88C8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079957"/>
            <a:ext cx="7762875" cy="452688"/>
          </a:xfrm>
        </p:spPr>
        <p:txBody>
          <a:bodyPr/>
          <a:lstStyle/>
          <a:p>
            <a:r>
              <a:rPr lang="en-US" dirty="0" err="1"/>
              <a:t>Acctg</a:t>
            </a:r>
            <a:r>
              <a:rPr lang="en-US" dirty="0"/>
              <a:t> &amp; Fin | BUS AN 500 | Class 05</a:t>
            </a:r>
          </a:p>
          <a:p>
            <a:r>
              <a:rPr lang="en-US" dirty="0"/>
              <a:t>Spring </a:t>
            </a:r>
            <a:r>
              <a:rPr lang="en-US" dirty="0" err="1"/>
              <a:t>Qtr</a:t>
            </a:r>
            <a:r>
              <a:rPr lang="en-US" dirty="0"/>
              <a:t>   |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1A986F-1CE3-AE6A-F426-F9525E84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1140965"/>
            <a:ext cx="8095065" cy="1938992"/>
          </a:xfrm>
        </p:spPr>
        <p:txBody>
          <a:bodyPr anchor="t"/>
          <a:lstStyle/>
          <a:p>
            <a:r>
              <a:rPr lang="en-US" sz="4000" b="0" dirty="0"/>
              <a:t>Agentic Automation</a:t>
            </a:r>
            <a:br>
              <a:rPr lang="en-US" sz="4000" b="0" dirty="0"/>
            </a:br>
            <a:r>
              <a:rPr lang="en-US" sz="2800" b="0" dirty="0"/>
              <a:t>(with Managerial Accounting)</a:t>
            </a:r>
            <a:endParaRPr lang="en-US" sz="4000" b="0" dirty="0"/>
          </a:p>
        </p:txBody>
      </p:sp>
    </p:spTree>
    <p:extLst>
      <p:ext uri="{BB962C8B-B14F-4D97-AF65-F5344CB8AC3E}">
        <p14:creationId xmlns:p14="http://schemas.microsoft.com/office/powerpoint/2010/main" val="153964264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3DC0ED9-48FE-34EC-5ADA-355F4BC1D60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6893" r="26893"/>
          <a:stretch/>
        </p:blipFill>
        <p:spPr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5F9A17-21D2-BB20-F9BF-BAAE67C5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do today?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3D1FA-978D-54C1-2B87-4B1136B2B6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801688" lvl="1" indent="-285750"/>
            <a:r>
              <a:rPr lang="en-US" b="1" dirty="0">
                <a:solidFill>
                  <a:schemeClr val="tx2"/>
                </a:solidFill>
              </a:rPr>
              <a:t>Accounting &amp; finance function</a:t>
            </a:r>
          </a:p>
          <a:p>
            <a:pPr marL="801688" lvl="1" indent="-285750"/>
            <a:r>
              <a:rPr lang="en-US" b="1" dirty="0">
                <a:solidFill>
                  <a:schemeClr val="tx2"/>
                </a:solidFill>
              </a:rPr>
              <a:t>Intelligent automation demo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Managerial accounting overview</a:t>
            </a:r>
          </a:p>
          <a:p>
            <a:pPr marL="801688" lvl="1" indent="-285750"/>
            <a:r>
              <a:rPr lang="en-US" dirty="0"/>
              <a:t>Budgeting and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Variance Analysis Lab</a:t>
            </a:r>
          </a:p>
          <a:p>
            <a:pPr marL="801688" lvl="1" indent="-285750"/>
            <a:r>
              <a:rPr lang="en-US" dirty="0"/>
              <a:t>Understanding the manual process</a:t>
            </a:r>
          </a:p>
          <a:p>
            <a:pPr marL="801688" lvl="1" indent="-285750"/>
            <a:r>
              <a:rPr lang="en-US" dirty="0"/>
              <a:t>RPA Steps v. agents</a:t>
            </a:r>
          </a:p>
          <a:p>
            <a:pPr marL="801688" lvl="1" indent="-285750"/>
            <a:r>
              <a:rPr lang="en-US" dirty="0"/>
              <a:t>Humans: Policy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permitting, final project in-class time</a:t>
            </a:r>
          </a:p>
        </p:txBody>
      </p:sp>
    </p:spTree>
    <p:extLst>
      <p:ext uri="{BB962C8B-B14F-4D97-AF65-F5344CB8AC3E}">
        <p14:creationId xmlns:p14="http://schemas.microsoft.com/office/powerpoint/2010/main" val="327775144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362A-56B7-D851-9379-F70EF1CE2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Accounting &amp; Finance Function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7B6047-C0A0-17B5-E1DF-5402B54AAC53}"/>
              </a:ext>
            </a:extLst>
          </p:cNvPr>
          <p:cNvSpPr/>
          <p:nvPr/>
        </p:nvSpPr>
        <p:spPr>
          <a:xfrm>
            <a:off x="914400" y="885974"/>
            <a:ext cx="7518925" cy="3704982"/>
          </a:xfrm>
          <a:prstGeom prst="rect">
            <a:avLst/>
          </a:prstGeom>
          <a:solidFill>
            <a:srgbClr val="E8D3A2"/>
          </a:solidFill>
          <a:ln w="25400" cap="flat" cmpd="sng" algn="ctr">
            <a:solidFill>
              <a:srgbClr val="4B2E83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srgbClr val="4B2E8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E30AD2-02AB-B86D-1A6A-D8ECC0B0DCBB}"/>
              </a:ext>
            </a:extLst>
          </p:cNvPr>
          <p:cNvSpPr/>
          <p:nvPr/>
        </p:nvSpPr>
        <p:spPr>
          <a:xfrm>
            <a:off x="2896335" y="1354761"/>
            <a:ext cx="3780316" cy="2754389"/>
          </a:xfrm>
          <a:prstGeom prst="ellipse">
            <a:avLst/>
          </a:prstGeom>
          <a:gradFill rotWithShape="1">
            <a:gsLst>
              <a:gs pos="0">
                <a:srgbClr val="999999">
                  <a:tint val="50000"/>
                  <a:satMod val="300000"/>
                </a:srgbClr>
              </a:gs>
              <a:gs pos="35000">
                <a:srgbClr val="999999">
                  <a:tint val="37000"/>
                  <a:satMod val="300000"/>
                </a:srgbClr>
              </a:gs>
              <a:gs pos="100000">
                <a:srgbClr val="9999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9999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0" cap="none" spc="0" normalizeH="0" baseline="0" noProof="0">
              <a:ln>
                <a:noFill/>
              </a:ln>
              <a:solidFill>
                <a:srgbClr val="4B2E8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0F5DFC-1249-97DA-0D51-E36B304B3350}"/>
              </a:ext>
            </a:extLst>
          </p:cNvPr>
          <p:cNvSpPr txBox="1"/>
          <p:nvPr/>
        </p:nvSpPr>
        <p:spPr>
          <a:xfrm>
            <a:off x="3619179" y="1925505"/>
            <a:ext cx="233352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b="1" u="sng" dirty="0">
                <a:solidFill>
                  <a:srgbClr val="4B2E83"/>
                </a:solidFill>
                <a:latin typeface="+mn-lt"/>
                <a:cs typeface="+mn-cs"/>
              </a:rPr>
              <a:t>Internal Users</a:t>
            </a: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AU" sz="1400" b="1" dirty="0">
                <a:solidFill>
                  <a:srgbClr val="4B2E83"/>
                </a:solidFill>
                <a:latin typeface="+mn-lt"/>
                <a:cs typeface="+mn-cs"/>
              </a:rPr>
              <a:t> Users within a Company</a:t>
            </a: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n-AU" sz="1400" b="1" dirty="0">
              <a:solidFill>
                <a:srgbClr val="4B2E83"/>
              </a:solidFill>
              <a:latin typeface="+mn-lt"/>
              <a:cs typeface="+mn-cs"/>
            </a:endParaRP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AU" sz="1400" dirty="0">
                <a:solidFill>
                  <a:srgbClr val="4B2E83"/>
                </a:solidFill>
                <a:latin typeface="+mn-lt"/>
                <a:cs typeface="+mn-cs"/>
              </a:rPr>
              <a:t>Board of Directors</a:t>
            </a: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AU" sz="1400" dirty="0">
                <a:solidFill>
                  <a:srgbClr val="4B2E83"/>
                </a:solidFill>
                <a:latin typeface="+mn-lt"/>
                <a:cs typeface="+mn-cs"/>
              </a:rPr>
              <a:t>Managers</a:t>
            </a: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AU" sz="1400" dirty="0">
                <a:solidFill>
                  <a:srgbClr val="4B2E83"/>
                </a:solidFill>
                <a:latin typeface="+mn-lt"/>
                <a:cs typeface="+mn-cs"/>
              </a:rPr>
              <a:t>Employees</a:t>
            </a:r>
            <a:endParaRPr lang="en-US" sz="1400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9D1FD3-C49D-2CB1-5019-06640FAF792D}"/>
              </a:ext>
            </a:extLst>
          </p:cNvPr>
          <p:cNvSpPr txBox="1"/>
          <p:nvPr/>
        </p:nvSpPr>
        <p:spPr>
          <a:xfrm>
            <a:off x="848090" y="1207869"/>
            <a:ext cx="2615496" cy="104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b="1" u="sng" dirty="0">
                <a:solidFill>
                  <a:srgbClr val="4B2E83"/>
                </a:solidFill>
                <a:latin typeface="+mn-lt"/>
                <a:cs typeface="+mn-cs"/>
              </a:rPr>
              <a:t>External Users</a:t>
            </a: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AU" sz="1400" b="1" dirty="0">
                <a:solidFill>
                  <a:srgbClr val="4B2E83"/>
                </a:solidFill>
                <a:latin typeface="+mn-lt"/>
                <a:cs typeface="+mn-cs"/>
              </a:rPr>
              <a:t>Owners and other stakeholders</a:t>
            </a: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n-AU" sz="1400" b="1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9B3E40-30A5-CF6E-04BF-977069933C58}"/>
              </a:ext>
            </a:extLst>
          </p:cNvPr>
          <p:cNvSpPr txBox="1"/>
          <p:nvPr/>
        </p:nvSpPr>
        <p:spPr>
          <a:xfrm>
            <a:off x="1015833" y="2270649"/>
            <a:ext cx="26154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4B2E83"/>
                </a:solidFill>
                <a:latin typeface="+mn-lt"/>
                <a:cs typeface="+mn-cs"/>
              </a:rPr>
              <a:t>Shareholders</a:t>
            </a:r>
            <a:endParaRPr lang="en-AU" sz="1400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6821E1-8FDA-7CE0-B14A-D2C39F902978}"/>
              </a:ext>
            </a:extLst>
          </p:cNvPr>
          <p:cNvSpPr txBox="1"/>
          <p:nvPr/>
        </p:nvSpPr>
        <p:spPr>
          <a:xfrm>
            <a:off x="984083" y="2858162"/>
            <a:ext cx="26154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4B2E83"/>
                </a:solidFill>
                <a:latin typeface="+mn-lt"/>
                <a:cs typeface="+mn-cs"/>
              </a:rPr>
              <a:t>Creditors</a:t>
            </a:r>
            <a:endParaRPr lang="en-AU" sz="1400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F65C52-DBEF-C4E6-900E-430495CAF291}"/>
              </a:ext>
            </a:extLst>
          </p:cNvPr>
          <p:cNvSpPr txBox="1"/>
          <p:nvPr/>
        </p:nvSpPr>
        <p:spPr>
          <a:xfrm>
            <a:off x="5138573" y="1410224"/>
            <a:ext cx="2615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4B2E83"/>
                </a:solidFill>
                <a:latin typeface="+mn-lt"/>
                <a:cs typeface="+mn-cs"/>
              </a:rPr>
              <a:t>Banks</a:t>
            </a:r>
            <a:endParaRPr lang="en-AU" sz="1400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8E7674-0276-D1BE-85CE-1E25B174BE68}"/>
              </a:ext>
            </a:extLst>
          </p:cNvPr>
          <p:cNvSpPr txBox="1"/>
          <p:nvPr/>
        </p:nvSpPr>
        <p:spPr>
          <a:xfrm>
            <a:off x="5425908" y="3823362"/>
            <a:ext cx="26154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4B2E83"/>
                </a:solidFill>
                <a:latin typeface="+mn-lt"/>
                <a:cs typeface="+mn-cs"/>
              </a:rPr>
              <a:t>Governments</a:t>
            </a:r>
            <a:endParaRPr lang="en-AU" sz="1400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82763A-C395-49AE-A6A1-1BA1055F9671}"/>
              </a:ext>
            </a:extLst>
          </p:cNvPr>
          <p:cNvSpPr txBox="1"/>
          <p:nvPr/>
        </p:nvSpPr>
        <p:spPr>
          <a:xfrm>
            <a:off x="1500023" y="3823362"/>
            <a:ext cx="2615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4B2E83"/>
                </a:solidFill>
                <a:latin typeface="+mn-lt"/>
                <a:cs typeface="+mn-cs"/>
              </a:rPr>
              <a:t>Students</a:t>
            </a:r>
            <a:endParaRPr lang="en-AU" sz="1400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D28A7D-BD05-4ADF-18C6-F75F474560E7}"/>
              </a:ext>
            </a:extLst>
          </p:cNvPr>
          <p:cNvSpPr txBox="1"/>
          <p:nvPr/>
        </p:nvSpPr>
        <p:spPr>
          <a:xfrm>
            <a:off x="5632283" y="1943624"/>
            <a:ext cx="26154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4B2E83"/>
                </a:solidFill>
                <a:latin typeface="+mn-lt"/>
                <a:cs typeface="+mn-cs"/>
              </a:rPr>
              <a:t>Investors</a:t>
            </a:r>
            <a:endParaRPr lang="en-AU" sz="1400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996161-59C9-D2BF-AEC3-88E0E202E36E}"/>
              </a:ext>
            </a:extLst>
          </p:cNvPr>
          <p:cNvSpPr txBox="1"/>
          <p:nvPr/>
        </p:nvSpPr>
        <p:spPr>
          <a:xfrm>
            <a:off x="5730875" y="3221660"/>
            <a:ext cx="2615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4B2E83"/>
                </a:solidFill>
                <a:latin typeface="+mn-lt"/>
                <a:cs typeface="+mn-cs"/>
              </a:rPr>
              <a:t>Tax Agencies</a:t>
            </a:r>
            <a:endParaRPr lang="en-AU" sz="1400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45BDA8-7907-E878-A7FC-F5679A214DD5}"/>
              </a:ext>
            </a:extLst>
          </p:cNvPr>
          <p:cNvSpPr txBox="1"/>
          <p:nvPr/>
        </p:nvSpPr>
        <p:spPr>
          <a:xfrm>
            <a:off x="1147598" y="3375549"/>
            <a:ext cx="2615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4B2E83"/>
                </a:solidFill>
                <a:latin typeface="+mn-lt"/>
                <a:cs typeface="+mn-cs"/>
              </a:rPr>
              <a:t>Media</a:t>
            </a:r>
            <a:endParaRPr lang="en-AU" sz="1400" dirty="0">
              <a:solidFill>
                <a:srgbClr val="4B2E83"/>
              </a:solidFill>
              <a:latin typeface="+mn-lt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7406F2-4E6F-FEB0-E821-C9D902967F44}"/>
              </a:ext>
            </a:extLst>
          </p:cNvPr>
          <p:cNvSpPr/>
          <p:nvPr/>
        </p:nvSpPr>
        <p:spPr>
          <a:xfrm>
            <a:off x="5870306" y="2501571"/>
            <a:ext cx="1591909" cy="4261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External Auditor</a:t>
            </a:r>
          </a:p>
        </p:txBody>
      </p:sp>
    </p:spTree>
    <p:extLst>
      <p:ext uri="{BB962C8B-B14F-4D97-AF65-F5344CB8AC3E}">
        <p14:creationId xmlns:p14="http://schemas.microsoft.com/office/powerpoint/2010/main" val="330522616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3B2B-E3F9-DA7D-C9C7-88C1B217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5" y="406036"/>
            <a:ext cx="7505118" cy="369332"/>
          </a:xfrm>
        </p:spPr>
        <p:txBody>
          <a:bodyPr/>
          <a:lstStyle/>
          <a:p>
            <a:r>
              <a:rPr lang="en-US" dirty="0"/>
              <a:t>An information and  decisions approach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A74A58-4716-7442-E0CD-2B3DD896AE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673895"/>
              </p:ext>
            </p:extLst>
          </p:nvPr>
        </p:nvGraphicFramePr>
        <p:xfrm>
          <a:off x="143069" y="951540"/>
          <a:ext cx="8708571" cy="3739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857">
                  <a:extLst>
                    <a:ext uri="{9D8B030D-6E8A-4147-A177-3AD203B41FA5}">
                      <a16:colId xmlns:a16="http://schemas.microsoft.com/office/drawing/2014/main" val="2148042466"/>
                    </a:ext>
                  </a:extLst>
                </a:gridCol>
                <a:gridCol w="2902857">
                  <a:extLst>
                    <a:ext uri="{9D8B030D-6E8A-4147-A177-3AD203B41FA5}">
                      <a16:colId xmlns:a16="http://schemas.microsoft.com/office/drawing/2014/main" val="3426118661"/>
                    </a:ext>
                  </a:extLst>
                </a:gridCol>
                <a:gridCol w="2902857">
                  <a:extLst>
                    <a:ext uri="{9D8B030D-6E8A-4147-A177-3AD203B41FA5}">
                      <a16:colId xmlns:a16="http://schemas.microsoft.com/office/drawing/2014/main" val="4122465221"/>
                    </a:ext>
                  </a:extLst>
                </a:gridCol>
              </a:tblGrid>
              <a:tr h="406682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Financial Accounting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Managerial Accounting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538709"/>
                  </a:ext>
                </a:extLst>
              </a:tr>
              <a:tr h="406682">
                <a:tc>
                  <a:txBody>
                    <a:bodyPr/>
                    <a:lstStyle/>
                    <a:p>
                      <a:r>
                        <a:rPr lang="en-US" sz="1200" dirty="0"/>
                        <a:t>Users and decision makers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External: Investors, creditors, and other external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Internal: Managers, employees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731106"/>
                  </a:ext>
                </a:extLst>
              </a:tr>
              <a:tr h="406682">
                <a:tc>
                  <a:txBody>
                    <a:bodyPr/>
                    <a:lstStyle/>
                    <a:p>
                      <a:r>
                        <a:rPr lang="en-US" sz="1200" dirty="0"/>
                        <a:t>Purpose of the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Help external users make investment, credit and other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Help managers make planning and control decisions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13078"/>
                  </a:ext>
                </a:extLst>
              </a:tr>
              <a:tr h="406682">
                <a:tc>
                  <a:txBody>
                    <a:bodyPr/>
                    <a:lstStyle/>
                    <a:p>
                      <a:r>
                        <a:rPr lang="en-US" sz="1200" dirty="0"/>
                        <a:t>Flexibility of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Structure, follows GAAP requirements plus voluntary disclosures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Flexible; can be structured as to best inform managers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117794"/>
                  </a:ext>
                </a:extLst>
              </a:tr>
              <a:tr h="406682">
                <a:tc>
                  <a:txBody>
                    <a:bodyPr/>
                    <a:lstStyle/>
                    <a:p>
                      <a:r>
                        <a:rPr lang="en-US" sz="1200" dirty="0"/>
                        <a:t>Timeliness of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Public after period end after an audit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Available on 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697629"/>
                  </a:ext>
                </a:extLst>
              </a:tr>
              <a:tr h="406682">
                <a:tc>
                  <a:txBody>
                    <a:bodyPr/>
                    <a:lstStyle/>
                    <a:p>
                      <a:r>
                        <a:rPr lang="en-US" sz="1200" dirty="0"/>
                        <a:t>Time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Historical information with some projections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Future information, including projections and forecasts backed with historical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51701"/>
                  </a:ext>
                </a:extLst>
              </a:tr>
              <a:tr h="406682">
                <a:tc>
                  <a:txBody>
                    <a:bodyPr/>
                    <a:lstStyle/>
                    <a:p>
                      <a:r>
                        <a:rPr lang="en-US" sz="1200" dirty="0"/>
                        <a:t>Focus of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Aggregate entity-level with some segmented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Detailed around projects, processes and divisions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984868"/>
                  </a:ext>
                </a:extLst>
              </a:tr>
              <a:tr h="406682">
                <a:tc>
                  <a:txBody>
                    <a:bodyPr/>
                    <a:lstStyle/>
                    <a:p>
                      <a:r>
                        <a:rPr lang="en-US" sz="1200" dirty="0"/>
                        <a:t>Nature of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Monetary with voluntary non-monetary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Monetary and non-monetary including KPIs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2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7457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CDFFD-4EBE-3EE3-2207-82C3A40D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 illustrating progression from data analytics to agentic AI through automation and machine learning with generative AI. Four purple rounded rectangles contain white icons and labels: bar chart with magnifying glass for data analytics, gear for automation, human head with circuits for machine learning &amp; gen AI, and robot face for agentic AI, connected by rightward arrows.">
            <a:extLst>
              <a:ext uri="{FF2B5EF4-FFF2-40B4-BE49-F238E27FC236}">
                <a16:creationId xmlns:a16="http://schemas.microsoft.com/office/drawing/2014/main" id="{220E3CF9-0FF4-FDF6-C3F0-07A5821DE6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94" b="25622"/>
          <a:stretch/>
        </p:blipFill>
        <p:spPr>
          <a:xfrm>
            <a:off x="90488" y="840418"/>
            <a:ext cx="8963025" cy="3056263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2FA3DC62-7050-C474-FB07-C68AD00FB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30" y="249687"/>
            <a:ext cx="4873022" cy="369332"/>
          </a:xfrm>
        </p:spPr>
        <p:txBody>
          <a:bodyPr/>
          <a:lstStyle/>
          <a:p>
            <a:r>
              <a:rPr lang="en-US" dirty="0"/>
              <a:t>Process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AC0BE4-5F8E-E53A-ABB7-91A44DCDECF5}"/>
              </a:ext>
            </a:extLst>
          </p:cNvPr>
          <p:cNvSpPr txBox="1"/>
          <p:nvPr/>
        </p:nvSpPr>
        <p:spPr>
          <a:xfrm>
            <a:off x="552881" y="4118416"/>
            <a:ext cx="8200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How can we use data analytics and automation tools to improve decisions?</a:t>
            </a:r>
          </a:p>
        </p:txBody>
      </p:sp>
    </p:spTree>
    <p:extLst>
      <p:ext uri="{BB962C8B-B14F-4D97-AF65-F5344CB8AC3E}">
        <p14:creationId xmlns:p14="http://schemas.microsoft.com/office/powerpoint/2010/main" val="95044749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D2E7-DFDF-C8AE-77FA-69DA948B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reporting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60CB3-26FF-4407-88EE-F526A736C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8114718" cy="2084481"/>
          </a:xfrm>
        </p:spPr>
        <p:txBody>
          <a:bodyPr/>
          <a:lstStyle/>
          <a:p>
            <a:r>
              <a:rPr lang="en-US" dirty="0"/>
              <a:t>Task:</a:t>
            </a:r>
          </a:p>
          <a:p>
            <a:r>
              <a:rPr lang="en-US" dirty="0"/>
              <a:t>From an external user’s perspective, understand Apple, Inc’s revenue growth and drivers of that growth.</a:t>
            </a:r>
          </a:p>
          <a:p>
            <a:endParaRPr lang="en-US" dirty="0"/>
          </a:p>
          <a:p>
            <a:r>
              <a:rPr lang="en-US" dirty="0"/>
              <a:t>Why:</a:t>
            </a:r>
          </a:p>
          <a:p>
            <a:r>
              <a:rPr lang="en-US" dirty="0"/>
              <a:t>We want to consider an investment in APPL.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56541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809D-80F0-1486-D50F-AED1B3EE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3197-7F2F-46AD-6FEF-BA9C4E8D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5" y="406036"/>
            <a:ext cx="6746228" cy="369332"/>
          </a:xfrm>
        </p:spPr>
        <p:txBody>
          <a:bodyPr/>
          <a:lstStyle/>
          <a:p>
            <a:r>
              <a:rPr lang="en-US" dirty="0"/>
              <a:t>Financial reporting e.g., two manual steps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FE3C9-97EB-B85A-2A6B-1AEE920AB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8114718" cy="2084481"/>
          </a:xfrm>
        </p:spPr>
        <p:txBody>
          <a:bodyPr/>
          <a:lstStyle/>
          <a:p>
            <a:r>
              <a:rPr lang="en-US" dirty="0"/>
              <a:t>Task:</a:t>
            </a:r>
          </a:p>
          <a:p>
            <a:r>
              <a:rPr lang="en-US" dirty="0"/>
              <a:t>From an external user’s perspective, understand Apple, Inc’s revenue growth and drivers of that growth.</a:t>
            </a:r>
          </a:p>
          <a:p>
            <a:endParaRPr lang="en-US" dirty="0"/>
          </a:p>
          <a:p>
            <a:r>
              <a:rPr lang="en-US" dirty="0"/>
              <a:t>Manual 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revenue growth / trends by collecting revenue data for APPL.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 information about how APPL talks about it’s revenue (e.g., in the Management Discussion and Analysis section of the 10-K)</a:t>
            </a:r>
          </a:p>
        </p:txBody>
      </p:sp>
    </p:spTree>
    <p:extLst>
      <p:ext uri="{BB962C8B-B14F-4D97-AF65-F5344CB8AC3E}">
        <p14:creationId xmlns:p14="http://schemas.microsoft.com/office/powerpoint/2010/main" val="19622212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79FCB-A36A-488D-305D-2844EBF9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0EF5-30EC-6889-9FCF-109285E1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5" y="406036"/>
            <a:ext cx="6640482" cy="369332"/>
          </a:xfrm>
        </p:spPr>
        <p:txBody>
          <a:bodyPr/>
          <a:lstStyle/>
          <a:p>
            <a:r>
              <a:rPr lang="en-US" dirty="0"/>
              <a:t>Financial reporting e.g., manual 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35A6-F0D3-19E0-E9C1-C901E725A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8114718" cy="2084481"/>
          </a:xfrm>
        </p:spPr>
        <p:txBody>
          <a:bodyPr/>
          <a:lstStyle/>
          <a:p>
            <a:r>
              <a:rPr lang="en-US" dirty="0"/>
              <a:t>Task:</a:t>
            </a:r>
          </a:p>
          <a:p>
            <a:r>
              <a:rPr lang="en-US" dirty="0"/>
              <a:t>From an external user’s perspective, understand Apple, Inc’s revenue growth and drivers of that growth.</a:t>
            </a:r>
          </a:p>
          <a:p>
            <a:endParaRPr lang="en-US" dirty="0"/>
          </a:p>
          <a:p>
            <a:r>
              <a:rPr lang="en-US" dirty="0"/>
              <a:t>Manual 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revenue growth / trends by collecting revenue data for APPL.</a:t>
            </a:r>
          </a:p>
          <a:p>
            <a:pPr marL="801688" lvl="1" indent="-285750"/>
            <a:r>
              <a:rPr lang="en-US" dirty="0"/>
              <a:t>Maybe use the 10-K? Collect from the income statement?</a:t>
            </a:r>
          </a:p>
          <a:p>
            <a:pPr marL="801688" lvl="1" indent="-285750"/>
            <a:r>
              <a:rPr lang="en-US" dirty="0"/>
              <a:t>Use a third party, like Yahoo! Finance?</a:t>
            </a:r>
          </a:p>
          <a:p>
            <a:pPr marL="801688" lvl="1" indent="-285750"/>
            <a:r>
              <a:rPr lang="en-US" dirty="0"/>
              <a:t>Enter into spreadsheet and calculate year-over-year growth.</a:t>
            </a:r>
          </a:p>
        </p:txBody>
      </p:sp>
    </p:spTree>
    <p:extLst>
      <p:ext uri="{BB962C8B-B14F-4D97-AF65-F5344CB8AC3E}">
        <p14:creationId xmlns:p14="http://schemas.microsoft.com/office/powerpoint/2010/main" val="305110823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12D2F-6F78-7737-BB53-E8586378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F9D34-6BB9-DBDB-A4F6-C0626284F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reporting e.g., manual 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DF864-1D9A-E471-FCD7-1651FA3DE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8114718" cy="2084481"/>
          </a:xfrm>
        </p:spPr>
        <p:txBody>
          <a:bodyPr/>
          <a:lstStyle/>
          <a:p>
            <a:r>
              <a:rPr lang="en-US" dirty="0"/>
              <a:t>Task:</a:t>
            </a:r>
          </a:p>
          <a:p>
            <a:r>
              <a:rPr lang="en-US" dirty="0"/>
              <a:t>From an external user’s perspective, understand Apple, Inc’s revenue growth and drivers of that growth.</a:t>
            </a:r>
          </a:p>
          <a:p>
            <a:endParaRPr lang="en-US" dirty="0"/>
          </a:p>
          <a:p>
            <a:r>
              <a:rPr lang="en-US" dirty="0"/>
              <a:t>Manual 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 information about how APPL talks about it’s revenue (e.g., in the Management Discussion and Analysis section of the 10-K)</a:t>
            </a:r>
          </a:p>
          <a:p>
            <a:pPr marL="801688" lvl="1" indent="-285750"/>
            <a:r>
              <a:rPr lang="en-US" dirty="0"/>
              <a:t>Get the 10-K, find the MD&amp;A in the index and go to that section.</a:t>
            </a:r>
          </a:p>
          <a:p>
            <a:pPr marL="801688" lvl="1" indent="-285750"/>
            <a:r>
              <a:rPr lang="en-US" dirty="0"/>
              <a:t>Read and make notes from the discussion.</a:t>
            </a:r>
          </a:p>
          <a:p>
            <a:pPr marL="801688" lvl="1" indent="-285750"/>
            <a:r>
              <a:rPr lang="en-US" dirty="0"/>
              <a:t>Make a judgement about the discussion that supports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270683726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FD3E-8D8A-FA0D-7948-39524267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RPA do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49EE3-C3C4-7379-9F41-3BE819703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934326" cy="2084481"/>
          </a:xfrm>
        </p:spPr>
        <p:txBody>
          <a:bodyPr/>
          <a:lstStyle/>
          <a:p>
            <a:r>
              <a:rPr lang="en-US" dirty="0"/>
              <a:t>RPA approach: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Calculate revenue growth / trends by collecting revenue data for APPL.</a:t>
            </a:r>
          </a:p>
          <a:p>
            <a:pPr marL="801688" lvl="1" indent="-285750"/>
            <a:r>
              <a:rPr lang="en-US" dirty="0"/>
              <a:t>Connect to SEC’s API and download AAPL’s disclosed Revenues, calculate the year-over-year change, report back as a Table.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Collect information about how APPL talks about it’s revenue (e.g., in the Management Discussion and Analysis section of the 10-K)</a:t>
            </a:r>
          </a:p>
          <a:p>
            <a:pPr marL="801688" lvl="1" indent="-285750"/>
            <a:r>
              <a:rPr lang="en-US" dirty="0"/>
              <a:t>Download the 10-K filing, use a rule to identify the MD&amp;A section, return it as text (removing html tags).</a:t>
            </a:r>
          </a:p>
          <a:p>
            <a:pPr marL="801688" lvl="1" indent="-285750"/>
            <a:r>
              <a:rPr lang="en-US" strike="sngStrike" dirty="0"/>
              <a:t>Read and make notes from the discussion.</a:t>
            </a:r>
          </a:p>
          <a:p>
            <a:pPr marL="801688" lvl="1" indent="-285750"/>
            <a:r>
              <a:rPr lang="en-US" strike="sngStrike" dirty="0"/>
              <a:t>Make a judgement about the discussion that supports revenue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90301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BF933-9B44-B83C-B58C-0D2D5E3E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2212-AE80-5AF0-B0C2-9D7AA8083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5" y="406036"/>
            <a:ext cx="7187877" cy="369332"/>
          </a:xfrm>
        </p:spPr>
        <p:txBody>
          <a:bodyPr/>
          <a:lstStyle/>
          <a:p>
            <a:r>
              <a:rPr lang="en-US" dirty="0"/>
              <a:t>What can an Intelligent RPA workflow add?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C276E-9DEE-ED49-4F59-1729293F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934326" cy="2084481"/>
          </a:xfrm>
        </p:spPr>
        <p:txBody>
          <a:bodyPr/>
          <a:lstStyle/>
          <a:p>
            <a:r>
              <a:rPr lang="en-US" dirty="0"/>
              <a:t>RPA passes: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Revenue growth table and MD&amp;A section to the LLM based agent.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LLM agent can then:</a:t>
            </a:r>
          </a:p>
          <a:p>
            <a:pPr marL="801688" lvl="1" indent="-285750"/>
            <a:r>
              <a:rPr lang="en-US" dirty="0"/>
              <a:t>Summarize the revenue trends and find textual associations linked to revenue growth (like us reading and making notes).</a:t>
            </a:r>
          </a:p>
          <a:p>
            <a:pPr marL="801688" lvl="1" indent="-285750"/>
            <a:r>
              <a:rPr lang="en-US" dirty="0"/>
              <a:t>Provide insight to support a judgement about the discussion that supports revenue growth by providing a requested output.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53924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C37B-E62E-024F-AC26-8194EA09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Intelligent Automation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6A6B7-89B9-1DD1-0956-25A192673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Financial Reporting: AAPL example</a:t>
            </a:r>
          </a:p>
        </p:txBody>
      </p:sp>
    </p:spTree>
    <p:extLst>
      <p:ext uri="{BB962C8B-B14F-4D97-AF65-F5344CB8AC3E}">
        <p14:creationId xmlns:p14="http://schemas.microsoft.com/office/powerpoint/2010/main" val="410764646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E3EDF-0FA8-A882-3F6D-0C78C3B81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0C2323F-CB29-673C-D2DF-8C1871C780B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6893" r="26893"/>
          <a:stretch/>
        </p:blipFill>
        <p:spPr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6A3045-8709-2A3D-9206-3F02D44F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do today?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12BE5-29AD-DC96-D905-16F2331125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Review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Accounting &amp; finance function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Intelligent automation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Managerial accounting overview</a:t>
            </a:r>
          </a:p>
          <a:p>
            <a:pPr marL="801688" lvl="1" indent="-285750"/>
            <a:r>
              <a:rPr lang="en-US" b="1" dirty="0">
                <a:solidFill>
                  <a:schemeClr val="tx2"/>
                </a:solidFill>
              </a:rPr>
              <a:t>Budgeting and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Variance Analysis Lab</a:t>
            </a:r>
          </a:p>
          <a:p>
            <a:pPr marL="801688" lvl="1" indent="-285750"/>
            <a:r>
              <a:rPr lang="en-US" dirty="0"/>
              <a:t>Understanding the manual process</a:t>
            </a:r>
          </a:p>
          <a:p>
            <a:pPr marL="801688" lvl="1" indent="-285750"/>
            <a:r>
              <a:rPr lang="en-US" dirty="0"/>
              <a:t>RPA Steps v. agents</a:t>
            </a:r>
          </a:p>
          <a:p>
            <a:pPr marL="801688" lvl="1" indent="-285750"/>
            <a:r>
              <a:rPr lang="en-US" dirty="0"/>
              <a:t>Humans: Policy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permitting, final project in-class time</a:t>
            </a:r>
          </a:p>
        </p:txBody>
      </p:sp>
    </p:spTree>
    <p:extLst>
      <p:ext uri="{BB962C8B-B14F-4D97-AF65-F5344CB8AC3E}">
        <p14:creationId xmlns:p14="http://schemas.microsoft.com/office/powerpoint/2010/main" val="336954706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108FE-9A21-D070-E297-D1D57C8E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1E54-B145-ECFF-0EED-37DB8A7E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managerial accounting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EE520-3D04-59F0-6FC5-FC9D246A7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8114718" cy="2084481"/>
          </a:xfrm>
        </p:spPr>
        <p:txBody>
          <a:bodyPr/>
          <a:lstStyle/>
          <a:p>
            <a:r>
              <a:rPr lang="en-US" dirty="0"/>
              <a:t>An internal (to the firm) user’s perspective on using accounting information to support: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Planning, directing and motivating employees, (cost) controlling, and evaluation responsibilities of managers.</a:t>
            </a:r>
          </a:p>
        </p:txBody>
      </p:sp>
    </p:spTree>
    <p:extLst>
      <p:ext uri="{BB962C8B-B14F-4D97-AF65-F5344CB8AC3E}">
        <p14:creationId xmlns:p14="http://schemas.microsoft.com/office/powerpoint/2010/main" val="5827395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AEDF-7A96-0313-26F4-78EF62F6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37899-3316-B984-5EEA-7C14A113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573543" cy="2084481"/>
          </a:xfrm>
        </p:spPr>
        <p:txBody>
          <a:bodyPr/>
          <a:lstStyle/>
          <a:p>
            <a:r>
              <a:rPr lang="en-US" dirty="0"/>
              <a:t>Managerial accounting tools: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Transforms raw data into actionable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Identifies where managerial attention is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Distinguishes signal from noise in performance (and performance evaluation)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timely intervention (not just post-hoc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Serves as a trigger for action (not just measurement)</a:t>
            </a:r>
          </a:p>
        </p:txBody>
      </p:sp>
    </p:spTree>
    <p:extLst>
      <p:ext uri="{BB962C8B-B14F-4D97-AF65-F5344CB8AC3E}">
        <p14:creationId xmlns:p14="http://schemas.microsoft.com/office/powerpoint/2010/main" val="92157269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A0C2-CCFA-EF9D-CC3B-8841CC01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Managerial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EB2F8-E693-E023-2B84-D919D4EF1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474016" cy="2084481"/>
          </a:xfrm>
        </p:spPr>
        <p:txBody>
          <a:bodyPr/>
          <a:lstStyle/>
          <a:p>
            <a:r>
              <a:rPr lang="en-US" dirty="0"/>
              <a:t>Managerial decisions that can be supported by managerial accounting tools include examples like: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we rent or buy a new location?</a:t>
            </a:r>
          </a:p>
          <a:p>
            <a:pPr marL="801688" lvl="1" indent="-285750"/>
            <a:r>
              <a:rPr lang="en-US" dirty="0"/>
              <a:t>Can be very important for retail companies (e.g., Starbucks)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we onboard or outsource an activity?</a:t>
            </a:r>
          </a:p>
          <a:p>
            <a:pPr marL="801688" lvl="1" indent="-285750"/>
            <a:r>
              <a:rPr lang="en-US" dirty="0"/>
              <a:t>Can be very important for service firms (e.g., CPAs and banks)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we build an internal AI data warehouse or rely on OpenAI / Claude subscriptions?</a:t>
            </a:r>
          </a:p>
          <a:p>
            <a:pPr marL="801688" lvl="1" indent="-285750"/>
            <a:r>
              <a:rPr lang="en-US" dirty="0"/>
              <a:t>Can be very important for software companies (e.g., SAAS)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17761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486AE-8303-309B-9031-7F800DE8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5" y="406036"/>
            <a:ext cx="7268743" cy="369332"/>
          </a:xfrm>
        </p:spPr>
        <p:txBody>
          <a:bodyPr/>
          <a:lstStyle/>
          <a:p>
            <a:r>
              <a:rPr lang="en-US" dirty="0"/>
              <a:t>What is common between these decisions?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D564D-BBF5-F5A0-B2BF-1E053FD78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393151" cy="2084481"/>
          </a:xfrm>
        </p:spPr>
        <p:txBody>
          <a:bodyPr/>
          <a:lstStyle/>
          <a:p>
            <a:r>
              <a:rPr lang="en-US" dirty="0"/>
              <a:t>In each case, accounting information helps identify </a:t>
            </a:r>
            <a:r>
              <a:rPr lang="en-US" b="1" dirty="0"/>
              <a:t>when a decision is required what trade-offs matter: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we rent or buy a new location?</a:t>
            </a:r>
          </a:p>
          <a:p>
            <a:pPr marL="801688" lvl="1" indent="-285750"/>
            <a:r>
              <a:rPr lang="en-US" b="1" dirty="0">
                <a:solidFill>
                  <a:schemeClr val="tx2"/>
                </a:solidFill>
              </a:rPr>
              <a:t>Trade-off between fixed commitments and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we onboard or outsource an activity?</a:t>
            </a:r>
          </a:p>
          <a:p>
            <a:pPr marL="801688" lvl="1" indent="-285750"/>
            <a:r>
              <a:rPr lang="en-US" b="1" dirty="0">
                <a:solidFill>
                  <a:schemeClr val="tx2"/>
                </a:solidFill>
              </a:rPr>
              <a:t>Trade-off between control, cost, and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we build an internal AI data warehouse or rely on OpenAI / Claude subscriptions?</a:t>
            </a:r>
          </a:p>
          <a:p>
            <a:pPr marL="801688" lvl="1" indent="-285750"/>
            <a:r>
              <a:rPr lang="en-US" b="1" dirty="0">
                <a:solidFill>
                  <a:schemeClr val="tx2"/>
                </a:solidFill>
              </a:rPr>
              <a:t>Trade-off between upfront investment and usage-based costs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1495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324D-B1EF-C29F-F1E7-DEA95527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commonality: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802B9-22AC-767D-7081-C51235579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are all </a:t>
            </a:r>
            <a:r>
              <a:rPr lang="en-US" b="1" dirty="0"/>
              <a:t>trade-off decisions about trade-offs when managers face uncertainty using (historical and projected) cost information.</a:t>
            </a:r>
          </a:p>
          <a:p>
            <a:endParaRPr lang="en-US" b="1" dirty="0"/>
          </a:p>
          <a:p>
            <a:r>
              <a:rPr lang="en-US" dirty="0"/>
              <a:t>These decisions are often triggered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gaps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 </a:t>
            </a:r>
            <a:r>
              <a:rPr lang="en-US" b="1" dirty="0">
                <a:solidFill>
                  <a:schemeClr val="tx2"/>
                </a:solidFill>
              </a:rPr>
              <a:t>unexpected variances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179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C1C4F-62D5-5901-A0A2-6D88145C4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ECF65FC-C94A-BCB1-17AA-0B434129C78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6893" r="26893"/>
          <a:stretch/>
        </p:blipFill>
        <p:spPr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E410D95-2EBC-4005-2A9D-1F6636CF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do today?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99FFB-227F-88E0-BA74-1CF256B1F9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Review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Accounting &amp; finance function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Intelligent automation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Managerial accounting overview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Budgeting and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Variance Analysis Lab</a:t>
            </a:r>
          </a:p>
          <a:p>
            <a:pPr marL="801688" lvl="1" indent="-285750"/>
            <a:r>
              <a:rPr lang="en-US" dirty="0"/>
              <a:t>Understanding the manual process</a:t>
            </a:r>
          </a:p>
          <a:p>
            <a:pPr marL="801688" lvl="1" indent="-285750"/>
            <a:r>
              <a:rPr lang="en-US" dirty="0"/>
              <a:t>RPA Steps v. agents</a:t>
            </a:r>
          </a:p>
          <a:p>
            <a:pPr marL="801688" lvl="1" indent="-285750"/>
            <a:r>
              <a:rPr lang="en-US" dirty="0"/>
              <a:t>Humans: Policy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permitting, final project in-class time</a:t>
            </a:r>
          </a:p>
        </p:txBody>
      </p:sp>
    </p:spTree>
    <p:extLst>
      <p:ext uri="{BB962C8B-B14F-4D97-AF65-F5344CB8AC3E}">
        <p14:creationId xmlns:p14="http://schemas.microsoft.com/office/powerpoint/2010/main" val="345947625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67C4-7CC7-9B0D-498C-BF24F2BD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Analysis Lab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C367F-BC20-3B36-F03F-ABE0E2522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741494" cy="2084481"/>
          </a:xfrm>
        </p:spPr>
        <p:txBody>
          <a:bodyPr/>
          <a:lstStyle/>
          <a:p>
            <a:r>
              <a:rPr lang="en-US" dirty="0"/>
              <a:t>Using Variance Analysis as a setting, we will think about the following decision process: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Variance analysis</a:t>
            </a:r>
            <a:r>
              <a:rPr lang="en-US" dirty="0"/>
              <a:t> → “Where did expectations break?”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Automation (RPA)</a:t>
            </a:r>
            <a:r>
              <a:rPr lang="en-US" dirty="0"/>
              <a:t> → “We can detect this automatically”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Agent (LLM)</a:t>
            </a:r>
            <a:r>
              <a:rPr lang="en-US" dirty="0"/>
              <a:t> → “Here’s what matters and what to do”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Human</a:t>
            </a:r>
            <a:r>
              <a:rPr lang="en-US" dirty="0"/>
              <a:t> → “Should we act, and how?”</a:t>
            </a:r>
          </a:p>
        </p:txBody>
      </p:sp>
    </p:spTree>
    <p:extLst>
      <p:ext uri="{BB962C8B-B14F-4D97-AF65-F5344CB8AC3E}">
        <p14:creationId xmlns:p14="http://schemas.microsoft.com/office/powerpoint/2010/main" val="176401375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746A-C478-812B-2BB9-E5075C370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lab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B0445-11D0-5918-C56C-19C6161E5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firm is (almost) 10% over budget. Is this a problem, or just noise? What should we do?</a:t>
            </a:r>
          </a:p>
        </p:txBody>
      </p:sp>
    </p:spTree>
    <p:extLst>
      <p:ext uri="{BB962C8B-B14F-4D97-AF65-F5344CB8AC3E}">
        <p14:creationId xmlns:p14="http://schemas.microsoft.com/office/powerpoint/2010/main" val="376789037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601C4-775E-3F0E-40F0-F0B7CF39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2A66367-74E0-CCEA-BECE-CBC86829A63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6893" r="26893"/>
          <a:stretch/>
        </p:blipFill>
        <p:spPr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BCB53FB-B281-FC43-09E0-479A0397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do today?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489F9-7C3A-8C3E-5154-EA301EE40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Review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Accounting &amp; finance function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Intelligent automation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Managerial accounting overview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Budgeting and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Variance Analysis Lab</a:t>
            </a:r>
          </a:p>
          <a:p>
            <a:pPr marL="801688" lvl="1" indent="-285750"/>
            <a:r>
              <a:rPr lang="en-US" b="1" dirty="0">
                <a:solidFill>
                  <a:schemeClr val="tx2"/>
                </a:solidFill>
              </a:rPr>
              <a:t>Understanding the manual process</a:t>
            </a:r>
          </a:p>
          <a:p>
            <a:pPr marL="801688" lvl="1" indent="-285750"/>
            <a:r>
              <a:rPr lang="en-US" dirty="0"/>
              <a:t>RPA Steps v. agents</a:t>
            </a:r>
          </a:p>
          <a:p>
            <a:pPr marL="801688" lvl="1" indent="-285750"/>
            <a:r>
              <a:rPr lang="en-US" dirty="0"/>
              <a:t>Humans: Policy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permitting, final project in-class time</a:t>
            </a:r>
          </a:p>
        </p:txBody>
      </p:sp>
    </p:spTree>
    <p:extLst>
      <p:ext uri="{BB962C8B-B14F-4D97-AF65-F5344CB8AC3E}">
        <p14:creationId xmlns:p14="http://schemas.microsoft.com/office/powerpoint/2010/main" val="163563374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C69D-DCDA-A629-3D35-BA143EEF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F024-C2E9-A911-16BC-4B62CB62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manual process, create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2E49B-FC0E-EC62-6CB8-9ACB1A4FA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648188" cy="2084481"/>
          </a:xfrm>
        </p:spPr>
        <p:txBody>
          <a:bodyPr/>
          <a:lstStyle/>
          <a:p>
            <a:r>
              <a:rPr lang="en-US" dirty="0"/>
              <a:t>To manually (or automatically) create a report we need: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Budget data (usually aggregated to a unit / project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Actual spending data (usually not aggregated)</a:t>
            </a:r>
          </a:p>
          <a:p>
            <a:endParaRPr lang="en-US" dirty="0"/>
          </a:p>
          <a:p>
            <a:r>
              <a:rPr lang="en-US" dirty="0"/>
              <a:t>Steps: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Obtain both datasets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Aggregate actuals to same units as budgets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Join the budget and actual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12804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B81AE3-C1E3-A91A-6232-3766C22A0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31" y="337825"/>
            <a:ext cx="7973538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4084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F8D27-5453-D05A-79BB-DA2A3FECE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18" y="0"/>
            <a:ext cx="85965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3063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3B57B-3F11-8A9D-E591-A1BE3D14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2932-D8E9-51A1-67AD-CA72A73A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manual process, analyze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0C0F5-4BDF-0045-AD3C-0C4D32435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648188" cy="2084481"/>
          </a:xfrm>
        </p:spPr>
        <p:txBody>
          <a:bodyPr/>
          <a:lstStyle/>
          <a:p>
            <a:r>
              <a:rPr lang="en-US" b="1" dirty="0"/>
              <a:t>A manager receives a variance report and: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Reviews overall budget vs actual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Identifies large or unusual variances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Drills into departments / accounts / units / projects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Investigates potential causes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Determines whether the variance is: </a:t>
            </a:r>
          </a:p>
          <a:p>
            <a:pPr marL="684213" lvl="1" indent="-342900">
              <a:buFont typeface="+mj-lt"/>
              <a:buAutoNum type="arabicPeriod"/>
            </a:pPr>
            <a:r>
              <a:rPr lang="en-US" dirty="0"/>
              <a:t>signal (requires action) </a:t>
            </a:r>
          </a:p>
          <a:p>
            <a:pPr marL="684213" lvl="1" indent="-342900">
              <a:buFont typeface="+mj-lt"/>
              <a:buAutoNum type="arabicPeriod"/>
            </a:pPr>
            <a:r>
              <a:rPr lang="en-US" dirty="0"/>
              <a:t>noise (can be ignored)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Decides whether to act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Communicates findings /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00393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B0231A-70A9-A5CA-7317-33E182D34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3095"/>
            <a:ext cx="9144000" cy="364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38262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BC9D9-92F5-BC36-5371-68C7D977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9C6205F-672D-18DA-2221-2BB73584E73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6893" r="26893"/>
          <a:stretch/>
        </p:blipFill>
        <p:spPr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2415FD3-0625-8B51-96ED-7CB2D03FF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do today?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DC5E1-4C4F-DE14-33B2-D44CE85B5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Review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Accounting &amp; finance function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Intelligent automation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Managerial accounting overview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Budgeting and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Variance Analysis Lab</a:t>
            </a:r>
          </a:p>
          <a:p>
            <a:pPr marL="801688" lvl="1" indent="-28575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Understanding the manual process</a:t>
            </a:r>
          </a:p>
          <a:p>
            <a:pPr marL="801688" lvl="1" indent="-285750"/>
            <a:r>
              <a:rPr lang="en-US" b="1" dirty="0">
                <a:solidFill>
                  <a:schemeClr val="tx2"/>
                </a:solidFill>
              </a:rPr>
              <a:t>RPA Steps v. agents</a:t>
            </a:r>
          </a:p>
          <a:p>
            <a:pPr marL="801688" lvl="1" indent="-285750"/>
            <a:r>
              <a:rPr lang="en-US" b="1" dirty="0">
                <a:solidFill>
                  <a:schemeClr val="tx2"/>
                </a:solidFill>
              </a:rPr>
              <a:t>Humans: Policy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permitting, final project in-class time</a:t>
            </a:r>
          </a:p>
        </p:txBody>
      </p:sp>
    </p:spTree>
    <p:extLst>
      <p:ext uri="{BB962C8B-B14F-4D97-AF65-F5344CB8AC3E}">
        <p14:creationId xmlns:p14="http://schemas.microsoft.com/office/powerpoint/2010/main" val="189194579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4E8EA-83E1-2330-FD89-7BDED358F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4175-7753-2967-2D98-31C04412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5" y="406036"/>
            <a:ext cx="8357314" cy="369332"/>
          </a:xfrm>
        </p:spPr>
        <p:txBody>
          <a:bodyPr/>
          <a:lstStyle/>
          <a:p>
            <a:r>
              <a:rPr lang="en-US" dirty="0"/>
              <a:t>Where does the manual process become difficult?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573D5-60C9-0A30-C7A7-9E03BFBD5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648188" cy="208448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Large volume of data / large numbers of (unfavorable) variances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Time constraints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Inconsistent judgment / Limited visibility into causes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it is hard to prioritize what matters</a:t>
            </a:r>
          </a:p>
        </p:txBody>
      </p:sp>
    </p:spTree>
    <p:extLst>
      <p:ext uri="{BB962C8B-B14F-4D97-AF65-F5344CB8AC3E}">
        <p14:creationId xmlns:p14="http://schemas.microsoft.com/office/powerpoint/2010/main" val="354319793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BD7BD-04EF-2B10-7A45-0F382DAC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1FC6-4C84-B22B-5214-EA54DA59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5" y="406036"/>
            <a:ext cx="8357314" cy="369332"/>
          </a:xfrm>
        </p:spPr>
        <p:txBody>
          <a:bodyPr/>
          <a:lstStyle/>
          <a:p>
            <a:r>
              <a:rPr lang="en-US" dirty="0"/>
              <a:t>RPA helpers versus Agent helpers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87D393-C478-78D6-C712-71A5C0A980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352476"/>
              </p:ext>
            </p:extLst>
          </p:nvPr>
        </p:nvGraphicFramePr>
        <p:xfrm>
          <a:off x="115077" y="841667"/>
          <a:ext cx="8913846" cy="3966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282">
                  <a:extLst>
                    <a:ext uri="{9D8B030D-6E8A-4147-A177-3AD203B41FA5}">
                      <a16:colId xmlns:a16="http://schemas.microsoft.com/office/drawing/2014/main" val="3003416633"/>
                    </a:ext>
                  </a:extLst>
                </a:gridCol>
                <a:gridCol w="2971282">
                  <a:extLst>
                    <a:ext uri="{9D8B030D-6E8A-4147-A177-3AD203B41FA5}">
                      <a16:colId xmlns:a16="http://schemas.microsoft.com/office/drawing/2014/main" val="2970060808"/>
                    </a:ext>
                  </a:extLst>
                </a:gridCol>
                <a:gridCol w="2971282">
                  <a:extLst>
                    <a:ext uri="{9D8B030D-6E8A-4147-A177-3AD203B41FA5}">
                      <a16:colId xmlns:a16="http://schemas.microsoft.com/office/drawing/2014/main" val="1629882394"/>
                    </a:ext>
                  </a:extLst>
                </a:gridCol>
              </a:tblGrid>
              <a:tr h="496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RPA (Automation)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 (Interpretation)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489020"/>
                  </a:ext>
                </a:extLst>
              </a:tr>
              <a:tr h="57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Data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Reads budget and actuals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958182"/>
                  </a:ext>
                </a:extLst>
              </a:tr>
              <a:tr h="57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Aggregation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Computes totals and variances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701828"/>
                  </a:ext>
                </a:extLst>
              </a:tr>
              <a:tr h="328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Flags differences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338503"/>
                  </a:ext>
                </a:extLst>
              </a:tr>
              <a:tr h="496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Explains what happened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190899"/>
                  </a:ext>
                </a:extLst>
              </a:tr>
              <a:tr h="57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Prioritization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Identifies what matters most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470784"/>
                  </a:ext>
                </a:extLst>
              </a:tr>
              <a:tr h="328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Suggests 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44070"/>
                  </a:ext>
                </a:extLst>
              </a:tr>
              <a:tr h="57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Supports human judgment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860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00776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5689-A5DD-2A27-4105-5F15D8D2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RPA helpers versus agent helpers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A079-EFF9-72B4-F75F-1B8ACF36E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RPA answers: </a:t>
            </a:r>
            <a:r>
              <a:rPr lang="en-US" b="1" dirty="0"/>
              <a:t>“What happened?”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Agents answer: </a:t>
            </a:r>
            <a:r>
              <a:rPr lang="en-US" b="1" dirty="0"/>
              <a:t>“What does it mean and what could we do?”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Humans </a:t>
            </a:r>
            <a:r>
              <a:rPr lang="en-US" b="1" dirty="0"/>
              <a:t>decide whether a change is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84142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7F98-B87A-92A9-263A-DC4A9CF5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BFF01-23FC-582D-49E5-42E159A0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See and Fill in the rest of the template for today’s class:</a:t>
            </a:r>
          </a:p>
          <a:p>
            <a:pPr marL="858838" lvl="1" indent="-342900">
              <a:buAutoNum type="arabicPeriod"/>
            </a:pPr>
            <a:r>
              <a:rPr lang="en-US" dirty="0"/>
              <a:t>Use an LLM to get insight from the variance and actuals data. </a:t>
            </a:r>
          </a:p>
          <a:p>
            <a:pPr marL="858838" lvl="1" indent="-342900">
              <a:buAutoNum type="arabicPeriod"/>
            </a:pPr>
            <a:r>
              <a:rPr lang="en-US" dirty="0"/>
              <a:t>Add the policy document as a follow-up and ask for recommendations on rewriting the policy.</a:t>
            </a:r>
          </a:p>
          <a:p>
            <a:pPr marL="858838" lvl="1" indent="-342900">
              <a:buAutoNum type="arabicPeriod"/>
            </a:pPr>
            <a:r>
              <a:rPr lang="en-US" dirty="0"/>
              <a:t>Reflection activity.</a:t>
            </a:r>
          </a:p>
        </p:txBody>
      </p:sp>
    </p:spTree>
    <p:extLst>
      <p:ext uri="{BB962C8B-B14F-4D97-AF65-F5344CB8AC3E}">
        <p14:creationId xmlns:p14="http://schemas.microsoft.com/office/powerpoint/2010/main" val="2400025503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62AE-43FF-9259-0FB6-49CF54D1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check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C2EBE-3DBD-3CE6-96F6-483A2A4D0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Decide on your focus area as a team, internal (manager) or external (investor) decision maker?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Choose a potential question you’d like to answer within a broad area – (see slides in the appendix) or pick a broad area and I’ll supply a question.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743688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2D327B-3D25-3436-3BD4-5A597C6A49EC}"/>
              </a:ext>
            </a:extLst>
          </p:cNvPr>
          <p:cNvSpPr txBox="1">
            <a:spLocks/>
          </p:cNvSpPr>
          <p:nvPr/>
        </p:nvSpPr>
        <p:spPr>
          <a:xfrm>
            <a:off x="528972" y="1643081"/>
            <a:ext cx="8086056" cy="1215717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8065368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1FB0-7986-8FEC-9A20-80EFA621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5657F-2DC1-C66E-47D3-F95F99E4E4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Reminder of Final Project Requirements</a:t>
            </a:r>
          </a:p>
        </p:txBody>
      </p:sp>
    </p:spTree>
    <p:extLst>
      <p:ext uri="{BB962C8B-B14F-4D97-AF65-F5344CB8AC3E}">
        <p14:creationId xmlns:p14="http://schemas.microsoft.com/office/powerpoint/2010/main" val="2586852882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F2241C-C7D7-C75C-DF37-9009934D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5" y="406036"/>
            <a:ext cx="7660628" cy="369332"/>
          </a:xfrm>
        </p:spPr>
        <p:txBody>
          <a:bodyPr/>
          <a:lstStyle/>
          <a:p>
            <a:r>
              <a:rPr lang="en-US" b="0" dirty="0"/>
              <a:t>Intelligent Automation Team Challenge</a:t>
            </a:r>
            <a:br>
              <a:rPr lang="en-US" b="0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00553-A565-8FF7-2F66-D79D8AE3A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team project that focuses on an enterprise level automation robot aimed at solving an Accounting &amp; Finance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bot can be demonstrated in a proof-of-concept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a Generative Artificial Intelligence (LLM) and/or Agentic AI / AI Agents component. </a:t>
            </a:r>
          </a:p>
        </p:txBody>
      </p:sp>
    </p:spTree>
    <p:extLst>
      <p:ext uri="{BB962C8B-B14F-4D97-AF65-F5344CB8AC3E}">
        <p14:creationId xmlns:p14="http://schemas.microsoft.com/office/powerpoint/2010/main" val="196243758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67F1-1911-351A-71B9-7EEC431C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1D29-8F58-1A92-A954-4DD2BDB40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deliverable: A prototype (or example) of a solution to the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Presentation deliverable: Discussion of the problem being solved, how the agent benefits the task or workflow, and an evaluation of the usefulness of the Agent or LLM example.</a:t>
            </a:r>
          </a:p>
        </p:txBody>
      </p:sp>
    </p:spTree>
    <p:extLst>
      <p:ext uri="{BB962C8B-B14F-4D97-AF65-F5344CB8AC3E}">
        <p14:creationId xmlns:p14="http://schemas.microsoft.com/office/powerpoint/2010/main" val="2262933966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7F34-7C31-8300-1241-5B1320F5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&amp; Finance Focus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274D1-5AC3-42FE-06F8-769CFDE3A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focus on the following core areas: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Financial Performance &amp; Forecasting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Budgeting &amp; Financial Planning and Analysis (FPA)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Evaluation &amp;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Teams have the option to choose from these areas (or some other options).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2427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4450-5AB8-9764-2228-BA100409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9FB00-4331-1842-AA76-19BF3D969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474016" cy="2084481"/>
          </a:xfrm>
        </p:spPr>
        <p:txBody>
          <a:bodyPr/>
          <a:lstStyle/>
          <a:p>
            <a:r>
              <a:rPr lang="en-US" dirty="0"/>
              <a:t>I will provide each team with a problem from within the Accounting &amp; Finance Function* for this problem, you will be asked to present an AI- agent solution to the use-case focusing on: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does an intelligent agent need to know, compute, and determine/reason?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BF1C2-434B-7C8E-FD18-C3D412666561}"/>
              </a:ext>
            </a:extLst>
          </p:cNvPr>
          <p:cNvSpPr txBox="1"/>
          <p:nvPr/>
        </p:nvSpPr>
        <p:spPr>
          <a:xfrm>
            <a:off x="307714" y="4460465"/>
            <a:ext cx="7913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</a:rPr>
              <a:t>* If your team is interested in solving a different problem from the pool of potential ones I offer let me know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6288448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3129-72DC-FD83-13B5-5816F88C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the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B26FB-27FA-4E6D-7DEF-5D516EDF7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4" y="1083527"/>
            <a:ext cx="7424253" cy="2084481"/>
          </a:xfrm>
        </p:spPr>
        <p:txBody>
          <a:bodyPr/>
          <a:lstStyle/>
          <a:p>
            <a:r>
              <a:rPr lang="en-US" dirty="0"/>
              <a:t>The project will have each team focus on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the appropriate inputs/data?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model or logic used to solve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decisions and explanations do I want the agent’s help on?</a:t>
            </a:r>
          </a:p>
        </p:txBody>
      </p:sp>
    </p:spTree>
    <p:extLst>
      <p:ext uri="{BB962C8B-B14F-4D97-AF65-F5344CB8AC3E}">
        <p14:creationId xmlns:p14="http://schemas.microsoft.com/office/powerpoint/2010/main" val="3752685258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72DC-12C8-FF70-C415-5C1B1CB8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Analysis &amp;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2A91-DF6A-7EFD-86AF-75A1BC1E1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4" y="1083527"/>
            <a:ext cx="8008971" cy="2084481"/>
          </a:xfrm>
        </p:spPr>
        <p:txBody>
          <a:bodyPr/>
          <a:lstStyle/>
          <a:p>
            <a:r>
              <a:rPr lang="en-US" dirty="0"/>
              <a:t>Data: transactions, financial statements, earnings reports</a:t>
            </a:r>
          </a:p>
          <a:p>
            <a:r>
              <a:rPr lang="en-US" dirty="0"/>
              <a:t>Logic: Trend analysis &amp; ratio analysis</a:t>
            </a:r>
          </a:p>
          <a:p>
            <a:r>
              <a:rPr lang="en-US" dirty="0"/>
              <a:t>Agent Role: Explain performance &amp; generate insights, predict outcomes &amp; explain key assumptions</a:t>
            </a:r>
          </a:p>
          <a:p>
            <a:endParaRPr lang="en-US" dirty="0"/>
          </a:p>
          <a:p>
            <a:r>
              <a:rPr lang="en-US" dirty="0"/>
              <a:t>Users/audience: Internal (managers) and external (investors) to the firm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61599753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9DD34-5F1F-F2C8-26CD-0587C853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4E7B-3657-29F6-8CF7-5F377499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45" y="406036"/>
            <a:ext cx="8058735" cy="369332"/>
          </a:xfrm>
        </p:spPr>
        <p:txBody>
          <a:bodyPr/>
          <a:lstStyle/>
          <a:p>
            <a:r>
              <a:rPr lang="en-US" dirty="0"/>
              <a:t>Budgeting and &amp; Financial Planning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1DB08-185A-3C14-8CA7-0B91713DD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8127159" cy="2084481"/>
          </a:xfrm>
        </p:spPr>
        <p:txBody>
          <a:bodyPr/>
          <a:lstStyle/>
          <a:p>
            <a:r>
              <a:rPr lang="en-US" dirty="0"/>
              <a:t>Data: Transactions / budgets versus actuals reports (internal).</a:t>
            </a:r>
          </a:p>
          <a:p>
            <a:endParaRPr lang="en-US" dirty="0"/>
          </a:p>
          <a:p>
            <a:r>
              <a:rPr lang="en-US" dirty="0"/>
              <a:t>Logic / tools: variance analysis, relevant costs, cost allocation.</a:t>
            </a:r>
          </a:p>
          <a:p>
            <a:endParaRPr lang="en-US" dirty="0"/>
          </a:p>
          <a:p>
            <a:r>
              <a:rPr lang="en-US" dirty="0"/>
              <a:t>Agent roles: Diagnose what went wrong (missing a budget target), aid in filtering decision-relevant information (relevant v irrelevant costs).</a:t>
            </a:r>
          </a:p>
          <a:p>
            <a:endParaRPr lang="en-US" dirty="0"/>
          </a:p>
          <a:p>
            <a:r>
              <a:rPr lang="en-US" dirty="0"/>
              <a:t>Users/audience: Internal management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2842480376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84B2-DA24-9F6D-463A-4B125712F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Evaluation &amp; Risk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E9E8-57D8-E89B-10C9-5D053F368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8102277" cy="2084481"/>
          </a:xfrm>
        </p:spPr>
        <p:txBody>
          <a:bodyPr/>
          <a:lstStyle/>
          <a:p>
            <a:r>
              <a:rPr lang="en-US" dirty="0"/>
              <a:t>Data: investment targets, risk/return estimates and cost of capital, projected future cash-flows.</a:t>
            </a:r>
          </a:p>
          <a:p>
            <a:endParaRPr lang="en-US" dirty="0"/>
          </a:p>
          <a:p>
            <a:r>
              <a:rPr lang="en-US" dirty="0"/>
              <a:t>Logic tools: Time value of money, valuation, capital asset pricing models.</a:t>
            </a:r>
          </a:p>
          <a:p>
            <a:endParaRPr lang="en-US" dirty="0"/>
          </a:p>
          <a:p>
            <a:r>
              <a:rPr lang="en-US" dirty="0"/>
              <a:t>Agent roles: Rank &amp; Recommend Investment decisions based on a set of targets, simulate uncertainty and risk analysis and/or evaluate investment trade-offs over time.</a:t>
            </a:r>
          </a:p>
          <a:p>
            <a:endParaRPr lang="en-US" dirty="0"/>
          </a:p>
          <a:p>
            <a:r>
              <a:rPr lang="en-US" dirty="0"/>
              <a:t>Users/audience: Mangers and investors.</a:t>
            </a:r>
          </a:p>
        </p:txBody>
      </p:sp>
    </p:spTree>
    <p:extLst>
      <p:ext uri="{BB962C8B-B14F-4D97-AF65-F5344CB8AC3E}">
        <p14:creationId xmlns:p14="http://schemas.microsoft.com/office/powerpoint/2010/main" val="1940864722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714D-CDB8-082D-74BE-38DA6591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other potential focus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AEC0F-203B-9D3D-79FE-F7FD8B23F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Fraud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Portfolio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Environmental, Social and Governance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 Finance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Wealth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Tax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Cybersecurity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Blockchain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898787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28D5-9E8E-186A-3B2D-7E9B8540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8A6A3-01BF-4D3B-9682-BF6AAC72A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Simulate data internal company inputs for this task or use real company disclosures and/or stock prices.</a:t>
            </a:r>
          </a:p>
        </p:txBody>
      </p:sp>
    </p:spTree>
    <p:extLst>
      <p:ext uri="{BB962C8B-B14F-4D97-AF65-F5344CB8AC3E}">
        <p14:creationId xmlns:p14="http://schemas.microsoft.com/office/powerpoint/2010/main" val="317655808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B1F00-6CE2-D8EE-5AAD-F70F2B4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A751-5CA0-FD5B-8468-F3EFF3F2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Proof-of-concept /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F2D01-796D-4BD9-71FE-8D2BF14D4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6134555" cy="2847771"/>
          </a:xfrm>
        </p:spPr>
        <p:txBody>
          <a:bodyPr/>
          <a:lstStyle/>
          <a:p>
            <a:r>
              <a:rPr lang="en-US" dirty="0"/>
              <a:t>Multiple possible approaches: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Proof of agent concept (UiPath, Python, LLM) without automation **do this part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Proof of concept process map in business process mapping notation (BPMN) **do this second.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Working automation workflow prototype with agents using business process mapping notation (UiPath, Python). **optional; do this third.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561937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074D-E6E3-E027-5033-CBCD6EA4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74B0D-0F6D-A4DF-7C31-BD022DA7D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45" y="1083527"/>
            <a:ext cx="7897004" cy="2084481"/>
          </a:xfrm>
        </p:spPr>
        <p:txBody>
          <a:bodyPr/>
          <a:lstStyle/>
          <a:p>
            <a:r>
              <a:rPr lang="en-US" dirty="0"/>
              <a:t>Each team will present for up to 15 minutes plus up to a 5 minute Q&amp;A.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problem, why is it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your solution achieves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Mechanics of the solution (data inputs, process, outputs)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Conclusion and Q&amp;A</a:t>
            </a:r>
          </a:p>
          <a:p>
            <a:endParaRPr lang="en-US" dirty="0"/>
          </a:p>
          <a:p>
            <a:r>
              <a:rPr lang="en-US" dirty="0"/>
              <a:t>Non-presenting class members are expected to ask questions.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90904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025 Foster Template">
  <a:themeElements>
    <a:clrScheme name="2025 Foster">
      <a:dk1>
        <a:srgbClr val="000000"/>
      </a:dk1>
      <a:lt1>
        <a:srgbClr val="FFFFFF"/>
      </a:lt1>
      <a:dk2>
        <a:srgbClr val="32006E"/>
      </a:dk2>
      <a:lt2>
        <a:srgbClr val="FFFFFF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D6D5E6"/>
      </a:accent5>
      <a:accent6>
        <a:srgbClr val="C1BAEB"/>
      </a:accent6>
      <a:hlink>
        <a:srgbClr val="6A44AC"/>
      </a:hlink>
      <a:folHlink>
        <a:srgbClr val="6A45AB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C83D68AC-D092-DE4D-91CD-78B5B2F14BB7}" vid="{76B0F23E-65E1-BF4F-AD56-3242312FE2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02147D869F5D4A8DCDB203BDC4D329" ma:contentTypeVersion="15" ma:contentTypeDescription="Create a new document." ma:contentTypeScope="" ma:versionID="f17a597da68fab695020270d6a7086cb">
  <xsd:schema xmlns:xsd="http://www.w3.org/2001/XMLSchema" xmlns:xs="http://www.w3.org/2001/XMLSchema" xmlns:p="http://schemas.microsoft.com/office/2006/metadata/properties" xmlns:ns2="3e08c221-0eca-4d51-ae15-1dc733eb7f09" xmlns:ns3="59ca73c7-24b6-45ce-ba44-a049ea6a0300" xmlns:ns4="ab06a5aa-8e31-4bdb-9b13-38c58a92ec8a" targetNamespace="http://schemas.microsoft.com/office/2006/metadata/properties" ma:root="true" ma:fieldsID="50ee8e58bc979c30809c6ae6bdc56957" ns2:_="" ns3:_="" ns4:_="">
    <xsd:import namespace="3e08c221-0eca-4d51-ae15-1dc733eb7f09"/>
    <xsd:import namespace="59ca73c7-24b6-45ce-ba44-a049ea6a0300"/>
    <xsd:import namespace="ab06a5aa-8e31-4bdb-9b13-38c58a92e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8c221-0eca-4d51-ae15-1dc733eb7f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20148b9-20a4-48a0-acba-ba52d68a3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a73c7-24b6-45ce-ba44-a049ea6a030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6a5aa-8e31-4bdb-9b13-38c58a92ec8a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06e45dac-407b-4abe-b599-ada99fe8f0c3}" ma:internalName="TaxCatchAll" ma:showField="CatchAllData" ma:web="59ca73c7-24b6-45ce-ba44-a049ea6a03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8c221-0eca-4d51-ae15-1dc733eb7f09">
      <Terms xmlns="http://schemas.microsoft.com/office/infopath/2007/PartnerControls"/>
    </lcf76f155ced4ddcb4097134ff3c332f>
    <TaxCatchAll xmlns="ab06a5aa-8e31-4bdb-9b13-38c58a92ec8a" xsi:nil="true"/>
  </documentManagement>
</p:properties>
</file>

<file path=customXml/itemProps1.xml><?xml version="1.0" encoding="utf-8"?>
<ds:datastoreItem xmlns:ds="http://schemas.openxmlformats.org/officeDocument/2006/customXml" ds:itemID="{8187960B-CFD5-4D75-AB4F-AC2F70658F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08c221-0eca-4d51-ae15-1dc733eb7f09"/>
    <ds:schemaRef ds:uri="59ca73c7-24b6-45ce-ba44-a049ea6a0300"/>
    <ds:schemaRef ds:uri="ab06a5aa-8e31-4bdb-9b13-38c58a92ec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FAB5FD-9BA7-405C-859C-9F45E41B01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E56C4E-BE7C-4EF0-9A58-932F2D9A29D2}">
  <ds:schemaRefs>
    <ds:schemaRef ds:uri="http://schemas.microsoft.com/office/2006/documentManagement/types"/>
    <ds:schemaRef ds:uri="http://purl.org/dc/terms/"/>
    <ds:schemaRef ds:uri="http://purl.org/dc/dcmitype/"/>
    <ds:schemaRef ds:uri="3e08c221-0eca-4d51-ae15-1dc733eb7f09"/>
    <ds:schemaRef ds:uri="http://schemas.openxmlformats.org/package/2006/metadata/core-properties"/>
    <ds:schemaRef ds:uri="http://www.w3.org/XML/1998/namespace"/>
    <ds:schemaRef ds:uri="http://purl.org/dc/elements/1.1/"/>
    <ds:schemaRef ds:uri="ab06a5aa-8e31-4bdb-9b13-38c58a92ec8a"/>
    <ds:schemaRef ds:uri="http://schemas.microsoft.com/office/infopath/2007/PartnerControls"/>
    <ds:schemaRef ds:uri="59ca73c7-24b6-45ce-ba44-a049ea6a0300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916</TotalTime>
  <Words>2299</Words>
  <Application>Microsoft Office PowerPoint</Application>
  <PresentationFormat>On-screen Show (16:9)</PresentationFormat>
  <Paragraphs>389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Wingdings</vt:lpstr>
      <vt:lpstr>Calibri</vt:lpstr>
      <vt:lpstr>Open Sans</vt:lpstr>
      <vt:lpstr>Arial</vt:lpstr>
      <vt:lpstr>Encode Sans Normal Medium</vt:lpstr>
      <vt:lpstr>Encode Sans Normal ExtraBold</vt:lpstr>
      <vt:lpstr>Open Sans Light</vt:lpstr>
      <vt:lpstr>Uni Sans Regular</vt:lpstr>
      <vt:lpstr>2025 Foster Template</vt:lpstr>
      <vt:lpstr>Agentic Automation (with Managerial Accounting)</vt:lpstr>
      <vt:lpstr>What will we do today?</vt:lpstr>
      <vt:lpstr>Accounting &amp; Finance Function </vt:lpstr>
      <vt:lpstr>An information and  decisions approach</vt:lpstr>
      <vt:lpstr>Process Diagram</vt:lpstr>
      <vt:lpstr>Financial reporting example</vt:lpstr>
      <vt:lpstr>Financial reporting e.g., two manual steps </vt:lpstr>
      <vt:lpstr>Financial reporting e.g., manual step 1</vt:lpstr>
      <vt:lpstr>Financial reporting e.g., manual step 2</vt:lpstr>
      <vt:lpstr>What can RPA do here?</vt:lpstr>
      <vt:lpstr>What can an Intelligent RPA workflow add?</vt:lpstr>
      <vt:lpstr>Intelligent Automation Demo</vt:lpstr>
      <vt:lpstr>What will we do today?</vt:lpstr>
      <vt:lpstr>What is managerial accounting</vt:lpstr>
      <vt:lpstr>Why is it important?</vt:lpstr>
      <vt:lpstr>Managerial Decisions</vt:lpstr>
      <vt:lpstr>What is common between these decisions?</vt:lpstr>
      <vt:lpstr>The commonality:</vt:lpstr>
      <vt:lpstr>What will we do today?</vt:lpstr>
      <vt:lpstr>Variance Analysis Lab Overview</vt:lpstr>
      <vt:lpstr>Our lab question</vt:lpstr>
      <vt:lpstr>What will we do today?</vt:lpstr>
      <vt:lpstr>The manual process, create report</vt:lpstr>
      <vt:lpstr>PowerPoint Presentation</vt:lpstr>
      <vt:lpstr>PowerPoint Presentation</vt:lpstr>
      <vt:lpstr>The manual process, analyze report</vt:lpstr>
      <vt:lpstr>PowerPoint Presentation</vt:lpstr>
      <vt:lpstr>What will we do today?</vt:lpstr>
      <vt:lpstr>Where does the manual process become difficult?</vt:lpstr>
      <vt:lpstr>RPA helpers versus Agent helpers</vt:lpstr>
      <vt:lpstr>RPA helpers versus agent helpers</vt:lpstr>
      <vt:lpstr>Lab time</vt:lpstr>
      <vt:lpstr>Team check in</vt:lpstr>
      <vt:lpstr>PowerPoint Presentation</vt:lpstr>
      <vt:lpstr>Appendix</vt:lpstr>
      <vt:lpstr>Intelligent Automation Team Challenge </vt:lpstr>
      <vt:lpstr>Requirements</vt:lpstr>
      <vt:lpstr>Accounting &amp; Finance Focus Areas</vt:lpstr>
      <vt:lpstr>Structuring the problem</vt:lpstr>
      <vt:lpstr>Structuring the project </vt:lpstr>
      <vt:lpstr>Financial Analysis &amp; Forecasting</vt:lpstr>
      <vt:lpstr>Budgeting and &amp; Financial Planning and Analysis</vt:lpstr>
      <vt:lpstr>Project Evaluation &amp; Risk </vt:lpstr>
      <vt:lpstr>Some other potential focus areas</vt:lpstr>
      <vt:lpstr>Structuring the data</vt:lpstr>
      <vt:lpstr>Proof-of-concept / prototype</vt:lpstr>
      <vt:lpstr>Presentation Preparation</vt:lpstr>
    </vt:vector>
  </TitlesOfParts>
  <Manager/>
  <Company>UW Foster School of Business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Foster Template</dc:title>
  <dc:subject/>
  <dc:creator>Stephanie Hennessy</dc:creator>
  <cp:keywords>PowerPoint, Template</cp:keywords>
  <dc:description/>
  <cp:lastModifiedBy>Asher Curtis</cp:lastModifiedBy>
  <cp:revision>15</cp:revision>
  <cp:lastPrinted>2026-05-06T00:09:11Z</cp:lastPrinted>
  <dcterms:created xsi:type="dcterms:W3CDTF">2026-02-18T18:51:35Z</dcterms:created>
  <dcterms:modified xsi:type="dcterms:W3CDTF">2026-05-06T00:11:36Z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0x010100CC02147D869F5D4A8DCDB203BDC4D329</vt:lpwstr>
  </property>
  <property fmtid="{D5CDD505-2E9C-101B-9397-08002B2CF9AE}" pid="3" name="ImageCreateDate">
    <vt:lpwstr/>
  </property>
  <property fmtid="{D5CDD505-2E9C-101B-9397-08002B2CF9AE}" pid="4" name="Foster Site Scope">
    <vt:lpwstr>Intranet</vt:lpwstr>
  </property>
  <property fmtid="{D5CDD505-2E9C-101B-9397-08002B2CF9AE}" pid="5" name="Foster Permission Form">
    <vt:lpwstr/>
  </property>
  <property fmtid="{D5CDD505-2E9C-101B-9397-08002B2CF9AE}" pid="6" name="This needs to be set to identify the intended use of this image.  Examples would be &quot;Homepage&quot; or &quot;Program Cent">
    <vt:lpwstr/>
  </property>
  <property fmtid="{D5CDD505-2E9C-101B-9397-08002B2CF9AE}" pid="7" name="Page Location">
    <vt:lpwstr>Brand</vt:lpwstr>
  </property>
  <property fmtid="{D5CDD505-2E9C-101B-9397-08002B2CF9AE}" pid="8" name="Caption">
    <vt:lpwstr/>
  </property>
  <property fmtid="{D5CDD505-2E9C-101B-9397-08002B2CF9AE}" pid="9" name="Source Image">
    <vt:lpwstr/>
  </property>
  <property fmtid="{D5CDD505-2E9C-101B-9397-08002B2CF9AE}" pid="10" name="Comments">
    <vt:lpwstr/>
  </property>
  <property fmtid="{D5CDD505-2E9C-101B-9397-08002B2CF9AE}" pid="11" name="Order">
    <vt:r8>2700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MediaServiceImageTags">
    <vt:lpwstr/>
  </property>
</Properties>
</file>