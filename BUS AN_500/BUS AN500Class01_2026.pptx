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37"/>
  </p:notesMasterIdLst>
  <p:handoutMasterIdLst>
    <p:handoutMasterId r:id="rId38"/>
  </p:handoutMasterIdLst>
  <p:sldIdLst>
    <p:sldId id="363" r:id="rId5"/>
    <p:sldId id="398" r:id="rId6"/>
    <p:sldId id="413" r:id="rId7"/>
    <p:sldId id="421" r:id="rId8"/>
    <p:sldId id="416" r:id="rId9"/>
    <p:sldId id="886" r:id="rId10"/>
    <p:sldId id="884" r:id="rId11"/>
    <p:sldId id="885" r:id="rId12"/>
    <p:sldId id="887" r:id="rId13"/>
    <p:sldId id="888" r:id="rId14"/>
    <p:sldId id="417" r:id="rId15"/>
    <p:sldId id="889" r:id="rId16"/>
    <p:sldId id="900" r:id="rId17"/>
    <p:sldId id="901" r:id="rId18"/>
    <p:sldId id="890" r:id="rId19"/>
    <p:sldId id="891" r:id="rId20"/>
    <p:sldId id="897" r:id="rId21"/>
    <p:sldId id="899" r:id="rId22"/>
    <p:sldId id="893" r:id="rId23"/>
    <p:sldId id="892" r:id="rId24"/>
    <p:sldId id="896" r:id="rId25"/>
    <p:sldId id="902" r:id="rId26"/>
    <p:sldId id="903" r:id="rId27"/>
    <p:sldId id="418" r:id="rId28"/>
    <p:sldId id="904" r:id="rId29"/>
    <p:sldId id="905" r:id="rId30"/>
    <p:sldId id="895" r:id="rId31"/>
    <p:sldId id="906" r:id="rId32"/>
    <p:sldId id="894" r:id="rId33"/>
    <p:sldId id="415" r:id="rId34"/>
    <p:sldId id="907" r:id="rId35"/>
    <p:sldId id="412" r:id="rId36"/>
  </p:sldIdLst>
  <p:sldSz cx="9144000" cy="5143500" type="screen16x9"/>
  <p:notesSz cx="7315200" cy="9601200"/>
  <p:embeddedFontLst>
    <p:embeddedFont>
      <p:font typeface="Encode Sans Normal ExtraBold" panose="02000000000000000000" pitchFamily="2" charset="0"/>
      <p:bold r:id="rId39"/>
    </p:embeddedFont>
    <p:embeddedFont>
      <p:font typeface="Encode Sans Normal Medium" panose="02000000000000000000" pitchFamily="2" charset="0"/>
      <p:regular r:id="rId40"/>
    </p:embeddedFont>
    <p:embeddedFont>
      <p:font typeface="Open Sans" panose="020B0606030504020204" pitchFamily="34" charset="0"/>
      <p:regular r:id="rId41"/>
      <p:bold r:id="rId42"/>
      <p:italic r:id="rId43"/>
      <p:boldItalic r:id="rId44"/>
    </p:embeddedFont>
    <p:embeddedFont>
      <p:font typeface="Open Sans Light" panose="020B0306030504020204" pitchFamily="34" charset="0"/>
      <p:regular r:id="rId45"/>
      <p:italic r:id="rId46"/>
    </p:embeddedFont>
  </p:embeddedFontLst>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521415D9-36F7-43E2-AB2F-B90AF26B5E84}">
      <p14:sectionLst xmlns:p14="http://schemas.microsoft.com/office/powerpoint/2010/main">
        <p14:section name="Slide Template" id="{8D555BDC-712A-D847-BE44-26DF3EC466F7}">
          <p14:sldIdLst>
            <p14:sldId id="363"/>
            <p14:sldId id="398"/>
            <p14:sldId id="413"/>
            <p14:sldId id="421"/>
            <p14:sldId id="416"/>
            <p14:sldId id="886"/>
            <p14:sldId id="884"/>
            <p14:sldId id="885"/>
            <p14:sldId id="887"/>
            <p14:sldId id="888"/>
            <p14:sldId id="417"/>
            <p14:sldId id="889"/>
            <p14:sldId id="900"/>
            <p14:sldId id="901"/>
            <p14:sldId id="890"/>
            <p14:sldId id="891"/>
            <p14:sldId id="897"/>
            <p14:sldId id="899"/>
            <p14:sldId id="893"/>
            <p14:sldId id="892"/>
            <p14:sldId id="896"/>
            <p14:sldId id="902"/>
            <p14:sldId id="903"/>
            <p14:sldId id="418"/>
            <p14:sldId id="904"/>
            <p14:sldId id="905"/>
            <p14:sldId id="895"/>
            <p14:sldId id="906"/>
            <p14:sldId id="894"/>
            <p14:sldId id="415"/>
            <p14:sldId id="907"/>
            <p14:sldId id="4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guide id="4" pos="228">
          <p15:clr>
            <a:srgbClr val="A4A3A4"/>
          </p15:clr>
        </p15:guide>
        <p15:guide id="5" pos="2887">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9F29"/>
    <a:srgbClr val="361F6D"/>
    <a:srgbClr val="32006E"/>
    <a:srgbClr val="412985"/>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2" autoAdjust="0"/>
    <p:restoredTop sz="96368" autoAdjust="0"/>
  </p:normalViewPr>
  <p:slideViewPr>
    <p:cSldViewPr snapToGrid="0">
      <p:cViewPr varScale="1">
        <p:scale>
          <a:sx n="154" d="100"/>
          <a:sy n="154" d="100"/>
        </p:scale>
        <p:origin x="150" y="942"/>
      </p:cViewPr>
      <p:guideLst>
        <p:guide orient="horz" pos="2160"/>
        <p:guide pos="2880"/>
        <p:guide orient="horz" pos="1620"/>
        <p:guide pos="228"/>
        <p:guide pos="2887"/>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5320" y="152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5.fntdata"/><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openxmlformats.org/officeDocument/2006/relationships/font" Target="fonts/font8.fntdata"/><Relationship Id="rId20" Type="http://schemas.openxmlformats.org/officeDocument/2006/relationships/slide" Target="slides/slide16.xml"/><Relationship Id="rId41"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her Curtis" userId="494c4f5b-6d11-415a-9d9e-829c1135aa91" providerId="ADAL" clId="{FDEDEEF3-7275-4161-A24C-7071BE30F9A7}"/>
    <pc:docChg chg="modSld">
      <pc:chgData name="Asher Curtis" userId="494c4f5b-6d11-415a-9d9e-829c1135aa91" providerId="ADAL" clId="{FDEDEEF3-7275-4161-A24C-7071BE30F9A7}" dt="2026-04-02T21:21:11.936" v="12" actId="2711"/>
      <pc:docMkLst>
        <pc:docMk/>
      </pc:docMkLst>
      <pc:sldChg chg="modSp mod">
        <pc:chgData name="Asher Curtis" userId="494c4f5b-6d11-415a-9d9e-829c1135aa91" providerId="ADAL" clId="{FDEDEEF3-7275-4161-A24C-7071BE30F9A7}" dt="2026-04-02T21:21:11.936" v="12" actId="2711"/>
        <pc:sldMkLst>
          <pc:docMk/>
          <pc:sldMk cId="3277751441" sldId="398"/>
        </pc:sldMkLst>
        <pc:spChg chg="mod">
          <ac:chgData name="Asher Curtis" userId="494c4f5b-6d11-415a-9d9e-829c1135aa91" providerId="ADAL" clId="{FDEDEEF3-7275-4161-A24C-7071BE30F9A7}" dt="2026-04-02T21:21:11.936" v="12" actId="2711"/>
          <ac:spMkLst>
            <pc:docMk/>
            <pc:sldMk cId="3277751441" sldId="398"/>
            <ac:spMk id="4" creationId="{AEC3D1FA-978D-54C1-2B87-4B1136B2B60E}"/>
          </ac:spMkLst>
        </pc:spChg>
      </pc:sldChg>
      <pc:sldChg chg="modSp mod">
        <pc:chgData name="Asher Curtis" userId="494c4f5b-6d11-415a-9d9e-829c1135aa91" providerId="ADAL" clId="{FDEDEEF3-7275-4161-A24C-7071BE30F9A7}" dt="2026-04-02T21:20:54.612" v="11" actId="2711"/>
        <pc:sldMkLst>
          <pc:docMk/>
          <pc:sldMk cId="884361781" sldId="416"/>
        </pc:sldMkLst>
        <pc:spChg chg="mod">
          <ac:chgData name="Asher Curtis" userId="494c4f5b-6d11-415a-9d9e-829c1135aa91" providerId="ADAL" clId="{FDEDEEF3-7275-4161-A24C-7071BE30F9A7}" dt="2026-04-02T21:20:54.612" v="11" actId="2711"/>
          <ac:spMkLst>
            <pc:docMk/>
            <pc:sldMk cId="884361781" sldId="416"/>
            <ac:spMk id="4" creationId="{0FA18D66-4E78-05B1-F46C-4BF39355CE1E}"/>
          </ac:spMkLst>
        </pc:spChg>
      </pc:sldChg>
      <pc:sldChg chg="modSp mod">
        <pc:chgData name="Asher Curtis" userId="494c4f5b-6d11-415a-9d9e-829c1135aa91" providerId="ADAL" clId="{FDEDEEF3-7275-4161-A24C-7071BE30F9A7}" dt="2026-04-02T21:20:16.846" v="8" actId="2711"/>
        <pc:sldMkLst>
          <pc:docMk/>
          <pc:sldMk cId="3013072866" sldId="417"/>
        </pc:sldMkLst>
        <pc:spChg chg="mod">
          <ac:chgData name="Asher Curtis" userId="494c4f5b-6d11-415a-9d9e-829c1135aa91" providerId="ADAL" clId="{FDEDEEF3-7275-4161-A24C-7071BE30F9A7}" dt="2026-04-02T21:20:16.846" v="8" actId="2711"/>
          <ac:spMkLst>
            <pc:docMk/>
            <pc:sldMk cId="3013072866" sldId="417"/>
            <ac:spMk id="4" creationId="{39008292-F3D4-B9CE-708B-DC1AF38E8CA5}"/>
          </ac:spMkLst>
        </pc:spChg>
      </pc:sldChg>
      <pc:sldChg chg="modSp mod">
        <pc:chgData name="Asher Curtis" userId="494c4f5b-6d11-415a-9d9e-829c1135aa91" providerId="ADAL" clId="{FDEDEEF3-7275-4161-A24C-7071BE30F9A7}" dt="2026-04-02T21:20:37.602" v="10" actId="2711"/>
        <pc:sldMkLst>
          <pc:docMk/>
          <pc:sldMk cId="3305226166" sldId="887"/>
        </pc:sldMkLst>
        <pc:spChg chg="mod">
          <ac:chgData name="Asher Curtis" userId="494c4f5b-6d11-415a-9d9e-829c1135aa91" providerId="ADAL" clId="{FDEDEEF3-7275-4161-A24C-7071BE30F9A7}" dt="2026-04-02T21:17:42.414" v="0" actId="2711"/>
          <ac:spMkLst>
            <pc:docMk/>
            <pc:sldMk cId="3305226166" sldId="887"/>
            <ac:spMk id="2" creationId="{72D2362A-56B7-D851-9379-F70EF1CE2804}"/>
          </ac:spMkLst>
        </pc:spChg>
        <pc:spChg chg="mod">
          <ac:chgData name="Asher Curtis" userId="494c4f5b-6d11-415a-9d9e-829c1135aa91" providerId="ADAL" clId="{FDEDEEF3-7275-4161-A24C-7071BE30F9A7}" dt="2026-04-02T21:20:37.602" v="10" actId="2711"/>
          <ac:spMkLst>
            <pc:docMk/>
            <pc:sldMk cId="3305226166" sldId="887"/>
            <ac:spMk id="16" creationId="{287B6047-C0A0-17B5-E1DF-5402B54AAC53}"/>
          </ac:spMkLst>
        </pc:spChg>
        <pc:spChg chg="mod">
          <ac:chgData name="Asher Curtis" userId="494c4f5b-6d11-415a-9d9e-829c1135aa91" providerId="ADAL" clId="{FDEDEEF3-7275-4161-A24C-7071BE30F9A7}" dt="2026-04-02T21:20:37.602" v="10" actId="2711"/>
          <ac:spMkLst>
            <pc:docMk/>
            <pc:sldMk cId="3305226166" sldId="887"/>
            <ac:spMk id="18" creationId="{E30F5DFC-1249-97DA-0D51-E36B304B3350}"/>
          </ac:spMkLst>
        </pc:spChg>
        <pc:spChg chg="mod">
          <ac:chgData name="Asher Curtis" userId="494c4f5b-6d11-415a-9d9e-829c1135aa91" providerId="ADAL" clId="{FDEDEEF3-7275-4161-A24C-7071BE30F9A7}" dt="2026-04-02T21:20:37.602" v="10" actId="2711"/>
          <ac:spMkLst>
            <pc:docMk/>
            <pc:sldMk cId="3305226166" sldId="887"/>
            <ac:spMk id="19" creationId="{869D1FD3-C49D-2CB1-5019-06640FAF792D}"/>
          </ac:spMkLst>
        </pc:spChg>
        <pc:spChg chg="mod">
          <ac:chgData name="Asher Curtis" userId="494c4f5b-6d11-415a-9d9e-829c1135aa91" providerId="ADAL" clId="{FDEDEEF3-7275-4161-A24C-7071BE30F9A7}" dt="2026-04-02T21:20:37.602" v="10" actId="2711"/>
          <ac:spMkLst>
            <pc:docMk/>
            <pc:sldMk cId="3305226166" sldId="887"/>
            <ac:spMk id="20" creationId="{399B3E40-30A5-CF6E-04BF-977069933C58}"/>
          </ac:spMkLst>
        </pc:spChg>
        <pc:spChg chg="mod">
          <ac:chgData name="Asher Curtis" userId="494c4f5b-6d11-415a-9d9e-829c1135aa91" providerId="ADAL" clId="{FDEDEEF3-7275-4161-A24C-7071BE30F9A7}" dt="2026-04-02T21:20:37.602" v="10" actId="2711"/>
          <ac:spMkLst>
            <pc:docMk/>
            <pc:sldMk cId="3305226166" sldId="887"/>
            <ac:spMk id="22" creationId="{1AF65C52-DBEF-C4E6-900E-430495CAF291}"/>
          </ac:spMkLst>
        </pc:spChg>
        <pc:spChg chg="mod">
          <ac:chgData name="Asher Curtis" userId="494c4f5b-6d11-415a-9d9e-829c1135aa91" providerId="ADAL" clId="{FDEDEEF3-7275-4161-A24C-7071BE30F9A7}" dt="2026-04-02T21:20:37.602" v="10" actId="2711"/>
          <ac:spMkLst>
            <pc:docMk/>
            <pc:sldMk cId="3305226166" sldId="887"/>
            <ac:spMk id="23" creationId="{BD8E7674-0276-D1BE-85CE-1E25B174BE68}"/>
          </ac:spMkLst>
        </pc:spChg>
        <pc:spChg chg="mod">
          <ac:chgData name="Asher Curtis" userId="494c4f5b-6d11-415a-9d9e-829c1135aa91" providerId="ADAL" clId="{FDEDEEF3-7275-4161-A24C-7071BE30F9A7}" dt="2026-04-02T21:20:37.602" v="10" actId="2711"/>
          <ac:spMkLst>
            <pc:docMk/>
            <pc:sldMk cId="3305226166" sldId="887"/>
            <ac:spMk id="24" creationId="{C982763A-C395-49AE-A6A1-1BA1055F9671}"/>
          </ac:spMkLst>
        </pc:spChg>
        <pc:spChg chg="mod">
          <ac:chgData name="Asher Curtis" userId="494c4f5b-6d11-415a-9d9e-829c1135aa91" providerId="ADAL" clId="{FDEDEEF3-7275-4161-A24C-7071BE30F9A7}" dt="2026-04-02T21:20:37.602" v="10" actId="2711"/>
          <ac:spMkLst>
            <pc:docMk/>
            <pc:sldMk cId="3305226166" sldId="887"/>
            <ac:spMk id="25" creationId="{6BD28A7D-BD05-4ADF-18C6-F75F474560E7}"/>
          </ac:spMkLst>
        </pc:spChg>
        <pc:spChg chg="mod">
          <ac:chgData name="Asher Curtis" userId="494c4f5b-6d11-415a-9d9e-829c1135aa91" providerId="ADAL" clId="{FDEDEEF3-7275-4161-A24C-7071BE30F9A7}" dt="2026-04-02T21:20:37.602" v="10" actId="2711"/>
          <ac:spMkLst>
            <pc:docMk/>
            <pc:sldMk cId="3305226166" sldId="887"/>
            <ac:spMk id="26" creationId="{DF996161-59C9-D2BF-AEC3-88E0E202E36E}"/>
          </ac:spMkLst>
        </pc:spChg>
        <pc:spChg chg="mod">
          <ac:chgData name="Asher Curtis" userId="494c4f5b-6d11-415a-9d9e-829c1135aa91" providerId="ADAL" clId="{FDEDEEF3-7275-4161-A24C-7071BE30F9A7}" dt="2026-04-02T21:20:37.602" v="10" actId="2711"/>
          <ac:spMkLst>
            <pc:docMk/>
            <pc:sldMk cId="3305226166" sldId="887"/>
            <ac:spMk id="27" creationId="{7445BDA8-7907-E878-A7FC-F5679A214DD5}"/>
          </ac:spMkLst>
        </pc:spChg>
      </pc:sldChg>
      <pc:sldChg chg="modSp mod">
        <pc:chgData name="Asher Curtis" userId="494c4f5b-6d11-415a-9d9e-829c1135aa91" providerId="ADAL" clId="{FDEDEEF3-7275-4161-A24C-7071BE30F9A7}" dt="2026-04-02T21:18:59.159" v="4" actId="2711"/>
        <pc:sldMkLst>
          <pc:docMk/>
          <pc:sldMk cId="2985108975" sldId="889"/>
        </pc:sldMkLst>
        <pc:spChg chg="mod">
          <ac:chgData name="Asher Curtis" userId="494c4f5b-6d11-415a-9d9e-829c1135aa91" providerId="ADAL" clId="{FDEDEEF3-7275-4161-A24C-7071BE30F9A7}" dt="2026-04-02T21:18:59.159" v="4" actId="2711"/>
          <ac:spMkLst>
            <pc:docMk/>
            <pc:sldMk cId="2985108975" sldId="889"/>
            <ac:spMk id="4" creationId="{F60C9AB5-9F56-2649-A5AC-B9A909A891F6}"/>
          </ac:spMkLst>
        </pc:spChg>
      </pc:sldChg>
      <pc:sldChg chg="modSp mod">
        <pc:chgData name="Asher Curtis" userId="494c4f5b-6d11-415a-9d9e-829c1135aa91" providerId="ADAL" clId="{FDEDEEF3-7275-4161-A24C-7071BE30F9A7}" dt="2026-04-02T21:19:51.017" v="7" actId="20577"/>
        <pc:sldMkLst>
          <pc:docMk/>
          <pc:sldMk cId="3172432805" sldId="907"/>
        </pc:sldMkLst>
        <pc:spChg chg="mod">
          <ac:chgData name="Asher Curtis" userId="494c4f5b-6d11-415a-9d9e-829c1135aa91" providerId="ADAL" clId="{FDEDEEF3-7275-4161-A24C-7071BE30F9A7}" dt="2026-04-02T21:19:51.017" v="7" actId="20577"/>
          <ac:spMkLst>
            <pc:docMk/>
            <pc:sldMk cId="3172432805" sldId="907"/>
            <ac:spMk id="4" creationId="{37E27607-719C-4A86-9BE4-AA465E449D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mn-lt"/>
                <a:cs typeface="+mn-cs"/>
              </a:defRPr>
            </a:lvl1pPr>
          </a:lstStyle>
          <a:p>
            <a:pPr>
              <a:defRPr/>
            </a:pPr>
            <a:fld id="{F87AE820-DFE1-4C3C-B564-108A438BD633}" type="datetimeFigureOut">
              <a:rPr lang="en-US">
                <a:latin typeface="Open Sans Light" panose="020B0606030504020204" pitchFamily="34" charset="0"/>
                <a:ea typeface="Open Sans Light" panose="020B0606030504020204" pitchFamily="34" charset="0"/>
                <a:cs typeface="Open Sans Light" panose="020B0606030504020204" pitchFamily="34" charset="0"/>
              </a:rPr>
              <a:pPr>
                <a:defRPr/>
              </a:pPr>
              <a:t>4/2/2026</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mn-lt"/>
                <a:cs typeface="+mn-cs"/>
              </a:defRPr>
            </a:lvl1pPr>
          </a:lstStyle>
          <a:p>
            <a:pPr>
              <a:defRPr/>
            </a:pP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mn-lt"/>
                <a:cs typeface="+mn-cs"/>
              </a:defRPr>
            </a:lvl1pPr>
          </a:lstStyle>
          <a:p>
            <a:pPr>
              <a:defRPr/>
            </a:pPr>
            <a:fld id="{429C84BD-FF2B-4119-9416-77652C2C47E2}" type="slidenum">
              <a:rPr lang="en-US">
                <a:latin typeface="Open Sans Light" panose="020B0606030504020204" pitchFamily="34" charset="0"/>
                <a:ea typeface="Open Sans Light" panose="020B0606030504020204" pitchFamily="34" charset="0"/>
                <a:cs typeface="Open Sans Light" panose="020B0606030504020204" pitchFamily="34" charset="0"/>
              </a:rPr>
              <a:pPr>
                <a:defRPr/>
              </a:pPr>
              <a:t>‹#›</a:t>
            </a:fld>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Tree>
    <p:extLst>
      <p:ext uri="{BB962C8B-B14F-4D97-AF65-F5344CB8AC3E}">
        <p14:creationId xmlns:p14="http://schemas.microsoft.com/office/powerpoint/2010/main" val="13761755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C0560D2-22A1-4522-9A61-5BC081CC233D}" type="datetimeFigureOut">
              <a:rPr lang="en-US" smtClean="0"/>
              <a:pPr>
                <a:defRPr/>
              </a:pPr>
              <a:t>4/2/2026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fontAlgn="auto">
              <a:spcBef>
                <a:spcPts val="0"/>
              </a:spcBef>
              <a:spcAft>
                <a:spcPts val="0"/>
              </a:spcAft>
              <a:defRPr sz="130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fontAlgn="auto">
              <a:spcBef>
                <a:spcPts val="0"/>
              </a:spcBef>
              <a:spcAft>
                <a:spcPts val="0"/>
              </a:spcAft>
              <a:defRPr sz="1300" smtClean="0">
                <a:latin typeface="Open Sans Light" panose="020B0606030504020204" pitchFamily="34" charset="0"/>
                <a:ea typeface="Open Sans Light" panose="020B0606030504020204" pitchFamily="34" charset="0"/>
                <a:cs typeface="Open Sans Light" panose="020B0606030504020204" pitchFamily="34" charset="0"/>
              </a:defRPr>
            </a:lvl1pPr>
          </a:lstStyle>
          <a:p>
            <a:pPr>
              <a:defRPr/>
            </a:pPr>
            <a:fld id="{7B479713-0D50-44A6-B1F4-4082749E615F}" type="slidenum">
              <a:rPr lang="en-US" smtClean="0"/>
              <a:pPr>
                <a:defRPr/>
              </a:pPr>
              <a:t>‹#›</a:t>
            </a:fld>
            <a:endParaRPr lang="en-US"/>
          </a:p>
        </p:txBody>
      </p:sp>
    </p:spTree>
    <p:extLst>
      <p:ext uri="{BB962C8B-B14F-4D97-AF65-F5344CB8AC3E}">
        <p14:creationId xmlns:p14="http://schemas.microsoft.com/office/powerpoint/2010/main" val="1719214621"/>
      </p:ext>
    </p:extLst>
  </p:cSld>
  <p:clrMap bg1="lt1" tx1="dk1" bg2="lt2" tx2="dk2" accent1="accent1" accent2="accent2" accent3="accent3" accent4="accent4" accent5="accent5" accent6="accent6" hlink="hlink" folHlink="folHlink"/>
  <p:notesStyle>
    <a:lvl1pPr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1pPr>
    <a:lvl2pPr marL="4572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2pPr>
    <a:lvl3pPr marL="9144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3pPr>
    <a:lvl4pPr marL="13716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4pPr>
    <a:lvl5pPr marL="1828800" algn="l" defTabSz="457200" rtl="0" fontAlgn="base">
      <a:spcBef>
        <a:spcPct val="30000"/>
      </a:spcBef>
      <a:spcAft>
        <a:spcPct val="0"/>
      </a:spcAft>
      <a:defRPr sz="1200" kern="120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a:t>
            </a:fld>
            <a:endParaRPr lang="en-US"/>
          </a:p>
        </p:txBody>
      </p:sp>
    </p:spTree>
    <p:extLst>
      <p:ext uri="{BB962C8B-B14F-4D97-AF65-F5344CB8AC3E}">
        <p14:creationId xmlns:p14="http://schemas.microsoft.com/office/powerpoint/2010/main" val="252089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a:t>
            </a:fld>
            <a:endParaRPr lang="en-US"/>
          </a:p>
        </p:txBody>
      </p:sp>
    </p:spTree>
    <p:extLst>
      <p:ext uri="{BB962C8B-B14F-4D97-AF65-F5344CB8AC3E}">
        <p14:creationId xmlns:p14="http://schemas.microsoft.com/office/powerpoint/2010/main" val="26356275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a:t>
            </a:fld>
            <a:endParaRPr lang="en-US"/>
          </a:p>
        </p:txBody>
      </p:sp>
    </p:spTree>
    <p:extLst>
      <p:ext uri="{BB962C8B-B14F-4D97-AF65-F5344CB8AC3E}">
        <p14:creationId xmlns:p14="http://schemas.microsoft.com/office/powerpoint/2010/main" val="284797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4</a:t>
            </a:fld>
            <a:endParaRPr lang="en-US"/>
          </a:p>
        </p:txBody>
      </p:sp>
    </p:spTree>
    <p:extLst>
      <p:ext uri="{BB962C8B-B14F-4D97-AF65-F5344CB8AC3E}">
        <p14:creationId xmlns:p14="http://schemas.microsoft.com/office/powerpoint/2010/main" val="1554481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5</a:t>
            </a:fld>
            <a:endParaRPr lang="en-US"/>
          </a:p>
        </p:txBody>
      </p:sp>
    </p:spTree>
    <p:extLst>
      <p:ext uri="{BB962C8B-B14F-4D97-AF65-F5344CB8AC3E}">
        <p14:creationId xmlns:p14="http://schemas.microsoft.com/office/powerpoint/2010/main" val="16031445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6</a:t>
            </a:fld>
            <a:endParaRPr lang="en-US"/>
          </a:p>
        </p:txBody>
      </p:sp>
    </p:spTree>
    <p:extLst>
      <p:ext uri="{BB962C8B-B14F-4D97-AF65-F5344CB8AC3E}">
        <p14:creationId xmlns:p14="http://schemas.microsoft.com/office/powerpoint/2010/main" val="50843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7</a:t>
            </a:fld>
            <a:endParaRPr lang="en-US"/>
          </a:p>
        </p:txBody>
      </p:sp>
    </p:spTree>
    <p:extLst>
      <p:ext uri="{BB962C8B-B14F-4D97-AF65-F5344CB8AC3E}">
        <p14:creationId xmlns:p14="http://schemas.microsoft.com/office/powerpoint/2010/main" val="42894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8</a:t>
            </a:fld>
            <a:endParaRPr lang="en-US"/>
          </a:p>
        </p:txBody>
      </p:sp>
    </p:spTree>
    <p:extLst>
      <p:ext uri="{BB962C8B-B14F-4D97-AF65-F5344CB8AC3E}">
        <p14:creationId xmlns:p14="http://schemas.microsoft.com/office/powerpoint/2010/main" val="30213819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9</a:t>
            </a:fld>
            <a:endParaRPr lang="en-US"/>
          </a:p>
        </p:txBody>
      </p:sp>
    </p:spTree>
    <p:extLst>
      <p:ext uri="{BB962C8B-B14F-4D97-AF65-F5344CB8AC3E}">
        <p14:creationId xmlns:p14="http://schemas.microsoft.com/office/powerpoint/2010/main" val="6704342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10</a:t>
            </a:fld>
            <a:endParaRPr lang="en-US"/>
          </a:p>
        </p:txBody>
      </p:sp>
    </p:spTree>
    <p:extLst>
      <p:ext uri="{BB962C8B-B14F-4D97-AF65-F5344CB8AC3E}">
        <p14:creationId xmlns:p14="http://schemas.microsoft.com/office/powerpoint/2010/main" val="11878312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11</a:t>
            </a:fld>
            <a:endParaRPr lang="en-US"/>
          </a:p>
        </p:txBody>
      </p:sp>
    </p:spTree>
    <p:extLst>
      <p:ext uri="{BB962C8B-B14F-4D97-AF65-F5344CB8AC3E}">
        <p14:creationId xmlns:p14="http://schemas.microsoft.com/office/powerpoint/2010/main" val="12970581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12</a:t>
            </a:fld>
            <a:endParaRPr lang="en-US"/>
          </a:p>
        </p:txBody>
      </p:sp>
    </p:spTree>
    <p:extLst>
      <p:ext uri="{BB962C8B-B14F-4D97-AF65-F5344CB8AC3E}">
        <p14:creationId xmlns:p14="http://schemas.microsoft.com/office/powerpoint/2010/main" val="1873881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13</a:t>
            </a:fld>
            <a:endParaRPr lang="en-US"/>
          </a:p>
        </p:txBody>
      </p:sp>
    </p:spTree>
    <p:extLst>
      <p:ext uri="{BB962C8B-B14F-4D97-AF65-F5344CB8AC3E}">
        <p14:creationId xmlns:p14="http://schemas.microsoft.com/office/powerpoint/2010/main" val="1858439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14</a:t>
            </a:fld>
            <a:endParaRPr lang="en-US"/>
          </a:p>
        </p:txBody>
      </p:sp>
    </p:spTree>
    <p:extLst>
      <p:ext uri="{BB962C8B-B14F-4D97-AF65-F5344CB8AC3E}">
        <p14:creationId xmlns:p14="http://schemas.microsoft.com/office/powerpoint/2010/main" val="25773831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15</a:t>
            </a:fld>
            <a:endParaRPr lang="en-US"/>
          </a:p>
        </p:txBody>
      </p:sp>
    </p:spTree>
    <p:extLst>
      <p:ext uri="{BB962C8B-B14F-4D97-AF65-F5344CB8AC3E}">
        <p14:creationId xmlns:p14="http://schemas.microsoft.com/office/powerpoint/2010/main" val="3874302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16</a:t>
            </a:fld>
            <a:endParaRPr lang="en-US"/>
          </a:p>
        </p:txBody>
      </p:sp>
    </p:spTree>
    <p:extLst>
      <p:ext uri="{BB962C8B-B14F-4D97-AF65-F5344CB8AC3E}">
        <p14:creationId xmlns:p14="http://schemas.microsoft.com/office/powerpoint/2010/main" val="29665855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17</a:t>
            </a:fld>
            <a:endParaRPr lang="en-US"/>
          </a:p>
        </p:txBody>
      </p:sp>
    </p:spTree>
    <p:extLst>
      <p:ext uri="{BB962C8B-B14F-4D97-AF65-F5344CB8AC3E}">
        <p14:creationId xmlns:p14="http://schemas.microsoft.com/office/powerpoint/2010/main" val="918569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18</a:t>
            </a:fld>
            <a:endParaRPr lang="en-US"/>
          </a:p>
        </p:txBody>
      </p:sp>
    </p:spTree>
    <p:extLst>
      <p:ext uri="{BB962C8B-B14F-4D97-AF65-F5344CB8AC3E}">
        <p14:creationId xmlns:p14="http://schemas.microsoft.com/office/powerpoint/2010/main" val="1381534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19</a:t>
            </a:fld>
            <a:endParaRPr lang="en-US"/>
          </a:p>
        </p:txBody>
      </p:sp>
    </p:spTree>
    <p:extLst>
      <p:ext uri="{BB962C8B-B14F-4D97-AF65-F5344CB8AC3E}">
        <p14:creationId xmlns:p14="http://schemas.microsoft.com/office/powerpoint/2010/main" val="1405706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20</a:t>
            </a:fld>
            <a:endParaRPr lang="en-US"/>
          </a:p>
        </p:txBody>
      </p:sp>
    </p:spTree>
    <p:extLst>
      <p:ext uri="{BB962C8B-B14F-4D97-AF65-F5344CB8AC3E}">
        <p14:creationId xmlns:p14="http://schemas.microsoft.com/office/powerpoint/2010/main" val="40006211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21</a:t>
            </a:fld>
            <a:endParaRPr lang="en-US"/>
          </a:p>
        </p:txBody>
      </p:sp>
    </p:spTree>
    <p:extLst>
      <p:ext uri="{BB962C8B-B14F-4D97-AF65-F5344CB8AC3E}">
        <p14:creationId xmlns:p14="http://schemas.microsoft.com/office/powerpoint/2010/main" val="3549428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22</a:t>
            </a:fld>
            <a:endParaRPr lang="en-US"/>
          </a:p>
        </p:txBody>
      </p:sp>
    </p:spTree>
    <p:extLst>
      <p:ext uri="{BB962C8B-B14F-4D97-AF65-F5344CB8AC3E}">
        <p14:creationId xmlns:p14="http://schemas.microsoft.com/office/powerpoint/2010/main" val="5759040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23</a:t>
            </a:fld>
            <a:endParaRPr lang="en-US"/>
          </a:p>
        </p:txBody>
      </p:sp>
    </p:spTree>
    <p:extLst>
      <p:ext uri="{BB962C8B-B14F-4D97-AF65-F5344CB8AC3E}">
        <p14:creationId xmlns:p14="http://schemas.microsoft.com/office/powerpoint/2010/main" val="35358848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24</a:t>
            </a:fld>
            <a:endParaRPr lang="en-US"/>
          </a:p>
        </p:txBody>
      </p:sp>
    </p:spTree>
    <p:extLst>
      <p:ext uri="{BB962C8B-B14F-4D97-AF65-F5344CB8AC3E}">
        <p14:creationId xmlns:p14="http://schemas.microsoft.com/office/powerpoint/2010/main" val="23918937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25</a:t>
            </a:fld>
            <a:endParaRPr lang="en-US"/>
          </a:p>
        </p:txBody>
      </p:sp>
    </p:spTree>
    <p:extLst>
      <p:ext uri="{BB962C8B-B14F-4D97-AF65-F5344CB8AC3E}">
        <p14:creationId xmlns:p14="http://schemas.microsoft.com/office/powerpoint/2010/main" val="35456869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26</a:t>
            </a:fld>
            <a:endParaRPr lang="en-US"/>
          </a:p>
        </p:txBody>
      </p:sp>
    </p:spTree>
    <p:extLst>
      <p:ext uri="{BB962C8B-B14F-4D97-AF65-F5344CB8AC3E}">
        <p14:creationId xmlns:p14="http://schemas.microsoft.com/office/powerpoint/2010/main" val="26615103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27</a:t>
            </a:fld>
            <a:endParaRPr lang="en-US"/>
          </a:p>
        </p:txBody>
      </p:sp>
    </p:spTree>
    <p:extLst>
      <p:ext uri="{BB962C8B-B14F-4D97-AF65-F5344CB8AC3E}">
        <p14:creationId xmlns:p14="http://schemas.microsoft.com/office/powerpoint/2010/main" val="30457503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28</a:t>
            </a:fld>
            <a:endParaRPr lang="en-US"/>
          </a:p>
        </p:txBody>
      </p:sp>
    </p:spTree>
    <p:extLst>
      <p:ext uri="{BB962C8B-B14F-4D97-AF65-F5344CB8AC3E}">
        <p14:creationId xmlns:p14="http://schemas.microsoft.com/office/powerpoint/2010/main" val="34686969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29</a:t>
            </a:fld>
            <a:endParaRPr lang="en-US"/>
          </a:p>
        </p:txBody>
      </p:sp>
    </p:spTree>
    <p:extLst>
      <p:ext uri="{BB962C8B-B14F-4D97-AF65-F5344CB8AC3E}">
        <p14:creationId xmlns:p14="http://schemas.microsoft.com/office/powerpoint/2010/main" val="38279646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30</a:t>
            </a:fld>
            <a:endParaRPr lang="en-US"/>
          </a:p>
        </p:txBody>
      </p:sp>
    </p:spTree>
    <p:extLst>
      <p:ext uri="{BB962C8B-B14F-4D97-AF65-F5344CB8AC3E}">
        <p14:creationId xmlns:p14="http://schemas.microsoft.com/office/powerpoint/2010/main" val="22039747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31</a:t>
            </a:fld>
            <a:endParaRPr lang="en-US"/>
          </a:p>
        </p:txBody>
      </p:sp>
    </p:spTree>
    <p:extLst>
      <p:ext uri="{BB962C8B-B14F-4D97-AF65-F5344CB8AC3E}">
        <p14:creationId xmlns:p14="http://schemas.microsoft.com/office/powerpoint/2010/main" val="36094470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7B479713-0D50-44A6-B1F4-4082749E615F}" type="slidenum">
              <a:rPr lang="en-US" smtClean="0"/>
              <a:pPr>
                <a:defRPr/>
              </a:pPr>
              <a:t>32</a:t>
            </a:fld>
            <a:endParaRPr lang="en-US"/>
          </a:p>
        </p:txBody>
      </p:sp>
    </p:spTree>
    <p:extLst>
      <p:ext uri="{BB962C8B-B14F-4D97-AF65-F5344CB8AC3E}">
        <p14:creationId xmlns:p14="http://schemas.microsoft.com/office/powerpoint/2010/main" val="266184075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tatic Title Slide">
    <p:bg>
      <p:bgPr>
        <a:blipFill dpi="0" rotWithShape="1">
          <a:blip r:embed="rId2">
            <a:lum/>
          </a:blip>
          <a:srcRect/>
          <a:stretch>
            <a:fillRect l="-5000" r="-5000"/>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4D2F92D-2232-B825-2B2D-AC671306A0B0}"/>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2" name="Subtitle 2">
            <a:extLst>
              <a:ext uri="{FF2B5EF4-FFF2-40B4-BE49-F238E27FC236}">
                <a16:creationId xmlns:a16="http://schemas.microsoft.com/office/drawing/2014/main" id="{9CFC0D3D-31F1-39A9-7186-66397F25884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4" name="Picture 3" descr="White text on a dark background of a logo reading Foster School of Business, University of Washington">
            <a:extLst>
              <a:ext uri="{FF2B5EF4-FFF2-40B4-BE49-F238E27FC236}">
                <a16:creationId xmlns:a16="http://schemas.microsoft.com/office/drawing/2014/main" id="{972C56C5-2F0E-B13F-6B45-D0F73E9B1AB2}"/>
              </a:ext>
            </a:extLst>
          </p:cNvPr>
          <p:cNvPicPr preferRelativeResize="0">
            <a:picLocks noChangeAspect="1"/>
          </p:cNvPicPr>
          <p:nvPr userDrawn="1"/>
        </p:nvPicPr>
        <p:blipFill>
          <a:blip r:embed="rId3"/>
          <a:srcRect/>
          <a:stretch/>
        </p:blipFill>
        <p:spPr>
          <a:xfrm>
            <a:off x="7411253" y="4157062"/>
            <a:ext cx="1314906" cy="648687"/>
          </a:xfrm>
          <a:prstGeom prst="rect">
            <a:avLst/>
          </a:prstGeom>
        </p:spPr>
      </p:pic>
    </p:spTree>
    <p:extLst>
      <p:ext uri="{BB962C8B-B14F-4D97-AF65-F5344CB8AC3E}">
        <p14:creationId xmlns:p14="http://schemas.microsoft.com/office/powerpoint/2010/main" val="4066786071"/>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Editable Image">
    <p:bg>
      <p:bgPr>
        <a:solidFill>
          <a:srgbClr val="32006E"/>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6D98F01-CF66-FB1D-080E-A5DC501E862D}"/>
              </a:ext>
            </a:extLst>
          </p:cNvPr>
          <p:cNvSpPr>
            <a:spLocks noGrp="1"/>
          </p:cNvSpPr>
          <p:nvPr>
            <p:ph type="title" hasCustomPrompt="1"/>
          </p:nvPr>
        </p:nvSpPr>
        <p:spPr>
          <a:xfrm>
            <a:off x="361951" y="966275"/>
            <a:ext cx="8151113" cy="1605475"/>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Insert Picture TO ADD BACKGROUND</a:t>
            </a:r>
          </a:p>
        </p:txBody>
      </p:sp>
      <p:sp>
        <p:nvSpPr>
          <p:cNvPr id="4" name="Subtitle 2">
            <a:extLst>
              <a:ext uri="{FF2B5EF4-FFF2-40B4-BE49-F238E27FC236}">
                <a16:creationId xmlns:a16="http://schemas.microsoft.com/office/drawing/2014/main" id="{5C1B67E1-136D-93A1-515C-30F74BCF4E3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bg2">
                    <a:lumMod val="90000"/>
                  </a:schemeClr>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sp>
        <p:nvSpPr>
          <p:cNvPr id="6" name="Picture Placeholder 5">
            <a:extLst>
              <a:ext uri="{FF2B5EF4-FFF2-40B4-BE49-F238E27FC236}">
                <a16:creationId xmlns:a16="http://schemas.microsoft.com/office/drawing/2014/main" id="{C3EDC79F-91AA-B3FB-6403-6121F91C5FC6}"/>
              </a:ext>
            </a:extLst>
          </p:cNvPr>
          <p:cNvSpPr>
            <a:spLocks noGrp="1"/>
          </p:cNvSpPr>
          <p:nvPr>
            <p:ph type="pic" sz="quarter" idx="10"/>
          </p:nvPr>
        </p:nvSpPr>
        <p:spPr>
          <a:xfrm>
            <a:off x="-5977" y="0"/>
            <a:ext cx="9144000" cy="5143499"/>
          </a:xfrm>
          <a:noFill/>
        </p:spPr>
        <p:txBody>
          <a:bodyPr/>
          <a:lstStyle>
            <a:lvl1pPr>
              <a:defRPr>
                <a:solidFill>
                  <a:schemeClr val="bg1"/>
                </a:solidFill>
              </a:defRPr>
            </a:lvl1pPr>
          </a:lstStyle>
          <a:p>
            <a:endParaRPr lang="en-US" dirty="0"/>
          </a:p>
        </p:txBody>
      </p:sp>
      <p:pic>
        <p:nvPicPr>
          <p:cNvPr id="5" name="Picture 4" descr="White text on a dark background of a logo reading Foster School of Business, University of Washington">
            <a:extLst>
              <a:ext uri="{FF2B5EF4-FFF2-40B4-BE49-F238E27FC236}">
                <a16:creationId xmlns:a16="http://schemas.microsoft.com/office/drawing/2014/main" id="{EB21C709-91F3-6CAF-A8BD-E48E13397E4E}"/>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747851727"/>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p:bgPr>
        <a:solidFill>
          <a:schemeClr val="tx1"/>
        </a:solid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07EADFC-8076-BBF7-0C18-A21C6E2C17D2}"/>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4" name="Subtitle 2">
            <a:extLst>
              <a:ext uri="{FF2B5EF4-FFF2-40B4-BE49-F238E27FC236}">
                <a16:creationId xmlns:a16="http://schemas.microsoft.com/office/drawing/2014/main" id="{E2C3B490-F950-1939-70F3-B3718595072B}"/>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2" name="Picture 1" descr="White text on a black background of a logo reading Foster School of Business, University of Washington">
            <a:extLst>
              <a:ext uri="{FF2B5EF4-FFF2-40B4-BE49-F238E27FC236}">
                <a16:creationId xmlns:a16="http://schemas.microsoft.com/office/drawing/2014/main" id="{7E2379E8-F2CC-8B81-C601-399651B1C1E2}"/>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Gold">
    <p:bg>
      <p:bgPr>
        <a:solidFill>
          <a:schemeClr val="accent1"/>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0AAD930-ED54-664A-1E97-0233B4FA4C94}"/>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tx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D75B9D8E-3EB1-968E-7670-B7DB44AABE5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tx2"/>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Black text on a gold background of a logo reading Foster School of Business, University of Washington">
            <a:extLst>
              <a:ext uri="{FF2B5EF4-FFF2-40B4-BE49-F238E27FC236}">
                <a16:creationId xmlns:a16="http://schemas.microsoft.com/office/drawing/2014/main" id="{FC35D0AB-3D5D-25E5-AA78-FD3B13ACFBFF}"/>
              </a:ext>
            </a:extLst>
          </p:cNvPr>
          <p:cNvPicPr preferRelativeResize="0">
            <a:picLocks noChangeAspect="1"/>
          </p:cNvPicPr>
          <p:nvPr userDrawn="1"/>
        </p:nvPicPr>
        <p:blipFill>
          <a:blip r:embed="rId2"/>
          <a:srcRect/>
          <a:stretch/>
        </p:blipFill>
        <p:spPr>
          <a:xfrm>
            <a:off x="7411254" y="4159567"/>
            <a:ext cx="1314904" cy="643677"/>
          </a:xfrm>
          <a:prstGeom prst="rect">
            <a:avLst/>
          </a:prstGeom>
        </p:spPr>
      </p:pic>
    </p:spTree>
    <p:extLst>
      <p:ext uri="{BB962C8B-B14F-4D97-AF65-F5344CB8AC3E}">
        <p14:creationId xmlns:p14="http://schemas.microsoft.com/office/powerpoint/2010/main" val="3851892052"/>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 Foster Purple">
    <p:bg>
      <p:bgPr>
        <a:solidFill>
          <a:schemeClr val="tx2">
            <a:lumMod val="75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DA4939C-77CE-3DA1-0128-ADAAB515A0ED}"/>
              </a:ext>
            </a:extLst>
          </p:cNvPr>
          <p:cNvSpPr>
            <a:spLocks noGrp="1"/>
          </p:cNvSpPr>
          <p:nvPr>
            <p:ph type="title" hasCustomPrompt="1"/>
          </p:nvPr>
        </p:nvSpPr>
        <p:spPr>
          <a:xfrm>
            <a:off x="361951" y="966275"/>
            <a:ext cx="7743825" cy="2039113"/>
          </a:xfrm>
          <a:prstGeom prst="rect">
            <a:avLst/>
          </a:prstGeom>
        </p:spPr>
        <p:txBody>
          <a:bodyPr anchor="t" anchorCtr="0"/>
          <a:lstStyle>
            <a:lvl1pPr algn="l">
              <a:lnSpc>
                <a:spcPct val="100000"/>
              </a:lnSpc>
              <a:spcBef>
                <a:spcPts val="0"/>
              </a:spcBef>
              <a:defRPr sz="5400" b="1" i="0" cap="none" spc="-30" baseline="0">
                <a:solidFill>
                  <a:schemeClr val="bg1"/>
                </a:solidFill>
                <a:latin typeface="Encode Sans Normal ExtraBold" panose="02000000000000000000" pitchFamily="2" charset="77"/>
              </a:defRPr>
            </a:lvl1pPr>
          </a:lstStyle>
          <a:p>
            <a:r>
              <a:rPr lang="en-US" dirty="0"/>
              <a:t>CLICK TO EDIT </a:t>
            </a:r>
            <a:br>
              <a:rPr lang="en-US" dirty="0"/>
            </a:br>
            <a:r>
              <a:rPr lang="en-US" dirty="0"/>
              <a:t>TITLE STYLE</a:t>
            </a:r>
          </a:p>
        </p:txBody>
      </p:sp>
      <p:sp>
        <p:nvSpPr>
          <p:cNvPr id="5" name="Subtitle 2">
            <a:extLst>
              <a:ext uri="{FF2B5EF4-FFF2-40B4-BE49-F238E27FC236}">
                <a16:creationId xmlns:a16="http://schemas.microsoft.com/office/drawing/2014/main" id="{CDF57B08-8C4A-3347-B462-B99823F58A93}"/>
              </a:ext>
            </a:extLst>
          </p:cNvPr>
          <p:cNvSpPr>
            <a:spLocks noGrp="1"/>
          </p:cNvSpPr>
          <p:nvPr>
            <p:ph type="subTitle" idx="1" hasCustomPrompt="1"/>
          </p:nvPr>
        </p:nvSpPr>
        <p:spPr>
          <a:xfrm>
            <a:off x="361951" y="3005389"/>
            <a:ext cx="7762875" cy="452688"/>
          </a:xfrm>
          <a:prstGeom prst="rect">
            <a:avLst/>
          </a:prstGeom>
        </p:spPr>
        <p:txBody>
          <a:bodyPr anchor="t" anchorCtr="0"/>
          <a:lstStyle>
            <a:lvl1pPr marL="0" indent="0" algn="l">
              <a:spcBef>
                <a:spcPts val="0"/>
              </a:spcBef>
              <a:spcAft>
                <a:spcPts val="300"/>
              </a:spcAft>
              <a:buNone/>
              <a:defRPr sz="1800" b="1" i="0" spc="0">
                <a:solidFill>
                  <a:schemeClr val="accent1"/>
                </a:solidFill>
                <a:latin typeface="Encode Sans Normal ExtraBold" panose="02000000000000000000" pitchFamily="2" charset="7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 – ALL CAPS</a:t>
            </a:r>
          </a:p>
        </p:txBody>
      </p:sp>
      <p:pic>
        <p:nvPicPr>
          <p:cNvPr id="3" name="Picture 2" descr="White text on a purple background of a logo reading Foster School of Business, University of Washington">
            <a:extLst>
              <a:ext uri="{FF2B5EF4-FFF2-40B4-BE49-F238E27FC236}">
                <a16:creationId xmlns:a16="http://schemas.microsoft.com/office/drawing/2014/main" id="{9F5EA4AC-71C6-D854-3BA5-146AD76AEF5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2133832371"/>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Slide - No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5" y="1083527"/>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170113"/>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bg1"/>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1566086"/>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Text Slide - No Image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280641-9D77-2460-1A27-076A4B03E988}"/>
              </a:ext>
              <a:ext uri="{C183D7F6-B498-43B3-948B-1728B52AA6E4}">
                <adec:decorative xmlns:adec="http://schemas.microsoft.com/office/drawing/2017/decorative" val="1"/>
              </a:ext>
            </a:extLst>
          </p:cNvPr>
          <p:cNvSpPr/>
          <p:nvPr userDrawn="1"/>
        </p:nvSpPr>
        <p:spPr>
          <a:xfrm>
            <a:off x="0" y="0"/>
            <a:ext cx="9144000" cy="966439"/>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A41C90-5ECB-21EE-9F34-0F9BBB60ADCB}"/>
              </a:ext>
            </a:extLst>
          </p:cNvPr>
          <p:cNvSpPr>
            <a:spLocks noGrp="1"/>
          </p:cNvSpPr>
          <p:nvPr>
            <p:ph type="title" hasCustomPrompt="1"/>
          </p:nvPr>
        </p:nvSpPr>
        <p:spPr/>
        <p:txBody>
          <a:bodyPr/>
          <a:lstStyle>
            <a:lvl1pPr>
              <a:defRPr>
                <a:solidFill>
                  <a:schemeClr val="tx2"/>
                </a:solidFill>
              </a:defRPr>
            </a:lvl1pPr>
          </a:lstStyle>
          <a:p>
            <a:r>
              <a:rPr lang="en-US"/>
              <a:t>CLICK TO EDIT TITLE STYLE</a:t>
            </a:r>
          </a:p>
        </p:txBody>
      </p:sp>
      <p:sp>
        <p:nvSpPr>
          <p:cNvPr id="3" name="Text Placeholder 5">
            <a:extLst>
              <a:ext uri="{FF2B5EF4-FFF2-40B4-BE49-F238E27FC236}">
                <a16:creationId xmlns:a16="http://schemas.microsoft.com/office/drawing/2014/main" id="{03242DCD-EC6C-845B-8C72-889CBB153D65}"/>
              </a:ext>
            </a:extLst>
          </p:cNvPr>
          <p:cNvSpPr>
            <a:spLocks noGrp="1"/>
          </p:cNvSpPr>
          <p:nvPr>
            <p:ph idx="1" hasCustomPrompt="1"/>
          </p:nvPr>
        </p:nvSpPr>
        <p:spPr>
          <a:xfrm>
            <a:off x="469444" y="1084196"/>
            <a:ext cx="6134555" cy="2084481"/>
          </a:xfrm>
          <a:prstGeom prst="rect">
            <a:avLst/>
          </a:prstGeom>
        </p:spPr>
        <p:txBody>
          <a:bodyPr vert="horz" wrap="square" lIns="0" tIns="0" rIns="0" bIns="0" rtlCol="0">
            <a:noAutofit/>
          </a:body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723882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ext Slide - Editable Image">
    <p:spTree>
      <p:nvGrpSpPr>
        <p:cNvPr id="1" name=""/>
        <p:cNvGrpSpPr/>
        <p:nvPr/>
      </p:nvGrpSpPr>
      <p:grpSpPr>
        <a:xfrm>
          <a:off x="0" y="0"/>
          <a:ext cx="0" cy="0"/>
          <a:chOff x="0" y="0"/>
          <a:chExt cx="0" cy="0"/>
        </a:xfrm>
      </p:grpSpPr>
      <p:sp>
        <p:nvSpPr>
          <p:cNvPr id="2" name="Title Placeholder 2">
            <a:extLst>
              <a:ext uri="{FF2B5EF4-FFF2-40B4-BE49-F238E27FC236}">
                <a16:creationId xmlns:a16="http://schemas.microsoft.com/office/drawing/2014/main" id="{D6B2EAA1-56C8-BE7C-EE51-68C12895021A}"/>
              </a:ext>
            </a:extLst>
          </p:cNvPr>
          <p:cNvSpPr>
            <a:spLocks noGrp="1"/>
          </p:cNvSpPr>
          <p:nvPr>
            <p:ph type="title" hasCustomPrompt="1"/>
          </p:nvPr>
        </p:nvSpPr>
        <p:spPr>
          <a:xfrm>
            <a:off x="469446" y="406036"/>
            <a:ext cx="4873022" cy="369332"/>
          </a:xfrm>
          <a:prstGeom prst="rect">
            <a:avLst/>
          </a:prstGeom>
        </p:spPr>
        <p:txBody>
          <a:bodyPr vert="horz" wrap="square" lIns="0" tIns="0" rIns="0" bIns="0" rtlCol="0" anchor="t" anchorCtr="0">
            <a:noAutofit/>
          </a:bodyPr>
          <a:lstStyle/>
          <a:p>
            <a:r>
              <a:rPr lang="en-US" dirty="0"/>
              <a:t>CLICK TO EDIT TITLE STYLE</a:t>
            </a:r>
          </a:p>
        </p:txBody>
      </p:sp>
      <p:sp>
        <p:nvSpPr>
          <p:cNvPr id="3" name="Picture Placeholder 2">
            <a:extLst>
              <a:ext uri="{FF2B5EF4-FFF2-40B4-BE49-F238E27FC236}">
                <a16:creationId xmlns:a16="http://schemas.microsoft.com/office/drawing/2014/main" id="{C20C6CCC-8AA2-B4C9-2718-27DD013B166E}"/>
              </a:ext>
            </a:extLst>
          </p:cNvPr>
          <p:cNvSpPr>
            <a:spLocks noGrp="1"/>
          </p:cNvSpPr>
          <p:nvPr>
            <p:ph type="pic" sz="quarter" idx="12"/>
          </p:nvPr>
        </p:nvSpPr>
        <p:spPr>
          <a:xfrm>
            <a:off x="5578475" y="0"/>
            <a:ext cx="3565525" cy="5143500"/>
          </a:xfrm>
          <a:noFill/>
        </p:spPr>
        <p:txBody>
          <a:bodyPr wrap="square" lIns="0" tIns="0" rIns="0" bIns="0">
            <a:noAutofit/>
          </a:bodyPr>
          <a:lstStyle/>
          <a:p>
            <a:r>
              <a:rPr lang="en-US"/>
              <a:t>Click icon to add picture</a:t>
            </a:r>
          </a:p>
        </p:txBody>
      </p:sp>
      <p:sp>
        <p:nvSpPr>
          <p:cNvPr id="6" name="Text Placeholder 5">
            <a:extLst>
              <a:ext uri="{FF2B5EF4-FFF2-40B4-BE49-F238E27FC236}">
                <a16:creationId xmlns:a16="http://schemas.microsoft.com/office/drawing/2014/main" id="{4B0BF171-C36A-97F6-13E8-1D538C2626BB}"/>
              </a:ext>
            </a:extLst>
          </p:cNvPr>
          <p:cNvSpPr>
            <a:spLocks noGrp="1"/>
          </p:cNvSpPr>
          <p:nvPr>
            <p:ph type="body" sz="quarter" idx="13" hasCustomPrompt="1"/>
          </p:nvPr>
        </p:nvSpPr>
        <p:spPr>
          <a:xfrm>
            <a:off x="470430" y="1085336"/>
            <a:ext cx="4872038" cy="2084481"/>
          </a:xfrm>
        </p:spPr>
        <p:txBody>
          <a:bodyPr lIns="0" tIns="0" rIns="0" bIns="0"/>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Slide - Lists with Head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445" y="406036"/>
            <a:ext cx="8186406" cy="369332"/>
          </a:xfrm>
        </p:spPr>
        <p:txBody>
          <a:bodyPr/>
          <a:lstStyle>
            <a:lvl1pPr>
              <a:defRPr>
                <a:solidFill>
                  <a:schemeClr val="tx2"/>
                </a:solidFill>
              </a:defRPr>
            </a:lvl1pPr>
          </a:lstStyle>
          <a:p>
            <a:r>
              <a:rPr lang="en-US"/>
              <a:t>CLICK TO EDIT TITLE STYLE</a:t>
            </a:r>
          </a:p>
        </p:txBody>
      </p:sp>
      <p:sp>
        <p:nvSpPr>
          <p:cNvPr id="3" name="Text Placeholder 4">
            <a:extLst>
              <a:ext uri="{FF2B5EF4-FFF2-40B4-BE49-F238E27FC236}">
                <a16:creationId xmlns:a16="http://schemas.microsoft.com/office/drawing/2014/main" id="{0C492763-7F70-C5FA-0820-3577947AC99F}"/>
              </a:ext>
            </a:extLst>
          </p:cNvPr>
          <p:cNvSpPr>
            <a:spLocks noGrp="1"/>
          </p:cNvSpPr>
          <p:nvPr>
            <p:ph type="body" sz="quarter" idx="20" hasCustomPrompt="1"/>
          </p:nvPr>
        </p:nvSpPr>
        <p:spPr>
          <a:xfrm>
            <a:off x="486696"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9" name="Text Placeholder 8"/>
          <p:cNvSpPr>
            <a:spLocks noGrp="1"/>
          </p:cNvSpPr>
          <p:nvPr>
            <p:ph type="body" sz="quarter" idx="13" hasCustomPrompt="1"/>
          </p:nvPr>
        </p:nvSpPr>
        <p:spPr>
          <a:xfrm>
            <a:off x="486695" y="1785963"/>
            <a:ext cx="3958303" cy="369332"/>
          </a:xfrm>
        </p:spPr>
        <p:txBody>
          <a:bodyPr wrap="square" lIns="0" tIns="0" rIns="0" bIns="0">
            <a:noAutofit/>
          </a:bodyPr>
          <a:lstStyle>
            <a:lvl1pPr>
              <a:defRPr sz="1800"/>
            </a:lvl1pPr>
          </a:lstStyle>
          <a:p>
            <a:pPr lvl="0"/>
            <a:r>
              <a:rPr lang="en-US"/>
              <a:t>Click to edit text</a:t>
            </a:r>
          </a:p>
        </p:txBody>
      </p:sp>
      <p:sp>
        <p:nvSpPr>
          <p:cNvPr id="4" name="Text Placeholder 4">
            <a:extLst>
              <a:ext uri="{FF2B5EF4-FFF2-40B4-BE49-F238E27FC236}">
                <a16:creationId xmlns:a16="http://schemas.microsoft.com/office/drawing/2014/main" id="{59F63A1E-80AC-873A-7B08-C7265BB5967D}"/>
              </a:ext>
            </a:extLst>
          </p:cNvPr>
          <p:cNvSpPr>
            <a:spLocks noGrp="1"/>
          </p:cNvSpPr>
          <p:nvPr>
            <p:ph type="body" sz="quarter" idx="14" hasCustomPrompt="1"/>
          </p:nvPr>
        </p:nvSpPr>
        <p:spPr>
          <a:xfrm>
            <a:off x="486696"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6" name="Text Placeholder 8">
            <a:extLst>
              <a:ext uri="{FF2B5EF4-FFF2-40B4-BE49-F238E27FC236}">
                <a16:creationId xmlns:a16="http://schemas.microsoft.com/office/drawing/2014/main" id="{69324E9C-60EB-28A4-B685-42B2774AEFAF}"/>
              </a:ext>
            </a:extLst>
          </p:cNvPr>
          <p:cNvSpPr>
            <a:spLocks noGrp="1"/>
          </p:cNvSpPr>
          <p:nvPr>
            <p:ph type="body" sz="quarter" idx="15" hasCustomPrompt="1"/>
          </p:nvPr>
        </p:nvSpPr>
        <p:spPr>
          <a:xfrm>
            <a:off x="486695" y="2970083"/>
            <a:ext cx="3958303" cy="369332"/>
          </a:xfrm>
        </p:spPr>
        <p:txBody>
          <a:bodyPr wrap="square" lIns="0" tIns="0" rIns="0" bIns="0">
            <a:noAutofit/>
          </a:bodyPr>
          <a:lstStyle>
            <a:lvl1pPr>
              <a:defRPr sz="1800"/>
            </a:lvl1pPr>
          </a:lstStyle>
          <a:p>
            <a:pPr lvl="0"/>
            <a:r>
              <a:rPr lang="en-US"/>
              <a:t>Click to edit text</a:t>
            </a:r>
          </a:p>
        </p:txBody>
      </p:sp>
      <p:sp>
        <p:nvSpPr>
          <p:cNvPr id="10" name="Text Placeholder 4">
            <a:extLst>
              <a:ext uri="{FF2B5EF4-FFF2-40B4-BE49-F238E27FC236}">
                <a16:creationId xmlns:a16="http://schemas.microsoft.com/office/drawing/2014/main" id="{DFEE20B9-CD1F-8C9B-BEA0-B9D319CCC211}"/>
              </a:ext>
            </a:extLst>
          </p:cNvPr>
          <p:cNvSpPr>
            <a:spLocks noGrp="1"/>
          </p:cNvSpPr>
          <p:nvPr>
            <p:ph type="body" sz="quarter" idx="22" hasCustomPrompt="1"/>
          </p:nvPr>
        </p:nvSpPr>
        <p:spPr>
          <a:xfrm>
            <a:off x="4697547" y="1323994"/>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1" name="Text Placeholder 8">
            <a:extLst>
              <a:ext uri="{FF2B5EF4-FFF2-40B4-BE49-F238E27FC236}">
                <a16:creationId xmlns:a16="http://schemas.microsoft.com/office/drawing/2014/main" id="{BD8CB4E0-D660-D5F2-909F-028F7EFFCD95}"/>
              </a:ext>
            </a:extLst>
          </p:cNvPr>
          <p:cNvSpPr>
            <a:spLocks noGrp="1"/>
          </p:cNvSpPr>
          <p:nvPr>
            <p:ph type="body" sz="quarter" idx="17" hasCustomPrompt="1"/>
          </p:nvPr>
        </p:nvSpPr>
        <p:spPr>
          <a:xfrm>
            <a:off x="4703095" y="1785963"/>
            <a:ext cx="3958303" cy="369332"/>
          </a:xfrm>
        </p:spPr>
        <p:txBody>
          <a:bodyPr wrap="square" lIns="0" tIns="0" rIns="0" bIns="0">
            <a:noAutofit/>
          </a:bodyPr>
          <a:lstStyle>
            <a:lvl1pPr>
              <a:defRPr sz="1800"/>
            </a:lvl1pPr>
          </a:lstStyle>
          <a:p>
            <a:pPr lvl="0"/>
            <a:r>
              <a:rPr lang="en-US" dirty="0"/>
              <a:t>Click to edit text</a:t>
            </a:r>
          </a:p>
        </p:txBody>
      </p:sp>
      <p:sp>
        <p:nvSpPr>
          <p:cNvPr id="8" name="Text Placeholder 4">
            <a:extLst>
              <a:ext uri="{FF2B5EF4-FFF2-40B4-BE49-F238E27FC236}">
                <a16:creationId xmlns:a16="http://schemas.microsoft.com/office/drawing/2014/main" id="{FDDAFFA5-C05C-EA69-DBA3-676A18E8CEF7}"/>
              </a:ext>
            </a:extLst>
          </p:cNvPr>
          <p:cNvSpPr>
            <a:spLocks noGrp="1"/>
          </p:cNvSpPr>
          <p:nvPr>
            <p:ph type="body" sz="quarter" idx="21" hasCustomPrompt="1"/>
          </p:nvPr>
        </p:nvSpPr>
        <p:spPr>
          <a:xfrm>
            <a:off x="4697547" y="2499651"/>
            <a:ext cx="3958304" cy="369332"/>
          </a:xfrm>
        </p:spPr>
        <p:txBody>
          <a:bodyPr lIns="0" tIns="0" rIns="0" bIns="0">
            <a:noAutofit/>
          </a:bodyPr>
          <a:lstStyle>
            <a:lvl1pPr>
              <a:defRPr sz="1800" b="1" i="0" spc="0">
                <a:solidFill>
                  <a:schemeClr val="accent1"/>
                </a:solidFill>
                <a:latin typeface="Encode Sans Normal ExtraBold" panose="02000000000000000000" pitchFamily="2" charset="77"/>
              </a:defRPr>
            </a:lvl1pPr>
            <a:lvl2pPr marL="0" indent="0">
              <a:buNone/>
              <a:defRPr sz="1800"/>
            </a:lvl2pPr>
          </a:lstStyle>
          <a:p>
            <a:pPr lvl="0"/>
            <a:r>
              <a:rPr lang="en-US" dirty="0"/>
              <a:t>CLICK TO EDIT TEXT</a:t>
            </a:r>
          </a:p>
        </p:txBody>
      </p:sp>
      <p:sp>
        <p:nvSpPr>
          <p:cNvPr id="13" name="Text Placeholder 8">
            <a:extLst>
              <a:ext uri="{FF2B5EF4-FFF2-40B4-BE49-F238E27FC236}">
                <a16:creationId xmlns:a16="http://schemas.microsoft.com/office/drawing/2014/main" id="{0D09874F-B2CF-BD5A-EE3E-7444C4E16C88}"/>
              </a:ext>
            </a:extLst>
          </p:cNvPr>
          <p:cNvSpPr>
            <a:spLocks noGrp="1"/>
          </p:cNvSpPr>
          <p:nvPr>
            <p:ph type="body" sz="quarter" idx="19" hasCustomPrompt="1"/>
          </p:nvPr>
        </p:nvSpPr>
        <p:spPr>
          <a:xfrm>
            <a:off x="4703095" y="2966044"/>
            <a:ext cx="3958303" cy="369332"/>
          </a:xfrm>
        </p:spPr>
        <p:txBody>
          <a:bodyPr wrap="square" lIns="0" tIns="0" rIns="0" bIns="0">
            <a:noAutofit/>
          </a:bodyPr>
          <a:lstStyle>
            <a:lvl1pPr>
              <a:defRPr sz="1800" b="0" i="0">
                <a:latin typeface="Open Sans" panose="020B0606030504020204" pitchFamily="34" charset="0"/>
                <a:ea typeface="Open Sans" panose="020B0606030504020204" pitchFamily="34" charset="0"/>
                <a:cs typeface="Open Sans" panose="020B0606030504020204" pitchFamily="34" charset="0"/>
              </a:defRPr>
            </a:lvl1pPr>
          </a:lstStyle>
          <a:p>
            <a:pPr lvl="0"/>
            <a:r>
              <a:rPr lang="en-US" dirty="0"/>
              <a:t>Click to edit text</a:t>
            </a:r>
          </a:p>
        </p:txBody>
      </p:sp>
    </p:spTree>
    <p:extLst>
      <p:ext uri="{BB962C8B-B14F-4D97-AF65-F5344CB8AC3E}">
        <p14:creationId xmlns:p14="http://schemas.microsoft.com/office/powerpoint/2010/main" val="79479997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Image Only Slide">
    <p:spTree>
      <p:nvGrpSpPr>
        <p:cNvPr id="1" name=""/>
        <p:cNvGrpSpPr/>
        <p:nvPr/>
      </p:nvGrpSpPr>
      <p:grpSpPr>
        <a:xfrm>
          <a:off x="0" y="0"/>
          <a:ext cx="0" cy="0"/>
          <a:chOff x="0" y="0"/>
          <a:chExt cx="0" cy="0"/>
        </a:xfrm>
      </p:grpSpPr>
      <p:sp>
        <p:nvSpPr>
          <p:cNvPr id="5" name="Text Placeholder 8">
            <a:extLst>
              <a:ext uri="{FF2B5EF4-FFF2-40B4-BE49-F238E27FC236}">
                <a16:creationId xmlns:a16="http://schemas.microsoft.com/office/drawing/2014/main" id="{CC5F2F5B-6F0D-D207-EBEE-C1FD4E77DD29}"/>
              </a:ext>
            </a:extLst>
          </p:cNvPr>
          <p:cNvSpPr>
            <a:spLocks noGrp="1"/>
          </p:cNvSpPr>
          <p:nvPr>
            <p:ph type="body" sz="quarter" idx="13" hasCustomPrompt="1"/>
          </p:nvPr>
        </p:nvSpPr>
        <p:spPr>
          <a:xfrm>
            <a:off x="216730" y="4367181"/>
            <a:ext cx="1222603" cy="369332"/>
          </a:xfrm>
        </p:spPr>
        <p:txBody>
          <a:bodyPr wrap="square">
            <a:spAutoFit/>
          </a:bodyPr>
          <a:lstStyle>
            <a:lvl1pPr>
              <a:lnSpc>
                <a:spcPct val="100000"/>
              </a:lnSpc>
              <a:defRPr sz="900"/>
            </a:lvl1pPr>
          </a:lstStyle>
          <a:p>
            <a:pPr lvl="0"/>
            <a:r>
              <a:rPr lang="en-US" dirty="0"/>
              <a:t>Image Caption Goes Here</a:t>
            </a:r>
          </a:p>
        </p:txBody>
      </p:sp>
      <p:sp>
        <p:nvSpPr>
          <p:cNvPr id="3" name="Picture Placeholder 2">
            <a:extLst>
              <a:ext uri="{FF2B5EF4-FFF2-40B4-BE49-F238E27FC236}">
                <a16:creationId xmlns:a16="http://schemas.microsoft.com/office/drawing/2014/main" id="{905B892A-4F81-3DE8-DAB9-C9ACD1E4B2D0}"/>
              </a:ext>
            </a:extLst>
          </p:cNvPr>
          <p:cNvSpPr>
            <a:spLocks noGrp="1"/>
          </p:cNvSpPr>
          <p:nvPr>
            <p:ph type="pic" sz="quarter" idx="14"/>
          </p:nvPr>
        </p:nvSpPr>
        <p:spPr>
          <a:xfrm>
            <a:off x="1778000" y="0"/>
            <a:ext cx="7366000" cy="5143500"/>
          </a:xfrm>
        </p:spPr>
        <p:txBody>
          <a:bodyPr/>
          <a:lstStyle/>
          <a:p>
            <a:r>
              <a:rPr lang="en-US"/>
              <a:t>Click icon to add picture</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Slide - Bulleted Lists">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F6B5C0D-562C-B668-B0FD-B003E2FB7251}"/>
              </a:ext>
            </a:extLst>
          </p:cNvPr>
          <p:cNvSpPr>
            <a:spLocks noGrp="1"/>
          </p:cNvSpPr>
          <p:nvPr>
            <p:ph type="title" hasCustomPrompt="1"/>
          </p:nvPr>
        </p:nvSpPr>
        <p:spPr/>
        <p:txBody>
          <a:bodyPr/>
          <a:lstStyle/>
          <a:p>
            <a:r>
              <a:rPr lang="en-US"/>
              <a:t>CLICK TO EDIT TITLE STYLE</a:t>
            </a:r>
          </a:p>
        </p:txBody>
      </p:sp>
      <p:sp>
        <p:nvSpPr>
          <p:cNvPr id="3" name="Content Placeholder 12">
            <a:extLst>
              <a:ext uri="{FF2B5EF4-FFF2-40B4-BE49-F238E27FC236}">
                <a16:creationId xmlns:a16="http://schemas.microsoft.com/office/drawing/2014/main" id="{2A43680B-0C4E-035C-8289-47EE40A3E9E9}"/>
              </a:ext>
            </a:extLst>
          </p:cNvPr>
          <p:cNvSpPr>
            <a:spLocks noGrp="1"/>
          </p:cNvSpPr>
          <p:nvPr>
            <p:ph sz="quarter" idx="11" hasCustomPrompt="1"/>
          </p:nvPr>
        </p:nvSpPr>
        <p:spPr>
          <a:xfrm>
            <a:off x="469445" y="1089739"/>
            <a:ext cx="7061200" cy="1436291"/>
          </a:xfrm>
        </p:spPr>
        <p:txBody>
          <a:bodyPr lIns="0" tIns="0" rIns="0" bIns="0">
            <a:noAutofit/>
          </a:bodyPr>
          <a:lstStyle>
            <a:lvl1pPr marL="0" marR="0" indent="0" algn="l" defTabSz="457200" rtl="0" eaLnBrk="1" fontAlgn="base" latinLnBrk="0" hangingPunct="1">
              <a:lnSpc>
                <a:spcPct val="100000"/>
              </a:lnSpc>
              <a:spcBef>
                <a:spcPts val="0"/>
              </a:spcBef>
              <a:spcAft>
                <a:spcPts val="100"/>
              </a:spcAft>
              <a:buClrTx/>
              <a:buSzTx/>
              <a:buFont typeface="Arial"/>
              <a:buNone/>
              <a:tabLst/>
              <a:defRPr sz="1800">
                <a:solidFill>
                  <a:schemeClr val="tx1"/>
                </a:solidFill>
              </a:defRPr>
            </a:lvl1pPr>
          </a:lstStyle>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lvl="0"/>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endParaRPr lang="en-US"/>
          </a:p>
          <a:p>
            <a:pPr marL="285750" marR="0" lvl="0" indent="-285750" algn="l" defTabSz="457200" rtl="0" eaLnBrk="1" fontAlgn="base" latinLnBrk="0" hangingPunct="1">
              <a:lnSpc>
                <a:spcPct val="100000"/>
              </a:lnSpc>
              <a:spcBef>
                <a:spcPts val="0"/>
              </a:spcBef>
              <a:spcAft>
                <a:spcPts val="100"/>
              </a:spcAft>
              <a:buClrTx/>
              <a:buSzTx/>
              <a:buFont typeface="Arial"/>
              <a:buChar char="•"/>
              <a:tabLst/>
              <a:defRPr/>
            </a:pPr>
            <a:r>
              <a:rPr lang="en-US"/>
              <a:t>Optional list of considerations</a:t>
            </a:r>
          </a:p>
        </p:txBody>
      </p:sp>
    </p:spTree>
    <p:extLst>
      <p:ext uri="{BB962C8B-B14F-4D97-AF65-F5344CB8AC3E}">
        <p14:creationId xmlns:p14="http://schemas.microsoft.com/office/powerpoint/2010/main" val="1024250825"/>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 Slide - Purple">
    <p:bg>
      <p:bgPr>
        <a:solidFill>
          <a:srgbClr val="32006E"/>
        </a:solidFill>
        <a:effectLst/>
      </p:bgPr>
    </p:bg>
    <p:spTree>
      <p:nvGrpSpPr>
        <p:cNvPr id="1" name=""/>
        <p:cNvGrpSpPr/>
        <p:nvPr/>
      </p:nvGrpSpPr>
      <p:grpSpPr>
        <a:xfrm>
          <a:off x="0" y="0"/>
          <a:ext cx="0" cy="0"/>
          <a:chOff x="0" y="0"/>
          <a:chExt cx="0" cy="0"/>
        </a:xfrm>
      </p:grpSpPr>
      <p:pic>
        <p:nvPicPr>
          <p:cNvPr id="3" name="Picture 2" descr="White text on a purple background of a logo reading Foster School of Business, University of Washington">
            <a:extLst>
              <a:ext uri="{FF2B5EF4-FFF2-40B4-BE49-F238E27FC236}">
                <a16:creationId xmlns:a16="http://schemas.microsoft.com/office/drawing/2014/main" id="{5B1E3909-C49C-88C9-7739-53611D8906B0}"/>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316884668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Picture 1" descr="White text on a black background of a logo reading Foster School of Business, University of Washington">
            <a:extLst>
              <a:ext uri="{FF2B5EF4-FFF2-40B4-BE49-F238E27FC236}">
                <a16:creationId xmlns:a16="http://schemas.microsoft.com/office/drawing/2014/main" id="{896C50C3-4866-1537-1649-67A0A4D5C703}"/>
              </a:ext>
            </a:extLst>
          </p:cNvPr>
          <p:cNvPicPr preferRelativeResize="0">
            <a:picLocks noChangeAspect="1"/>
          </p:cNvPicPr>
          <p:nvPr userDrawn="1"/>
        </p:nvPicPr>
        <p:blipFill>
          <a:blip r:embed="rId2"/>
          <a:srcRect/>
          <a:stretch/>
        </p:blipFill>
        <p:spPr>
          <a:xfrm>
            <a:off x="7411253" y="4157062"/>
            <a:ext cx="1314906" cy="648687"/>
          </a:xfrm>
          <a:prstGeom prst="rect">
            <a:avLst/>
          </a:prstGeom>
        </p:spPr>
      </p:pic>
    </p:spTree>
    <p:extLst>
      <p:ext uri="{BB962C8B-B14F-4D97-AF65-F5344CB8AC3E}">
        <p14:creationId xmlns:p14="http://schemas.microsoft.com/office/powerpoint/2010/main" val="120909630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itle Placeholder 2"/>
          <p:cNvSpPr>
            <a:spLocks noGrp="1"/>
          </p:cNvSpPr>
          <p:nvPr>
            <p:ph type="title"/>
          </p:nvPr>
        </p:nvSpPr>
        <p:spPr>
          <a:xfrm>
            <a:off x="469445" y="406036"/>
            <a:ext cx="6134555" cy="369332"/>
          </a:xfrm>
          <a:prstGeom prst="rect">
            <a:avLst/>
          </a:prstGeom>
        </p:spPr>
        <p:txBody>
          <a:bodyPr vert="horz" wrap="square" lIns="0" tIns="0" rIns="0" bIns="0" rtlCol="0" anchor="t" anchorCtr="0">
            <a:noAutofit/>
          </a:bodyPr>
          <a:lstStyle/>
          <a:p>
            <a:r>
              <a:rPr lang="en-US" dirty="0"/>
              <a:t>CLICK TO EDIT TITLE STYLE</a:t>
            </a:r>
          </a:p>
        </p:txBody>
      </p:sp>
      <p:sp>
        <p:nvSpPr>
          <p:cNvPr id="6" name="Text Placeholder 5"/>
          <p:cNvSpPr>
            <a:spLocks noGrp="1"/>
          </p:cNvSpPr>
          <p:nvPr>
            <p:ph type="body" idx="1"/>
          </p:nvPr>
        </p:nvSpPr>
        <p:spPr>
          <a:xfrm>
            <a:off x="469445" y="928079"/>
            <a:ext cx="6134555" cy="2084481"/>
          </a:xfrm>
          <a:prstGeom prst="rect">
            <a:avLst/>
          </a:prstGeom>
        </p:spPr>
        <p:txBody>
          <a:bodyPr vert="horz" wrap="square" lIns="0" tIns="0" rIns="0" bIns="0" rtlCol="0">
            <a:noAutofit/>
          </a:body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TextBox 23">
            <a:extLst>
              <a:ext uri="{FF2B5EF4-FFF2-40B4-BE49-F238E27FC236}">
                <a16:creationId xmlns:a16="http://schemas.microsoft.com/office/drawing/2014/main" id="{67DCE893-6A75-F770-3EBA-345A9472F0A7}"/>
              </a:ext>
            </a:extLst>
          </p:cNvPr>
          <p:cNvSpPr txBox="1"/>
          <p:nvPr userDrawn="1"/>
        </p:nvSpPr>
        <p:spPr>
          <a:xfrm>
            <a:off x="285895" y="4807183"/>
            <a:ext cx="3206240" cy="200055"/>
          </a:xfrm>
          <a:prstGeom prst="rect">
            <a:avLst/>
          </a:prstGeom>
          <a:noFill/>
        </p:spPr>
        <p:txBody>
          <a:bodyPr wrap="square">
            <a:spAutoFit/>
          </a:bodyPr>
          <a:lstStyle/>
          <a:p>
            <a:r>
              <a:rPr lang="en-US" sz="700" b="0" i="0" spc="20" baseline="0" dirty="0">
                <a:solidFill>
                  <a:schemeClr val="tx1">
                    <a:lumMod val="65000"/>
                    <a:lumOff val="35000"/>
                  </a:schemeClr>
                </a:solidFill>
                <a:latin typeface="Uni Sans Regular" pitchFamily="2" charset="77"/>
                <a:ea typeface="Open Sans Light" panose="020B0306030504020204" pitchFamily="34" charset="0"/>
                <a:cs typeface="Open Sans Light" panose="020B0306030504020204" pitchFamily="34" charset="0"/>
              </a:rPr>
              <a:t> FOSTER SCHOOL OF BUSINESS, UNIVERSITY OF WASHINGTON</a:t>
            </a:r>
            <a:endParaRPr lang="en-US" sz="1600" b="0" i="0" spc="20" baseline="0" dirty="0">
              <a:solidFill>
                <a:schemeClr val="tx1">
                  <a:lumMod val="65000"/>
                  <a:lumOff val="35000"/>
                </a:schemeClr>
              </a:solidFill>
              <a:latin typeface="Uni Sans Regular" pitchFamily="2" charset="77"/>
            </a:endParaRPr>
          </a:p>
        </p:txBody>
      </p:sp>
      <p:sp>
        <p:nvSpPr>
          <p:cNvPr id="27" name="TextBox 26">
            <a:extLst>
              <a:ext uri="{FF2B5EF4-FFF2-40B4-BE49-F238E27FC236}">
                <a16:creationId xmlns:a16="http://schemas.microsoft.com/office/drawing/2014/main" id="{1EB5DED1-6392-63AA-0761-1325CD3A98B5}"/>
              </a:ext>
            </a:extLst>
          </p:cNvPr>
          <p:cNvSpPr txBox="1"/>
          <p:nvPr userDrawn="1"/>
        </p:nvSpPr>
        <p:spPr>
          <a:xfrm>
            <a:off x="6182426" y="4807183"/>
            <a:ext cx="2570510" cy="200055"/>
          </a:xfrm>
          <a:prstGeom prst="rect">
            <a:avLst/>
          </a:prstGeom>
          <a:noFill/>
        </p:spPr>
        <p:txBody>
          <a:bodyPr wrap="square">
            <a:spAutoFit/>
          </a:bodyPr>
          <a:lstStyle/>
          <a:p>
            <a:pPr algn="r"/>
            <a:r>
              <a:rPr lang="en-US" sz="700" b="0" i="0" dirty="0">
                <a:solidFill>
                  <a:schemeClr val="tx1">
                    <a:lumMod val="65000"/>
                    <a:lumOff val="35000"/>
                  </a:schemeClr>
                </a:solidFill>
                <a:latin typeface="Encode Sans Normal Medium" panose="02000000000000000000" pitchFamily="2" charset="77"/>
                <a:ea typeface="Open Sans Light" panose="020B0306030504020204" pitchFamily="34" charset="0"/>
                <a:cs typeface="Open Sans Light" panose="020B0306030504020204" pitchFamily="34" charset="0"/>
              </a:rPr>
              <a:t>foster.uw.edu</a:t>
            </a:r>
            <a:endParaRPr lang="en-US" sz="1600" b="0" i="0" dirty="0">
              <a:solidFill>
                <a:schemeClr val="tx1">
                  <a:lumMod val="65000"/>
                  <a:lumOff val="35000"/>
                </a:schemeClr>
              </a:solidFill>
              <a:latin typeface="Encode Sans Normal Medium" panose="02000000000000000000" pitchFamily="2" charset="77"/>
            </a:endParaRPr>
          </a:p>
        </p:txBody>
      </p:sp>
      <p:cxnSp>
        <p:nvCxnSpPr>
          <p:cNvPr id="29" name="Straight Connector 28">
            <a:extLst>
              <a:ext uri="{FF2B5EF4-FFF2-40B4-BE49-F238E27FC236}">
                <a16:creationId xmlns:a16="http://schemas.microsoft.com/office/drawing/2014/main" id="{AF715F98-A0BC-AA2E-45A5-62072B08C576}"/>
              </a:ext>
            </a:extLst>
          </p:cNvPr>
          <p:cNvCxnSpPr>
            <a:cxnSpLocks/>
          </p:cNvCxnSpPr>
          <p:nvPr userDrawn="1"/>
        </p:nvCxnSpPr>
        <p:spPr>
          <a:xfrm>
            <a:off x="391886" y="4737463"/>
            <a:ext cx="8282669" cy="0"/>
          </a:xfrm>
          <a:prstGeom prst="line">
            <a:avLst/>
          </a:prstGeom>
          <a:ln>
            <a:solidFill>
              <a:srgbClr val="C09F29">
                <a:alpha val="34419"/>
              </a:srgbClr>
            </a:solidFill>
          </a:ln>
        </p:spPr>
        <p:style>
          <a:lnRef idx="1">
            <a:schemeClr val="accent6"/>
          </a:lnRef>
          <a:fillRef idx="0">
            <a:schemeClr val="accent6"/>
          </a:fillRef>
          <a:effectRef idx="0">
            <a:schemeClr val="accent6"/>
          </a:effectRef>
          <a:fontRef idx="minor">
            <a:schemeClr val="tx1"/>
          </a:fontRef>
        </p:style>
      </p:cxnSp>
    </p:spTree>
  </p:cSld>
  <p:clrMap bg1="lt1" tx1="dk1" bg2="lt2" tx2="dk2" accent1="accent1" accent2="accent2" accent3="accent3" accent4="accent4" accent5="accent5" accent6="accent6" hlink="hlink" folHlink="folHlink"/>
  <p:sldLayoutIdLst>
    <p:sldLayoutId id="2147483659" r:id="rId1"/>
    <p:sldLayoutId id="2147483674" r:id="rId2"/>
    <p:sldLayoutId id="2147483649" r:id="rId3"/>
    <p:sldLayoutId id="2147483663" r:id="rId4"/>
    <p:sldLayoutId id="2147483668" r:id="rId5"/>
    <p:sldLayoutId id="2147483669" r:id="rId6"/>
    <p:sldLayoutId id="2147483675" r:id="rId7"/>
    <p:sldLayoutId id="2147483676" r:id="rId8"/>
    <p:sldLayoutId id="2147483650" r:id="rId9"/>
    <p:sldLayoutId id="2147483665" r:id="rId10"/>
    <p:sldLayoutId id="2147483653" r:id="rId11"/>
    <p:sldLayoutId id="2147483671" r:id="rId12"/>
    <p:sldLayoutId id="2147483662" r:id="rId13"/>
    <p:sldLayoutId id="2147483667" r:id="rId14"/>
  </p:sldLayoutIdLst>
  <p:transition>
    <p:fade/>
  </p:transition>
  <p:hf hdr="0" ftr="0" dt="0"/>
  <p:txStyles>
    <p:titleStyle>
      <a:lvl1pPr algn="l" defTabSz="457200" rtl="0" eaLnBrk="1" fontAlgn="base" hangingPunct="1">
        <a:spcBef>
          <a:spcPct val="0"/>
        </a:spcBef>
        <a:spcAft>
          <a:spcPct val="0"/>
        </a:spcAft>
        <a:defRPr sz="2400" b="1" i="0" kern="1200">
          <a:solidFill>
            <a:schemeClr val="tx2"/>
          </a:solidFill>
          <a:latin typeface="Encode Sans Normal ExtraBold" panose="02000000000000000000" pitchFamily="2" charset="77"/>
          <a:ea typeface="+mj-ea"/>
          <a:cs typeface="Arial" panose="020B0604020202020204" pitchFamily="34" charset="0"/>
        </a:defRPr>
      </a:lvl1pPr>
      <a:lvl2pPr algn="ctr" defTabSz="457200" rtl="0" eaLnBrk="1" fontAlgn="base" hangingPunct="1">
        <a:spcBef>
          <a:spcPct val="0"/>
        </a:spcBef>
        <a:spcAft>
          <a:spcPct val="0"/>
        </a:spcAft>
        <a:defRPr sz="4400">
          <a:solidFill>
            <a:schemeClr val="tx1"/>
          </a:solidFill>
          <a:latin typeface="Calibri" pitchFamily="34" charset="0"/>
        </a:defRPr>
      </a:lvl2pPr>
      <a:lvl3pPr algn="ctr" defTabSz="457200" rtl="0" eaLnBrk="1" fontAlgn="base" hangingPunct="1">
        <a:spcBef>
          <a:spcPct val="0"/>
        </a:spcBef>
        <a:spcAft>
          <a:spcPct val="0"/>
        </a:spcAft>
        <a:defRPr sz="4400">
          <a:solidFill>
            <a:schemeClr val="tx1"/>
          </a:solidFill>
          <a:latin typeface="Calibri" pitchFamily="34" charset="0"/>
        </a:defRPr>
      </a:lvl3pPr>
      <a:lvl4pPr algn="ctr" defTabSz="457200" rtl="0" eaLnBrk="1" fontAlgn="base" hangingPunct="1">
        <a:spcBef>
          <a:spcPct val="0"/>
        </a:spcBef>
        <a:spcAft>
          <a:spcPct val="0"/>
        </a:spcAft>
        <a:defRPr sz="4400">
          <a:solidFill>
            <a:schemeClr val="tx1"/>
          </a:solidFill>
          <a:latin typeface="Calibri" pitchFamily="34" charset="0"/>
        </a:defRPr>
      </a:lvl4pPr>
      <a:lvl5pPr algn="ctr" defTabSz="457200" rtl="0" eaLnBrk="1" fontAlgn="base" hangingPunct="1">
        <a:spcBef>
          <a:spcPct val="0"/>
        </a:spcBef>
        <a:spcAft>
          <a:spcPct val="0"/>
        </a:spcAft>
        <a:defRPr sz="4400">
          <a:solidFill>
            <a:schemeClr val="tx1"/>
          </a:solidFill>
          <a:latin typeface="Calibri" pitchFamily="34" charset="0"/>
        </a:defRPr>
      </a:lvl5pPr>
      <a:lvl6pPr marL="457200" algn="ctr" defTabSz="457200" rtl="0" eaLnBrk="1" fontAlgn="base" hangingPunct="1">
        <a:spcBef>
          <a:spcPct val="0"/>
        </a:spcBef>
        <a:spcAft>
          <a:spcPct val="0"/>
        </a:spcAft>
        <a:defRPr sz="4400">
          <a:solidFill>
            <a:schemeClr val="tx1"/>
          </a:solidFill>
          <a:latin typeface="Calibri" pitchFamily="34" charset="0"/>
        </a:defRPr>
      </a:lvl6pPr>
      <a:lvl7pPr marL="914400" algn="ctr" defTabSz="457200" rtl="0" eaLnBrk="1" fontAlgn="base" hangingPunct="1">
        <a:spcBef>
          <a:spcPct val="0"/>
        </a:spcBef>
        <a:spcAft>
          <a:spcPct val="0"/>
        </a:spcAft>
        <a:defRPr sz="4400">
          <a:solidFill>
            <a:schemeClr val="tx1"/>
          </a:solidFill>
          <a:latin typeface="Calibri" pitchFamily="34" charset="0"/>
        </a:defRPr>
      </a:lvl7pPr>
      <a:lvl8pPr marL="1371600" algn="ctr" defTabSz="457200" rtl="0" eaLnBrk="1" fontAlgn="base" hangingPunct="1">
        <a:spcBef>
          <a:spcPct val="0"/>
        </a:spcBef>
        <a:spcAft>
          <a:spcPct val="0"/>
        </a:spcAft>
        <a:defRPr sz="4400">
          <a:solidFill>
            <a:schemeClr val="tx1"/>
          </a:solidFill>
          <a:latin typeface="Calibri" pitchFamily="34" charset="0"/>
        </a:defRPr>
      </a:lvl8pPr>
      <a:lvl9pPr marL="1828800" algn="ctr" defTabSz="457200" rtl="0" eaLnBrk="1" fontAlgn="base" hangingPunct="1">
        <a:spcBef>
          <a:spcPct val="0"/>
        </a:spcBef>
        <a:spcAft>
          <a:spcPct val="0"/>
        </a:spcAft>
        <a:defRPr sz="4400">
          <a:solidFill>
            <a:schemeClr val="tx1"/>
          </a:solidFill>
          <a:latin typeface="Calibri" pitchFamily="34" charset="0"/>
        </a:defRPr>
      </a:lvl9pPr>
    </p:titleStyle>
    <p:bodyStyle>
      <a:lvl1pPr marL="0" indent="0" algn="l" defTabSz="457200" rtl="0" eaLnBrk="1" fontAlgn="base" hangingPunct="1">
        <a:lnSpc>
          <a:spcPct val="100000"/>
        </a:lnSpc>
        <a:spcBef>
          <a:spcPts val="0"/>
        </a:spcBef>
        <a:spcAft>
          <a:spcPts val="700"/>
        </a:spcAft>
        <a:buFont typeface="Arial" charset="0"/>
        <a:buNone/>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515938" indent="-174625"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2pPr>
      <a:lvl3pPr marL="685800" indent="-169863" algn="l" defTabSz="457200" rtl="0" eaLnBrk="1" fontAlgn="base" hangingPunct="1">
        <a:lnSpc>
          <a:spcPct val="100000"/>
        </a:lnSpc>
        <a:spcBef>
          <a:spcPts val="0"/>
        </a:spcBef>
        <a:spcAft>
          <a:spcPts val="700"/>
        </a:spcAft>
        <a:buFont typeface="Arial"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3pPr>
      <a:lvl4pPr marL="855663" indent="-16986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4pPr>
      <a:lvl5pPr marL="1031875" indent="-176213" algn="l" defTabSz="457200" rtl="0" eaLnBrk="1" fontAlgn="base" hangingPunct="1">
        <a:lnSpc>
          <a:spcPct val="100000"/>
        </a:lnSpc>
        <a:spcBef>
          <a:spcPts val="0"/>
        </a:spcBef>
        <a:spcAft>
          <a:spcPts val="700"/>
        </a:spcAft>
        <a:buFont typeface="Arial" panose="020B0604020202020204" pitchFamily="34" charset="0"/>
        <a:buChar char="•"/>
        <a:defRPr sz="1800" b="0" i="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guide id="3" pos="288" userDrawn="1">
          <p15:clr>
            <a:srgbClr val="F26B43"/>
          </p15:clr>
        </p15:guide>
        <p15:guide id="4" orient="horz" pos="279" userDrawn="1">
          <p15:clr>
            <a:srgbClr val="F26B43"/>
          </p15:clr>
        </p15:guide>
        <p15:guide id="5" orient="horz" pos="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marriott.gcs-web.com/" TargetMode="External"/><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hyperlink" Target="https://ir.hilton.com/" TargetMode="External"/><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hyperlink" Target="https://investor.wyndhamhotels.com/" TargetMode="External"/><Relationship Id="rId5" Type="http://schemas.openxmlformats.org/officeDocument/2006/relationships/hyperlink" Target="https://www.ihgplc.com/en/investors" TargetMode="External"/><Relationship Id="rId4" Type="http://schemas.openxmlformats.org/officeDocument/2006/relationships/hyperlink" Target="https://investors.hyatt.com/overview/default.aspx"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9.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hyperlink" Target="https://fprod-hcs.foster.uw.edu/" TargetMode="External"/><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hyperlink" Target="https://cases.ashercurtis.me/BUS%20AN_500/Analytics_mindset_case_studies_PSU_Hotel_understanding_audit_analytics.pdf" TargetMode="External"/><Relationship Id="rId2" Type="http://schemas.openxmlformats.org/officeDocument/2006/relationships/notesSlide" Target="../notesSlides/notesSlide28.xml"/><Relationship Id="rId1" Type="http://schemas.openxmlformats.org/officeDocument/2006/relationships/slideLayout" Target="../slideLayouts/slideLayout6.xml"/><Relationship Id="rId5" Type="http://schemas.openxmlformats.org/officeDocument/2006/relationships/hyperlink" Target="https://cases.ashercurtis.me/BUS%20AN_500/Analytics_mindset_case_studies_PSU_Hotel_background.pdf" TargetMode="External"/><Relationship Id="rId4" Type="http://schemas.openxmlformats.org/officeDocument/2006/relationships/hyperlink" Target="https://cases.ashercurtis.me/BUS%20AN_500/Analytics_mindset_case_studies_PSU_Hotel_Revenue.pdf" TargetMode="Externa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26B0663-EF24-1647-73F5-01EDE88C8B76}"/>
              </a:ext>
            </a:extLst>
          </p:cNvPr>
          <p:cNvSpPr>
            <a:spLocks noGrp="1"/>
          </p:cNvSpPr>
          <p:nvPr>
            <p:ph type="subTitle" idx="1"/>
          </p:nvPr>
        </p:nvSpPr>
        <p:spPr>
          <a:xfrm>
            <a:off x="361951" y="3079957"/>
            <a:ext cx="7762875" cy="452688"/>
          </a:xfrm>
        </p:spPr>
        <p:txBody>
          <a:bodyPr/>
          <a:lstStyle/>
          <a:p>
            <a:r>
              <a:rPr lang="en-US" spc="0" dirty="0" err="1">
                <a:solidFill>
                  <a:schemeClr val="bg2">
                    <a:lumMod val="90000"/>
                  </a:schemeClr>
                </a:solidFill>
              </a:rPr>
              <a:t>Acctg</a:t>
            </a:r>
            <a:r>
              <a:rPr lang="en-US" spc="0" dirty="0">
                <a:solidFill>
                  <a:schemeClr val="bg2">
                    <a:lumMod val="90000"/>
                  </a:schemeClr>
                </a:solidFill>
              </a:rPr>
              <a:t> &amp; Fin | BUS AN 500 | Class 01</a:t>
            </a:r>
          </a:p>
          <a:p>
            <a:r>
              <a:rPr lang="en-US" dirty="0"/>
              <a:t>Spring </a:t>
            </a:r>
            <a:r>
              <a:rPr lang="en-US" dirty="0" err="1"/>
              <a:t>Qtr</a:t>
            </a:r>
            <a:r>
              <a:rPr lang="en-US" dirty="0"/>
              <a:t>   | 2026</a:t>
            </a:r>
            <a:endParaRPr lang="en-US" spc="0" dirty="0">
              <a:solidFill>
                <a:schemeClr val="bg2">
                  <a:lumMod val="90000"/>
                </a:schemeClr>
              </a:solidFill>
            </a:endParaRPr>
          </a:p>
        </p:txBody>
      </p:sp>
      <p:sp>
        <p:nvSpPr>
          <p:cNvPr id="3" name="Title 2">
            <a:extLst>
              <a:ext uri="{FF2B5EF4-FFF2-40B4-BE49-F238E27FC236}">
                <a16:creationId xmlns:a16="http://schemas.microsoft.com/office/drawing/2014/main" id="{6E1A986F-1CE3-AE6A-F426-F9525E84E6F9}"/>
              </a:ext>
            </a:extLst>
          </p:cNvPr>
          <p:cNvSpPr>
            <a:spLocks noGrp="1"/>
          </p:cNvSpPr>
          <p:nvPr>
            <p:ph type="title"/>
          </p:nvPr>
        </p:nvSpPr>
        <p:spPr>
          <a:xfrm>
            <a:off x="361951" y="1140965"/>
            <a:ext cx="8095065" cy="1938992"/>
          </a:xfrm>
        </p:spPr>
        <p:txBody>
          <a:bodyPr anchor="t"/>
          <a:lstStyle/>
          <a:p>
            <a:r>
              <a:rPr lang="en-US" sz="4400" dirty="0"/>
              <a:t>Introduction to Accounting and Finance Analytics</a:t>
            </a:r>
          </a:p>
        </p:txBody>
      </p:sp>
    </p:spTree>
    <p:extLst>
      <p:ext uri="{BB962C8B-B14F-4D97-AF65-F5344CB8AC3E}">
        <p14:creationId xmlns:p14="http://schemas.microsoft.com/office/powerpoint/2010/main" val="1539642645"/>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33DC0ED9-48FE-34EC-5ADA-355F4BC1D605}"/>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D5F9A17-21D2-BB20-F9BF-BAAE67C53CD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AEC3D1FA-978D-54C1-2B87-4B1136B2B60E}"/>
              </a:ext>
            </a:extLst>
          </p:cNvPr>
          <p:cNvSpPr>
            <a:spLocks noGrp="1"/>
          </p:cNvSpPr>
          <p:nvPr>
            <p:ph type="body" sz="quarter" idx="13"/>
          </p:nvPr>
        </p:nvSpPr>
        <p:spPr>
          <a:xfrm>
            <a:off x="470430" y="1085336"/>
            <a:ext cx="4872038" cy="3003406"/>
          </a:xfrm>
        </p:spPr>
        <p:txBody>
          <a:bodyPr/>
          <a:lstStyle/>
          <a:p>
            <a:pPr marL="285750" indent="-285750">
              <a:buFont typeface="Arial" panose="020B0604020202020204" pitchFamily="34" charset="0"/>
              <a:buChar char="•"/>
            </a:pPr>
            <a:r>
              <a:rPr lang="en-US" b="1" dirty="0">
                <a:solidFill>
                  <a:schemeClr val="tx2"/>
                </a:solidFill>
                <a:latin typeface="+mn-lt"/>
              </a:rPr>
              <a:t>Course Overview</a:t>
            </a:r>
          </a:p>
          <a:p>
            <a:pPr marL="285750" indent="-285750">
              <a:buFont typeface="Arial" panose="020B0604020202020204" pitchFamily="34" charset="0"/>
              <a:buChar char="•"/>
            </a:pPr>
            <a:r>
              <a:rPr lang="en-US" dirty="0">
                <a:latin typeface="+mn-lt"/>
              </a:rPr>
              <a:t>Introduction to Accounting &amp; Finance Analytics</a:t>
            </a:r>
          </a:p>
          <a:p>
            <a:pPr marL="801688" lvl="1" indent="-285750"/>
            <a:r>
              <a:rPr lang="en-US" dirty="0">
                <a:latin typeface="+mn-lt"/>
              </a:rPr>
              <a:t>Define the scope of the Accounting &amp; Finance Function</a:t>
            </a:r>
          </a:p>
          <a:p>
            <a:pPr marL="801688" lvl="1" indent="-285750"/>
            <a:r>
              <a:rPr lang="en-US" dirty="0">
                <a:latin typeface="+mn-lt"/>
              </a:rPr>
              <a:t>Analyze Public Disclosures</a:t>
            </a:r>
          </a:p>
          <a:p>
            <a:pPr marL="801688" lvl="1" indent="-285750"/>
            <a:r>
              <a:rPr lang="en-US" dirty="0">
                <a:latin typeface="+mn-lt"/>
              </a:rPr>
              <a:t>Analyze Transaction Level Data</a:t>
            </a:r>
          </a:p>
          <a:p>
            <a:pPr marL="801688" lvl="1" indent="-285750"/>
            <a:r>
              <a:rPr lang="en-US" dirty="0">
                <a:latin typeface="+mn-lt"/>
              </a:rPr>
              <a:t>Provide a Solution to Disclosure Decision</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77751441"/>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 illustrating progression from data analytics to agentic AI through automation and machine learning with generative AI. Four purple rounded rectangles contain white icons and labels: bar chart with magnifying glass for data analytics, gear for automation, human head with circuits for machine learning &amp; gen AI, and robot face for agentic AI, connected by rightward arrows.">
            <a:extLst>
              <a:ext uri="{FF2B5EF4-FFF2-40B4-BE49-F238E27FC236}">
                <a16:creationId xmlns:a16="http://schemas.microsoft.com/office/drawing/2014/main" id="{2D557AA9-8FEF-4C94-0D5E-108DEFD31931}"/>
              </a:ext>
            </a:extLst>
          </p:cNvPr>
          <p:cNvPicPr>
            <a:picLocks noChangeAspect="1"/>
          </p:cNvPicPr>
          <p:nvPr/>
        </p:nvPicPr>
        <p:blipFill>
          <a:blip r:embed="rId3"/>
          <a:srcRect t="23294" b="25622"/>
          <a:stretch/>
        </p:blipFill>
        <p:spPr>
          <a:xfrm>
            <a:off x="90488" y="840418"/>
            <a:ext cx="8963025" cy="3056263"/>
          </a:xfrm>
          <a:prstGeom prst="rect">
            <a:avLst/>
          </a:prstGeom>
          <a:noFill/>
        </p:spPr>
      </p:pic>
      <p:sp>
        <p:nvSpPr>
          <p:cNvPr id="8" name="Title 2">
            <a:extLst>
              <a:ext uri="{FF2B5EF4-FFF2-40B4-BE49-F238E27FC236}">
                <a16:creationId xmlns:a16="http://schemas.microsoft.com/office/drawing/2014/main" id="{8B02A910-3949-34FF-B07A-868F3898D15B}"/>
              </a:ext>
            </a:extLst>
          </p:cNvPr>
          <p:cNvSpPr>
            <a:spLocks noGrp="1"/>
          </p:cNvSpPr>
          <p:nvPr>
            <p:ph type="title"/>
          </p:nvPr>
        </p:nvSpPr>
        <p:spPr>
          <a:xfrm>
            <a:off x="417330" y="249687"/>
            <a:ext cx="4873022" cy="369332"/>
          </a:xfrm>
        </p:spPr>
        <p:txBody>
          <a:bodyPr/>
          <a:lstStyle/>
          <a:p>
            <a:r>
              <a:rPr lang="en-US" dirty="0"/>
              <a:t>Course Diagram</a:t>
            </a:r>
          </a:p>
        </p:txBody>
      </p:sp>
    </p:spTree>
    <p:extLst>
      <p:ext uri="{BB962C8B-B14F-4D97-AF65-F5344CB8AC3E}">
        <p14:creationId xmlns:p14="http://schemas.microsoft.com/office/powerpoint/2010/main" val="229647346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63CC153-2061-798D-7C8B-38C66B7AAD5E}"/>
              </a:ext>
            </a:extLst>
          </p:cNvPr>
          <p:cNvSpPr>
            <a:spLocks noGrp="1"/>
          </p:cNvSpPr>
          <p:nvPr>
            <p:ph type="title"/>
          </p:nvPr>
        </p:nvSpPr>
        <p:spPr/>
        <p:txBody>
          <a:bodyPr/>
          <a:lstStyle/>
          <a:p>
            <a:r>
              <a:rPr lang="en-US" dirty="0"/>
              <a:t>Course Overview</a:t>
            </a:r>
          </a:p>
        </p:txBody>
      </p:sp>
      <p:pic>
        <p:nvPicPr>
          <p:cNvPr id="8" name="Picture 7" descr="Screenshot of an online course overview page titled &quot;Accounting and Finance,&quot; detailing how business analytics transforms accounting processes through data, automation, and AI. The layout includes six labeled sections—Syllabus, Course Overview, Deliverables, Key Terms, FAQs, and Video Materials—each with brief descriptions and purple icons on a white background.">
            <a:extLst>
              <a:ext uri="{FF2B5EF4-FFF2-40B4-BE49-F238E27FC236}">
                <a16:creationId xmlns:a16="http://schemas.microsoft.com/office/drawing/2014/main" id="{0BEA38A3-6F61-5191-4CC3-DFEC95C42E0F}"/>
              </a:ext>
            </a:extLst>
          </p:cNvPr>
          <p:cNvPicPr>
            <a:picLocks noChangeAspect="1"/>
          </p:cNvPicPr>
          <p:nvPr/>
        </p:nvPicPr>
        <p:blipFill>
          <a:blip r:embed="rId3"/>
          <a:stretch>
            <a:fillRect/>
          </a:stretch>
        </p:blipFill>
        <p:spPr>
          <a:xfrm>
            <a:off x="1515430" y="809708"/>
            <a:ext cx="5022767" cy="3927756"/>
          </a:xfrm>
          <a:prstGeom prst="rect">
            <a:avLst/>
          </a:prstGeom>
        </p:spPr>
      </p:pic>
    </p:spTree>
    <p:extLst>
      <p:ext uri="{BB962C8B-B14F-4D97-AF65-F5344CB8AC3E}">
        <p14:creationId xmlns:p14="http://schemas.microsoft.com/office/powerpoint/2010/main" val="197505227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732E0-F0A0-D222-3B99-DF9E8DA13D3F}"/>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EC3A566-7A75-745A-B074-5307C2D371EC}"/>
              </a:ext>
              <a:ext uri="{C183D7F6-B498-43B3-948B-1728B52AA6E4}">
                <adec:decorative xmlns:adec="http://schemas.microsoft.com/office/drawing/2017/decorative" val="1"/>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4E20EA14-2E6B-FF7B-823B-C609602B4ADC}"/>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0FA18D66-4E78-05B1-F46C-4BF39355CE1E}"/>
              </a:ext>
            </a:extLst>
          </p:cNvPr>
          <p:cNvSpPr>
            <a:spLocks noGrp="1"/>
          </p:cNvSpPr>
          <p:nvPr>
            <p:ph type="body" sz="quarter" idx="13"/>
          </p:nvPr>
        </p:nvSpPr>
        <p:spPr>
          <a:xfrm>
            <a:off x="470430" y="1085336"/>
            <a:ext cx="4872038" cy="3003406"/>
          </a:xfrm>
        </p:spPr>
        <p:txBody>
          <a:bodyPr/>
          <a:lstStyle/>
          <a:p>
            <a:pPr marL="285750" indent="-285750">
              <a:buFont typeface="Arial" panose="020B0604020202020204" pitchFamily="34" charset="0"/>
              <a:buChar char="•"/>
            </a:pPr>
            <a:r>
              <a:rPr lang="en-US" dirty="0">
                <a:solidFill>
                  <a:schemeClr val="tx1">
                    <a:lumMod val="50000"/>
                    <a:lumOff val="50000"/>
                  </a:schemeClr>
                </a:solidFill>
                <a:latin typeface="+mn-lt"/>
              </a:rPr>
              <a:t>Course Overview</a:t>
            </a:r>
          </a:p>
          <a:p>
            <a:pPr marL="285750" indent="-285750">
              <a:buFont typeface="Arial" panose="020B0604020202020204" pitchFamily="34" charset="0"/>
              <a:buChar char="•"/>
            </a:pPr>
            <a:r>
              <a:rPr lang="en-US" b="1" dirty="0">
                <a:solidFill>
                  <a:schemeClr val="tx2"/>
                </a:solidFill>
                <a:latin typeface="+mn-lt"/>
              </a:rPr>
              <a:t>Introduction to Accounting &amp; Finance Analytics</a:t>
            </a:r>
          </a:p>
          <a:p>
            <a:pPr marL="801688" lvl="1" indent="-285750"/>
            <a:r>
              <a:rPr lang="en-US" b="1" dirty="0">
                <a:solidFill>
                  <a:schemeClr val="tx2"/>
                </a:solidFill>
                <a:latin typeface="+mn-lt"/>
              </a:rPr>
              <a:t>Define the scope of the Accounting &amp; Finance Function</a:t>
            </a:r>
          </a:p>
          <a:p>
            <a:pPr marL="801688" lvl="1" indent="-285750"/>
            <a:r>
              <a:rPr lang="en-US" dirty="0">
                <a:latin typeface="+mn-lt"/>
              </a:rPr>
              <a:t>Analyze Public Disclosures</a:t>
            </a:r>
          </a:p>
          <a:p>
            <a:pPr marL="801688" lvl="1" indent="-285750"/>
            <a:r>
              <a:rPr lang="en-US" dirty="0">
                <a:latin typeface="+mn-lt"/>
              </a:rPr>
              <a:t>Analyze Transaction Level Data</a:t>
            </a:r>
          </a:p>
          <a:p>
            <a:pPr marL="801688" lvl="1" indent="-285750"/>
            <a:r>
              <a:rPr lang="en-US" dirty="0">
                <a:latin typeface="+mn-lt"/>
              </a:rPr>
              <a:t>Provide a Solution to Disclosure Decision</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88436178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CFCA4-BD65-2F67-8233-35293FA960AD}"/>
              </a:ext>
            </a:extLst>
          </p:cNvPr>
          <p:cNvSpPr>
            <a:spLocks noGrp="1"/>
          </p:cNvSpPr>
          <p:nvPr>
            <p:ph type="title"/>
          </p:nvPr>
        </p:nvSpPr>
        <p:spPr/>
        <p:txBody>
          <a:bodyPr/>
          <a:lstStyle/>
          <a:p>
            <a:r>
              <a:rPr lang="en-US" dirty="0"/>
              <a:t>Accounting &amp; Finance Function</a:t>
            </a:r>
          </a:p>
        </p:txBody>
      </p:sp>
      <p:sp>
        <p:nvSpPr>
          <p:cNvPr id="4" name="TextBox 3">
            <a:extLst>
              <a:ext uri="{FF2B5EF4-FFF2-40B4-BE49-F238E27FC236}">
                <a16:creationId xmlns:a16="http://schemas.microsoft.com/office/drawing/2014/main" id="{BD31F34E-68A4-D7ED-21E4-212C0E0F59EE}"/>
              </a:ext>
            </a:extLst>
          </p:cNvPr>
          <p:cNvSpPr txBox="1"/>
          <p:nvPr/>
        </p:nvSpPr>
        <p:spPr>
          <a:xfrm>
            <a:off x="3937980" y="1295400"/>
            <a:ext cx="1268039" cy="707886"/>
          </a:xfrm>
          <a:prstGeom prst="rect">
            <a:avLst/>
          </a:prstGeom>
          <a:solidFill>
            <a:schemeClr val="tx2"/>
          </a:solidFill>
          <a:ln>
            <a:solidFill>
              <a:schemeClr val="tx2"/>
            </a:solidFill>
          </a:ln>
        </p:spPr>
        <p:txBody>
          <a:bodyPr wrap="none" rtlCol="0">
            <a:spAutoFit/>
          </a:bodyPr>
          <a:lstStyle/>
          <a:p>
            <a:pPr algn="ctr" defTabSz="914400" fontAlgn="auto">
              <a:spcBef>
                <a:spcPts val="0"/>
              </a:spcBef>
              <a:spcAft>
                <a:spcPts val="0"/>
              </a:spcAft>
            </a:pPr>
            <a:r>
              <a:rPr lang="en-US" sz="4000" b="1" dirty="0">
                <a:solidFill>
                  <a:srgbClr val="C09F29"/>
                </a:solidFill>
                <a:latin typeface="Helvetica Neue"/>
                <a:cs typeface="Helvetica Neue"/>
              </a:rPr>
              <a:t>CFO</a:t>
            </a:r>
          </a:p>
        </p:txBody>
      </p:sp>
      <p:sp>
        <p:nvSpPr>
          <p:cNvPr id="5" name="Rectangle 4">
            <a:extLst>
              <a:ext uri="{FF2B5EF4-FFF2-40B4-BE49-F238E27FC236}">
                <a16:creationId xmlns:a16="http://schemas.microsoft.com/office/drawing/2014/main" id="{AD4A91D3-834C-52C1-EDB6-3002B9465289}"/>
              </a:ext>
            </a:extLst>
          </p:cNvPr>
          <p:cNvSpPr/>
          <p:nvPr/>
        </p:nvSpPr>
        <p:spPr>
          <a:xfrm>
            <a:off x="92649" y="2393390"/>
            <a:ext cx="1475569"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C09F29"/>
                </a:solidFill>
                <a:effectLst/>
                <a:uLnTx/>
                <a:uFillTx/>
                <a:latin typeface="Helvetica Neue Light"/>
                <a:ea typeface="+mn-ea"/>
                <a:cs typeface="Helvetica Neue Light"/>
              </a:rPr>
              <a:t>Controller (CAO)</a:t>
            </a:r>
          </a:p>
        </p:txBody>
      </p:sp>
      <p:cxnSp>
        <p:nvCxnSpPr>
          <p:cNvPr id="7" name="Elbow Connector 7">
            <a:extLst>
              <a:ext uri="{FF2B5EF4-FFF2-40B4-BE49-F238E27FC236}">
                <a16:creationId xmlns:a16="http://schemas.microsoft.com/office/drawing/2014/main" id="{A2846172-3AFE-B6AF-8194-F0A231646A3E}"/>
              </a:ext>
            </a:extLst>
          </p:cNvPr>
          <p:cNvCxnSpPr>
            <a:cxnSpLocks/>
          </p:cNvCxnSpPr>
          <p:nvPr/>
        </p:nvCxnSpPr>
        <p:spPr>
          <a:xfrm rot="5400000">
            <a:off x="2528669" y="350060"/>
            <a:ext cx="345095" cy="3741564"/>
          </a:xfrm>
          <a:prstGeom prst="bentConnector3">
            <a:avLst/>
          </a:prstGeom>
          <a:noFill/>
          <a:ln w="19050" cap="flat" cmpd="sng" algn="ctr">
            <a:solidFill>
              <a:schemeClr val="tx2"/>
            </a:solidFill>
            <a:prstDash val="solid"/>
          </a:ln>
          <a:effectLst/>
        </p:spPr>
      </p:cxnSp>
      <p:cxnSp>
        <p:nvCxnSpPr>
          <p:cNvPr id="8" name="Elbow Connector 9">
            <a:extLst>
              <a:ext uri="{FF2B5EF4-FFF2-40B4-BE49-F238E27FC236}">
                <a16:creationId xmlns:a16="http://schemas.microsoft.com/office/drawing/2014/main" id="{FDC9F373-A3FF-10C7-13B7-25F024540EDD}"/>
              </a:ext>
            </a:extLst>
          </p:cNvPr>
          <p:cNvCxnSpPr>
            <a:cxnSpLocks/>
          </p:cNvCxnSpPr>
          <p:nvPr/>
        </p:nvCxnSpPr>
        <p:spPr>
          <a:xfrm rot="16200000" flipH="1">
            <a:off x="6279319" y="119865"/>
            <a:ext cx="390104" cy="3804744"/>
          </a:xfrm>
          <a:prstGeom prst="bentConnector2">
            <a:avLst/>
          </a:prstGeom>
          <a:noFill/>
          <a:ln w="19050" cap="flat" cmpd="sng" algn="ctr">
            <a:solidFill>
              <a:schemeClr val="tx2"/>
            </a:solidFill>
            <a:prstDash val="solid"/>
          </a:ln>
          <a:effectLst/>
        </p:spPr>
      </p:cxnSp>
      <p:sp>
        <p:nvSpPr>
          <p:cNvPr id="11" name="Rectangle 10">
            <a:extLst>
              <a:ext uri="{FF2B5EF4-FFF2-40B4-BE49-F238E27FC236}">
                <a16:creationId xmlns:a16="http://schemas.microsoft.com/office/drawing/2014/main" id="{DBFDE1CF-C854-8B16-DED1-495DA2F6086C}"/>
              </a:ext>
            </a:extLst>
          </p:cNvPr>
          <p:cNvSpPr/>
          <p:nvPr/>
        </p:nvSpPr>
        <p:spPr>
          <a:xfrm>
            <a:off x="1860651" y="2393390"/>
            <a:ext cx="1475569"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C09F29"/>
                </a:solidFill>
                <a:effectLst/>
                <a:uLnTx/>
                <a:uFillTx/>
                <a:latin typeface="Helvetica Neue Light"/>
                <a:ea typeface="+mn-ea"/>
                <a:cs typeface="Helvetica Neue Light"/>
              </a:rPr>
              <a:t>Treasurer</a:t>
            </a:r>
          </a:p>
        </p:txBody>
      </p:sp>
      <p:sp>
        <p:nvSpPr>
          <p:cNvPr id="12" name="Rectangle 11">
            <a:extLst>
              <a:ext uri="{FF2B5EF4-FFF2-40B4-BE49-F238E27FC236}">
                <a16:creationId xmlns:a16="http://schemas.microsoft.com/office/drawing/2014/main" id="{2A1BF7AA-A893-5722-9688-CE8868B38AA6}"/>
              </a:ext>
            </a:extLst>
          </p:cNvPr>
          <p:cNvSpPr/>
          <p:nvPr/>
        </p:nvSpPr>
        <p:spPr>
          <a:xfrm>
            <a:off x="3838823" y="2393390"/>
            <a:ext cx="1475569"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C09F29"/>
                </a:solidFill>
                <a:effectLst/>
                <a:uLnTx/>
                <a:uFillTx/>
                <a:latin typeface="Helvetica Neue Light"/>
                <a:ea typeface="+mn-ea"/>
                <a:cs typeface="Helvetica Neue Light"/>
              </a:rPr>
              <a:t>Director FP&amp;A</a:t>
            </a:r>
          </a:p>
        </p:txBody>
      </p:sp>
      <p:sp>
        <p:nvSpPr>
          <p:cNvPr id="13" name="Rectangle 12">
            <a:extLst>
              <a:ext uri="{FF2B5EF4-FFF2-40B4-BE49-F238E27FC236}">
                <a16:creationId xmlns:a16="http://schemas.microsoft.com/office/drawing/2014/main" id="{0AB668CD-11E4-43C5-F8A4-02210F88D184}"/>
              </a:ext>
            </a:extLst>
          </p:cNvPr>
          <p:cNvSpPr/>
          <p:nvPr/>
        </p:nvSpPr>
        <p:spPr>
          <a:xfrm>
            <a:off x="5765602" y="2393390"/>
            <a:ext cx="1475569"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C09F29"/>
                </a:solidFill>
                <a:effectLst/>
                <a:uLnTx/>
                <a:uFillTx/>
                <a:latin typeface="Helvetica Neue Light"/>
                <a:ea typeface="+mn-ea"/>
                <a:cs typeface="Helvetica Neue Light"/>
              </a:rPr>
              <a:t>Director IA</a:t>
            </a:r>
          </a:p>
        </p:txBody>
      </p:sp>
      <p:sp>
        <p:nvSpPr>
          <p:cNvPr id="14" name="Rectangle 13">
            <a:extLst>
              <a:ext uri="{FF2B5EF4-FFF2-40B4-BE49-F238E27FC236}">
                <a16:creationId xmlns:a16="http://schemas.microsoft.com/office/drawing/2014/main" id="{39602EC5-0A12-C1D6-6E86-D97EAB187BCE}"/>
              </a:ext>
            </a:extLst>
          </p:cNvPr>
          <p:cNvSpPr/>
          <p:nvPr/>
        </p:nvSpPr>
        <p:spPr>
          <a:xfrm>
            <a:off x="7575781" y="2393390"/>
            <a:ext cx="1475569"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rgbClr val="C09F29"/>
                </a:solidFill>
                <a:effectLst/>
                <a:uLnTx/>
                <a:uFillTx/>
                <a:latin typeface="Helvetica Neue Light"/>
                <a:ea typeface="+mn-ea"/>
                <a:cs typeface="Helvetica Neue Light"/>
              </a:rPr>
              <a:t>Director GRC</a:t>
            </a:r>
          </a:p>
        </p:txBody>
      </p:sp>
      <p:cxnSp>
        <p:nvCxnSpPr>
          <p:cNvPr id="18" name="Straight Connector 17">
            <a:extLst>
              <a:ext uri="{FF2B5EF4-FFF2-40B4-BE49-F238E27FC236}">
                <a16:creationId xmlns:a16="http://schemas.microsoft.com/office/drawing/2014/main" id="{A77DAB12-381D-6CED-0281-076C998C2ED2}"/>
              </a:ext>
            </a:extLst>
          </p:cNvPr>
          <p:cNvCxnSpPr>
            <a:cxnSpLocks/>
            <a:endCxn id="11" idx="0"/>
          </p:cNvCxnSpPr>
          <p:nvPr/>
        </p:nvCxnSpPr>
        <p:spPr>
          <a:xfrm>
            <a:off x="2598436" y="2217289"/>
            <a:ext cx="0" cy="176101"/>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D88BEEA2-990F-8951-A18D-CFE91CE39AD4}"/>
              </a:ext>
            </a:extLst>
          </p:cNvPr>
          <p:cNvCxnSpPr>
            <a:cxnSpLocks/>
          </p:cNvCxnSpPr>
          <p:nvPr/>
        </p:nvCxnSpPr>
        <p:spPr>
          <a:xfrm>
            <a:off x="4565288" y="2217289"/>
            <a:ext cx="0" cy="176101"/>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DCA9D099-0BCC-75FF-97D0-57840DF64B86}"/>
              </a:ext>
            </a:extLst>
          </p:cNvPr>
          <p:cNvCxnSpPr>
            <a:cxnSpLocks/>
          </p:cNvCxnSpPr>
          <p:nvPr/>
        </p:nvCxnSpPr>
        <p:spPr>
          <a:xfrm>
            <a:off x="6503386" y="2217289"/>
            <a:ext cx="0" cy="176101"/>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191A01A0-8356-9D5F-65BB-6833FA4E6072}"/>
              </a:ext>
            </a:extLst>
          </p:cNvPr>
          <p:cNvCxnSpPr>
            <a:cxnSpLocks/>
          </p:cNvCxnSpPr>
          <p:nvPr/>
        </p:nvCxnSpPr>
        <p:spPr>
          <a:xfrm>
            <a:off x="8371149" y="2217288"/>
            <a:ext cx="0" cy="176101"/>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1621B10A-B044-088E-57DF-2EEA99579853}"/>
              </a:ext>
            </a:extLst>
          </p:cNvPr>
          <p:cNvSpPr txBox="1"/>
          <p:nvPr/>
        </p:nvSpPr>
        <p:spPr>
          <a:xfrm>
            <a:off x="92649" y="3103275"/>
            <a:ext cx="1475569" cy="1600438"/>
          </a:xfrm>
          <a:prstGeom prst="rect">
            <a:avLst/>
          </a:prstGeom>
          <a:noFill/>
        </p:spPr>
        <p:txBody>
          <a:bodyPr wrap="square" rtlCol="0">
            <a:spAutoFit/>
          </a:bodyPr>
          <a:lstStyle/>
          <a:p>
            <a:r>
              <a:rPr lang="en-US" sz="1400" dirty="0">
                <a:latin typeface="+mn-lt"/>
              </a:rPr>
              <a:t>Financial Reporting</a:t>
            </a:r>
          </a:p>
          <a:p>
            <a:r>
              <a:rPr lang="en-US" sz="1400" dirty="0">
                <a:latin typeface="+mn-lt"/>
              </a:rPr>
              <a:t>Accounting</a:t>
            </a:r>
          </a:p>
          <a:p>
            <a:r>
              <a:rPr lang="en-US" sz="1400" dirty="0">
                <a:latin typeface="+mn-lt"/>
              </a:rPr>
              <a:t>Payroll</a:t>
            </a:r>
          </a:p>
          <a:p>
            <a:r>
              <a:rPr lang="en-US" sz="1400" dirty="0">
                <a:latin typeface="+mn-lt"/>
              </a:rPr>
              <a:t>External payments</a:t>
            </a:r>
          </a:p>
          <a:p>
            <a:pPr marL="285750" indent="-285750">
              <a:buFont typeface="Arial" panose="020B0604020202020204" pitchFamily="34" charset="0"/>
              <a:buChar char="•"/>
            </a:pPr>
            <a:endParaRPr lang="en-US" sz="1400" dirty="0">
              <a:latin typeface="+mn-lt"/>
            </a:endParaRPr>
          </a:p>
        </p:txBody>
      </p:sp>
      <p:sp>
        <p:nvSpPr>
          <p:cNvPr id="26" name="TextBox 25">
            <a:extLst>
              <a:ext uri="{FF2B5EF4-FFF2-40B4-BE49-F238E27FC236}">
                <a16:creationId xmlns:a16="http://schemas.microsoft.com/office/drawing/2014/main" id="{FF32E7FA-8E5D-F390-0A7D-199C09C447F8}"/>
              </a:ext>
            </a:extLst>
          </p:cNvPr>
          <p:cNvSpPr txBox="1"/>
          <p:nvPr/>
        </p:nvSpPr>
        <p:spPr>
          <a:xfrm>
            <a:off x="1860651" y="3137026"/>
            <a:ext cx="1475569" cy="1384995"/>
          </a:xfrm>
          <a:prstGeom prst="rect">
            <a:avLst/>
          </a:prstGeom>
          <a:noFill/>
        </p:spPr>
        <p:txBody>
          <a:bodyPr wrap="square" rtlCol="0">
            <a:spAutoFit/>
          </a:bodyPr>
          <a:lstStyle/>
          <a:p>
            <a:r>
              <a:rPr lang="en-US" sz="1400" dirty="0">
                <a:latin typeface="+mn-lt"/>
              </a:rPr>
              <a:t>Cash Mngt.</a:t>
            </a:r>
          </a:p>
          <a:p>
            <a:r>
              <a:rPr lang="en-US" sz="1400" dirty="0">
                <a:latin typeface="+mn-lt"/>
              </a:rPr>
              <a:t>Investment</a:t>
            </a:r>
          </a:p>
          <a:p>
            <a:r>
              <a:rPr lang="en-US" sz="1400" dirty="0">
                <a:latin typeface="+mn-lt"/>
              </a:rPr>
              <a:t>Corporate Finance</a:t>
            </a:r>
          </a:p>
          <a:p>
            <a:r>
              <a:rPr lang="en-US" sz="1400" dirty="0">
                <a:latin typeface="+mn-lt"/>
              </a:rPr>
              <a:t>Debt Mngt.</a:t>
            </a:r>
          </a:p>
          <a:p>
            <a:pPr marL="285750" indent="-285750">
              <a:buFont typeface="Arial" panose="020B0604020202020204" pitchFamily="34" charset="0"/>
              <a:buChar char="•"/>
            </a:pPr>
            <a:endParaRPr lang="en-US" sz="1400" dirty="0">
              <a:latin typeface="+mn-lt"/>
            </a:endParaRPr>
          </a:p>
        </p:txBody>
      </p:sp>
      <p:sp>
        <p:nvSpPr>
          <p:cNvPr id="27" name="TextBox 26">
            <a:extLst>
              <a:ext uri="{FF2B5EF4-FFF2-40B4-BE49-F238E27FC236}">
                <a16:creationId xmlns:a16="http://schemas.microsoft.com/office/drawing/2014/main" id="{CEA5748C-367B-18DE-55F9-CD6523EB4FAF}"/>
              </a:ext>
            </a:extLst>
          </p:cNvPr>
          <p:cNvSpPr txBox="1"/>
          <p:nvPr/>
        </p:nvSpPr>
        <p:spPr>
          <a:xfrm>
            <a:off x="3827503" y="3203559"/>
            <a:ext cx="1475569" cy="738664"/>
          </a:xfrm>
          <a:prstGeom prst="rect">
            <a:avLst/>
          </a:prstGeom>
          <a:noFill/>
        </p:spPr>
        <p:txBody>
          <a:bodyPr wrap="square" rtlCol="0">
            <a:spAutoFit/>
          </a:bodyPr>
          <a:lstStyle/>
          <a:p>
            <a:r>
              <a:rPr lang="en-US" sz="1400" dirty="0">
                <a:latin typeface="+mn-lt"/>
              </a:rPr>
              <a:t>Financial Planning and Analysis</a:t>
            </a:r>
          </a:p>
        </p:txBody>
      </p:sp>
      <p:sp>
        <p:nvSpPr>
          <p:cNvPr id="28" name="TextBox 27">
            <a:extLst>
              <a:ext uri="{FF2B5EF4-FFF2-40B4-BE49-F238E27FC236}">
                <a16:creationId xmlns:a16="http://schemas.microsoft.com/office/drawing/2014/main" id="{1A99AA65-9DA1-D182-6848-CBA7D753F130}"/>
              </a:ext>
            </a:extLst>
          </p:cNvPr>
          <p:cNvSpPr txBox="1"/>
          <p:nvPr/>
        </p:nvSpPr>
        <p:spPr>
          <a:xfrm>
            <a:off x="5866215" y="3137026"/>
            <a:ext cx="1475569" cy="523220"/>
          </a:xfrm>
          <a:prstGeom prst="rect">
            <a:avLst/>
          </a:prstGeom>
          <a:noFill/>
        </p:spPr>
        <p:txBody>
          <a:bodyPr wrap="square" rtlCol="0">
            <a:spAutoFit/>
          </a:bodyPr>
          <a:lstStyle/>
          <a:p>
            <a:r>
              <a:rPr lang="en-US" sz="1400" dirty="0">
                <a:latin typeface="+mn-lt"/>
              </a:rPr>
              <a:t>Internal Audit</a:t>
            </a:r>
          </a:p>
          <a:p>
            <a:pPr marL="285750" indent="-285750">
              <a:buFont typeface="Arial" panose="020B0604020202020204" pitchFamily="34" charset="0"/>
              <a:buChar char="•"/>
            </a:pPr>
            <a:endParaRPr lang="en-US" sz="1400" dirty="0">
              <a:latin typeface="+mn-lt"/>
            </a:endParaRPr>
          </a:p>
        </p:txBody>
      </p:sp>
      <p:sp>
        <p:nvSpPr>
          <p:cNvPr id="29" name="TextBox 28">
            <a:extLst>
              <a:ext uri="{FF2B5EF4-FFF2-40B4-BE49-F238E27FC236}">
                <a16:creationId xmlns:a16="http://schemas.microsoft.com/office/drawing/2014/main" id="{A5BFBA8D-E78E-AC4E-1D7F-723039F6176F}"/>
              </a:ext>
            </a:extLst>
          </p:cNvPr>
          <p:cNvSpPr txBox="1"/>
          <p:nvPr/>
        </p:nvSpPr>
        <p:spPr>
          <a:xfrm>
            <a:off x="7608944" y="3137026"/>
            <a:ext cx="1475569" cy="954107"/>
          </a:xfrm>
          <a:prstGeom prst="rect">
            <a:avLst/>
          </a:prstGeom>
          <a:noFill/>
        </p:spPr>
        <p:txBody>
          <a:bodyPr wrap="square" rtlCol="0">
            <a:spAutoFit/>
          </a:bodyPr>
          <a:lstStyle/>
          <a:p>
            <a:r>
              <a:rPr lang="en-US" sz="1400" dirty="0">
                <a:latin typeface="+mn-lt"/>
              </a:rPr>
              <a:t>Governance Risk and Compliance</a:t>
            </a:r>
          </a:p>
          <a:p>
            <a:pPr marL="285750" indent="-285750">
              <a:buFont typeface="Arial" panose="020B0604020202020204" pitchFamily="34" charset="0"/>
              <a:buChar char="•"/>
            </a:pPr>
            <a:endParaRPr lang="en-US" sz="1400" dirty="0">
              <a:latin typeface="+mn-lt"/>
            </a:endParaRPr>
          </a:p>
        </p:txBody>
      </p:sp>
    </p:spTree>
    <p:extLst>
      <p:ext uri="{BB962C8B-B14F-4D97-AF65-F5344CB8AC3E}">
        <p14:creationId xmlns:p14="http://schemas.microsoft.com/office/powerpoint/2010/main" val="11346307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4" fill="hold" grpId="0" nodeType="withEffect">
                                  <p:stCondLst>
                                    <p:cond delay="0"/>
                                  </p:stCondLst>
                                  <p:childTnLst>
                                    <p:animEffect transition="out" filter="wipe(down)">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22" presetClass="exit" presetSubtype="4" fill="hold" nodeType="withEffect">
                                  <p:stCondLst>
                                    <p:cond delay="0"/>
                                  </p:stCondLst>
                                  <p:childTnLst>
                                    <p:animEffect transition="out" filter="wipe(down)">
                                      <p:cBhvr>
                                        <p:cTn id="9" dur="500"/>
                                        <p:tgtEl>
                                          <p:spTgt spid="7"/>
                                        </p:tgtEl>
                                      </p:cBhvr>
                                    </p:animEffect>
                                    <p:set>
                                      <p:cBhvr>
                                        <p:cTn id="10" dur="1" fill="hold">
                                          <p:stCondLst>
                                            <p:cond delay="499"/>
                                          </p:stCondLst>
                                        </p:cTn>
                                        <p:tgtEl>
                                          <p:spTgt spid="7"/>
                                        </p:tgtEl>
                                        <p:attrNameLst>
                                          <p:attrName>style.visibility</p:attrName>
                                        </p:attrNameLst>
                                      </p:cBhvr>
                                      <p:to>
                                        <p:strVal val="hidden"/>
                                      </p:to>
                                    </p:set>
                                  </p:childTnLst>
                                </p:cTn>
                              </p:par>
                              <p:par>
                                <p:cTn id="11" presetID="22" presetClass="exit" presetSubtype="4" fill="hold" nodeType="withEffect">
                                  <p:stCondLst>
                                    <p:cond delay="0"/>
                                  </p:stCondLst>
                                  <p:childTnLst>
                                    <p:animEffect transition="out" filter="wipe(down)">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par>
                                <p:cTn id="14" presetID="22" presetClass="exit" presetSubtype="4" fill="hold" grpId="0" nodeType="withEffect">
                                  <p:stCondLst>
                                    <p:cond delay="0"/>
                                  </p:stCondLst>
                                  <p:childTnLst>
                                    <p:animEffect transition="out" filter="wipe(down)">
                                      <p:cBhvr>
                                        <p:cTn id="15" dur="500"/>
                                        <p:tgtEl>
                                          <p:spTgt spid="11"/>
                                        </p:tgtEl>
                                      </p:cBhvr>
                                    </p:animEffect>
                                    <p:set>
                                      <p:cBhvr>
                                        <p:cTn id="16" dur="1" fill="hold">
                                          <p:stCondLst>
                                            <p:cond delay="499"/>
                                          </p:stCondLst>
                                        </p:cTn>
                                        <p:tgtEl>
                                          <p:spTgt spid="11"/>
                                        </p:tgtEl>
                                        <p:attrNameLst>
                                          <p:attrName>style.visibility</p:attrName>
                                        </p:attrNameLst>
                                      </p:cBhvr>
                                      <p:to>
                                        <p:strVal val="hidden"/>
                                      </p:to>
                                    </p:set>
                                  </p:childTnLst>
                                </p:cTn>
                              </p:par>
                              <p:par>
                                <p:cTn id="17" presetID="22" presetClass="exit" presetSubtype="4" fill="hold" grpId="0" nodeType="withEffect">
                                  <p:stCondLst>
                                    <p:cond delay="0"/>
                                  </p:stCondLst>
                                  <p:childTnLst>
                                    <p:animEffect transition="out" filter="wipe(down)">
                                      <p:cBhvr>
                                        <p:cTn id="18" dur="500"/>
                                        <p:tgtEl>
                                          <p:spTgt spid="12"/>
                                        </p:tgtEl>
                                      </p:cBhvr>
                                    </p:animEffect>
                                    <p:set>
                                      <p:cBhvr>
                                        <p:cTn id="19" dur="1" fill="hold">
                                          <p:stCondLst>
                                            <p:cond delay="499"/>
                                          </p:stCondLst>
                                        </p:cTn>
                                        <p:tgtEl>
                                          <p:spTgt spid="12"/>
                                        </p:tgtEl>
                                        <p:attrNameLst>
                                          <p:attrName>style.visibility</p:attrName>
                                        </p:attrNameLst>
                                      </p:cBhvr>
                                      <p:to>
                                        <p:strVal val="hidden"/>
                                      </p:to>
                                    </p:set>
                                  </p:childTnLst>
                                </p:cTn>
                              </p:par>
                              <p:par>
                                <p:cTn id="20" presetID="22" presetClass="exit" presetSubtype="4" fill="hold" grpId="0" nodeType="withEffect">
                                  <p:stCondLst>
                                    <p:cond delay="0"/>
                                  </p:stCondLst>
                                  <p:childTnLst>
                                    <p:animEffect transition="out" filter="wipe(down)">
                                      <p:cBhvr>
                                        <p:cTn id="21" dur="500"/>
                                        <p:tgtEl>
                                          <p:spTgt spid="13"/>
                                        </p:tgtEl>
                                      </p:cBhvr>
                                    </p:animEffect>
                                    <p:set>
                                      <p:cBhvr>
                                        <p:cTn id="22" dur="1" fill="hold">
                                          <p:stCondLst>
                                            <p:cond delay="499"/>
                                          </p:stCondLst>
                                        </p:cTn>
                                        <p:tgtEl>
                                          <p:spTgt spid="13"/>
                                        </p:tgtEl>
                                        <p:attrNameLst>
                                          <p:attrName>style.visibility</p:attrName>
                                        </p:attrNameLst>
                                      </p:cBhvr>
                                      <p:to>
                                        <p:strVal val="hidden"/>
                                      </p:to>
                                    </p:set>
                                  </p:childTnLst>
                                </p:cTn>
                              </p:par>
                              <p:par>
                                <p:cTn id="23" presetID="22" presetClass="exit" presetSubtype="4" fill="hold" grpId="0" nodeType="withEffect">
                                  <p:stCondLst>
                                    <p:cond delay="0"/>
                                  </p:stCondLst>
                                  <p:childTnLst>
                                    <p:animEffect transition="out" filter="wipe(down)">
                                      <p:cBhvr>
                                        <p:cTn id="24" dur="500"/>
                                        <p:tgtEl>
                                          <p:spTgt spid="14"/>
                                        </p:tgtEl>
                                      </p:cBhvr>
                                    </p:animEffect>
                                    <p:set>
                                      <p:cBhvr>
                                        <p:cTn id="2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2AD7-FD9D-3E4D-276F-F443E2AD95C7}"/>
              </a:ext>
            </a:extLst>
          </p:cNvPr>
          <p:cNvSpPr>
            <a:spLocks noGrp="1"/>
          </p:cNvSpPr>
          <p:nvPr>
            <p:ph type="title"/>
          </p:nvPr>
        </p:nvSpPr>
        <p:spPr>
          <a:xfrm>
            <a:off x="469445" y="406036"/>
            <a:ext cx="6978414" cy="369332"/>
          </a:xfrm>
        </p:spPr>
        <p:txBody>
          <a:bodyPr/>
          <a:lstStyle/>
          <a:p>
            <a:r>
              <a:rPr lang="en-US" dirty="0"/>
              <a:t>A now Public Company Example (pre-IPO)</a:t>
            </a:r>
          </a:p>
        </p:txBody>
      </p:sp>
      <p:sp>
        <p:nvSpPr>
          <p:cNvPr id="9" name="TextBox 8">
            <a:extLst>
              <a:ext uri="{FF2B5EF4-FFF2-40B4-BE49-F238E27FC236}">
                <a16:creationId xmlns:a16="http://schemas.microsoft.com/office/drawing/2014/main" id="{3659F1AD-1E31-338B-591B-60B1E13B2154}"/>
              </a:ext>
            </a:extLst>
          </p:cNvPr>
          <p:cNvSpPr txBox="1"/>
          <p:nvPr/>
        </p:nvSpPr>
        <p:spPr>
          <a:xfrm>
            <a:off x="3937980" y="1295400"/>
            <a:ext cx="1268039" cy="707886"/>
          </a:xfrm>
          <a:prstGeom prst="rect">
            <a:avLst/>
          </a:prstGeom>
          <a:solidFill>
            <a:schemeClr val="tx2"/>
          </a:solidFill>
          <a:ln>
            <a:solidFill>
              <a:schemeClr val="tx2"/>
            </a:solidFill>
          </a:ln>
        </p:spPr>
        <p:txBody>
          <a:bodyPr wrap="none" rtlCol="0">
            <a:spAutoFit/>
          </a:bodyPr>
          <a:lstStyle/>
          <a:p>
            <a:pPr algn="ctr" defTabSz="914400" fontAlgn="auto">
              <a:spcBef>
                <a:spcPts val="0"/>
              </a:spcBef>
              <a:spcAft>
                <a:spcPts val="0"/>
              </a:spcAft>
            </a:pPr>
            <a:r>
              <a:rPr lang="en-US" sz="4000" b="1" dirty="0">
                <a:solidFill>
                  <a:srgbClr val="C09F29"/>
                </a:solidFill>
                <a:latin typeface="Helvetica Neue"/>
                <a:cs typeface="Helvetica Neue"/>
              </a:rPr>
              <a:t>CFO</a:t>
            </a:r>
          </a:p>
        </p:txBody>
      </p:sp>
      <p:sp>
        <p:nvSpPr>
          <p:cNvPr id="10" name="Rectangle 9">
            <a:extLst>
              <a:ext uri="{FF2B5EF4-FFF2-40B4-BE49-F238E27FC236}">
                <a16:creationId xmlns:a16="http://schemas.microsoft.com/office/drawing/2014/main" id="{A14470D7-C74A-7F16-FF48-69929828C370}"/>
              </a:ext>
            </a:extLst>
          </p:cNvPr>
          <p:cNvSpPr/>
          <p:nvPr/>
        </p:nvSpPr>
        <p:spPr>
          <a:xfrm>
            <a:off x="812800" y="2438400"/>
            <a:ext cx="3352800"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International Finance</a:t>
            </a:r>
          </a:p>
        </p:txBody>
      </p:sp>
      <p:sp>
        <p:nvSpPr>
          <p:cNvPr id="11" name="Rectangle 10">
            <a:extLst>
              <a:ext uri="{FF2B5EF4-FFF2-40B4-BE49-F238E27FC236}">
                <a16:creationId xmlns:a16="http://schemas.microsoft.com/office/drawing/2014/main" id="{CC64A603-9494-2AA0-2848-8AC1B90D68B7}"/>
              </a:ext>
            </a:extLst>
          </p:cNvPr>
          <p:cNvSpPr/>
          <p:nvPr/>
        </p:nvSpPr>
        <p:spPr>
          <a:xfrm>
            <a:off x="4978400" y="2438400"/>
            <a:ext cx="3352800" cy="533400"/>
          </a:xfrm>
          <a:prstGeom prst="rect">
            <a:avLst/>
          </a:prstGeom>
          <a:solidFill>
            <a:schemeClr val="tx2"/>
          </a:solid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NA Finance</a:t>
            </a:r>
          </a:p>
        </p:txBody>
      </p:sp>
      <p:cxnSp>
        <p:nvCxnSpPr>
          <p:cNvPr id="12" name="Elbow Connector 7">
            <a:extLst>
              <a:ext uri="{FF2B5EF4-FFF2-40B4-BE49-F238E27FC236}">
                <a16:creationId xmlns:a16="http://schemas.microsoft.com/office/drawing/2014/main" id="{ABCA8ED9-A246-FCF0-6490-E72DA8B5D689}"/>
              </a:ext>
            </a:extLst>
          </p:cNvPr>
          <p:cNvCxnSpPr>
            <a:stCxn id="9" idx="2"/>
            <a:endCxn id="10" idx="0"/>
          </p:cNvCxnSpPr>
          <p:nvPr/>
        </p:nvCxnSpPr>
        <p:spPr>
          <a:xfrm rot="5400000">
            <a:off x="3313043" y="1179443"/>
            <a:ext cx="435114" cy="2082800"/>
          </a:xfrm>
          <a:prstGeom prst="bentConnector3">
            <a:avLst/>
          </a:prstGeom>
          <a:noFill/>
          <a:ln w="19050" cap="flat" cmpd="sng" algn="ctr">
            <a:solidFill>
              <a:schemeClr val="tx2"/>
            </a:solidFill>
            <a:prstDash val="solid"/>
          </a:ln>
          <a:effectLst/>
        </p:spPr>
      </p:cxnSp>
      <p:cxnSp>
        <p:nvCxnSpPr>
          <p:cNvPr id="13" name="Elbow Connector 9">
            <a:extLst>
              <a:ext uri="{FF2B5EF4-FFF2-40B4-BE49-F238E27FC236}">
                <a16:creationId xmlns:a16="http://schemas.microsoft.com/office/drawing/2014/main" id="{A4E07517-9CB4-C5AD-B34D-3ADA0D05C683}"/>
              </a:ext>
            </a:extLst>
          </p:cNvPr>
          <p:cNvCxnSpPr>
            <a:stCxn id="9" idx="2"/>
            <a:endCxn id="11" idx="0"/>
          </p:cNvCxnSpPr>
          <p:nvPr/>
        </p:nvCxnSpPr>
        <p:spPr>
          <a:xfrm rot="16200000" flipH="1">
            <a:off x="5395843" y="1179443"/>
            <a:ext cx="435114" cy="2082800"/>
          </a:xfrm>
          <a:prstGeom prst="bentConnector3">
            <a:avLst/>
          </a:prstGeom>
          <a:noFill/>
          <a:ln w="19050" cap="flat" cmpd="sng" algn="ctr">
            <a:solidFill>
              <a:schemeClr val="tx2"/>
            </a:solidFill>
            <a:prstDash val="solid"/>
          </a:ln>
          <a:effectLst/>
        </p:spPr>
      </p:cxnSp>
      <p:sp>
        <p:nvSpPr>
          <p:cNvPr id="14" name="TextBox 13">
            <a:extLst>
              <a:ext uri="{FF2B5EF4-FFF2-40B4-BE49-F238E27FC236}">
                <a16:creationId xmlns:a16="http://schemas.microsoft.com/office/drawing/2014/main" id="{A6685B6E-7C5E-38FD-7245-BA21F79244C5}"/>
              </a:ext>
            </a:extLst>
          </p:cNvPr>
          <p:cNvSpPr txBox="1"/>
          <p:nvPr/>
        </p:nvSpPr>
        <p:spPr>
          <a:xfrm>
            <a:off x="3425446" y="3732100"/>
            <a:ext cx="2636234" cy="369332"/>
          </a:xfrm>
          <a:prstGeom prst="rect">
            <a:avLst/>
          </a:prstGeom>
          <a:noFill/>
        </p:spPr>
        <p:txBody>
          <a:bodyPr wrap="none" rtlCol="0">
            <a:spAutoFit/>
          </a:bodyPr>
          <a:lstStyle/>
          <a:p>
            <a:r>
              <a:rPr lang="en-US" dirty="0">
                <a:latin typeface="+mn-lt"/>
              </a:rPr>
              <a:t>Approx 120 employees</a:t>
            </a:r>
          </a:p>
        </p:txBody>
      </p:sp>
    </p:spTree>
    <p:extLst>
      <p:ext uri="{BB962C8B-B14F-4D97-AF65-F5344CB8AC3E}">
        <p14:creationId xmlns:p14="http://schemas.microsoft.com/office/powerpoint/2010/main" val="244103824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xit" presetSubtype="4" fill="hold" grpId="0" nodeType="withEffect">
                                  <p:stCondLst>
                                    <p:cond delay="0"/>
                                  </p:stCondLst>
                                  <p:childTnLst>
                                    <p:animEffect transition="out" filter="wipe(down)">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22" presetClass="exit" presetSubtype="4" fill="hold" grpId="0" nodeType="withEffect">
                                  <p:stCondLst>
                                    <p:cond delay="0"/>
                                  </p:stCondLst>
                                  <p:childTnLst>
                                    <p:animEffect transition="out" filter="wipe(down)">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22" presetClass="exit" presetSubtype="4" fill="hold" nodeType="withEffect">
                                  <p:stCondLst>
                                    <p:cond delay="0"/>
                                  </p:stCondLst>
                                  <p:childTnLst>
                                    <p:animEffect transition="out" filter="wipe(down)">
                                      <p:cBhvr>
                                        <p:cTn id="12" dur="500"/>
                                        <p:tgtEl>
                                          <p:spTgt spid="12"/>
                                        </p:tgtEl>
                                      </p:cBhvr>
                                    </p:animEffect>
                                    <p:set>
                                      <p:cBhvr>
                                        <p:cTn id="13" dur="1" fill="hold">
                                          <p:stCondLst>
                                            <p:cond delay="499"/>
                                          </p:stCondLst>
                                        </p:cTn>
                                        <p:tgtEl>
                                          <p:spTgt spid="12"/>
                                        </p:tgtEl>
                                        <p:attrNameLst>
                                          <p:attrName>style.visibility</p:attrName>
                                        </p:attrNameLst>
                                      </p:cBhvr>
                                      <p:to>
                                        <p:strVal val="hidden"/>
                                      </p:to>
                                    </p:set>
                                  </p:childTnLst>
                                </p:cTn>
                              </p:par>
                              <p:par>
                                <p:cTn id="14" presetID="22" presetClass="exit" presetSubtype="4" fill="hold" nodeType="withEffect">
                                  <p:stCondLst>
                                    <p:cond delay="0"/>
                                  </p:stCondLst>
                                  <p:childTnLst>
                                    <p:animEffect transition="out" filter="wipe(down)">
                                      <p:cBhvr>
                                        <p:cTn id="15" dur="500"/>
                                        <p:tgtEl>
                                          <p:spTgt spid="13"/>
                                        </p:tgtEl>
                                      </p:cBhvr>
                                    </p:animEffect>
                                    <p:set>
                                      <p:cBhvr>
                                        <p:cTn id="16" dur="1" fill="hold">
                                          <p:stCondLst>
                                            <p:cond delay="499"/>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1C347-13B4-C53F-6322-FBD74754EADA}"/>
              </a:ext>
            </a:extLst>
          </p:cNvPr>
          <p:cNvSpPr>
            <a:spLocks noGrp="1"/>
          </p:cNvSpPr>
          <p:nvPr>
            <p:ph type="title"/>
          </p:nvPr>
        </p:nvSpPr>
        <p:spPr/>
        <p:txBody>
          <a:bodyPr/>
          <a:lstStyle/>
          <a:p>
            <a:r>
              <a:rPr lang="en-US" dirty="0"/>
              <a:t>That same public company after IPO</a:t>
            </a:r>
          </a:p>
        </p:txBody>
      </p:sp>
      <p:sp>
        <p:nvSpPr>
          <p:cNvPr id="30" name="TextBox 29">
            <a:extLst>
              <a:ext uri="{FF2B5EF4-FFF2-40B4-BE49-F238E27FC236}">
                <a16:creationId xmlns:a16="http://schemas.microsoft.com/office/drawing/2014/main" id="{A9D11C4C-308F-B03F-D374-98750C773097}"/>
              </a:ext>
            </a:extLst>
          </p:cNvPr>
          <p:cNvSpPr txBox="1"/>
          <p:nvPr/>
        </p:nvSpPr>
        <p:spPr>
          <a:xfrm>
            <a:off x="4014179" y="868996"/>
            <a:ext cx="1268039" cy="707886"/>
          </a:xfrm>
          <a:prstGeom prst="rect">
            <a:avLst/>
          </a:prstGeom>
          <a:solidFill>
            <a:schemeClr val="tx2"/>
          </a:solidFill>
          <a:ln>
            <a:solidFill>
              <a:schemeClr val="tx2"/>
            </a:solidFill>
          </a:ln>
        </p:spPr>
        <p:txBody>
          <a:bodyPr wrap="none" rtlCol="0">
            <a:spAutoFit/>
          </a:bodyPr>
          <a:lstStyle/>
          <a:p>
            <a:pPr algn="ctr" defTabSz="914400" fontAlgn="auto">
              <a:spcBef>
                <a:spcPts val="0"/>
              </a:spcBef>
              <a:spcAft>
                <a:spcPts val="0"/>
              </a:spcAft>
            </a:pPr>
            <a:r>
              <a:rPr lang="en-US" sz="4000" b="1" dirty="0">
                <a:solidFill>
                  <a:srgbClr val="C09F29"/>
                </a:solidFill>
                <a:latin typeface="Helvetica Neue"/>
                <a:cs typeface="Helvetica Neue"/>
              </a:rPr>
              <a:t>CFO</a:t>
            </a:r>
          </a:p>
        </p:txBody>
      </p:sp>
      <p:grpSp>
        <p:nvGrpSpPr>
          <p:cNvPr id="31" name="Group 30">
            <a:extLst>
              <a:ext uri="{FF2B5EF4-FFF2-40B4-BE49-F238E27FC236}">
                <a16:creationId xmlns:a16="http://schemas.microsoft.com/office/drawing/2014/main" id="{A1361144-82E6-0A6F-EACF-61D1ACEF31F1}"/>
              </a:ext>
            </a:extLst>
          </p:cNvPr>
          <p:cNvGrpSpPr/>
          <p:nvPr/>
        </p:nvGrpSpPr>
        <p:grpSpPr>
          <a:xfrm>
            <a:off x="228599" y="1576881"/>
            <a:ext cx="8915401" cy="3528519"/>
            <a:chOff x="152400" y="1729281"/>
            <a:chExt cx="8915401" cy="3528519"/>
          </a:xfrm>
          <a:solidFill>
            <a:schemeClr val="tx2"/>
          </a:solidFill>
        </p:grpSpPr>
        <p:sp>
          <p:nvSpPr>
            <p:cNvPr id="32" name="Rectangle 31">
              <a:extLst>
                <a:ext uri="{FF2B5EF4-FFF2-40B4-BE49-F238E27FC236}">
                  <a16:creationId xmlns:a16="http://schemas.microsoft.com/office/drawing/2014/main" id="{B7EA912C-17DC-0D8A-2159-FCF28ED03AA1}"/>
                </a:ext>
              </a:extLst>
            </p:cNvPr>
            <p:cNvSpPr/>
            <p:nvPr/>
          </p:nvSpPr>
          <p:spPr>
            <a:xfrm>
              <a:off x="152400" y="2590800"/>
              <a:ext cx="41148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VP Commercial Finance</a:t>
              </a:r>
            </a:p>
          </p:txBody>
        </p:sp>
        <p:sp>
          <p:nvSpPr>
            <p:cNvPr id="33" name="Rectangle 32">
              <a:extLst>
                <a:ext uri="{FF2B5EF4-FFF2-40B4-BE49-F238E27FC236}">
                  <a16:creationId xmlns:a16="http://schemas.microsoft.com/office/drawing/2014/main" id="{E5956C47-87AE-561B-20C0-5FC283918A0B}"/>
                </a:ext>
              </a:extLst>
            </p:cNvPr>
            <p:cNvSpPr/>
            <p:nvPr/>
          </p:nvSpPr>
          <p:spPr>
            <a:xfrm>
              <a:off x="4415140" y="2590800"/>
              <a:ext cx="12954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Tax / Treasury</a:t>
              </a:r>
            </a:p>
          </p:txBody>
        </p:sp>
        <p:cxnSp>
          <p:nvCxnSpPr>
            <p:cNvPr id="34" name="Elbow Connector 7">
              <a:extLst>
                <a:ext uri="{FF2B5EF4-FFF2-40B4-BE49-F238E27FC236}">
                  <a16:creationId xmlns:a16="http://schemas.microsoft.com/office/drawing/2014/main" id="{8C4E2033-F15E-7431-0028-F10BDFF6CABB}"/>
                </a:ext>
              </a:extLst>
            </p:cNvPr>
            <p:cNvCxnSpPr>
              <a:stCxn id="30" idx="2"/>
              <a:endCxn id="32" idx="0"/>
            </p:cNvCxnSpPr>
            <p:nvPr/>
          </p:nvCxnSpPr>
          <p:spPr>
            <a:xfrm rot="5400000">
              <a:off x="2998241" y="940842"/>
              <a:ext cx="861518" cy="2438399"/>
            </a:xfrm>
            <a:prstGeom prst="bentConnector3">
              <a:avLst/>
            </a:prstGeom>
            <a:grpFill/>
            <a:ln w="19050" cap="flat" cmpd="sng" algn="ctr">
              <a:solidFill>
                <a:schemeClr val="tx2"/>
              </a:solidFill>
              <a:prstDash val="solid"/>
            </a:ln>
            <a:effectLst/>
          </p:spPr>
        </p:cxnSp>
        <p:cxnSp>
          <p:nvCxnSpPr>
            <p:cNvPr id="35" name="Elbow Connector 9">
              <a:extLst>
                <a:ext uri="{FF2B5EF4-FFF2-40B4-BE49-F238E27FC236}">
                  <a16:creationId xmlns:a16="http://schemas.microsoft.com/office/drawing/2014/main" id="{8B52C404-EFAB-A7B9-C916-7649B5189781}"/>
                </a:ext>
              </a:extLst>
            </p:cNvPr>
            <p:cNvCxnSpPr>
              <a:stCxn id="30" idx="2"/>
              <a:endCxn id="33" idx="0"/>
            </p:cNvCxnSpPr>
            <p:nvPr/>
          </p:nvCxnSpPr>
          <p:spPr>
            <a:xfrm rot="16200000" flipH="1">
              <a:off x="4424760" y="1952720"/>
              <a:ext cx="861518" cy="414641"/>
            </a:xfrm>
            <a:prstGeom prst="bentConnector3">
              <a:avLst/>
            </a:prstGeom>
            <a:grpFill/>
            <a:ln w="19050" cap="flat" cmpd="sng" algn="ctr">
              <a:solidFill>
                <a:schemeClr val="tx2"/>
              </a:solidFill>
              <a:prstDash val="solid"/>
            </a:ln>
            <a:effectLst/>
          </p:spPr>
        </p:cxnSp>
        <p:sp>
          <p:nvSpPr>
            <p:cNvPr id="36" name="Rectangle 35">
              <a:extLst>
                <a:ext uri="{FF2B5EF4-FFF2-40B4-BE49-F238E27FC236}">
                  <a16:creationId xmlns:a16="http://schemas.microsoft.com/office/drawing/2014/main" id="{63354CA4-BE1E-FDCD-BB9F-1EF035B7299E}"/>
                </a:ext>
              </a:extLst>
            </p:cNvPr>
            <p:cNvSpPr/>
            <p:nvPr/>
          </p:nvSpPr>
          <p:spPr>
            <a:xfrm>
              <a:off x="7429500" y="2590800"/>
              <a:ext cx="1638301"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C09F29"/>
                  </a:solidFill>
                  <a:effectLst/>
                  <a:uLnTx/>
                  <a:uFillTx/>
                  <a:latin typeface="Helvetica Neue Light"/>
                  <a:ea typeface="+mn-ea"/>
                  <a:cs typeface="Helvetica Neue Light"/>
                </a:rPr>
                <a:t>Investor Relations / Corp FP&amp;A</a:t>
              </a:r>
            </a:p>
          </p:txBody>
        </p:sp>
        <p:cxnSp>
          <p:nvCxnSpPr>
            <p:cNvPr id="37" name="Elbow Connector 27">
              <a:extLst>
                <a:ext uri="{FF2B5EF4-FFF2-40B4-BE49-F238E27FC236}">
                  <a16:creationId xmlns:a16="http://schemas.microsoft.com/office/drawing/2014/main" id="{4D32158B-DC52-6C93-2CD5-6E62A9ECEE8A}"/>
                </a:ext>
              </a:extLst>
            </p:cNvPr>
            <p:cNvCxnSpPr>
              <a:stCxn id="30" idx="2"/>
              <a:endCxn id="36" idx="0"/>
            </p:cNvCxnSpPr>
            <p:nvPr/>
          </p:nvCxnSpPr>
          <p:spPr>
            <a:xfrm rot="16200000" flipH="1">
              <a:off x="6017666" y="359815"/>
              <a:ext cx="861518" cy="3600452"/>
            </a:xfrm>
            <a:prstGeom prst="bentConnector3">
              <a:avLst>
                <a:gd name="adj1" fmla="val 50000"/>
              </a:avLst>
            </a:prstGeom>
            <a:grpFill/>
            <a:ln w="19050" cap="flat" cmpd="sng" algn="ctr">
              <a:solidFill>
                <a:schemeClr val="tx2"/>
              </a:solidFill>
              <a:prstDash val="solid"/>
            </a:ln>
            <a:effectLst/>
          </p:spPr>
        </p:cxnSp>
        <p:sp>
          <p:nvSpPr>
            <p:cNvPr id="38" name="Rectangle 37">
              <a:extLst>
                <a:ext uri="{FF2B5EF4-FFF2-40B4-BE49-F238E27FC236}">
                  <a16:creationId xmlns:a16="http://schemas.microsoft.com/office/drawing/2014/main" id="{32F27968-5129-E64C-F805-537419540BA1}"/>
                </a:ext>
              </a:extLst>
            </p:cNvPr>
            <p:cNvSpPr/>
            <p:nvPr/>
          </p:nvSpPr>
          <p:spPr>
            <a:xfrm>
              <a:off x="6019800" y="2600325"/>
              <a:ext cx="12954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CAO</a:t>
              </a:r>
            </a:p>
          </p:txBody>
        </p:sp>
        <p:sp>
          <p:nvSpPr>
            <p:cNvPr id="39" name="Rectangle 38">
              <a:extLst>
                <a:ext uri="{FF2B5EF4-FFF2-40B4-BE49-F238E27FC236}">
                  <a16:creationId xmlns:a16="http://schemas.microsoft.com/office/drawing/2014/main" id="{E40E5BE9-45D6-262C-863B-8F6D1F69CB25}"/>
                </a:ext>
              </a:extLst>
            </p:cNvPr>
            <p:cNvSpPr/>
            <p:nvPr/>
          </p:nvSpPr>
          <p:spPr>
            <a:xfrm>
              <a:off x="5219700" y="3524250"/>
              <a:ext cx="12954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9F29"/>
                  </a:solidFill>
                  <a:effectLst/>
                  <a:uLnTx/>
                  <a:uFillTx/>
                  <a:latin typeface="Helvetica Neue Light"/>
                  <a:ea typeface="+mn-ea"/>
                  <a:cs typeface="Helvetica Neue Light"/>
                </a:rPr>
                <a:t>Strategic Sourcing</a:t>
              </a:r>
            </a:p>
          </p:txBody>
        </p:sp>
        <p:sp>
          <p:nvSpPr>
            <p:cNvPr id="40" name="Rectangle 39">
              <a:extLst>
                <a:ext uri="{FF2B5EF4-FFF2-40B4-BE49-F238E27FC236}">
                  <a16:creationId xmlns:a16="http://schemas.microsoft.com/office/drawing/2014/main" id="{10E0038C-5691-C769-4D05-A85A16FE3E35}"/>
                </a:ext>
              </a:extLst>
            </p:cNvPr>
            <p:cNvSpPr/>
            <p:nvPr/>
          </p:nvSpPr>
          <p:spPr>
            <a:xfrm>
              <a:off x="152400" y="3352800"/>
              <a:ext cx="12192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CFO EMEA</a:t>
              </a:r>
            </a:p>
          </p:txBody>
        </p:sp>
        <p:sp>
          <p:nvSpPr>
            <p:cNvPr id="41" name="Rectangle 40">
              <a:extLst>
                <a:ext uri="{FF2B5EF4-FFF2-40B4-BE49-F238E27FC236}">
                  <a16:creationId xmlns:a16="http://schemas.microsoft.com/office/drawing/2014/main" id="{804F26D8-2BD9-CDB9-6EBB-99454933EE35}"/>
                </a:ext>
              </a:extLst>
            </p:cNvPr>
            <p:cNvSpPr/>
            <p:nvPr/>
          </p:nvSpPr>
          <p:spPr>
            <a:xfrm>
              <a:off x="1600200" y="3352800"/>
              <a:ext cx="1219200" cy="5334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CFO APAC</a:t>
              </a:r>
            </a:p>
          </p:txBody>
        </p:sp>
        <p:cxnSp>
          <p:nvCxnSpPr>
            <p:cNvPr id="42" name="Elbow Connector 94">
              <a:extLst>
                <a:ext uri="{FF2B5EF4-FFF2-40B4-BE49-F238E27FC236}">
                  <a16:creationId xmlns:a16="http://schemas.microsoft.com/office/drawing/2014/main" id="{2CDA14FF-BF79-2909-13A1-3DCC30DC2F5F}"/>
                </a:ext>
              </a:extLst>
            </p:cNvPr>
            <p:cNvCxnSpPr>
              <a:stCxn id="30" idx="2"/>
              <a:endCxn id="38" idx="0"/>
            </p:cNvCxnSpPr>
            <p:nvPr/>
          </p:nvCxnSpPr>
          <p:spPr>
            <a:xfrm rot="16200000" flipH="1">
              <a:off x="5222328" y="1155152"/>
              <a:ext cx="871043" cy="2019301"/>
            </a:xfrm>
            <a:prstGeom prst="bentConnector3">
              <a:avLst>
                <a:gd name="adj1" fmla="val 50000"/>
              </a:avLst>
            </a:prstGeom>
            <a:grpFill/>
            <a:ln w="19050" cap="flat" cmpd="sng" algn="ctr">
              <a:solidFill>
                <a:schemeClr val="tx2"/>
              </a:solidFill>
              <a:prstDash val="solid"/>
            </a:ln>
            <a:effectLst/>
          </p:spPr>
        </p:cxnSp>
        <p:sp>
          <p:nvSpPr>
            <p:cNvPr id="43" name="Rectangle 42">
              <a:extLst>
                <a:ext uri="{FF2B5EF4-FFF2-40B4-BE49-F238E27FC236}">
                  <a16:creationId xmlns:a16="http://schemas.microsoft.com/office/drawing/2014/main" id="{E0BEDAE8-F681-4DEF-A78B-0C32A4E5806D}"/>
                </a:ext>
              </a:extLst>
            </p:cNvPr>
            <p:cNvSpPr/>
            <p:nvPr/>
          </p:nvSpPr>
          <p:spPr>
            <a:xfrm>
              <a:off x="3048000" y="3352800"/>
              <a:ext cx="1219200" cy="533400"/>
            </a:xfrm>
            <a:prstGeom prst="rect">
              <a:avLst/>
            </a:prstGeom>
            <a:grpFill/>
            <a:ln w="19050" cap="flat" cmpd="sng" algn="ctr">
              <a:solidFill>
                <a:schemeClr val="tx2"/>
              </a:solidFill>
              <a:prstDash val="solid"/>
            </a:ln>
            <a:effectLst/>
          </p:spPr>
          <p:txBody>
            <a:bodyPr lIns="0" rIns="0"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CFO </a:t>
              </a:r>
              <a:b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b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LATAM</a:t>
              </a:r>
            </a:p>
          </p:txBody>
        </p:sp>
        <p:sp>
          <p:nvSpPr>
            <p:cNvPr id="44" name="Rectangle 43">
              <a:extLst>
                <a:ext uri="{FF2B5EF4-FFF2-40B4-BE49-F238E27FC236}">
                  <a16:creationId xmlns:a16="http://schemas.microsoft.com/office/drawing/2014/main" id="{8946A73A-4A53-8FD6-46D4-6FA9A734F4EE}"/>
                </a:ext>
              </a:extLst>
            </p:cNvPr>
            <p:cNvSpPr/>
            <p:nvPr/>
          </p:nvSpPr>
          <p:spPr>
            <a:xfrm>
              <a:off x="5905500" y="4311650"/>
              <a:ext cx="1524000" cy="533400"/>
            </a:xfrm>
            <a:prstGeom prst="rect">
              <a:avLst/>
            </a:prstGeom>
            <a:grpFill/>
            <a:ln w="19050" cap="flat" cmpd="sng" algn="ctr">
              <a:solidFill>
                <a:schemeClr val="tx2"/>
              </a:solidFill>
              <a:prstDash val="solid"/>
            </a:ln>
            <a:effectLst/>
          </p:spPr>
          <p:txBody>
            <a:bodyPr lIns="0" rIns="0" rtlCol="0" anchor="ctr"/>
            <a:lstStyle/>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Global</a:t>
              </a:r>
            </a:p>
            <a:p>
              <a:pPr marL="0" marR="0" lvl="0" indent="0" algn="ctr" defTabSz="914400" eaLnBrk="1" fontAlgn="auto" latinLnBrk="0" hangingPunct="1">
                <a:lnSpc>
                  <a:spcPct val="9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Controller</a:t>
              </a:r>
            </a:p>
          </p:txBody>
        </p:sp>
        <p:cxnSp>
          <p:nvCxnSpPr>
            <p:cNvPr id="45" name="Straight Connector 44">
              <a:extLst>
                <a:ext uri="{FF2B5EF4-FFF2-40B4-BE49-F238E27FC236}">
                  <a16:creationId xmlns:a16="http://schemas.microsoft.com/office/drawing/2014/main" id="{EDB7A9A9-A581-B434-0E0B-4C555AA6BA99}"/>
                </a:ext>
              </a:extLst>
            </p:cNvPr>
            <p:cNvCxnSpPr>
              <a:stCxn id="44" idx="0"/>
              <a:endCxn id="38" idx="2"/>
            </p:cNvCxnSpPr>
            <p:nvPr/>
          </p:nvCxnSpPr>
          <p:spPr>
            <a:xfrm flipV="1">
              <a:off x="6667500" y="3133725"/>
              <a:ext cx="0" cy="1177925"/>
            </a:xfrm>
            <a:prstGeom prst="line">
              <a:avLst/>
            </a:prstGeom>
            <a:grpFill/>
            <a:ln w="19050" cap="flat" cmpd="sng" algn="ctr">
              <a:solidFill>
                <a:schemeClr val="tx2"/>
              </a:solidFill>
              <a:prstDash val="solid"/>
            </a:ln>
            <a:effectLst/>
          </p:spPr>
        </p:cxnSp>
        <p:sp>
          <p:nvSpPr>
            <p:cNvPr id="46" name="Rectangle 45">
              <a:extLst>
                <a:ext uri="{FF2B5EF4-FFF2-40B4-BE49-F238E27FC236}">
                  <a16:creationId xmlns:a16="http://schemas.microsoft.com/office/drawing/2014/main" id="{B97BF71D-2DA1-CBB7-CE4A-A483684DDEDF}"/>
                </a:ext>
              </a:extLst>
            </p:cNvPr>
            <p:cNvSpPr/>
            <p:nvPr/>
          </p:nvSpPr>
          <p:spPr>
            <a:xfrm>
              <a:off x="152400" y="4572000"/>
              <a:ext cx="1524000" cy="6858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NA Commercial Finance</a:t>
              </a:r>
            </a:p>
          </p:txBody>
        </p:sp>
        <p:sp>
          <p:nvSpPr>
            <p:cNvPr id="47" name="Rectangle 46">
              <a:extLst>
                <a:ext uri="{FF2B5EF4-FFF2-40B4-BE49-F238E27FC236}">
                  <a16:creationId xmlns:a16="http://schemas.microsoft.com/office/drawing/2014/main" id="{63F24C0D-2F9B-B5F5-10C4-EDF5A9C1E9C2}"/>
                </a:ext>
              </a:extLst>
            </p:cNvPr>
            <p:cNvSpPr/>
            <p:nvPr/>
          </p:nvSpPr>
          <p:spPr>
            <a:xfrm>
              <a:off x="1790700" y="4572000"/>
              <a:ext cx="1524000" cy="6858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Finance </a:t>
              </a:r>
            </a:p>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Technology</a:t>
              </a:r>
            </a:p>
          </p:txBody>
        </p:sp>
        <p:sp>
          <p:nvSpPr>
            <p:cNvPr id="48" name="Rectangle 47">
              <a:extLst>
                <a:ext uri="{FF2B5EF4-FFF2-40B4-BE49-F238E27FC236}">
                  <a16:creationId xmlns:a16="http://schemas.microsoft.com/office/drawing/2014/main" id="{E5222A64-14BC-B549-4AA1-A00E07A0F005}"/>
                </a:ext>
              </a:extLst>
            </p:cNvPr>
            <p:cNvSpPr/>
            <p:nvPr/>
          </p:nvSpPr>
          <p:spPr>
            <a:xfrm>
              <a:off x="3429000" y="4572000"/>
              <a:ext cx="1524000" cy="685800"/>
            </a:xfrm>
            <a:prstGeom prst="rect">
              <a:avLst/>
            </a:prstGeom>
            <a:grpFill/>
            <a:ln w="19050" cap="flat" cmpd="sng" algn="ctr">
              <a:solidFill>
                <a:schemeClr val="tx2"/>
              </a:solidFill>
              <a:prstDash val="solid"/>
            </a:ln>
            <a:effectLst/>
          </p:spPr>
          <p:txBody>
            <a:bodyPr rtlCol="0" anchor="ct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C09F29"/>
                  </a:solidFill>
                  <a:effectLst/>
                  <a:uLnTx/>
                  <a:uFillTx/>
                  <a:latin typeface="Helvetica Neue Light"/>
                  <a:ea typeface="+mn-ea"/>
                  <a:cs typeface="Helvetica Neue Light"/>
                </a:rPr>
                <a:t>Marketing Finance</a:t>
              </a:r>
            </a:p>
          </p:txBody>
        </p:sp>
        <p:cxnSp>
          <p:nvCxnSpPr>
            <p:cNvPr id="49" name="Straight Connector 48">
              <a:extLst>
                <a:ext uri="{FF2B5EF4-FFF2-40B4-BE49-F238E27FC236}">
                  <a16:creationId xmlns:a16="http://schemas.microsoft.com/office/drawing/2014/main" id="{A4C051C9-21CE-8674-D0A5-2C5B44E7AAC0}"/>
                </a:ext>
              </a:extLst>
            </p:cNvPr>
            <p:cNvCxnSpPr/>
            <p:nvPr/>
          </p:nvCxnSpPr>
          <p:spPr>
            <a:xfrm flipV="1">
              <a:off x="762000" y="3124200"/>
              <a:ext cx="3654" cy="228600"/>
            </a:xfrm>
            <a:prstGeom prst="line">
              <a:avLst/>
            </a:prstGeom>
            <a:grpFill/>
            <a:ln w="19050" cap="flat" cmpd="sng" algn="ctr">
              <a:solidFill>
                <a:schemeClr val="tx2"/>
              </a:solidFill>
              <a:prstDash val="solid"/>
            </a:ln>
            <a:effectLst/>
          </p:spPr>
        </p:cxnSp>
        <p:cxnSp>
          <p:nvCxnSpPr>
            <p:cNvPr id="50" name="Straight Connector 49">
              <a:extLst>
                <a:ext uri="{FF2B5EF4-FFF2-40B4-BE49-F238E27FC236}">
                  <a16:creationId xmlns:a16="http://schemas.microsoft.com/office/drawing/2014/main" id="{E90CD915-4924-804A-5D73-8BCA9AC1CC9C}"/>
                </a:ext>
              </a:extLst>
            </p:cNvPr>
            <p:cNvCxnSpPr/>
            <p:nvPr/>
          </p:nvCxnSpPr>
          <p:spPr>
            <a:xfrm flipV="1">
              <a:off x="2209800" y="3124200"/>
              <a:ext cx="3654" cy="228600"/>
            </a:xfrm>
            <a:prstGeom prst="line">
              <a:avLst/>
            </a:prstGeom>
            <a:grpFill/>
            <a:ln w="19050" cap="flat" cmpd="sng" algn="ctr">
              <a:solidFill>
                <a:schemeClr val="tx2"/>
              </a:solidFill>
              <a:prstDash val="solid"/>
            </a:ln>
            <a:effectLst/>
          </p:spPr>
        </p:cxnSp>
        <p:cxnSp>
          <p:nvCxnSpPr>
            <p:cNvPr id="51" name="Straight Connector 50">
              <a:extLst>
                <a:ext uri="{FF2B5EF4-FFF2-40B4-BE49-F238E27FC236}">
                  <a16:creationId xmlns:a16="http://schemas.microsoft.com/office/drawing/2014/main" id="{ECA9E246-F11C-B4DF-3587-8AC9400255D7}"/>
                </a:ext>
              </a:extLst>
            </p:cNvPr>
            <p:cNvCxnSpPr/>
            <p:nvPr/>
          </p:nvCxnSpPr>
          <p:spPr>
            <a:xfrm flipV="1">
              <a:off x="3657600" y="3124200"/>
              <a:ext cx="3654" cy="228600"/>
            </a:xfrm>
            <a:prstGeom prst="line">
              <a:avLst/>
            </a:prstGeom>
            <a:grpFill/>
            <a:ln w="19050" cap="flat" cmpd="sng" algn="ctr">
              <a:solidFill>
                <a:schemeClr val="tx2"/>
              </a:solidFill>
              <a:prstDash val="solid"/>
            </a:ln>
            <a:effectLst/>
          </p:spPr>
        </p:cxnSp>
        <p:cxnSp>
          <p:nvCxnSpPr>
            <p:cNvPr id="52" name="Straight Connector 51">
              <a:extLst>
                <a:ext uri="{FF2B5EF4-FFF2-40B4-BE49-F238E27FC236}">
                  <a16:creationId xmlns:a16="http://schemas.microsoft.com/office/drawing/2014/main" id="{317A80E1-F0A1-EFA6-9861-A580D442F21C}"/>
                </a:ext>
              </a:extLst>
            </p:cNvPr>
            <p:cNvCxnSpPr/>
            <p:nvPr/>
          </p:nvCxnSpPr>
          <p:spPr>
            <a:xfrm flipV="1">
              <a:off x="1501746" y="3124200"/>
              <a:ext cx="0" cy="1219200"/>
            </a:xfrm>
            <a:prstGeom prst="line">
              <a:avLst/>
            </a:prstGeom>
            <a:grpFill/>
            <a:ln w="19050" cap="flat" cmpd="sng" algn="ctr">
              <a:solidFill>
                <a:schemeClr val="tx2"/>
              </a:solidFill>
              <a:prstDash val="solid"/>
            </a:ln>
            <a:effectLst/>
          </p:spPr>
        </p:cxnSp>
        <p:cxnSp>
          <p:nvCxnSpPr>
            <p:cNvPr id="53" name="Elbow Connector 118">
              <a:extLst>
                <a:ext uri="{FF2B5EF4-FFF2-40B4-BE49-F238E27FC236}">
                  <a16:creationId xmlns:a16="http://schemas.microsoft.com/office/drawing/2014/main" id="{8EC9A33A-42D0-CD99-608A-158AE148E5B4}"/>
                </a:ext>
              </a:extLst>
            </p:cNvPr>
            <p:cNvCxnSpPr>
              <a:stCxn id="48" idx="0"/>
              <a:endCxn id="46" idx="0"/>
            </p:cNvCxnSpPr>
            <p:nvPr/>
          </p:nvCxnSpPr>
          <p:spPr>
            <a:xfrm rot="16200000" flipV="1">
              <a:off x="2552700" y="2933700"/>
              <a:ext cx="12700" cy="3276600"/>
            </a:xfrm>
            <a:prstGeom prst="bentConnector3">
              <a:avLst>
                <a:gd name="adj1" fmla="val 1800000"/>
              </a:avLst>
            </a:prstGeom>
            <a:grpFill/>
            <a:ln w="19050" cap="flat" cmpd="sng" algn="ctr">
              <a:solidFill>
                <a:schemeClr val="tx2"/>
              </a:solidFill>
              <a:prstDash val="solid"/>
            </a:ln>
            <a:effectLst/>
          </p:spPr>
        </p:cxnSp>
        <p:cxnSp>
          <p:nvCxnSpPr>
            <p:cNvPr id="54" name="Straight Connector 53">
              <a:extLst>
                <a:ext uri="{FF2B5EF4-FFF2-40B4-BE49-F238E27FC236}">
                  <a16:creationId xmlns:a16="http://schemas.microsoft.com/office/drawing/2014/main" id="{9888925D-9411-F5B1-C0D9-87C78B3F084B}"/>
                </a:ext>
              </a:extLst>
            </p:cNvPr>
            <p:cNvCxnSpPr/>
            <p:nvPr/>
          </p:nvCxnSpPr>
          <p:spPr>
            <a:xfrm flipV="1">
              <a:off x="2514600" y="4343400"/>
              <a:ext cx="3654" cy="228600"/>
            </a:xfrm>
            <a:prstGeom prst="line">
              <a:avLst/>
            </a:prstGeom>
            <a:grpFill/>
            <a:ln w="19050" cap="flat" cmpd="sng" algn="ctr">
              <a:solidFill>
                <a:schemeClr val="tx2"/>
              </a:solidFill>
              <a:prstDash val="solid"/>
            </a:ln>
            <a:effectLst/>
          </p:spPr>
        </p:cxnSp>
      </p:grpSp>
      <p:cxnSp>
        <p:nvCxnSpPr>
          <p:cNvPr id="55" name="Straight Connector 54">
            <a:extLst>
              <a:ext uri="{FF2B5EF4-FFF2-40B4-BE49-F238E27FC236}">
                <a16:creationId xmlns:a16="http://schemas.microsoft.com/office/drawing/2014/main" id="{B66D0DB7-1E7A-06C2-F575-742BD618E18C}"/>
              </a:ext>
            </a:extLst>
          </p:cNvPr>
          <p:cNvCxnSpPr>
            <a:cxnSpLocks/>
            <a:stCxn id="39" idx="0"/>
          </p:cNvCxnSpPr>
          <p:nvPr/>
        </p:nvCxnSpPr>
        <p:spPr>
          <a:xfrm flipH="1" flipV="1">
            <a:off x="5938861" y="1998627"/>
            <a:ext cx="4738" cy="1373223"/>
          </a:xfrm>
          <a:prstGeom prst="line">
            <a:avLst/>
          </a:prstGeom>
          <a:noFill/>
          <a:ln w="19050" cap="flat" cmpd="sng" algn="ctr">
            <a:solidFill>
              <a:schemeClr val="tx2"/>
            </a:solidFill>
            <a:prstDash val="solid"/>
          </a:ln>
          <a:effectLst/>
        </p:spPr>
      </p:cxnSp>
      <p:sp>
        <p:nvSpPr>
          <p:cNvPr id="62" name="TextBox 61">
            <a:extLst>
              <a:ext uri="{FF2B5EF4-FFF2-40B4-BE49-F238E27FC236}">
                <a16:creationId xmlns:a16="http://schemas.microsoft.com/office/drawing/2014/main" id="{82B09C7D-6066-E442-00AC-06D8479B707D}"/>
              </a:ext>
            </a:extLst>
          </p:cNvPr>
          <p:cNvSpPr txBox="1"/>
          <p:nvPr/>
        </p:nvSpPr>
        <p:spPr>
          <a:xfrm>
            <a:off x="6524624" y="4761984"/>
            <a:ext cx="2636234" cy="369332"/>
          </a:xfrm>
          <a:prstGeom prst="rect">
            <a:avLst/>
          </a:prstGeom>
          <a:noFill/>
        </p:spPr>
        <p:txBody>
          <a:bodyPr wrap="none" rtlCol="0">
            <a:spAutoFit/>
          </a:bodyPr>
          <a:lstStyle/>
          <a:p>
            <a:r>
              <a:rPr lang="en-US" dirty="0">
                <a:latin typeface="+mn-lt"/>
              </a:rPr>
              <a:t>Approx 450 employees</a:t>
            </a:r>
          </a:p>
        </p:txBody>
      </p:sp>
    </p:spTree>
    <p:extLst>
      <p:ext uri="{BB962C8B-B14F-4D97-AF65-F5344CB8AC3E}">
        <p14:creationId xmlns:p14="http://schemas.microsoft.com/office/powerpoint/2010/main" val="28988010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up)">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2362A-56B7-D851-9379-F70EF1CE2804}"/>
              </a:ext>
            </a:extLst>
          </p:cNvPr>
          <p:cNvSpPr>
            <a:spLocks noGrp="1"/>
          </p:cNvSpPr>
          <p:nvPr>
            <p:ph type="title"/>
          </p:nvPr>
        </p:nvSpPr>
        <p:spPr/>
        <p:txBody>
          <a:bodyPr/>
          <a:lstStyle/>
          <a:p>
            <a:r>
              <a:rPr lang="en-US" dirty="0">
                <a:latin typeface="+mj-lt"/>
              </a:rPr>
              <a:t>Accounting &amp; Finance Function </a:t>
            </a:r>
          </a:p>
        </p:txBody>
      </p:sp>
      <p:sp>
        <p:nvSpPr>
          <p:cNvPr id="16" name="Rectangle 15">
            <a:extLst>
              <a:ext uri="{FF2B5EF4-FFF2-40B4-BE49-F238E27FC236}">
                <a16:creationId xmlns:a16="http://schemas.microsoft.com/office/drawing/2014/main" id="{287B6047-C0A0-17B5-E1DF-5402B54AAC53}"/>
              </a:ext>
            </a:extLst>
          </p:cNvPr>
          <p:cNvSpPr/>
          <p:nvPr/>
        </p:nvSpPr>
        <p:spPr>
          <a:xfrm>
            <a:off x="914400" y="885974"/>
            <a:ext cx="7518925" cy="3704982"/>
          </a:xfrm>
          <a:prstGeom prst="rect">
            <a:avLst/>
          </a:prstGeom>
          <a:solidFill>
            <a:srgbClr val="E8D3A2"/>
          </a:solidFill>
          <a:ln w="25400" cap="flat" cmpd="sng" algn="ctr">
            <a:solidFill>
              <a:srgbClr val="4B2E83"/>
            </a:solidFill>
            <a:prstDash val="soli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2400" b="0" i="0" u="none" strike="noStrike" kern="0" cap="none" spc="0" normalizeH="0" baseline="0" noProof="0" dirty="0">
              <a:ln>
                <a:noFill/>
              </a:ln>
              <a:solidFill>
                <a:srgbClr val="4B2E83"/>
              </a:solidFill>
              <a:effectLst/>
              <a:uLnTx/>
              <a:uFillTx/>
              <a:latin typeface="+mn-lt"/>
              <a:ea typeface="+mn-ea"/>
              <a:cs typeface="+mn-cs"/>
            </a:endParaRPr>
          </a:p>
        </p:txBody>
      </p:sp>
      <p:sp>
        <p:nvSpPr>
          <p:cNvPr id="17" name="Oval 16">
            <a:extLst>
              <a:ext uri="{FF2B5EF4-FFF2-40B4-BE49-F238E27FC236}">
                <a16:creationId xmlns:a16="http://schemas.microsoft.com/office/drawing/2014/main" id="{96E30AD2-02AB-B86D-1A6A-D8ECC0B0DCBB}"/>
              </a:ext>
            </a:extLst>
          </p:cNvPr>
          <p:cNvSpPr/>
          <p:nvPr/>
        </p:nvSpPr>
        <p:spPr>
          <a:xfrm>
            <a:off x="2896335" y="1354761"/>
            <a:ext cx="3780316" cy="2754389"/>
          </a:xfrm>
          <a:prstGeom prst="ellipse">
            <a:avLst/>
          </a:prstGeom>
          <a:gradFill rotWithShape="1">
            <a:gsLst>
              <a:gs pos="0">
                <a:srgbClr val="999999">
                  <a:tint val="50000"/>
                  <a:satMod val="300000"/>
                </a:srgbClr>
              </a:gs>
              <a:gs pos="35000">
                <a:srgbClr val="999999">
                  <a:tint val="37000"/>
                  <a:satMod val="300000"/>
                </a:srgbClr>
              </a:gs>
              <a:gs pos="100000">
                <a:srgbClr val="999999">
                  <a:tint val="15000"/>
                  <a:satMod val="350000"/>
                </a:srgbClr>
              </a:gs>
            </a:gsLst>
            <a:lin ang="16200000" scaled="1"/>
          </a:gradFill>
          <a:ln w="9525" cap="flat" cmpd="sng" algn="ctr">
            <a:solidFill>
              <a:srgbClr val="999999">
                <a:shade val="95000"/>
                <a:satMod val="105000"/>
              </a:srgbClr>
            </a:solidFill>
            <a:prstDash val="solid"/>
          </a:ln>
          <a:effectLst>
            <a:outerShdw blurRad="40000" dist="20000" dir="5400000" rotWithShape="0">
              <a:srgbClr val="000000">
                <a:alpha val="38000"/>
              </a:srgbClr>
            </a:outerShdw>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AU" sz="2400" b="0" i="0" u="none" strike="noStrike" kern="0" cap="none" spc="0" normalizeH="0" baseline="0" noProof="0">
              <a:ln>
                <a:noFill/>
              </a:ln>
              <a:solidFill>
                <a:srgbClr val="4B2E83"/>
              </a:solidFill>
              <a:effectLst/>
              <a:uLnTx/>
              <a:uFillTx/>
              <a:latin typeface="+mn-lt"/>
              <a:ea typeface="+mn-ea"/>
              <a:cs typeface="+mn-cs"/>
            </a:endParaRPr>
          </a:p>
        </p:txBody>
      </p:sp>
      <p:sp>
        <p:nvSpPr>
          <p:cNvPr id="18" name="TextBox 17">
            <a:extLst>
              <a:ext uri="{FF2B5EF4-FFF2-40B4-BE49-F238E27FC236}">
                <a16:creationId xmlns:a16="http://schemas.microsoft.com/office/drawing/2014/main" id="{E30F5DFC-1249-97DA-0D51-E36B304B3350}"/>
              </a:ext>
            </a:extLst>
          </p:cNvPr>
          <p:cNvSpPr txBox="1"/>
          <p:nvPr/>
        </p:nvSpPr>
        <p:spPr>
          <a:xfrm>
            <a:off x="3619179" y="1925505"/>
            <a:ext cx="2333528" cy="1815882"/>
          </a:xfrm>
          <a:prstGeom prst="rect">
            <a:avLst/>
          </a:prstGeom>
        </p:spPr>
        <p:txBody>
          <a:bodyPr wrap="square">
            <a:spAutoFit/>
          </a:bodyPr>
          <a:lstStyle/>
          <a:p>
            <a:pPr marL="342900" indent="-342900" algn="ctr" fontAlgn="auto">
              <a:spcBef>
                <a:spcPct val="20000"/>
              </a:spcBef>
              <a:spcAft>
                <a:spcPts val="0"/>
              </a:spcAft>
              <a:defRPr/>
            </a:pPr>
            <a:r>
              <a:rPr lang="en-US" sz="1400" b="1" u="sng" dirty="0">
                <a:solidFill>
                  <a:srgbClr val="4B2E83"/>
                </a:solidFill>
                <a:latin typeface="+mn-lt"/>
                <a:cs typeface="+mn-cs"/>
              </a:rPr>
              <a:t>Internal Users</a:t>
            </a:r>
          </a:p>
          <a:p>
            <a:pPr marL="342900" indent="-342900" algn="ctr" fontAlgn="auto">
              <a:spcBef>
                <a:spcPct val="20000"/>
              </a:spcBef>
              <a:spcAft>
                <a:spcPts val="0"/>
              </a:spcAft>
              <a:defRPr/>
            </a:pPr>
            <a:r>
              <a:rPr lang="en-AU" sz="1400" b="1" dirty="0">
                <a:solidFill>
                  <a:srgbClr val="4B2E83"/>
                </a:solidFill>
                <a:latin typeface="+mn-lt"/>
                <a:cs typeface="+mn-cs"/>
              </a:rPr>
              <a:t> Users within a Company</a:t>
            </a:r>
          </a:p>
          <a:p>
            <a:pPr marL="342900" indent="-342900" algn="ctr" fontAlgn="auto">
              <a:spcBef>
                <a:spcPct val="20000"/>
              </a:spcBef>
              <a:spcAft>
                <a:spcPts val="0"/>
              </a:spcAft>
              <a:defRPr/>
            </a:pPr>
            <a:endParaRPr lang="en-AU" sz="1400" b="1" dirty="0">
              <a:solidFill>
                <a:srgbClr val="4B2E83"/>
              </a:solidFill>
              <a:latin typeface="+mn-lt"/>
              <a:cs typeface="+mn-cs"/>
            </a:endParaRPr>
          </a:p>
          <a:p>
            <a:pPr marL="342900" indent="-342900" algn="ctr" fontAlgn="auto">
              <a:spcBef>
                <a:spcPct val="20000"/>
              </a:spcBef>
              <a:spcAft>
                <a:spcPts val="0"/>
              </a:spcAft>
              <a:defRPr/>
            </a:pPr>
            <a:r>
              <a:rPr lang="en-AU" sz="1400" dirty="0">
                <a:solidFill>
                  <a:srgbClr val="4B2E83"/>
                </a:solidFill>
                <a:latin typeface="+mn-lt"/>
                <a:cs typeface="+mn-cs"/>
              </a:rPr>
              <a:t>Board of Directors</a:t>
            </a:r>
          </a:p>
          <a:p>
            <a:pPr marL="342900" indent="-342900" algn="ctr" fontAlgn="auto">
              <a:spcBef>
                <a:spcPct val="20000"/>
              </a:spcBef>
              <a:spcAft>
                <a:spcPts val="0"/>
              </a:spcAft>
              <a:defRPr/>
            </a:pPr>
            <a:r>
              <a:rPr lang="en-AU" sz="1400" dirty="0">
                <a:solidFill>
                  <a:srgbClr val="4B2E83"/>
                </a:solidFill>
                <a:latin typeface="+mn-lt"/>
                <a:cs typeface="+mn-cs"/>
              </a:rPr>
              <a:t>Managers</a:t>
            </a:r>
          </a:p>
          <a:p>
            <a:pPr marL="342900" indent="-342900" algn="ctr" fontAlgn="auto">
              <a:spcBef>
                <a:spcPct val="20000"/>
              </a:spcBef>
              <a:spcAft>
                <a:spcPts val="0"/>
              </a:spcAft>
              <a:defRPr/>
            </a:pPr>
            <a:r>
              <a:rPr lang="en-AU" sz="1400" dirty="0">
                <a:solidFill>
                  <a:srgbClr val="4B2E83"/>
                </a:solidFill>
                <a:latin typeface="+mn-lt"/>
                <a:cs typeface="+mn-cs"/>
              </a:rPr>
              <a:t>Employees</a:t>
            </a:r>
            <a:endParaRPr lang="en-US" sz="1400" dirty="0">
              <a:solidFill>
                <a:srgbClr val="4B2E83"/>
              </a:solidFill>
              <a:latin typeface="+mn-lt"/>
              <a:cs typeface="+mn-cs"/>
            </a:endParaRPr>
          </a:p>
        </p:txBody>
      </p:sp>
      <p:sp>
        <p:nvSpPr>
          <p:cNvPr id="19" name="TextBox 18">
            <a:extLst>
              <a:ext uri="{FF2B5EF4-FFF2-40B4-BE49-F238E27FC236}">
                <a16:creationId xmlns:a16="http://schemas.microsoft.com/office/drawing/2014/main" id="{869D1FD3-C49D-2CB1-5019-06640FAF792D}"/>
              </a:ext>
            </a:extLst>
          </p:cNvPr>
          <p:cNvSpPr txBox="1"/>
          <p:nvPr/>
        </p:nvSpPr>
        <p:spPr>
          <a:xfrm>
            <a:off x="848090" y="1207869"/>
            <a:ext cx="2615496" cy="1040285"/>
          </a:xfrm>
          <a:prstGeom prst="rect">
            <a:avLst/>
          </a:prstGeom>
        </p:spPr>
        <p:txBody>
          <a:bodyPr wrap="square">
            <a:spAutoFit/>
          </a:bodyPr>
          <a:lstStyle/>
          <a:p>
            <a:pPr marL="342900" indent="-342900" algn="ctr" fontAlgn="auto">
              <a:spcBef>
                <a:spcPct val="20000"/>
              </a:spcBef>
              <a:spcAft>
                <a:spcPts val="0"/>
              </a:spcAft>
              <a:defRPr/>
            </a:pPr>
            <a:r>
              <a:rPr lang="en-US" sz="1400" b="1" u="sng" dirty="0">
                <a:solidFill>
                  <a:srgbClr val="4B2E83"/>
                </a:solidFill>
                <a:latin typeface="+mn-lt"/>
                <a:cs typeface="+mn-cs"/>
              </a:rPr>
              <a:t>External Users</a:t>
            </a:r>
          </a:p>
          <a:p>
            <a:pPr marL="342900" indent="-342900" algn="ctr" fontAlgn="auto">
              <a:spcBef>
                <a:spcPct val="20000"/>
              </a:spcBef>
              <a:spcAft>
                <a:spcPts val="0"/>
              </a:spcAft>
              <a:defRPr/>
            </a:pPr>
            <a:r>
              <a:rPr lang="en-AU" sz="1400" b="1" dirty="0">
                <a:solidFill>
                  <a:srgbClr val="4B2E83"/>
                </a:solidFill>
                <a:latin typeface="+mn-lt"/>
                <a:cs typeface="+mn-cs"/>
              </a:rPr>
              <a:t>Owners and other stakeholders</a:t>
            </a:r>
          </a:p>
          <a:p>
            <a:pPr marL="342900" indent="-342900" algn="ctr" fontAlgn="auto">
              <a:spcBef>
                <a:spcPct val="20000"/>
              </a:spcBef>
              <a:spcAft>
                <a:spcPts val="0"/>
              </a:spcAft>
              <a:defRPr/>
            </a:pPr>
            <a:endParaRPr lang="en-AU" sz="1400" b="1" dirty="0">
              <a:solidFill>
                <a:srgbClr val="4B2E83"/>
              </a:solidFill>
              <a:latin typeface="+mn-lt"/>
              <a:cs typeface="+mn-cs"/>
            </a:endParaRPr>
          </a:p>
        </p:txBody>
      </p:sp>
      <p:sp>
        <p:nvSpPr>
          <p:cNvPr id="20" name="TextBox 19">
            <a:extLst>
              <a:ext uri="{FF2B5EF4-FFF2-40B4-BE49-F238E27FC236}">
                <a16:creationId xmlns:a16="http://schemas.microsoft.com/office/drawing/2014/main" id="{399B3E40-30A5-CF6E-04BF-977069933C58}"/>
              </a:ext>
            </a:extLst>
          </p:cNvPr>
          <p:cNvSpPr txBox="1"/>
          <p:nvPr/>
        </p:nvSpPr>
        <p:spPr>
          <a:xfrm>
            <a:off x="1015833" y="2270649"/>
            <a:ext cx="2615497"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Shareholders</a:t>
            </a:r>
            <a:endParaRPr lang="en-AU" sz="1400" dirty="0">
              <a:solidFill>
                <a:srgbClr val="4B2E83"/>
              </a:solidFill>
              <a:latin typeface="+mn-lt"/>
              <a:cs typeface="+mn-cs"/>
            </a:endParaRPr>
          </a:p>
        </p:txBody>
      </p:sp>
      <p:sp>
        <p:nvSpPr>
          <p:cNvPr id="21" name="TextBox 20">
            <a:extLst>
              <a:ext uri="{FF2B5EF4-FFF2-40B4-BE49-F238E27FC236}">
                <a16:creationId xmlns:a16="http://schemas.microsoft.com/office/drawing/2014/main" id="{DC6821E1-8FDA-7CE0-B14A-D2C39F902978}"/>
              </a:ext>
            </a:extLst>
          </p:cNvPr>
          <p:cNvSpPr txBox="1"/>
          <p:nvPr/>
        </p:nvSpPr>
        <p:spPr>
          <a:xfrm>
            <a:off x="984083" y="2858162"/>
            <a:ext cx="2615497"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Creditors</a:t>
            </a:r>
            <a:endParaRPr lang="en-AU" sz="1400" dirty="0">
              <a:solidFill>
                <a:srgbClr val="4B2E83"/>
              </a:solidFill>
              <a:latin typeface="+mn-lt"/>
              <a:cs typeface="+mn-cs"/>
            </a:endParaRPr>
          </a:p>
        </p:txBody>
      </p:sp>
      <p:sp>
        <p:nvSpPr>
          <p:cNvPr id="22" name="TextBox 21">
            <a:extLst>
              <a:ext uri="{FF2B5EF4-FFF2-40B4-BE49-F238E27FC236}">
                <a16:creationId xmlns:a16="http://schemas.microsoft.com/office/drawing/2014/main" id="{1AF65C52-DBEF-C4E6-900E-430495CAF291}"/>
              </a:ext>
            </a:extLst>
          </p:cNvPr>
          <p:cNvSpPr txBox="1"/>
          <p:nvPr/>
        </p:nvSpPr>
        <p:spPr>
          <a:xfrm>
            <a:off x="5138573" y="1410224"/>
            <a:ext cx="2615496"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Banks</a:t>
            </a:r>
            <a:endParaRPr lang="en-AU" sz="1400" dirty="0">
              <a:solidFill>
                <a:srgbClr val="4B2E83"/>
              </a:solidFill>
              <a:latin typeface="+mn-lt"/>
              <a:cs typeface="+mn-cs"/>
            </a:endParaRPr>
          </a:p>
        </p:txBody>
      </p:sp>
      <p:sp>
        <p:nvSpPr>
          <p:cNvPr id="23" name="TextBox 22">
            <a:extLst>
              <a:ext uri="{FF2B5EF4-FFF2-40B4-BE49-F238E27FC236}">
                <a16:creationId xmlns:a16="http://schemas.microsoft.com/office/drawing/2014/main" id="{BD8E7674-0276-D1BE-85CE-1E25B174BE68}"/>
              </a:ext>
            </a:extLst>
          </p:cNvPr>
          <p:cNvSpPr txBox="1"/>
          <p:nvPr/>
        </p:nvSpPr>
        <p:spPr>
          <a:xfrm>
            <a:off x="5425908" y="3823362"/>
            <a:ext cx="2615497"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Governments</a:t>
            </a:r>
            <a:endParaRPr lang="en-AU" sz="1400" dirty="0">
              <a:solidFill>
                <a:srgbClr val="4B2E83"/>
              </a:solidFill>
              <a:latin typeface="+mn-lt"/>
              <a:cs typeface="+mn-cs"/>
            </a:endParaRPr>
          </a:p>
        </p:txBody>
      </p:sp>
      <p:sp>
        <p:nvSpPr>
          <p:cNvPr id="24" name="TextBox 23">
            <a:extLst>
              <a:ext uri="{FF2B5EF4-FFF2-40B4-BE49-F238E27FC236}">
                <a16:creationId xmlns:a16="http://schemas.microsoft.com/office/drawing/2014/main" id="{C982763A-C395-49AE-A6A1-1BA1055F9671}"/>
              </a:ext>
            </a:extLst>
          </p:cNvPr>
          <p:cNvSpPr txBox="1"/>
          <p:nvPr/>
        </p:nvSpPr>
        <p:spPr>
          <a:xfrm>
            <a:off x="1500023" y="3823362"/>
            <a:ext cx="2615496"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Students</a:t>
            </a:r>
            <a:endParaRPr lang="en-AU" sz="1400" dirty="0">
              <a:solidFill>
                <a:srgbClr val="4B2E83"/>
              </a:solidFill>
              <a:latin typeface="+mn-lt"/>
              <a:cs typeface="+mn-cs"/>
            </a:endParaRPr>
          </a:p>
        </p:txBody>
      </p:sp>
      <p:sp>
        <p:nvSpPr>
          <p:cNvPr id="25" name="TextBox 24">
            <a:extLst>
              <a:ext uri="{FF2B5EF4-FFF2-40B4-BE49-F238E27FC236}">
                <a16:creationId xmlns:a16="http://schemas.microsoft.com/office/drawing/2014/main" id="{6BD28A7D-BD05-4ADF-18C6-F75F474560E7}"/>
              </a:ext>
            </a:extLst>
          </p:cNvPr>
          <p:cNvSpPr txBox="1"/>
          <p:nvPr/>
        </p:nvSpPr>
        <p:spPr>
          <a:xfrm>
            <a:off x="5632283" y="1943624"/>
            <a:ext cx="2615497"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Investors</a:t>
            </a:r>
            <a:endParaRPr lang="en-AU" sz="1400" dirty="0">
              <a:solidFill>
                <a:srgbClr val="4B2E83"/>
              </a:solidFill>
              <a:latin typeface="+mn-lt"/>
              <a:cs typeface="+mn-cs"/>
            </a:endParaRPr>
          </a:p>
        </p:txBody>
      </p:sp>
      <p:sp>
        <p:nvSpPr>
          <p:cNvPr id="26" name="TextBox 25">
            <a:extLst>
              <a:ext uri="{FF2B5EF4-FFF2-40B4-BE49-F238E27FC236}">
                <a16:creationId xmlns:a16="http://schemas.microsoft.com/office/drawing/2014/main" id="{DF996161-59C9-D2BF-AEC3-88E0E202E36E}"/>
              </a:ext>
            </a:extLst>
          </p:cNvPr>
          <p:cNvSpPr txBox="1"/>
          <p:nvPr/>
        </p:nvSpPr>
        <p:spPr>
          <a:xfrm>
            <a:off x="5730875" y="3221660"/>
            <a:ext cx="2615496"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Tax Agencies</a:t>
            </a:r>
            <a:endParaRPr lang="en-AU" sz="1400" dirty="0">
              <a:solidFill>
                <a:srgbClr val="4B2E83"/>
              </a:solidFill>
              <a:latin typeface="+mn-lt"/>
              <a:cs typeface="+mn-cs"/>
            </a:endParaRPr>
          </a:p>
        </p:txBody>
      </p:sp>
      <p:sp>
        <p:nvSpPr>
          <p:cNvPr id="27" name="TextBox 26">
            <a:extLst>
              <a:ext uri="{FF2B5EF4-FFF2-40B4-BE49-F238E27FC236}">
                <a16:creationId xmlns:a16="http://schemas.microsoft.com/office/drawing/2014/main" id="{7445BDA8-7907-E878-A7FC-F5679A214DD5}"/>
              </a:ext>
            </a:extLst>
          </p:cNvPr>
          <p:cNvSpPr txBox="1"/>
          <p:nvPr/>
        </p:nvSpPr>
        <p:spPr>
          <a:xfrm>
            <a:off x="1147598" y="3375549"/>
            <a:ext cx="2615496" cy="307777"/>
          </a:xfrm>
          <a:prstGeom prst="rect">
            <a:avLst/>
          </a:prstGeom>
        </p:spPr>
        <p:txBody>
          <a:bodyPr wrap="square">
            <a:spAutoFit/>
          </a:bodyPr>
          <a:lstStyle/>
          <a:p>
            <a:pPr marL="342900" indent="-342900" algn="ctr" fontAlgn="auto">
              <a:spcBef>
                <a:spcPct val="20000"/>
              </a:spcBef>
              <a:spcAft>
                <a:spcPts val="0"/>
              </a:spcAft>
              <a:defRPr/>
            </a:pPr>
            <a:r>
              <a:rPr lang="en-US" sz="1400" dirty="0">
                <a:solidFill>
                  <a:srgbClr val="4B2E83"/>
                </a:solidFill>
                <a:latin typeface="+mn-lt"/>
                <a:cs typeface="+mn-cs"/>
              </a:rPr>
              <a:t>Media</a:t>
            </a:r>
            <a:endParaRPr lang="en-AU" sz="1400" dirty="0">
              <a:solidFill>
                <a:srgbClr val="4B2E83"/>
              </a:solidFill>
              <a:latin typeface="+mn-lt"/>
              <a:cs typeface="+mn-cs"/>
            </a:endParaRPr>
          </a:p>
        </p:txBody>
      </p:sp>
    </p:spTree>
    <p:extLst>
      <p:ext uri="{BB962C8B-B14F-4D97-AF65-F5344CB8AC3E}">
        <p14:creationId xmlns:p14="http://schemas.microsoft.com/office/powerpoint/2010/main" val="33052261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7B527-D244-4747-AD00-9068F62659AE}"/>
              </a:ext>
            </a:extLst>
          </p:cNvPr>
          <p:cNvSpPr>
            <a:spLocks noGrp="1"/>
          </p:cNvSpPr>
          <p:nvPr>
            <p:ph type="title"/>
          </p:nvPr>
        </p:nvSpPr>
        <p:spPr/>
        <p:txBody>
          <a:bodyPr/>
          <a:lstStyle/>
          <a:p>
            <a:r>
              <a:rPr lang="en-US" dirty="0"/>
              <a:t>Accounting &amp; Finance Function</a:t>
            </a:r>
          </a:p>
        </p:txBody>
      </p:sp>
      <p:pic>
        <p:nvPicPr>
          <p:cNvPr id="9" name="Content Placeholder 8" descr="Circular diagram illustrating SAP software modules, with SAP logo at center surrounded by eight colored segments. Segments represent Human Resource, Planning, Inventory Management, Reporting, CRM, Sales and Marketing, Finance and Accounting, and Production, each with corresponding white icons on blue to purple gradient background.">
            <a:extLst>
              <a:ext uri="{FF2B5EF4-FFF2-40B4-BE49-F238E27FC236}">
                <a16:creationId xmlns:a16="http://schemas.microsoft.com/office/drawing/2014/main" id="{B1CA58CF-7675-E8D9-DB62-C4CC68A0EBBF}"/>
              </a:ext>
            </a:extLst>
          </p:cNvPr>
          <p:cNvPicPr>
            <a:picLocks noGrp="1" noChangeAspect="1"/>
          </p:cNvPicPr>
          <p:nvPr>
            <p:ph idx="1"/>
          </p:nvPr>
        </p:nvPicPr>
        <p:blipFill>
          <a:blip r:embed="rId3"/>
          <a:stretch>
            <a:fillRect/>
          </a:stretch>
        </p:blipFill>
        <p:spPr>
          <a:xfrm>
            <a:off x="4132179" y="1271832"/>
            <a:ext cx="3404321" cy="3341989"/>
          </a:xfrm>
          <a:prstGeom prst="rect">
            <a:avLst/>
          </a:prstGeom>
        </p:spPr>
      </p:pic>
      <p:sp>
        <p:nvSpPr>
          <p:cNvPr id="10" name="TextBox 9">
            <a:extLst>
              <a:ext uri="{FF2B5EF4-FFF2-40B4-BE49-F238E27FC236}">
                <a16:creationId xmlns:a16="http://schemas.microsoft.com/office/drawing/2014/main" id="{C6A7B035-5E79-E28E-3CBD-FD0519D5AFEE}"/>
              </a:ext>
            </a:extLst>
          </p:cNvPr>
          <p:cNvSpPr txBox="1"/>
          <p:nvPr/>
        </p:nvSpPr>
        <p:spPr>
          <a:xfrm>
            <a:off x="1045028" y="1417588"/>
            <a:ext cx="2993127" cy="2308324"/>
          </a:xfrm>
          <a:prstGeom prst="rect">
            <a:avLst/>
          </a:prstGeom>
          <a:noFill/>
        </p:spPr>
        <p:txBody>
          <a:bodyPr wrap="none" rtlCol="0">
            <a:spAutoFit/>
          </a:bodyPr>
          <a:lstStyle/>
          <a:p>
            <a:r>
              <a:rPr lang="en-US" dirty="0">
                <a:latin typeface="+mn-lt"/>
              </a:rPr>
              <a:t>Data source for:</a:t>
            </a:r>
          </a:p>
          <a:p>
            <a:pPr marL="285750" indent="-285750">
              <a:buFont typeface="Arial" panose="020B0604020202020204" pitchFamily="34" charset="0"/>
              <a:buChar char="•"/>
            </a:pPr>
            <a:r>
              <a:rPr lang="en-US" dirty="0">
                <a:latin typeface="+mn-lt"/>
              </a:rPr>
              <a:t>Financial Reporting</a:t>
            </a:r>
          </a:p>
          <a:p>
            <a:pPr marL="285750" indent="-285750">
              <a:buFont typeface="Arial" panose="020B0604020202020204" pitchFamily="34" charset="0"/>
              <a:buChar char="•"/>
            </a:pPr>
            <a:r>
              <a:rPr lang="en-US" dirty="0">
                <a:latin typeface="+mn-lt"/>
              </a:rPr>
              <a:t>Accounting Systems</a:t>
            </a:r>
          </a:p>
          <a:p>
            <a:pPr marL="285750" indent="-285750">
              <a:buFont typeface="Arial" panose="020B0604020202020204" pitchFamily="34" charset="0"/>
              <a:buChar char="•"/>
            </a:pPr>
            <a:r>
              <a:rPr lang="en-US" dirty="0">
                <a:latin typeface="+mn-lt"/>
              </a:rPr>
              <a:t>FP&amp;A</a:t>
            </a:r>
          </a:p>
          <a:p>
            <a:pPr marL="285750" indent="-285750">
              <a:buFont typeface="Arial" panose="020B0604020202020204" pitchFamily="34" charset="0"/>
              <a:buChar char="•"/>
            </a:pPr>
            <a:r>
              <a:rPr lang="en-US" dirty="0">
                <a:latin typeface="+mn-lt"/>
              </a:rPr>
              <a:t>Inventory management</a:t>
            </a:r>
          </a:p>
          <a:p>
            <a:pPr marL="285750" indent="-285750">
              <a:buFont typeface="Arial" panose="020B0604020202020204" pitchFamily="34" charset="0"/>
              <a:buChar char="•"/>
            </a:pPr>
            <a:r>
              <a:rPr lang="en-US" dirty="0">
                <a:latin typeface="+mn-lt"/>
              </a:rPr>
              <a:t>Supply Chain Mngt.</a:t>
            </a:r>
          </a:p>
          <a:p>
            <a:pPr marL="285750" indent="-285750">
              <a:buFont typeface="Arial" panose="020B0604020202020204" pitchFamily="34" charset="0"/>
              <a:buChar char="•"/>
            </a:pPr>
            <a:r>
              <a:rPr lang="en-US" dirty="0">
                <a:latin typeface="+mn-lt"/>
              </a:rPr>
              <a:t>And many more</a:t>
            </a:r>
          </a:p>
          <a:p>
            <a:endParaRPr lang="en-US" dirty="0">
              <a:latin typeface="+mn-lt"/>
            </a:endParaRPr>
          </a:p>
        </p:txBody>
      </p:sp>
    </p:spTree>
    <p:extLst>
      <p:ext uri="{BB962C8B-B14F-4D97-AF65-F5344CB8AC3E}">
        <p14:creationId xmlns:p14="http://schemas.microsoft.com/office/powerpoint/2010/main" val="63291741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04725B-E88E-7B83-2830-70915E6201C1}"/>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50765A0C-45A2-785B-F7E7-DFA2954C4435}"/>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5E0DC66C-BBEB-2977-33CF-8D75F8875BFA}"/>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39008292-F3D4-B9CE-708B-DC1AF38E8CA5}"/>
              </a:ext>
            </a:extLst>
          </p:cNvPr>
          <p:cNvSpPr>
            <a:spLocks noGrp="1"/>
          </p:cNvSpPr>
          <p:nvPr>
            <p:ph type="body" sz="quarter" idx="13"/>
          </p:nvPr>
        </p:nvSpPr>
        <p:spPr>
          <a:xfrm>
            <a:off x="470430" y="1085336"/>
            <a:ext cx="4872038" cy="3003406"/>
          </a:xfrm>
        </p:spPr>
        <p:txBody>
          <a:bodyPr/>
          <a:lstStyle/>
          <a:p>
            <a:pPr marL="285750" indent="-285750">
              <a:buFont typeface="Arial" panose="020B0604020202020204" pitchFamily="34" charset="0"/>
              <a:buChar char="•"/>
            </a:pPr>
            <a:r>
              <a:rPr lang="en-US" dirty="0">
                <a:solidFill>
                  <a:schemeClr val="tx1">
                    <a:lumMod val="50000"/>
                    <a:lumOff val="50000"/>
                  </a:schemeClr>
                </a:solidFill>
                <a:latin typeface="+mn-lt"/>
              </a:rPr>
              <a:t>Course Overview</a:t>
            </a:r>
          </a:p>
          <a:p>
            <a:pPr marL="285750" indent="-285750">
              <a:buFont typeface="Arial" panose="020B0604020202020204" pitchFamily="34" charset="0"/>
              <a:buChar char="•"/>
            </a:pPr>
            <a:r>
              <a:rPr lang="en-US" b="1" dirty="0">
                <a:solidFill>
                  <a:srgbClr val="361F6D"/>
                </a:solidFill>
                <a:latin typeface="+mn-lt"/>
              </a:rPr>
              <a:t>Introduction to Accounting &amp; Finance Analytics</a:t>
            </a:r>
          </a:p>
          <a:p>
            <a:pPr marL="801688" lvl="1" indent="-285750"/>
            <a:r>
              <a:rPr lang="en-US" dirty="0">
                <a:solidFill>
                  <a:schemeClr val="tx1">
                    <a:lumMod val="50000"/>
                    <a:lumOff val="50000"/>
                  </a:schemeClr>
                </a:solidFill>
                <a:latin typeface="+mn-lt"/>
              </a:rPr>
              <a:t>Define the scope of the Accounting &amp; Finance Function</a:t>
            </a:r>
          </a:p>
          <a:p>
            <a:pPr marL="801688" lvl="1" indent="-285750"/>
            <a:r>
              <a:rPr lang="en-US" b="1" dirty="0">
                <a:solidFill>
                  <a:srgbClr val="361F6D"/>
                </a:solidFill>
                <a:latin typeface="+mn-lt"/>
              </a:rPr>
              <a:t>Analyze Public Disclosures</a:t>
            </a:r>
          </a:p>
          <a:p>
            <a:pPr marL="801688" lvl="1" indent="-285750"/>
            <a:r>
              <a:rPr lang="en-US" dirty="0">
                <a:latin typeface="+mn-lt"/>
              </a:rPr>
              <a:t>Analyze Transaction Level Data</a:t>
            </a:r>
          </a:p>
          <a:p>
            <a:pPr marL="801688" lvl="1" indent="-285750"/>
            <a:r>
              <a:rPr lang="en-US" dirty="0">
                <a:latin typeface="+mn-lt"/>
              </a:rPr>
              <a:t>Provide a Solution to Disclosure Decision</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01307286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71E0C-8BD4-470E-DE55-871EADF822CE}"/>
              </a:ext>
            </a:extLst>
          </p:cNvPr>
          <p:cNvSpPr>
            <a:spLocks noGrp="1"/>
          </p:cNvSpPr>
          <p:nvPr>
            <p:ph type="title"/>
          </p:nvPr>
        </p:nvSpPr>
        <p:spPr>
          <a:xfrm>
            <a:off x="463226" y="406036"/>
            <a:ext cx="4873022" cy="369332"/>
          </a:xfrm>
        </p:spPr>
        <p:txBody>
          <a:bodyPr/>
          <a:lstStyle/>
          <a:p>
            <a:r>
              <a:rPr lang="en-US" dirty="0">
                <a:solidFill>
                  <a:srgbClr val="361F6D"/>
                </a:solidFill>
              </a:rPr>
              <a:t>Analyzing Public Disclosures</a:t>
            </a:r>
            <a:br>
              <a:rPr lang="en-US" dirty="0">
                <a:solidFill>
                  <a:srgbClr val="361F6D"/>
                </a:solidFill>
              </a:rPr>
            </a:br>
            <a:endParaRPr lang="en-US" dirty="0"/>
          </a:p>
        </p:txBody>
      </p:sp>
      <p:sp>
        <p:nvSpPr>
          <p:cNvPr id="4" name="Text Placeholder 3">
            <a:extLst>
              <a:ext uri="{FF2B5EF4-FFF2-40B4-BE49-F238E27FC236}">
                <a16:creationId xmlns:a16="http://schemas.microsoft.com/office/drawing/2014/main" id="{F60C9AB5-9F56-2649-A5AC-B9A909A891F6}"/>
              </a:ext>
            </a:extLst>
          </p:cNvPr>
          <p:cNvSpPr>
            <a:spLocks noGrp="1"/>
          </p:cNvSpPr>
          <p:nvPr>
            <p:ph type="body" sz="quarter" idx="13"/>
          </p:nvPr>
        </p:nvSpPr>
        <p:spPr/>
        <p:txBody>
          <a:bodyPr/>
          <a:lstStyle/>
          <a:p>
            <a:r>
              <a:rPr lang="en-US" dirty="0">
                <a:latin typeface="+mn-lt"/>
              </a:rPr>
              <a:t>Accounting Income Matters!</a:t>
            </a:r>
          </a:p>
          <a:p>
            <a:endParaRPr lang="en-US" dirty="0">
              <a:latin typeface="+mn-lt"/>
            </a:endParaRPr>
          </a:p>
          <a:p>
            <a:r>
              <a:rPr lang="en-US" dirty="0">
                <a:latin typeface="+mn-lt"/>
              </a:rPr>
              <a:t>Empirical Evidence suggests that accounting moves markets</a:t>
            </a:r>
          </a:p>
          <a:p>
            <a:endParaRPr lang="en-US" dirty="0">
              <a:latin typeface="+mn-lt"/>
            </a:endParaRPr>
          </a:p>
          <a:p>
            <a:endParaRPr lang="en-US" dirty="0">
              <a:latin typeface="+mn-lt"/>
            </a:endParaRPr>
          </a:p>
          <a:p>
            <a:r>
              <a:rPr lang="en-US" dirty="0">
                <a:latin typeface="+mn-lt"/>
              </a:rPr>
              <a:t>Source: Ball and Brown, </a:t>
            </a:r>
            <a:r>
              <a:rPr lang="en-US" i="1" dirty="0">
                <a:latin typeface="+mn-lt"/>
              </a:rPr>
              <a:t>Journal of Accounting Research</a:t>
            </a:r>
            <a:r>
              <a:rPr lang="en-US" dirty="0">
                <a:latin typeface="+mn-lt"/>
              </a:rPr>
              <a:t>, 1968</a:t>
            </a:r>
          </a:p>
          <a:p>
            <a:endParaRPr lang="en-US" dirty="0"/>
          </a:p>
        </p:txBody>
      </p:sp>
      <p:pic>
        <p:nvPicPr>
          <p:cNvPr id="5" name="Picture 4" descr="Black-and-white line graph titled “Empirical Evaluation of Accounting Income Numbers.” The horizontal axis shows months relative to the annual report announcement date (from approximately −12 to +6 months), with a vertical line marking the announcement at month 0. The vertical axis shows an “Abnormal Performance Index,” centered around 1.00.&#10;&#10;Multiple lines represent portfolios sorted by earnings information (labeled as Variable 1, Variable 2, and Variable 3). Prior to the announcement, the lines begin to diverge: portfolios associated with higher earnings (Variables 1 and 2) show steadily increasing abnormal returns, rising above 1.05 by the announcement date, while lower-earnings portfolios (Variable 3) decline below 0.95. After the announcement, the divergence persists but flattens slightly.&#10;&#10;A “Total sample” line remains close to 1.00 throughout, indicating no abnormal performance on average. Overall, the figure illustrates that stock prices begin to reflect earnings information prior to the announcement and continue to adjust slightly afterward, with positive earnings associated with positive abnormal returns and negative earnings associated with negative abnormal returns.">
            <a:extLst>
              <a:ext uri="{FF2B5EF4-FFF2-40B4-BE49-F238E27FC236}">
                <a16:creationId xmlns:a16="http://schemas.microsoft.com/office/drawing/2014/main" id="{BD262DB1-B208-88A8-B5DF-D9BA3E2DD9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6248" y="31261"/>
            <a:ext cx="3767633" cy="50809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5108975"/>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5E2A244-60F9-889E-C455-CD39AAC56AE3}"/>
              </a:ext>
            </a:extLst>
          </p:cNvPr>
          <p:cNvSpPr>
            <a:spLocks noGrp="1"/>
          </p:cNvSpPr>
          <p:nvPr>
            <p:ph type="title"/>
          </p:nvPr>
        </p:nvSpPr>
        <p:spPr/>
        <p:txBody>
          <a:bodyPr/>
          <a:lstStyle/>
          <a:p>
            <a:r>
              <a:rPr lang="en-US" dirty="0"/>
              <a:t>What is accounting income?</a:t>
            </a:r>
          </a:p>
        </p:txBody>
      </p:sp>
      <p:sp>
        <p:nvSpPr>
          <p:cNvPr id="6" name="Content Placeholder 5">
            <a:extLst>
              <a:ext uri="{FF2B5EF4-FFF2-40B4-BE49-F238E27FC236}">
                <a16:creationId xmlns:a16="http://schemas.microsoft.com/office/drawing/2014/main" id="{6A57A959-C0C5-C827-E2EF-D543C893D12B}"/>
              </a:ext>
            </a:extLst>
          </p:cNvPr>
          <p:cNvSpPr>
            <a:spLocks noGrp="1"/>
          </p:cNvSpPr>
          <p:nvPr>
            <p:ph idx="1"/>
          </p:nvPr>
        </p:nvSpPr>
        <p:spPr>
          <a:xfrm>
            <a:off x="1458490" y="1718008"/>
            <a:ext cx="6134555" cy="2084481"/>
          </a:xfrm>
        </p:spPr>
        <p:txBody>
          <a:bodyPr/>
          <a:lstStyle/>
          <a:p>
            <a:r>
              <a:rPr lang="en-US" sz="2400" b="1" dirty="0">
                <a:solidFill>
                  <a:schemeClr val="tx2"/>
                </a:solidFill>
              </a:rPr>
              <a:t>Net Income = Revenues – Expenses</a:t>
            </a:r>
          </a:p>
          <a:p>
            <a:endParaRPr lang="en-US" dirty="0"/>
          </a:p>
          <a:p>
            <a:endParaRPr lang="en-US" dirty="0"/>
          </a:p>
          <a:p>
            <a:r>
              <a:rPr lang="en-US" dirty="0"/>
              <a:t>For an accounting period (often reported quarterly, and annually)</a:t>
            </a:r>
          </a:p>
        </p:txBody>
      </p:sp>
    </p:spTree>
    <p:extLst>
      <p:ext uri="{BB962C8B-B14F-4D97-AF65-F5344CB8AC3E}">
        <p14:creationId xmlns:p14="http://schemas.microsoft.com/office/powerpoint/2010/main" val="73401493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9A585-84F5-A222-23E5-F0BE3EC54E20}"/>
              </a:ext>
            </a:extLst>
          </p:cNvPr>
          <p:cNvSpPr>
            <a:spLocks noGrp="1"/>
          </p:cNvSpPr>
          <p:nvPr>
            <p:ph type="title"/>
          </p:nvPr>
        </p:nvSpPr>
        <p:spPr/>
        <p:txBody>
          <a:bodyPr/>
          <a:lstStyle/>
          <a:p>
            <a:r>
              <a:rPr lang="en-US" dirty="0"/>
              <a:t>The Income Statement</a:t>
            </a:r>
          </a:p>
        </p:txBody>
      </p:sp>
      <p:sp>
        <p:nvSpPr>
          <p:cNvPr id="3" name="Content Placeholder 2">
            <a:extLst>
              <a:ext uri="{FF2B5EF4-FFF2-40B4-BE49-F238E27FC236}">
                <a16:creationId xmlns:a16="http://schemas.microsoft.com/office/drawing/2014/main" id="{67E4407E-FD98-D1EC-8919-665AE6082521}"/>
              </a:ext>
            </a:extLst>
          </p:cNvPr>
          <p:cNvSpPr>
            <a:spLocks noGrp="1"/>
          </p:cNvSpPr>
          <p:nvPr>
            <p:ph idx="1"/>
          </p:nvPr>
        </p:nvSpPr>
        <p:spPr>
          <a:xfrm>
            <a:off x="469445" y="1083527"/>
            <a:ext cx="8394637" cy="2084481"/>
          </a:xfrm>
        </p:spPr>
        <p:txBody>
          <a:bodyPr/>
          <a:lstStyle/>
          <a:p>
            <a:r>
              <a:rPr lang="en-US" dirty="0"/>
              <a:t>Displays financial performance derived from business operations over a specific accounting period by reporting:</a:t>
            </a:r>
          </a:p>
          <a:p>
            <a:pPr marL="285750" indent="-285750">
              <a:buFont typeface="Arial" panose="020B0604020202020204" pitchFamily="34" charset="0"/>
              <a:buChar char="•"/>
            </a:pPr>
            <a:r>
              <a:rPr lang="en-US" b="1" dirty="0"/>
              <a:t>Revenue</a:t>
            </a:r>
            <a:r>
              <a:rPr lang="en-US" dirty="0"/>
              <a:t>: inflows of economic benefits that increase shareholders equity.</a:t>
            </a:r>
          </a:p>
          <a:p>
            <a:pPr marL="801688" lvl="1" indent="-285750"/>
            <a:r>
              <a:rPr lang="en-US" dirty="0"/>
              <a:t>e.g., sales revenue, service revenue, fees earned</a:t>
            </a:r>
          </a:p>
          <a:p>
            <a:pPr marL="285750" indent="-285750">
              <a:buFont typeface="Arial" panose="020B0604020202020204" pitchFamily="34" charset="0"/>
              <a:buChar char="•"/>
            </a:pPr>
            <a:r>
              <a:rPr lang="en-US" b="1" dirty="0"/>
              <a:t>Expenses</a:t>
            </a:r>
            <a:r>
              <a:rPr lang="en-US" dirty="0"/>
              <a:t>: Use or loss of economic benefits that decrease shareholders equity.  </a:t>
            </a:r>
          </a:p>
          <a:p>
            <a:pPr marL="801688" lvl="1" indent="-285750"/>
            <a:r>
              <a:rPr lang="en-US" dirty="0"/>
              <a:t>Incurred when you use resources to generate revenue, e.g., cost of goods sold, wages and salaries</a:t>
            </a:r>
          </a:p>
          <a:p>
            <a:r>
              <a:rPr lang="en-US" dirty="0"/>
              <a:t>If revenues are greater than expenses, a </a:t>
            </a:r>
            <a:r>
              <a:rPr lang="en-US" b="1" dirty="0">
                <a:solidFill>
                  <a:schemeClr val="tx2"/>
                </a:solidFill>
              </a:rPr>
              <a:t>net profit</a:t>
            </a:r>
            <a:r>
              <a:rPr lang="en-US" dirty="0"/>
              <a:t> is reported</a:t>
            </a:r>
          </a:p>
          <a:p>
            <a:r>
              <a:rPr lang="en-US" dirty="0"/>
              <a:t>If revenues are less than expenses, a </a:t>
            </a:r>
            <a:r>
              <a:rPr lang="en-US" b="1" dirty="0"/>
              <a:t>net loss</a:t>
            </a:r>
            <a:r>
              <a:rPr lang="en-US" dirty="0"/>
              <a:t> is reported</a:t>
            </a:r>
          </a:p>
          <a:p>
            <a:endParaRPr lang="en-US" dirty="0"/>
          </a:p>
        </p:txBody>
      </p:sp>
    </p:spTree>
    <p:extLst>
      <p:ext uri="{BB962C8B-B14F-4D97-AF65-F5344CB8AC3E}">
        <p14:creationId xmlns:p14="http://schemas.microsoft.com/office/powerpoint/2010/main" val="171716770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B5F98-FC74-2C26-ACBF-C4F61D54928A}"/>
              </a:ext>
            </a:extLst>
          </p:cNvPr>
          <p:cNvSpPr>
            <a:spLocks noGrp="1"/>
          </p:cNvSpPr>
          <p:nvPr>
            <p:ph type="title"/>
          </p:nvPr>
        </p:nvSpPr>
        <p:spPr/>
        <p:txBody>
          <a:bodyPr/>
          <a:lstStyle/>
          <a:p>
            <a:r>
              <a:rPr lang="en-US" dirty="0"/>
              <a:t>Analyzing Public Disclosures</a:t>
            </a:r>
          </a:p>
        </p:txBody>
      </p:sp>
      <p:pic>
        <p:nvPicPr>
          <p:cNvPr id="5" name="Picture 4" descr="Histogram displaying frequency distribution of earnings intervals ranging from -0.25 to 0.35, with a notable spike just above zero around 0.05. The graph highlights a sharp increase in frequency at positive earnings intervals, suggesting clustering or concentration of earnings data near this value.">
            <a:extLst>
              <a:ext uri="{FF2B5EF4-FFF2-40B4-BE49-F238E27FC236}">
                <a16:creationId xmlns:a16="http://schemas.microsoft.com/office/drawing/2014/main" id="{48EEAA61-C874-5B4A-43BB-CC3270324E1C}"/>
              </a:ext>
            </a:extLst>
          </p:cNvPr>
          <p:cNvPicPr>
            <a:picLocks noChangeAspect="1" noChangeArrowheads="1"/>
          </p:cNvPicPr>
          <p:nvPr/>
        </p:nvPicPr>
        <p:blipFill>
          <a:blip r:embed="rId3" cstate="print"/>
          <a:srcRect/>
          <a:stretch>
            <a:fillRect/>
          </a:stretch>
        </p:blipFill>
        <p:spPr bwMode="auto">
          <a:xfrm>
            <a:off x="1562100" y="924119"/>
            <a:ext cx="6019800" cy="3581400"/>
          </a:xfrm>
          <a:prstGeom prst="rect">
            <a:avLst/>
          </a:prstGeom>
          <a:noFill/>
          <a:ln w="9525">
            <a:noFill/>
            <a:miter lim="800000"/>
            <a:headEnd/>
            <a:tailEnd/>
          </a:ln>
        </p:spPr>
      </p:pic>
      <p:sp>
        <p:nvSpPr>
          <p:cNvPr id="6" name="Rectangle 5">
            <a:extLst>
              <a:ext uri="{FF2B5EF4-FFF2-40B4-BE49-F238E27FC236}">
                <a16:creationId xmlns:a16="http://schemas.microsoft.com/office/drawing/2014/main" id="{592A8537-E58C-7A75-5030-DEF9AF6E2AC5}"/>
              </a:ext>
            </a:extLst>
          </p:cNvPr>
          <p:cNvSpPr>
            <a:spLocks noChangeArrowheads="1"/>
          </p:cNvSpPr>
          <p:nvPr/>
        </p:nvSpPr>
        <p:spPr bwMode="auto">
          <a:xfrm>
            <a:off x="122076" y="4505519"/>
            <a:ext cx="8763000" cy="533400"/>
          </a:xfrm>
          <a:prstGeom prst="rect">
            <a:avLst/>
          </a:prstGeom>
          <a:noFill/>
          <a:ln w="9525">
            <a:noFill/>
            <a:miter lim="800000"/>
            <a:headEnd/>
            <a:tailEnd/>
          </a:ln>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342900" indent="-342900" eaLnBrk="1" hangingPunct="1">
              <a:spcBef>
                <a:spcPct val="20000"/>
              </a:spcBef>
            </a:pPr>
            <a:r>
              <a:rPr lang="en-US" sz="2000" b="1" dirty="0"/>
              <a:t>Source: Burgstahler and </a:t>
            </a:r>
            <a:r>
              <a:rPr lang="en-US" sz="2000" b="1" dirty="0" err="1"/>
              <a:t>Dichev</a:t>
            </a:r>
            <a:r>
              <a:rPr lang="en-US" sz="2000" b="1" dirty="0"/>
              <a:t>, 1997 </a:t>
            </a:r>
            <a:r>
              <a:rPr lang="en-US" sz="2000" b="1" i="1" dirty="0"/>
              <a:t>J. of Accounting &amp; Economics</a:t>
            </a:r>
            <a:r>
              <a:rPr lang="en-US" sz="3200" b="1" dirty="0"/>
              <a:t> </a:t>
            </a:r>
          </a:p>
        </p:txBody>
      </p:sp>
    </p:spTree>
    <p:extLst>
      <p:ext uri="{BB962C8B-B14F-4D97-AF65-F5344CB8AC3E}">
        <p14:creationId xmlns:p14="http://schemas.microsoft.com/office/powerpoint/2010/main" val="4040727172"/>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3BC00-A0D4-5953-1138-165E477B9F08}"/>
              </a:ext>
            </a:extLst>
          </p:cNvPr>
          <p:cNvSpPr>
            <a:spLocks noGrp="1"/>
          </p:cNvSpPr>
          <p:nvPr>
            <p:ph type="title"/>
          </p:nvPr>
        </p:nvSpPr>
        <p:spPr/>
        <p:txBody>
          <a:bodyPr/>
          <a:lstStyle/>
          <a:p>
            <a:r>
              <a:rPr lang="en-US" dirty="0"/>
              <a:t>Analyzing Public Disclosures</a:t>
            </a:r>
          </a:p>
        </p:txBody>
      </p:sp>
      <p:sp>
        <p:nvSpPr>
          <p:cNvPr id="4" name="Text Placeholder 3">
            <a:extLst>
              <a:ext uri="{FF2B5EF4-FFF2-40B4-BE49-F238E27FC236}">
                <a16:creationId xmlns:a16="http://schemas.microsoft.com/office/drawing/2014/main" id="{059C59D9-D7D2-844E-9697-C6CE6A44AD29}"/>
              </a:ext>
            </a:extLst>
          </p:cNvPr>
          <p:cNvSpPr>
            <a:spLocks noGrp="1"/>
          </p:cNvSpPr>
          <p:nvPr>
            <p:ph type="body" sz="quarter" idx="13"/>
          </p:nvPr>
        </p:nvSpPr>
        <p:spPr/>
        <p:txBody>
          <a:bodyPr/>
          <a:lstStyle/>
          <a:p>
            <a:r>
              <a:rPr lang="en-US" dirty="0"/>
              <a:t>Team Activity:</a:t>
            </a:r>
          </a:p>
          <a:p>
            <a:endParaRPr lang="en-US" dirty="0"/>
          </a:p>
          <a:p>
            <a:r>
              <a:rPr lang="en-US" b="1" dirty="0">
                <a:solidFill>
                  <a:schemeClr val="tx2"/>
                </a:solidFill>
              </a:rPr>
              <a:t>Part 1: Analysis of Marriott’s Public Disclosures (as a class).</a:t>
            </a:r>
          </a:p>
          <a:p>
            <a:r>
              <a:rPr lang="en-US" dirty="0">
                <a:hlinkClick r:id="rId3"/>
              </a:rPr>
              <a:t>Investor Relations | Marriott International</a:t>
            </a:r>
            <a:endParaRPr lang="en-US" dirty="0"/>
          </a:p>
          <a:p>
            <a:endParaRPr lang="en-US" dirty="0"/>
          </a:p>
          <a:p>
            <a:r>
              <a:rPr lang="en-US" dirty="0"/>
              <a:t>Part 2: Analysis of other company filings (in teams)</a:t>
            </a:r>
          </a:p>
          <a:p>
            <a:endParaRPr lang="en-US" dirty="0"/>
          </a:p>
          <a:p>
            <a:endParaRPr lang="en-US" dirty="0"/>
          </a:p>
        </p:txBody>
      </p:sp>
    </p:spTree>
    <p:extLst>
      <p:ext uri="{BB962C8B-B14F-4D97-AF65-F5344CB8AC3E}">
        <p14:creationId xmlns:p14="http://schemas.microsoft.com/office/powerpoint/2010/main" val="1603366011"/>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9DE2C-BE19-0B42-DC7A-BF2BB9CFA115}"/>
              </a:ext>
            </a:extLst>
          </p:cNvPr>
          <p:cNvSpPr>
            <a:spLocks noGrp="1"/>
          </p:cNvSpPr>
          <p:nvPr>
            <p:ph type="title"/>
          </p:nvPr>
        </p:nvSpPr>
        <p:spPr/>
        <p:txBody>
          <a:bodyPr/>
          <a:lstStyle/>
          <a:p>
            <a:r>
              <a:rPr lang="en-US" dirty="0"/>
              <a:t>Marriott</a:t>
            </a:r>
          </a:p>
        </p:txBody>
      </p:sp>
      <p:sp>
        <p:nvSpPr>
          <p:cNvPr id="4" name="Text Placeholder 3">
            <a:extLst>
              <a:ext uri="{FF2B5EF4-FFF2-40B4-BE49-F238E27FC236}">
                <a16:creationId xmlns:a16="http://schemas.microsoft.com/office/drawing/2014/main" id="{9A881CF1-2D11-75E6-B1A0-AEEC50B97400}"/>
              </a:ext>
            </a:extLst>
          </p:cNvPr>
          <p:cNvSpPr>
            <a:spLocks noGrp="1"/>
          </p:cNvSpPr>
          <p:nvPr>
            <p:ph type="body" sz="quarter" idx="13"/>
          </p:nvPr>
        </p:nvSpPr>
        <p:spPr/>
        <p:txBody>
          <a:bodyPr/>
          <a:lstStyle/>
          <a:p>
            <a:endParaRPr lang="en-US"/>
          </a:p>
        </p:txBody>
      </p:sp>
      <p:pic>
        <p:nvPicPr>
          <p:cNvPr id="6" name="Picture 5" descr="Line chart showing Marriott International, Inc. (MAR) stock price performance over six months, with a green highlight indicating a 24.40% increase. Chart features yellow key event markers, a mountain-style price graph in teal, volume bars in gray, and current price labeled at 331.30 with a -0.65% change. A yellow rectangle is highlighting the visible spike in market price and trading volume around the most recent earnings announcement.">
            <a:extLst>
              <a:ext uri="{FF2B5EF4-FFF2-40B4-BE49-F238E27FC236}">
                <a16:creationId xmlns:a16="http://schemas.microsoft.com/office/drawing/2014/main" id="{701B3D9A-91D6-F04A-3A38-61AA6C5BC668}"/>
              </a:ext>
            </a:extLst>
          </p:cNvPr>
          <p:cNvPicPr>
            <a:picLocks noChangeAspect="1"/>
          </p:cNvPicPr>
          <p:nvPr/>
        </p:nvPicPr>
        <p:blipFill>
          <a:blip r:embed="rId3"/>
          <a:stretch>
            <a:fillRect/>
          </a:stretch>
        </p:blipFill>
        <p:spPr>
          <a:xfrm>
            <a:off x="469446" y="893502"/>
            <a:ext cx="7868816" cy="3649306"/>
          </a:xfrm>
          <a:prstGeom prst="rect">
            <a:avLst/>
          </a:prstGeom>
        </p:spPr>
      </p:pic>
      <p:sp>
        <p:nvSpPr>
          <p:cNvPr id="7" name="Rectangle 6">
            <a:extLst>
              <a:ext uri="{FF2B5EF4-FFF2-40B4-BE49-F238E27FC236}">
                <a16:creationId xmlns:a16="http://schemas.microsoft.com/office/drawing/2014/main" id="{1FB19BE2-3A08-E9BA-ACEE-9C6721C88528}"/>
              </a:ext>
            </a:extLst>
          </p:cNvPr>
          <p:cNvSpPr/>
          <p:nvPr/>
        </p:nvSpPr>
        <p:spPr>
          <a:xfrm>
            <a:off x="5417976" y="2289110"/>
            <a:ext cx="304800" cy="1960888"/>
          </a:xfrm>
          <a:prstGeom prst="rect">
            <a:avLst/>
          </a:prstGeom>
          <a:noFill/>
          <a:ln w="28575">
            <a:solidFill>
              <a:srgbClr val="C09F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39421399"/>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3E7D6-3F95-653E-4400-AB4B33797B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C56EA6-25F5-97C1-2DC8-E5E944AA6D56}"/>
              </a:ext>
            </a:extLst>
          </p:cNvPr>
          <p:cNvSpPr>
            <a:spLocks noGrp="1"/>
          </p:cNvSpPr>
          <p:nvPr>
            <p:ph type="title"/>
          </p:nvPr>
        </p:nvSpPr>
        <p:spPr/>
        <p:txBody>
          <a:bodyPr/>
          <a:lstStyle/>
          <a:p>
            <a:r>
              <a:rPr lang="en-US" dirty="0"/>
              <a:t>Analyzing Public Disclosures</a:t>
            </a:r>
          </a:p>
        </p:txBody>
      </p:sp>
      <p:sp>
        <p:nvSpPr>
          <p:cNvPr id="4" name="Text Placeholder 3">
            <a:extLst>
              <a:ext uri="{FF2B5EF4-FFF2-40B4-BE49-F238E27FC236}">
                <a16:creationId xmlns:a16="http://schemas.microsoft.com/office/drawing/2014/main" id="{CB36D306-E6C0-0156-F483-41B9A1399E88}"/>
              </a:ext>
            </a:extLst>
          </p:cNvPr>
          <p:cNvSpPr>
            <a:spLocks noGrp="1"/>
          </p:cNvSpPr>
          <p:nvPr>
            <p:ph type="body" sz="quarter" idx="13"/>
          </p:nvPr>
        </p:nvSpPr>
        <p:spPr/>
        <p:txBody>
          <a:bodyPr/>
          <a:lstStyle/>
          <a:p>
            <a:r>
              <a:rPr lang="en-US" dirty="0"/>
              <a:t>Team Activity:</a:t>
            </a:r>
          </a:p>
          <a:p>
            <a:endParaRPr lang="en-US" dirty="0"/>
          </a:p>
          <a:p>
            <a:r>
              <a:rPr lang="en-US" dirty="0"/>
              <a:t>Part 2: Analysis of other company filings (in teams)</a:t>
            </a:r>
          </a:p>
          <a:p>
            <a:pPr marL="285750" indent="-285750">
              <a:buFont typeface="Arial" panose="020B0604020202020204" pitchFamily="34" charset="0"/>
              <a:buChar char="•"/>
            </a:pPr>
            <a:r>
              <a:rPr lang="en-US" dirty="0">
                <a:hlinkClick r:id="rId3"/>
              </a:rPr>
              <a:t>Hilton – Investor Relations</a:t>
            </a:r>
            <a:endParaRPr lang="en-US" dirty="0"/>
          </a:p>
          <a:p>
            <a:pPr marL="285750" indent="-285750">
              <a:buFont typeface="Arial" panose="020B0604020202020204" pitchFamily="34" charset="0"/>
              <a:buChar char="•"/>
            </a:pPr>
            <a:r>
              <a:rPr lang="en-US" dirty="0">
                <a:hlinkClick r:id="rId4"/>
              </a:rPr>
              <a:t>Hyatt Hotels Corporation - Investor Relations</a:t>
            </a:r>
            <a:endParaRPr lang="en-US" dirty="0"/>
          </a:p>
          <a:p>
            <a:pPr marL="285750" indent="-285750">
              <a:buFont typeface="Arial" panose="020B0604020202020204" pitchFamily="34" charset="0"/>
              <a:buChar char="•"/>
            </a:pPr>
            <a:r>
              <a:rPr lang="en-US" dirty="0">
                <a:hlinkClick r:id="rId5"/>
              </a:rPr>
              <a:t>Investors - InterContinental Hotels Group PLC</a:t>
            </a:r>
            <a:endParaRPr lang="en-US" dirty="0"/>
          </a:p>
          <a:p>
            <a:pPr marL="285750" indent="-285750">
              <a:buFont typeface="Arial" panose="020B0604020202020204" pitchFamily="34" charset="0"/>
              <a:buChar char="•"/>
            </a:pPr>
            <a:r>
              <a:rPr lang="en-US" dirty="0">
                <a:hlinkClick r:id="rId6"/>
              </a:rPr>
              <a:t>Wyndham Hotels &amp; Resorts, Inc. (WH)</a:t>
            </a:r>
            <a:endParaRPr lang="en-US" dirty="0"/>
          </a:p>
          <a:p>
            <a:endParaRPr lang="en-US" dirty="0"/>
          </a:p>
          <a:p>
            <a:endParaRPr lang="en-US" dirty="0"/>
          </a:p>
        </p:txBody>
      </p:sp>
    </p:spTree>
    <p:extLst>
      <p:ext uri="{BB962C8B-B14F-4D97-AF65-F5344CB8AC3E}">
        <p14:creationId xmlns:p14="http://schemas.microsoft.com/office/powerpoint/2010/main" val="85005548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4D61C-5264-4857-8BB3-1316C2A05287}"/>
              </a:ext>
            </a:extLst>
          </p:cNvPr>
          <p:cNvSpPr>
            <a:spLocks noGrp="1"/>
          </p:cNvSpPr>
          <p:nvPr>
            <p:ph type="title"/>
          </p:nvPr>
        </p:nvSpPr>
        <p:spPr/>
        <p:txBody>
          <a:bodyPr/>
          <a:lstStyle/>
          <a:p>
            <a:r>
              <a:rPr lang="en-US" dirty="0"/>
              <a:t>GAAP and Non-GAAP</a:t>
            </a:r>
          </a:p>
        </p:txBody>
      </p:sp>
      <p:sp>
        <p:nvSpPr>
          <p:cNvPr id="5" name="Rectangle 4">
            <a:extLst>
              <a:ext uri="{FF2B5EF4-FFF2-40B4-BE49-F238E27FC236}">
                <a16:creationId xmlns:a16="http://schemas.microsoft.com/office/drawing/2014/main" id="{58B5FCE9-EC7C-8690-7021-D6A23CAA8568}"/>
              </a:ext>
            </a:extLst>
          </p:cNvPr>
          <p:cNvSpPr/>
          <p:nvPr/>
        </p:nvSpPr>
        <p:spPr>
          <a:xfrm>
            <a:off x="544805" y="1009863"/>
            <a:ext cx="3479802" cy="12954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GAAP EPS</a:t>
            </a:r>
          </a:p>
        </p:txBody>
      </p:sp>
      <p:sp>
        <p:nvSpPr>
          <p:cNvPr id="6" name="Rectangle 5">
            <a:extLst>
              <a:ext uri="{FF2B5EF4-FFF2-40B4-BE49-F238E27FC236}">
                <a16:creationId xmlns:a16="http://schemas.microsoft.com/office/drawing/2014/main" id="{784404BA-3037-CF1F-8E6B-0C4F0F356A6C}"/>
              </a:ext>
            </a:extLst>
          </p:cNvPr>
          <p:cNvSpPr/>
          <p:nvPr/>
        </p:nvSpPr>
        <p:spPr>
          <a:xfrm>
            <a:off x="4780899" y="1009863"/>
            <a:ext cx="3386739" cy="12954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dirty="0"/>
              <a:t>Pro-forma / Non-GAAP EPS</a:t>
            </a:r>
          </a:p>
        </p:txBody>
      </p:sp>
      <p:sp>
        <p:nvSpPr>
          <p:cNvPr id="8" name="TextBox 9">
            <a:extLst>
              <a:ext uri="{FF2B5EF4-FFF2-40B4-BE49-F238E27FC236}">
                <a16:creationId xmlns:a16="http://schemas.microsoft.com/office/drawing/2014/main" id="{C201E47E-B093-1F3E-BF70-FE41FEE57AFA}"/>
              </a:ext>
            </a:extLst>
          </p:cNvPr>
          <p:cNvSpPr txBox="1"/>
          <p:nvPr/>
        </p:nvSpPr>
        <p:spPr>
          <a:xfrm>
            <a:off x="446834" y="3087224"/>
            <a:ext cx="3675744" cy="156966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pitchFamily="2" charset="2"/>
              <a:buChar char="ü"/>
            </a:pPr>
            <a:r>
              <a:rPr lang="en-US" sz="1600" dirty="0"/>
              <a:t>Measured according to well established rules (GAAP)</a:t>
            </a:r>
          </a:p>
          <a:p>
            <a:pPr marL="285750" indent="-285750">
              <a:buFont typeface="Wingdings" pitchFamily="2" charset="2"/>
              <a:buChar char="ü"/>
            </a:pPr>
            <a:r>
              <a:rPr lang="en-US" sz="1600" dirty="0"/>
              <a:t>Often comparable across firms</a:t>
            </a:r>
          </a:p>
          <a:p>
            <a:pPr marL="285750" indent="-285750">
              <a:buFont typeface="Wingdings" pitchFamily="2" charset="2"/>
              <a:buChar char="ü"/>
            </a:pPr>
            <a:r>
              <a:rPr lang="en-US" sz="1600" dirty="0"/>
              <a:t>Includes transitory items, discontinued operations and extraordinary items</a:t>
            </a:r>
          </a:p>
        </p:txBody>
      </p:sp>
      <p:sp>
        <p:nvSpPr>
          <p:cNvPr id="10" name="TextBox 11">
            <a:extLst>
              <a:ext uri="{FF2B5EF4-FFF2-40B4-BE49-F238E27FC236}">
                <a16:creationId xmlns:a16="http://schemas.microsoft.com/office/drawing/2014/main" id="{15791F63-95C7-C8C2-6E6A-ED2448C41112}"/>
              </a:ext>
            </a:extLst>
          </p:cNvPr>
          <p:cNvSpPr txBox="1"/>
          <p:nvPr/>
        </p:nvSpPr>
        <p:spPr>
          <a:xfrm>
            <a:off x="4816147" y="3087224"/>
            <a:ext cx="3881019" cy="1815882"/>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Wingdings" pitchFamily="2" charset="2"/>
              <a:buChar char="ü"/>
            </a:pPr>
            <a:r>
              <a:rPr lang="en-US" sz="1600" dirty="0"/>
              <a:t>Based on managers discretion</a:t>
            </a:r>
          </a:p>
          <a:p>
            <a:pPr marL="285750" indent="-285750">
              <a:buFont typeface="Wingdings" pitchFamily="2" charset="2"/>
              <a:buChar char="ü"/>
            </a:pPr>
            <a:r>
              <a:rPr lang="en-US" sz="1600" dirty="0"/>
              <a:t>Not often comparable across firms</a:t>
            </a:r>
          </a:p>
          <a:p>
            <a:pPr marL="285750" indent="-285750">
              <a:buFont typeface="Wingdings" pitchFamily="2" charset="2"/>
              <a:buChar char="ü"/>
            </a:pPr>
            <a:r>
              <a:rPr lang="en-US" sz="1600" dirty="0"/>
              <a:t>Highlighted by the SEC as a potential fraud risk</a:t>
            </a:r>
          </a:p>
          <a:p>
            <a:pPr marL="285750" indent="-285750">
              <a:buFont typeface="Wingdings" pitchFamily="2" charset="2"/>
              <a:buChar char="ü"/>
            </a:pPr>
            <a:r>
              <a:rPr lang="en-US" sz="1600" dirty="0"/>
              <a:t>Measures core earnings, / the firm’s own measure of performance</a:t>
            </a:r>
          </a:p>
          <a:p>
            <a:pPr marL="285750" indent="-285750">
              <a:buFont typeface="Wingdings" pitchFamily="2" charset="2"/>
              <a:buChar char="ü"/>
            </a:pPr>
            <a:r>
              <a:rPr lang="en-US" sz="1600" dirty="0"/>
              <a:t>Often used in CEO compensation</a:t>
            </a:r>
          </a:p>
        </p:txBody>
      </p:sp>
    </p:spTree>
    <p:extLst>
      <p:ext uri="{BB962C8B-B14F-4D97-AF65-F5344CB8AC3E}">
        <p14:creationId xmlns:p14="http://schemas.microsoft.com/office/powerpoint/2010/main" val="198005465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9F7B24-2CDD-E5FE-903B-BE50C20E1194}"/>
              </a:ext>
            </a:extLst>
          </p:cNvPr>
          <p:cNvSpPr>
            <a:spLocks noGrp="1"/>
          </p:cNvSpPr>
          <p:nvPr>
            <p:ph type="title"/>
          </p:nvPr>
        </p:nvSpPr>
        <p:spPr>
          <a:xfrm>
            <a:off x="183032" y="68818"/>
            <a:ext cx="6134555" cy="369332"/>
          </a:xfrm>
        </p:spPr>
        <p:txBody>
          <a:bodyPr/>
          <a:lstStyle/>
          <a:p>
            <a:r>
              <a:rPr lang="en-US" dirty="0"/>
              <a:t>Understanding the Income statement</a:t>
            </a:r>
          </a:p>
        </p:txBody>
      </p:sp>
      <p:sp>
        <p:nvSpPr>
          <p:cNvPr id="7" name="Down Arrow 7">
            <a:extLst>
              <a:ext uri="{FF2B5EF4-FFF2-40B4-BE49-F238E27FC236}">
                <a16:creationId xmlns:a16="http://schemas.microsoft.com/office/drawing/2014/main" id="{91D57515-7514-0AE4-4E0E-87A825BBE93E}"/>
              </a:ext>
            </a:extLst>
          </p:cNvPr>
          <p:cNvSpPr/>
          <p:nvPr/>
        </p:nvSpPr>
        <p:spPr>
          <a:xfrm>
            <a:off x="5774064" y="742950"/>
            <a:ext cx="467323" cy="385976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8" name="TextBox 8">
            <a:extLst>
              <a:ext uri="{FF2B5EF4-FFF2-40B4-BE49-F238E27FC236}">
                <a16:creationId xmlns:a16="http://schemas.microsoft.com/office/drawing/2014/main" id="{1D0DB467-6932-C63A-F64E-4F7DEDF86708}"/>
              </a:ext>
            </a:extLst>
          </p:cNvPr>
          <p:cNvSpPr txBox="1"/>
          <p:nvPr/>
        </p:nvSpPr>
        <p:spPr>
          <a:xfrm>
            <a:off x="614334" y="682896"/>
            <a:ext cx="3317831"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Sales, COGS, SG&amp;A, Depreciation </a:t>
            </a:r>
          </a:p>
        </p:txBody>
      </p:sp>
      <p:sp>
        <p:nvSpPr>
          <p:cNvPr id="9" name="TextBox 9">
            <a:extLst>
              <a:ext uri="{FF2B5EF4-FFF2-40B4-BE49-F238E27FC236}">
                <a16:creationId xmlns:a16="http://schemas.microsoft.com/office/drawing/2014/main" id="{142019D0-816E-4FCD-B5AD-17177C99D064}"/>
              </a:ext>
            </a:extLst>
          </p:cNvPr>
          <p:cNvSpPr txBox="1"/>
          <p:nvPr/>
        </p:nvSpPr>
        <p:spPr>
          <a:xfrm>
            <a:off x="614334" y="1470461"/>
            <a:ext cx="2676182"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Interest, minority interests</a:t>
            </a:r>
          </a:p>
        </p:txBody>
      </p:sp>
      <p:sp>
        <p:nvSpPr>
          <p:cNvPr id="10" name="TextBox 10">
            <a:extLst>
              <a:ext uri="{FF2B5EF4-FFF2-40B4-BE49-F238E27FC236}">
                <a16:creationId xmlns:a16="http://schemas.microsoft.com/office/drawing/2014/main" id="{8C67A000-F6F8-E411-CDC0-793D5D5CE288}"/>
              </a:ext>
            </a:extLst>
          </p:cNvPr>
          <p:cNvSpPr txBox="1"/>
          <p:nvPr/>
        </p:nvSpPr>
        <p:spPr>
          <a:xfrm>
            <a:off x="614334" y="1839793"/>
            <a:ext cx="3434338"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Non-operating income, income tax</a:t>
            </a:r>
          </a:p>
        </p:txBody>
      </p:sp>
      <p:sp>
        <p:nvSpPr>
          <p:cNvPr id="11" name="TextBox 11">
            <a:extLst>
              <a:ext uri="{FF2B5EF4-FFF2-40B4-BE49-F238E27FC236}">
                <a16:creationId xmlns:a16="http://schemas.microsoft.com/office/drawing/2014/main" id="{8CA02081-DB49-4063-6FCC-BE948783B16E}"/>
              </a:ext>
            </a:extLst>
          </p:cNvPr>
          <p:cNvSpPr txBox="1"/>
          <p:nvPr/>
        </p:nvSpPr>
        <p:spPr>
          <a:xfrm>
            <a:off x="614334" y="2872104"/>
            <a:ext cx="3170035" cy="1200329"/>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Special items</a:t>
            </a:r>
          </a:p>
          <a:p>
            <a:r>
              <a:rPr lang="en-US" dirty="0"/>
              <a:t>	-restructuring charges</a:t>
            </a:r>
          </a:p>
          <a:p>
            <a:r>
              <a:rPr lang="en-US" dirty="0"/>
              <a:t>	-write-offs</a:t>
            </a:r>
          </a:p>
          <a:p>
            <a:r>
              <a:rPr lang="en-US" dirty="0"/>
              <a:t>	-M&amp;A costs</a:t>
            </a:r>
          </a:p>
        </p:txBody>
      </p:sp>
      <p:sp>
        <p:nvSpPr>
          <p:cNvPr id="12" name="TextBox 12">
            <a:extLst>
              <a:ext uri="{FF2B5EF4-FFF2-40B4-BE49-F238E27FC236}">
                <a16:creationId xmlns:a16="http://schemas.microsoft.com/office/drawing/2014/main" id="{125B02D6-05DD-70B8-3753-1B052BA5C45E}"/>
              </a:ext>
            </a:extLst>
          </p:cNvPr>
          <p:cNvSpPr txBox="1"/>
          <p:nvPr/>
        </p:nvSpPr>
        <p:spPr>
          <a:xfrm>
            <a:off x="614334" y="4362066"/>
            <a:ext cx="4424160"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Discontinued operations, extraordinary items</a:t>
            </a:r>
          </a:p>
        </p:txBody>
      </p:sp>
      <p:sp>
        <p:nvSpPr>
          <p:cNvPr id="13" name="TextBox 14">
            <a:extLst>
              <a:ext uri="{FF2B5EF4-FFF2-40B4-BE49-F238E27FC236}">
                <a16:creationId xmlns:a16="http://schemas.microsoft.com/office/drawing/2014/main" id="{CCB51062-171A-3312-27FF-3367FC53EB72}"/>
              </a:ext>
            </a:extLst>
          </p:cNvPr>
          <p:cNvSpPr txBox="1"/>
          <p:nvPr/>
        </p:nvSpPr>
        <p:spPr>
          <a:xfrm>
            <a:off x="6241387" y="682896"/>
            <a:ext cx="1990417"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Most likely to recur</a:t>
            </a:r>
          </a:p>
        </p:txBody>
      </p:sp>
      <p:sp>
        <p:nvSpPr>
          <p:cNvPr id="14" name="TextBox 15">
            <a:extLst>
              <a:ext uri="{FF2B5EF4-FFF2-40B4-BE49-F238E27FC236}">
                <a16:creationId xmlns:a16="http://schemas.microsoft.com/office/drawing/2014/main" id="{5B89CA4B-C1C4-86DA-B620-189D2742DF75}"/>
              </a:ext>
            </a:extLst>
          </p:cNvPr>
          <p:cNvSpPr txBox="1"/>
          <p:nvPr/>
        </p:nvSpPr>
        <p:spPr>
          <a:xfrm>
            <a:off x="6317587" y="4362450"/>
            <a:ext cx="1995226" cy="369332"/>
          </a:xfrm>
          <a:prstGeom prst="rect">
            <a:avLst/>
          </a:prstGeom>
          <a:noFill/>
        </p:spPr>
        <p:txBody>
          <a:bodyPr wrap="non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Least likely to recur</a:t>
            </a:r>
          </a:p>
        </p:txBody>
      </p:sp>
    </p:spTree>
    <p:extLst>
      <p:ext uri="{BB962C8B-B14F-4D97-AF65-F5344CB8AC3E}">
        <p14:creationId xmlns:p14="http://schemas.microsoft.com/office/powerpoint/2010/main" val="867823952"/>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3EC15-0CEE-E137-D5D3-7CFAD980389A}"/>
              </a:ext>
            </a:extLst>
          </p:cNvPr>
          <p:cNvSpPr>
            <a:spLocks noGrp="1"/>
          </p:cNvSpPr>
          <p:nvPr>
            <p:ph type="title"/>
          </p:nvPr>
        </p:nvSpPr>
        <p:spPr/>
        <p:txBody>
          <a:bodyPr/>
          <a:lstStyle/>
          <a:p>
            <a:r>
              <a:rPr lang="en-US" dirty="0"/>
              <a:t>Frequency of Exclusions </a:t>
            </a:r>
          </a:p>
        </p:txBody>
      </p:sp>
      <p:pic>
        <p:nvPicPr>
          <p:cNvPr id="8" name="Picture 7" descr="A table listing various financial categories alongside their corresponding percentages, likely representing the impact or distribution of each category. Key figures include Restructuring at 39%, Acquisitions at 38%, Write-downs at 17%, and Impairment and Stock compensation both at 16%.&#10;">
            <a:extLst>
              <a:ext uri="{FF2B5EF4-FFF2-40B4-BE49-F238E27FC236}">
                <a16:creationId xmlns:a16="http://schemas.microsoft.com/office/drawing/2014/main" id="{BF6CB19B-4F87-84E1-83D6-30B4640378E7}"/>
              </a:ext>
            </a:extLst>
          </p:cNvPr>
          <p:cNvPicPr>
            <a:picLocks noChangeAspect="1"/>
          </p:cNvPicPr>
          <p:nvPr/>
        </p:nvPicPr>
        <p:blipFill>
          <a:blip r:embed="rId3"/>
          <a:stretch>
            <a:fillRect/>
          </a:stretch>
        </p:blipFill>
        <p:spPr>
          <a:xfrm>
            <a:off x="425321" y="914400"/>
            <a:ext cx="4094367" cy="4229100"/>
          </a:xfrm>
          <a:prstGeom prst="rect">
            <a:avLst/>
          </a:prstGeom>
        </p:spPr>
      </p:pic>
      <p:pic>
        <p:nvPicPr>
          <p:cNvPr id="10" name="Picture 9" descr="Table displaying financial adjustment categories with corresponding percentages. Categories include Amortization of acquired intangibles (10%), Capital charge (3%), Effects of regulation changes (2%), Mark-to-market (3%), Tax adjustments (15%), and Unclassified (46%).&#10;">
            <a:extLst>
              <a:ext uri="{FF2B5EF4-FFF2-40B4-BE49-F238E27FC236}">
                <a16:creationId xmlns:a16="http://schemas.microsoft.com/office/drawing/2014/main" id="{C3B86D4E-7B22-68C8-BF0B-FAF6C5CEDE31}"/>
              </a:ext>
            </a:extLst>
          </p:cNvPr>
          <p:cNvPicPr>
            <a:picLocks noChangeAspect="1"/>
          </p:cNvPicPr>
          <p:nvPr/>
        </p:nvPicPr>
        <p:blipFill>
          <a:blip r:embed="rId4"/>
          <a:stretch>
            <a:fillRect/>
          </a:stretch>
        </p:blipFill>
        <p:spPr>
          <a:xfrm>
            <a:off x="4519688" y="850328"/>
            <a:ext cx="3986874" cy="1864196"/>
          </a:xfrm>
          <a:prstGeom prst="rect">
            <a:avLst/>
          </a:prstGeom>
        </p:spPr>
      </p:pic>
      <p:sp>
        <p:nvSpPr>
          <p:cNvPr id="14" name="TextBox 13">
            <a:extLst>
              <a:ext uri="{FF2B5EF4-FFF2-40B4-BE49-F238E27FC236}">
                <a16:creationId xmlns:a16="http://schemas.microsoft.com/office/drawing/2014/main" id="{703007FC-A8A7-9C2C-F2F9-83251568C644}"/>
              </a:ext>
            </a:extLst>
          </p:cNvPr>
          <p:cNvSpPr txBox="1"/>
          <p:nvPr/>
        </p:nvSpPr>
        <p:spPr>
          <a:xfrm>
            <a:off x="4717620" y="4240772"/>
            <a:ext cx="4572000" cy="830997"/>
          </a:xfrm>
          <a:prstGeom prst="rect">
            <a:avLst/>
          </a:prstGeom>
          <a:noFill/>
        </p:spPr>
        <p:txBody>
          <a:bodyPr wrap="square">
            <a:spAutoFit/>
          </a:bodyPr>
          <a:lstStyle/>
          <a:p>
            <a:pPr algn="l"/>
            <a:r>
              <a:rPr lang="en-US" sz="1200" b="1" i="0" dirty="0">
                <a:solidFill>
                  <a:srgbClr val="000000"/>
                </a:solidFill>
                <a:effectLst/>
                <a:latin typeface="Open Sans" panose="020B0606030504020204" pitchFamily="34" charset="0"/>
              </a:rPr>
              <a:t>Source: “The Use of Adjusted Earnings in Performance Contracts”</a:t>
            </a:r>
            <a:br>
              <a:rPr lang="en-US" sz="1200" b="0" i="0" dirty="0">
                <a:solidFill>
                  <a:srgbClr val="000000"/>
                </a:solidFill>
                <a:effectLst/>
                <a:latin typeface="Open Sans" panose="020B0606030504020204" pitchFamily="34" charset="0"/>
              </a:rPr>
            </a:br>
            <a:r>
              <a:rPr lang="en-US" sz="1200" b="0" i="0" dirty="0">
                <a:solidFill>
                  <a:srgbClr val="000000"/>
                </a:solidFill>
                <a:effectLst/>
                <a:latin typeface="Open Sans" panose="020B0606030504020204" pitchFamily="34" charset="0"/>
              </a:rPr>
              <a:t>Curtis, A., Li, V., and Patrick, P., (2021). </a:t>
            </a:r>
            <a:r>
              <a:rPr lang="en-US" sz="1200" b="0" i="1" dirty="0">
                <a:solidFill>
                  <a:srgbClr val="000000"/>
                </a:solidFill>
                <a:effectLst/>
                <a:latin typeface="Open Sans" panose="020B0606030504020204" pitchFamily="34" charset="0"/>
              </a:rPr>
              <a:t>Review of Accounting Studies</a:t>
            </a:r>
            <a:r>
              <a:rPr lang="en-US" sz="1200" b="0" i="0" dirty="0">
                <a:solidFill>
                  <a:srgbClr val="000000"/>
                </a:solidFill>
                <a:effectLst/>
                <a:latin typeface="Open Sans" panose="020B0606030504020204" pitchFamily="34" charset="0"/>
              </a:rPr>
              <a:t>, Vol. 26, pp. 1290–1322.</a:t>
            </a:r>
          </a:p>
        </p:txBody>
      </p:sp>
    </p:spTree>
    <p:extLst>
      <p:ext uri="{BB962C8B-B14F-4D97-AF65-F5344CB8AC3E}">
        <p14:creationId xmlns:p14="http://schemas.microsoft.com/office/powerpoint/2010/main" val="318842895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E5A5F-3DF8-49A7-EBAE-1267A39D4593}"/>
              </a:ext>
            </a:extLst>
          </p:cNvPr>
          <p:cNvSpPr>
            <a:spLocks noGrp="1"/>
          </p:cNvSpPr>
          <p:nvPr>
            <p:ph type="title"/>
          </p:nvPr>
        </p:nvSpPr>
        <p:spPr/>
        <p:txBody>
          <a:bodyPr/>
          <a:lstStyle/>
          <a:p>
            <a:r>
              <a:rPr lang="en-US" dirty="0"/>
              <a:t>Submission</a:t>
            </a:r>
          </a:p>
        </p:txBody>
      </p:sp>
      <p:sp>
        <p:nvSpPr>
          <p:cNvPr id="4" name="Text Placeholder 3">
            <a:extLst>
              <a:ext uri="{FF2B5EF4-FFF2-40B4-BE49-F238E27FC236}">
                <a16:creationId xmlns:a16="http://schemas.microsoft.com/office/drawing/2014/main" id="{BE958F3A-71D3-D654-AF77-DB36FA2563BC}"/>
              </a:ext>
            </a:extLst>
          </p:cNvPr>
          <p:cNvSpPr>
            <a:spLocks noGrp="1"/>
          </p:cNvSpPr>
          <p:nvPr>
            <p:ph idx="1"/>
          </p:nvPr>
        </p:nvSpPr>
        <p:spPr/>
        <p:txBody>
          <a:bodyPr/>
          <a:lstStyle/>
          <a:p>
            <a:r>
              <a:rPr lang="en-US" dirty="0"/>
              <a:t>For today’s class the required submission is in two parts submitted together in a word document. </a:t>
            </a:r>
          </a:p>
          <a:p>
            <a:pPr marL="342900" indent="-342900">
              <a:buFont typeface="+mj-lt"/>
              <a:buAutoNum type="arabicPeriod"/>
            </a:pPr>
            <a:r>
              <a:rPr lang="en-US" dirty="0"/>
              <a:t>Response to analyzing public disclosures</a:t>
            </a:r>
          </a:p>
          <a:p>
            <a:pPr marL="342900" indent="-342900">
              <a:buFont typeface="+mj-lt"/>
              <a:buAutoNum type="arabicPeriod"/>
            </a:pPr>
            <a:r>
              <a:rPr lang="en-US" dirty="0"/>
              <a:t>Response to analyzing transactions</a:t>
            </a:r>
          </a:p>
        </p:txBody>
      </p:sp>
    </p:spTree>
    <p:extLst>
      <p:ext uri="{BB962C8B-B14F-4D97-AF65-F5344CB8AC3E}">
        <p14:creationId xmlns:p14="http://schemas.microsoft.com/office/powerpoint/2010/main" val="3701789503"/>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EA084-0EDB-A814-6BF9-69371CCBC821}"/>
              </a:ext>
            </a:extLst>
          </p:cNvPr>
          <p:cNvSpPr>
            <a:spLocks noGrp="1"/>
          </p:cNvSpPr>
          <p:nvPr>
            <p:ph type="title"/>
          </p:nvPr>
        </p:nvSpPr>
        <p:spPr/>
        <p:txBody>
          <a:bodyPr/>
          <a:lstStyle/>
          <a:p>
            <a:r>
              <a:rPr lang="en-US" dirty="0"/>
              <a:t>Submission Part 1</a:t>
            </a:r>
          </a:p>
        </p:txBody>
      </p:sp>
      <p:sp>
        <p:nvSpPr>
          <p:cNvPr id="3" name="Content Placeholder 2">
            <a:extLst>
              <a:ext uri="{FF2B5EF4-FFF2-40B4-BE49-F238E27FC236}">
                <a16:creationId xmlns:a16="http://schemas.microsoft.com/office/drawing/2014/main" id="{03D9E3EA-3E13-6460-A5A9-82092EE2F446}"/>
              </a:ext>
            </a:extLst>
          </p:cNvPr>
          <p:cNvSpPr>
            <a:spLocks noGrp="1"/>
          </p:cNvSpPr>
          <p:nvPr>
            <p:ph idx="1"/>
          </p:nvPr>
        </p:nvSpPr>
        <p:spPr>
          <a:xfrm>
            <a:off x="469445" y="1083527"/>
            <a:ext cx="8015192" cy="2084481"/>
          </a:xfrm>
        </p:spPr>
        <p:txBody>
          <a:bodyPr/>
          <a:lstStyle/>
          <a:p>
            <a:r>
              <a:rPr lang="en-US" dirty="0"/>
              <a:t>Purpose: Extract examples from large public firms on the industry practice surrounding the reporting of earnings.  </a:t>
            </a:r>
          </a:p>
          <a:p>
            <a:endParaRPr lang="en-US" dirty="0"/>
          </a:p>
          <a:p>
            <a:r>
              <a:rPr lang="en-US" dirty="0"/>
              <a:t>Add a header, “Analysis of Publicly Traded  Hotel Industry Firms’ Earnings Disclosures” to your word document. Provide a summary and a screenshot of supporting evidence about earnings reporting.</a:t>
            </a:r>
          </a:p>
          <a:p>
            <a:endParaRPr lang="en-US" dirty="0"/>
          </a:p>
          <a:p>
            <a:r>
              <a:rPr lang="en-US" dirty="0"/>
              <a:t>Focus on whether they used GAAP or non-GAAP, and outline the exclusions, typically found for these hotels, and other unusual items you may find. </a:t>
            </a:r>
          </a:p>
          <a:p>
            <a:pPr marL="342900" indent="-342900">
              <a:buAutoNum type="arabicPeriod"/>
            </a:pPr>
            <a:endParaRPr lang="en-US" dirty="0"/>
          </a:p>
        </p:txBody>
      </p:sp>
    </p:spTree>
    <p:extLst>
      <p:ext uri="{BB962C8B-B14F-4D97-AF65-F5344CB8AC3E}">
        <p14:creationId xmlns:p14="http://schemas.microsoft.com/office/powerpoint/2010/main" val="264787958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1BB0-B423-8864-C408-9491B376DEC6}"/>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D08F1A33-1B43-F3E1-8C35-7B10F6422CE0}"/>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C2A05060-E2AC-9269-44AF-BC222BA4E065}"/>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76877959-0351-47DF-AC5A-CA71B939A875}"/>
              </a:ext>
            </a:extLst>
          </p:cNvPr>
          <p:cNvSpPr>
            <a:spLocks noGrp="1"/>
          </p:cNvSpPr>
          <p:nvPr>
            <p:ph type="body" sz="quarter" idx="13"/>
          </p:nvPr>
        </p:nvSpPr>
        <p:spPr>
          <a:xfrm>
            <a:off x="470430" y="1085336"/>
            <a:ext cx="4872038" cy="3003406"/>
          </a:xfrm>
        </p:spPr>
        <p:txBody>
          <a:bodyPr/>
          <a:lstStyle/>
          <a:p>
            <a:pPr marL="285750" indent="-285750">
              <a:buFont typeface="Arial" panose="020B0604020202020204" pitchFamily="34" charset="0"/>
              <a:buChar char="•"/>
            </a:pPr>
            <a:r>
              <a:rPr lang="en-US" dirty="0">
                <a:solidFill>
                  <a:schemeClr val="tx1">
                    <a:lumMod val="50000"/>
                    <a:lumOff val="50000"/>
                  </a:schemeClr>
                </a:solidFill>
              </a:rPr>
              <a:t>Course Overview</a:t>
            </a:r>
          </a:p>
          <a:p>
            <a:pPr marL="285750" indent="-285750">
              <a:buFont typeface="Arial" panose="020B0604020202020204" pitchFamily="34" charset="0"/>
              <a:buChar char="•"/>
            </a:pPr>
            <a:r>
              <a:rPr lang="en-US" b="1" dirty="0">
                <a:solidFill>
                  <a:srgbClr val="361F6D"/>
                </a:solidFill>
              </a:rPr>
              <a:t>Introduction to Accounting &amp; Finance Analytics</a:t>
            </a:r>
          </a:p>
          <a:p>
            <a:pPr marL="801688" lvl="1" indent="-285750"/>
            <a:r>
              <a:rPr lang="en-US" dirty="0">
                <a:solidFill>
                  <a:schemeClr val="tx1">
                    <a:lumMod val="50000"/>
                    <a:lumOff val="50000"/>
                  </a:schemeClr>
                </a:solidFill>
              </a:rPr>
              <a:t>Define the scope of the Accounting &amp; Finance Function</a:t>
            </a:r>
          </a:p>
          <a:p>
            <a:pPr marL="801688" lvl="1" indent="-285750"/>
            <a:r>
              <a:rPr lang="en-US" dirty="0">
                <a:solidFill>
                  <a:schemeClr val="tx1">
                    <a:lumMod val="50000"/>
                    <a:lumOff val="50000"/>
                  </a:schemeClr>
                </a:solidFill>
              </a:rPr>
              <a:t>Analyze Public Disclosures</a:t>
            </a:r>
          </a:p>
          <a:p>
            <a:pPr marL="801688" lvl="1" indent="-285750"/>
            <a:r>
              <a:rPr lang="en-US" b="1" dirty="0">
                <a:solidFill>
                  <a:srgbClr val="361F6D"/>
                </a:solidFill>
              </a:rPr>
              <a:t>Analyze Transaction Level Data</a:t>
            </a:r>
          </a:p>
          <a:p>
            <a:pPr marL="801688" lvl="1" indent="-285750"/>
            <a:r>
              <a:rPr lang="en-US" dirty="0"/>
              <a:t>Provide a Solution to Disclosure Decision</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852297331"/>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3DC8F-500C-6FAE-8AA0-6C8A523BAA63}"/>
              </a:ext>
            </a:extLst>
          </p:cNvPr>
          <p:cNvSpPr>
            <a:spLocks noGrp="1"/>
          </p:cNvSpPr>
          <p:nvPr>
            <p:ph type="title"/>
          </p:nvPr>
        </p:nvSpPr>
        <p:spPr/>
        <p:txBody>
          <a:bodyPr/>
          <a:lstStyle/>
          <a:p>
            <a:r>
              <a:rPr lang="en-US" dirty="0"/>
              <a:t>Transaction analysis</a:t>
            </a:r>
          </a:p>
        </p:txBody>
      </p:sp>
      <p:sp>
        <p:nvSpPr>
          <p:cNvPr id="3" name="Content Placeholder 2">
            <a:extLst>
              <a:ext uri="{FF2B5EF4-FFF2-40B4-BE49-F238E27FC236}">
                <a16:creationId xmlns:a16="http://schemas.microsoft.com/office/drawing/2014/main" id="{550C5F61-20EF-2AB6-EE32-33B72469B4F5}"/>
              </a:ext>
            </a:extLst>
          </p:cNvPr>
          <p:cNvSpPr>
            <a:spLocks noGrp="1"/>
          </p:cNvSpPr>
          <p:nvPr>
            <p:ph idx="1"/>
          </p:nvPr>
        </p:nvSpPr>
        <p:spPr>
          <a:xfrm>
            <a:off x="469445" y="1083527"/>
            <a:ext cx="7641967" cy="2084481"/>
          </a:xfrm>
        </p:spPr>
        <p:txBody>
          <a:bodyPr/>
          <a:lstStyle/>
          <a:p>
            <a:r>
              <a:rPr lang="en-US" dirty="0"/>
              <a:t>Transactions are events that affect the operations or finances of an organization. </a:t>
            </a:r>
          </a:p>
          <a:p>
            <a:endParaRPr lang="en-US" dirty="0"/>
          </a:p>
          <a:p>
            <a:pPr marL="285750" indent="-285750">
              <a:buFont typeface="Arial" panose="020B0604020202020204" pitchFamily="34" charset="0"/>
              <a:buChar char="•"/>
            </a:pPr>
            <a:r>
              <a:rPr lang="en-US" dirty="0"/>
              <a:t>Accounting systems record transactions using a double-entry system using debits and credits. </a:t>
            </a:r>
          </a:p>
          <a:p>
            <a:pPr marL="285750" indent="-285750">
              <a:buFont typeface="Arial" panose="020B0604020202020204" pitchFamily="34" charset="0"/>
              <a:buChar char="•"/>
            </a:pPr>
            <a:r>
              <a:rPr lang="en-US" dirty="0"/>
              <a:t>Transactions are recorded using the accounting equation: </a:t>
            </a:r>
          </a:p>
          <a:p>
            <a:pPr marL="801688" lvl="1" indent="-285750"/>
            <a:r>
              <a:rPr lang="en-US" altLang="ko-KR" b="1" dirty="0">
                <a:solidFill>
                  <a:schemeClr val="tx2"/>
                </a:solidFill>
                <a:latin typeface="Arial" panose="020B0604020202020204" pitchFamily="34" charset="0"/>
                <a:ea typeface="Gulim" panose="020B0600000101010101" pitchFamily="34" charset="-127"/>
                <a:cs typeface="Arial" panose="020B0604020202020204" pitchFamily="34" charset="0"/>
              </a:rPr>
              <a:t>Assets = Liability + Equity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For example, increases to assets are debit entries  </a:t>
            </a:r>
          </a:p>
          <a:p>
            <a:endParaRPr lang="en-US" dirty="0"/>
          </a:p>
          <a:p>
            <a:endParaRPr lang="en-US" dirty="0"/>
          </a:p>
        </p:txBody>
      </p:sp>
    </p:spTree>
    <p:extLst>
      <p:ext uri="{BB962C8B-B14F-4D97-AF65-F5344CB8AC3E}">
        <p14:creationId xmlns:p14="http://schemas.microsoft.com/office/powerpoint/2010/main" val="1852058721"/>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A40B9-BBDA-99A5-FD42-BABDAD466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4F894-53AC-B70E-505C-E25AE1B2E214}"/>
              </a:ext>
            </a:extLst>
          </p:cNvPr>
          <p:cNvSpPr>
            <a:spLocks noGrp="1"/>
          </p:cNvSpPr>
          <p:nvPr>
            <p:ph type="title"/>
          </p:nvPr>
        </p:nvSpPr>
        <p:spPr/>
        <p:txBody>
          <a:bodyPr/>
          <a:lstStyle/>
          <a:p>
            <a:r>
              <a:rPr lang="en-US" dirty="0"/>
              <a:t>Transaction analysis</a:t>
            </a:r>
          </a:p>
        </p:txBody>
      </p:sp>
      <p:sp>
        <p:nvSpPr>
          <p:cNvPr id="3" name="Content Placeholder 2">
            <a:extLst>
              <a:ext uri="{FF2B5EF4-FFF2-40B4-BE49-F238E27FC236}">
                <a16:creationId xmlns:a16="http://schemas.microsoft.com/office/drawing/2014/main" id="{E2C7B4D4-9761-456E-11D8-01B7A7DABE79}"/>
              </a:ext>
            </a:extLst>
          </p:cNvPr>
          <p:cNvSpPr>
            <a:spLocks noGrp="1"/>
          </p:cNvSpPr>
          <p:nvPr>
            <p:ph idx="1"/>
          </p:nvPr>
        </p:nvSpPr>
        <p:spPr>
          <a:xfrm>
            <a:off x="469445" y="1083527"/>
            <a:ext cx="7641967" cy="2084481"/>
          </a:xfrm>
        </p:spPr>
        <p:txBody>
          <a:bodyPr/>
          <a:lstStyle/>
          <a:p>
            <a:r>
              <a:rPr lang="en-US" dirty="0"/>
              <a:t>Transactions record the economic activities of the firm so that firms can report meaningful economic aggregates like net income, revenue, cost of goods/services sold, R&amp;D expense, cash, inventory, what they owe (payables, debt), what they are owed (receivables, prepaid services).</a:t>
            </a:r>
          </a:p>
          <a:p>
            <a:endParaRPr lang="en-US" dirty="0"/>
          </a:p>
          <a:p>
            <a:endParaRPr lang="en-US" dirty="0"/>
          </a:p>
        </p:txBody>
      </p:sp>
    </p:spTree>
    <p:extLst>
      <p:ext uri="{BB962C8B-B14F-4D97-AF65-F5344CB8AC3E}">
        <p14:creationId xmlns:p14="http://schemas.microsoft.com/office/powerpoint/2010/main" val="148762709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40584-CAA3-A003-AD74-44616FB66582}"/>
              </a:ext>
            </a:extLst>
          </p:cNvPr>
          <p:cNvSpPr>
            <a:spLocks noGrp="1"/>
          </p:cNvSpPr>
          <p:nvPr>
            <p:ph type="title"/>
          </p:nvPr>
        </p:nvSpPr>
        <p:spPr/>
        <p:txBody>
          <a:bodyPr/>
          <a:lstStyle/>
          <a:p>
            <a:r>
              <a:rPr lang="en-US" dirty="0"/>
              <a:t>Peach State University</a:t>
            </a:r>
          </a:p>
        </p:txBody>
      </p:sp>
      <p:sp>
        <p:nvSpPr>
          <p:cNvPr id="3" name="Content Placeholder 2">
            <a:extLst>
              <a:ext uri="{FF2B5EF4-FFF2-40B4-BE49-F238E27FC236}">
                <a16:creationId xmlns:a16="http://schemas.microsoft.com/office/drawing/2014/main" id="{302C74F5-8A57-2DDD-8EA5-DF6E117F8867}"/>
              </a:ext>
            </a:extLst>
          </p:cNvPr>
          <p:cNvSpPr>
            <a:spLocks noGrp="1"/>
          </p:cNvSpPr>
          <p:nvPr>
            <p:ph idx="1"/>
          </p:nvPr>
        </p:nvSpPr>
        <p:spPr>
          <a:xfrm>
            <a:off x="469445" y="1083527"/>
            <a:ext cx="8319992" cy="2084481"/>
          </a:xfrm>
        </p:spPr>
        <p:txBody>
          <a:bodyPr/>
          <a:lstStyle/>
          <a:p>
            <a:r>
              <a:rPr lang="en-US" dirty="0"/>
              <a:t>We undertake an analysis of Peach State University Hotel (a real hotel’s transactions with the name changed). </a:t>
            </a:r>
          </a:p>
          <a:p>
            <a:endParaRPr lang="en-US" dirty="0"/>
          </a:p>
          <a:p>
            <a:r>
              <a:rPr lang="en-US" dirty="0"/>
              <a:t>Three-part case with reference readings for each part. </a:t>
            </a:r>
          </a:p>
          <a:p>
            <a:endParaRPr lang="en-US" dirty="0"/>
          </a:p>
          <a:p>
            <a:r>
              <a:rPr lang="en-US" dirty="0"/>
              <a:t>Data analytics tool: Tableau</a:t>
            </a:r>
          </a:p>
          <a:p>
            <a:pPr marL="285750" indent="-285750">
              <a:buFont typeface="Arial" panose="020B0604020202020204" pitchFamily="34" charset="0"/>
              <a:buChar char="•"/>
            </a:pPr>
            <a:r>
              <a:rPr lang="en-US" dirty="0"/>
              <a:t>Set-up in FSB remote labs using </a:t>
            </a:r>
            <a:r>
              <a:rPr lang="en-US" dirty="0">
                <a:hlinkClick r:id="rId3"/>
              </a:rPr>
              <a:t>https://fprod-hcs.foster.uw.edu/</a:t>
            </a:r>
            <a:r>
              <a:rPr lang="en-US" dirty="0"/>
              <a:t> </a:t>
            </a:r>
          </a:p>
          <a:p>
            <a:pPr marL="285750" indent="-285750">
              <a:buFont typeface="Arial" panose="020B0604020202020204" pitchFamily="34" charset="0"/>
              <a:buChar char="•"/>
            </a:pPr>
            <a:r>
              <a:rPr lang="en-US" dirty="0"/>
              <a:t>In the u-drive use </a:t>
            </a:r>
            <a:r>
              <a:rPr lang="en-US" dirty="0" err="1"/>
              <a:t>cmd</a:t>
            </a:r>
            <a:r>
              <a:rPr lang="en-US" dirty="0"/>
              <a:t> to </a:t>
            </a:r>
          </a:p>
          <a:p>
            <a:pPr marL="285750" indent="-285750">
              <a:buFont typeface="Arial" panose="020B0604020202020204" pitchFamily="34" charset="0"/>
              <a:buChar char="•"/>
            </a:pPr>
            <a:r>
              <a:rPr lang="en-US" dirty="0"/>
              <a:t>git clone https://github.com/ashercurtis/datasets.io</a:t>
            </a:r>
          </a:p>
        </p:txBody>
      </p:sp>
    </p:spTree>
    <p:extLst>
      <p:ext uri="{BB962C8B-B14F-4D97-AF65-F5344CB8AC3E}">
        <p14:creationId xmlns:p14="http://schemas.microsoft.com/office/powerpoint/2010/main" val="382368440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0BCFE-DDEC-D2C7-131F-51F1536BC4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048D7-D0E7-FB17-DA4E-6078575DEFAE}"/>
              </a:ext>
            </a:extLst>
          </p:cNvPr>
          <p:cNvSpPr>
            <a:spLocks noGrp="1"/>
          </p:cNvSpPr>
          <p:nvPr>
            <p:ph type="title"/>
          </p:nvPr>
        </p:nvSpPr>
        <p:spPr/>
        <p:txBody>
          <a:bodyPr/>
          <a:lstStyle/>
          <a:p>
            <a:r>
              <a:rPr lang="en-US" dirty="0"/>
              <a:t>Peach State University</a:t>
            </a:r>
          </a:p>
        </p:txBody>
      </p:sp>
      <p:sp>
        <p:nvSpPr>
          <p:cNvPr id="3" name="Content Placeholder 2">
            <a:extLst>
              <a:ext uri="{FF2B5EF4-FFF2-40B4-BE49-F238E27FC236}">
                <a16:creationId xmlns:a16="http://schemas.microsoft.com/office/drawing/2014/main" id="{4A1D9570-DBEF-29F1-17B0-4849FF6CF31B}"/>
              </a:ext>
            </a:extLst>
          </p:cNvPr>
          <p:cNvSpPr>
            <a:spLocks noGrp="1"/>
          </p:cNvSpPr>
          <p:nvPr>
            <p:ph idx="1"/>
          </p:nvPr>
        </p:nvSpPr>
        <p:spPr>
          <a:xfrm>
            <a:off x="469445" y="1083527"/>
            <a:ext cx="8319992" cy="2084481"/>
          </a:xfrm>
        </p:spPr>
        <p:txBody>
          <a:bodyPr/>
          <a:lstStyle/>
          <a:p>
            <a:r>
              <a:rPr lang="en-US" dirty="0"/>
              <a:t>Part 1. Familiarity with the tool. Reference: </a:t>
            </a:r>
            <a:r>
              <a:rPr lang="en-US" dirty="0">
                <a:hlinkClick r:id="rId3"/>
              </a:rPr>
              <a:t>Analytics_mindset_case_studies_PSU_Hotel_understanding_audit_analytics</a:t>
            </a:r>
            <a:endParaRPr lang="en-US" dirty="0"/>
          </a:p>
          <a:p>
            <a:endParaRPr lang="en-US" b="1" dirty="0"/>
          </a:p>
          <a:p>
            <a:r>
              <a:rPr lang="en-US" dirty="0"/>
              <a:t>Part 2: Understanding sources of revenue. Reference: </a:t>
            </a:r>
            <a:r>
              <a:rPr lang="en-US" dirty="0" err="1">
                <a:hlinkClick r:id="rId4"/>
              </a:rPr>
              <a:t>Analytics_mindset_case_studies_PSU_Hotel_Revenue</a:t>
            </a:r>
            <a:endParaRPr lang="en-US" dirty="0"/>
          </a:p>
          <a:p>
            <a:endParaRPr lang="en-US" dirty="0"/>
          </a:p>
          <a:p>
            <a:r>
              <a:rPr lang="en-US" dirty="0"/>
              <a:t>Part 3: You will act as an advisor to identify events / transactions / transaction  categories to craft the firm’s non-GAAP earnings number. Reference:</a:t>
            </a:r>
          </a:p>
          <a:p>
            <a:r>
              <a:rPr lang="en-US" dirty="0" err="1">
                <a:hlinkClick r:id="rId5"/>
              </a:rPr>
              <a:t>Analytics_mindset_case_studies_PSU_Hotel_background</a:t>
            </a:r>
            <a:r>
              <a:rPr lang="en-US" dirty="0"/>
              <a:t> (hint: search for events)</a:t>
            </a:r>
          </a:p>
        </p:txBody>
      </p:sp>
    </p:spTree>
    <p:extLst>
      <p:ext uri="{BB962C8B-B14F-4D97-AF65-F5344CB8AC3E}">
        <p14:creationId xmlns:p14="http://schemas.microsoft.com/office/powerpoint/2010/main" val="4214750385"/>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AE62D-ED1F-FB3C-7675-16201FC370FF}"/>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D768674-9D3E-0324-086C-9E13D7CC44A0}"/>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7A2D2C98-B38F-0472-5817-815FC60F8153}"/>
              </a:ext>
            </a:extLst>
          </p:cNvPr>
          <p:cNvSpPr>
            <a:spLocks noGrp="1"/>
          </p:cNvSpPr>
          <p:nvPr>
            <p:ph type="title"/>
          </p:nvPr>
        </p:nvSpPr>
        <p:spPr/>
        <p:txBody>
          <a:bodyPr/>
          <a:lstStyle/>
          <a:p>
            <a:r>
              <a:rPr lang="en-US" dirty="0"/>
              <a:t>What will we do today?</a:t>
            </a:r>
          </a:p>
        </p:txBody>
      </p:sp>
      <p:sp>
        <p:nvSpPr>
          <p:cNvPr id="4" name="Text Placeholder 3">
            <a:extLst>
              <a:ext uri="{FF2B5EF4-FFF2-40B4-BE49-F238E27FC236}">
                <a16:creationId xmlns:a16="http://schemas.microsoft.com/office/drawing/2014/main" id="{44A98056-B6E9-8FB3-C57F-06C438AA8706}"/>
              </a:ext>
            </a:extLst>
          </p:cNvPr>
          <p:cNvSpPr>
            <a:spLocks noGrp="1"/>
          </p:cNvSpPr>
          <p:nvPr>
            <p:ph type="body" sz="quarter" idx="13"/>
          </p:nvPr>
        </p:nvSpPr>
        <p:spPr>
          <a:xfrm>
            <a:off x="470430" y="1085336"/>
            <a:ext cx="4872038" cy="3003406"/>
          </a:xfrm>
        </p:spPr>
        <p:txBody>
          <a:bodyPr/>
          <a:lstStyle/>
          <a:p>
            <a:pPr marL="285750" indent="-285750">
              <a:buFont typeface="Arial" panose="020B0604020202020204" pitchFamily="34" charset="0"/>
              <a:buChar char="•"/>
            </a:pPr>
            <a:r>
              <a:rPr lang="en-US" dirty="0">
                <a:solidFill>
                  <a:schemeClr val="tx1">
                    <a:lumMod val="50000"/>
                    <a:lumOff val="50000"/>
                  </a:schemeClr>
                </a:solidFill>
              </a:rPr>
              <a:t>Course Overview</a:t>
            </a:r>
          </a:p>
          <a:p>
            <a:pPr marL="285750" indent="-285750">
              <a:buFont typeface="Arial" panose="020B0604020202020204" pitchFamily="34" charset="0"/>
              <a:buChar char="•"/>
            </a:pPr>
            <a:r>
              <a:rPr lang="en-US" b="1" dirty="0">
                <a:solidFill>
                  <a:srgbClr val="361F6D"/>
                </a:solidFill>
              </a:rPr>
              <a:t>Introduction to Accounting &amp; Finance Analytics</a:t>
            </a:r>
          </a:p>
          <a:p>
            <a:pPr marL="801688" lvl="1" indent="-285750"/>
            <a:r>
              <a:rPr lang="en-US" dirty="0">
                <a:solidFill>
                  <a:schemeClr val="tx1">
                    <a:lumMod val="50000"/>
                    <a:lumOff val="50000"/>
                  </a:schemeClr>
                </a:solidFill>
              </a:rPr>
              <a:t>Define the scope of the Accounting &amp; Finance Function</a:t>
            </a:r>
          </a:p>
          <a:p>
            <a:pPr marL="801688" lvl="1" indent="-285750"/>
            <a:r>
              <a:rPr lang="en-US" dirty="0">
                <a:solidFill>
                  <a:schemeClr val="tx1">
                    <a:lumMod val="50000"/>
                    <a:lumOff val="50000"/>
                  </a:schemeClr>
                </a:solidFill>
              </a:rPr>
              <a:t>Analyze Public Disclosures</a:t>
            </a:r>
          </a:p>
          <a:p>
            <a:pPr marL="801688" lvl="1" indent="-285750"/>
            <a:r>
              <a:rPr lang="en-US" dirty="0">
                <a:solidFill>
                  <a:schemeClr val="tx1">
                    <a:lumMod val="50000"/>
                    <a:lumOff val="50000"/>
                  </a:schemeClr>
                </a:solidFill>
              </a:rPr>
              <a:t>Analyze Transaction Level Data</a:t>
            </a:r>
          </a:p>
          <a:p>
            <a:pPr marL="801688" lvl="1" indent="-285750"/>
            <a:r>
              <a:rPr lang="en-US" b="1" dirty="0">
                <a:solidFill>
                  <a:schemeClr val="tx2"/>
                </a:solidFill>
              </a:rPr>
              <a:t>Provide a Solution to Disclosure Decision</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054237300"/>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91D27-26AF-C755-1755-561500CBA895}"/>
              </a:ext>
            </a:extLst>
          </p:cNvPr>
          <p:cNvSpPr>
            <a:spLocks noGrp="1"/>
          </p:cNvSpPr>
          <p:nvPr>
            <p:ph type="title"/>
          </p:nvPr>
        </p:nvSpPr>
        <p:spPr/>
        <p:txBody>
          <a:bodyPr/>
          <a:lstStyle/>
          <a:p>
            <a:r>
              <a:rPr lang="en-US" dirty="0"/>
              <a:t>Disclosure Decision</a:t>
            </a:r>
          </a:p>
        </p:txBody>
      </p:sp>
      <p:sp>
        <p:nvSpPr>
          <p:cNvPr id="3" name="Content Placeholder 2">
            <a:extLst>
              <a:ext uri="{FF2B5EF4-FFF2-40B4-BE49-F238E27FC236}">
                <a16:creationId xmlns:a16="http://schemas.microsoft.com/office/drawing/2014/main" id="{870EFBE5-853E-1D2B-B31C-261D3AFAE449}"/>
              </a:ext>
            </a:extLst>
          </p:cNvPr>
          <p:cNvSpPr>
            <a:spLocks noGrp="1"/>
          </p:cNvSpPr>
          <p:nvPr>
            <p:ph idx="1"/>
          </p:nvPr>
        </p:nvSpPr>
        <p:spPr/>
        <p:txBody>
          <a:bodyPr/>
          <a:lstStyle/>
          <a:p>
            <a:r>
              <a:rPr lang="en-US" dirty="0"/>
              <a:t>Data Analytics – Transaction Analytics</a:t>
            </a:r>
          </a:p>
          <a:p>
            <a:endParaRPr lang="en-US" dirty="0"/>
          </a:p>
          <a:p>
            <a:r>
              <a:rPr lang="en-US" dirty="0"/>
              <a:t>Purpose: Provide advisory services to Peach State University Hotels on how they should disclose their annual performance for the year. </a:t>
            </a:r>
          </a:p>
          <a:p>
            <a:endParaRPr lang="en-US" dirty="0"/>
          </a:p>
          <a:p>
            <a:r>
              <a:rPr lang="en-US" dirty="0"/>
              <a:t>Add a header, “Disclosure Advice for Peach State University Hotel” to your word document. Provide a summary and a screenshot of supporting evidence.</a:t>
            </a:r>
          </a:p>
          <a:p>
            <a:endParaRPr lang="en-US" dirty="0"/>
          </a:p>
          <a:p>
            <a:r>
              <a:rPr lang="en-US" dirty="0"/>
              <a:t>Refer to Part 1 as evidence from industry practice.</a:t>
            </a:r>
          </a:p>
        </p:txBody>
      </p:sp>
    </p:spTree>
    <p:extLst>
      <p:ext uri="{BB962C8B-B14F-4D97-AF65-F5344CB8AC3E}">
        <p14:creationId xmlns:p14="http://schemas.microsoft.com/office/powerpoint/2010/main" val="3681675777"/>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709B9-D63E-AE69-2890-C69AC50D7C58}"/>
            </a:ext>
          </a:extLst>
        </p:cNvPr>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7BF2A89A-6CCD-3166-54EA-7D9D62C0CAE2}"/>
              </a:ext>
            </a:extLst>
          </p:cNvPr>
          <p:cNvPicPr>
            <a:picLocks noGrp="1" noChangeAspect="1"/>
          </p:cNvPicPr>
          <p:nvPr>
            <p:ph type="pic" sz="quarter" idx="12"/>
          </p:nvPr>
        </p:nvPicPr>
        <p:blipFill>
          <a:blip r:embed="rId3"/>
          <a:srcRect l="26893" r="26893"/>
          <a:stretch/>
        </p:blipFill>
        <p:spPr>
          <a:prstGeom prst="rect">
            <a:avLst/>
          </a:prstGeom>
          <a:noFill/>
        </p:spPr>
      </p:pic>
      <p:sp>
        <p:nvSpPr>
          <p:cNvPr id="3" name="Title 2">
            <a:extLst>
              <a:ext uri="{FF2B5EF4-FFF2-40B4-BE49-F238E27FC236}">
                <a16:creationId xmlns:a16="http://schemas.microsoft.com/office/drawing/2014/main" id="{F06F82EE-4337-0284-E67B-7C9EEAF079F9}"/>
              </a:ext>
            </a:extLst>
          </p:cNvPr>
          <p:cNvSpPr>
            <a:spLocks noGrp="1"/>
          </p:cNvSpPr>
          <p:nvPr>
            <p:ph type="title"/>
          </p:nvPr>
        </p:nvSpPr>
        <p:spPr/>
        <p:txBody>
          <a:bodyPr/>
          <a:lstStyle/>
          <a:p>
            <a:r>
              <a:rPr lang="en-US" dirty="0"/>
              <a:t>What will we do next?</a:t>
            </a:r>
          </a:p>
        </p:txBody>
      </p:sp>
      <p:sp>
        <p:nvSpPr>
          <p:cNvPr id="4" name="Text Placeholder 3">
            <a:extLst>
              <a:ext uri="{FF2B5EF4-FFF2-40B4-BE49-F238E27FC236}">
                <a16:creationId xmlns:a16="http://schemas.microsoft.com/office/drawing/2014/main" id="{37E27607-719C-4A86-9BE4-AA465E449DDC}"/>
              </a:ext>
            </a:extLst>
          </p:cNvPr>
          <p:cNvSpPr>
            <a:spLocks noGrp="1"/>
          </p:cNvSpPr>
          <p:nvPr>
            <p:ph type="body" sz="quarter" idx="13"/>
          </p:nvPr>
        </p:nvSpPr>
        <p:spPr>
          <a:xfrm>
            <a:off x="470430" y="1085336"/>
            <a:ext cx="4872038" cy="3003406"/>
          </a:xfrm>
        </p:spPr>
        <p:txBody>
          <a:bodyPr/>
          <a:lstStyle/>
          <a:p>
            <a:r>
              <a:rPr lang="en-US" b="1" dirty="0"/>
              <a:t>The Accounting &amp; Finance Function with Self-Service Analytics using Alteryx</a:t>
            </a:r>
          </a:p>
          <a:p>
            <a:pPr marL="285750" indent="-285750">
              <a:buFont typeface="Arial" panose="020B0604020202020204" pitchFamily="34" charset="0"/>
              <a:buChar char="•"/>
            </a:pPr>
            <a:r>
              <a:rPr lang="en-US" dirty="0"/>
              <a:t>Explore some Compliance and Accounting &amp; Finance Data Analytics from a production side. </a:t>
            </a:r>
          </a:p>
          <a:p>
            <a:pPr marL="285750" indent="-285750">
              <a:buFont typeface="Arial" panose="020B0604020202020204" pitchFamily="34" charset="0"/>
              <a:buChar char="•"/>
            </a:pPr>
            <a:r>
              <a:rPr lang="en-US" dirty="0"/>
              <a:t>Use a self-service analytics tool (Alteryx) to produce working repeatable analytic end-to-end workflows for specific tasks.</a:t>
            </a:r>
          </a:p>
          <a:p>
            <a:pPr marL="801688" lvl="1" indent="-285750"/>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172432805"/>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2D327B-3D25-3436-3BD4-5A597C6A49EC}"/>
              </a:ext>
            </a:extLst>
          </p:cNvPr>
          <p:cNvSpPr txBox="1">
            <a:spLocks noGrp="1"/>
          </p:cNvSpPr>
          <p:nvPr>
            <p:ph type="title" idx="4294967295"/>
          </p:nvPr>
        </p:nvSpPr>
        <p:spPr>
          <a:xfrm>
            <a:off x="528972" y="1643081"/>
            <a:ext cx="8086056" cy="1215717"/>
          </a:xfrm>
          <a:prstGeom prst="rect">
            <a:avLst/>
          </a:prstGeom>
          <a:noFill/>
          <a:ln>
            <a:noFill/>
            <a:prstDash/>
          </a:ln>
          <a:effectLst/>
        </p:spPr>
        <p:txBody>
          <a:bodyPr rot="0" spcFirstLastPara="0" vertOverflow="overflow" horzOverflow="overflow" vert="horz" wrap="square" lIns="0" tIns="45720" rIns="0" bIns="45720" numCol="1" spcCol="0" rtlCol="0" fromWordArt="0" anchor="t" anchorCtr="0" forceAA="0" compatLnSpc="1">
            <a:prstTxWarp prst="textNoShape">
              <a:avLst/>
            </a:prstTxWarp>
            <a:spAutoFit/>
          </a:bodyPr>
          <a:lstStyle/>
          <a:p>
            <a:pPr marL="0" marR="0" lvl="0" indent="0" algn="ctr" defTabSz="1219170" rtl="0" eaLnBrk="1" fontAlgn="auto" latinLnBrk="0" hangingPunct="1">
              <a:lnSpc>
                <a:spcPct val="100000"/>
              </a:lnSpc>
              <a:spcBef>
                <a:spcPts val="600"/>
              </a:spcBef>
              <a:spcAft>
                <a:spcPts val="0"/>
              </a:spcAft>
              <a:buClrTx/>
              <a:buSzPct val="100000"/>
              <a:buFontTx/>
              <a:buNone/>
              <a:tabLst/>
              <a:defRPr/>
            </a:pPr>
            <a:endParaRPr kumimoji="0" lang="en-US" sz="2800" b="1" i="0" u="none" strike="noStrike" kern="1200" cap="none" spc="0" normalizeH="0" baseline="0" noProof="0" dirty="0">
              <a:ln>
                <a:noFill/>
              </a:ln>
              <a:solidFill>
                <a:prstClr val="white"/>
              </a:solidFill>
              <a:effectLst/>
              <a:uLnTx/>
              <a:uFillTx/>
              <a:latin typeface="+mj-lt"/>
              <a:ea typeface="+mn-ea"/>
              <a:cs typeface="+mn-cs"/>
            </a:endParaRPr>
          </a:p>
          <a:p>
            <a:pPr marL="0" marR="0" lvl="0" indent="0" algn="ctr" defTabSz="1219170" rtl="0" eaLnBrk="1" fontAlgn="auto" latinLnBrk="0" hangingPunct="1">
              <a:lnSpc>
                <a:spcPct val="100000"/>
              </a:lnSpc>
              <a:spcBef>
                <a:spcPts val="600"/>
              </a:spcBef>
              <a:spcAft>
                <a:spcPts val="0"/>
              </a:spcAft>
              <a:buClrTx/>
              <a:buSzPct val="100000"/>
              <a:buFontTx/>
              <a:buNone/>
              <a:tabLst/>
              <a:defRPr/>
            </a:pPr>
            <a:r>
              <a:rPr kumimoji="0" lang="en-US" sz="4000" b="1" i="0" u="none" strike="noStrike" kern="1200" cap="none" spc="0" normalizeH="0" baseline="0" noProof="0" dirty="0">
                <a:ln>
                  <a:noFill/>
                </a:ln>
                <a:solidFill>
                  <a:prstClr val="white"/>
                </a:solidFill>
                <a:effectLst/>
                <a:uLnTx/>
                <a:uFillTx/>
                <a:latin typeface="+mj-lt"/>
                <a:ea typeface="+mn-ea"/>
                <a:cs typeface="+mn-cs"/>
              </a:rPr>
              <a:t>Thank you</a:t>
            </a:r>
          </a:p>
        </p:txBody>
      </p:sp>
    </p:spTree>
    <p:extLst>
      <p:ext uri="{BB962C8B-B14F-4D97-AF65-F5344CB8AC3E}">
        <p14:creationId xmlns:p14="http://schemas.microsoft.com/office/powerpoint/2010/main" val="3980653683"/>
      </p:ext>
    </p:extLst>
  </p:cSld>
  <p:clrMapOvr>
    <a:masterClrMapping/>
  </p:clrMapOvr>
  <p:transition>
    <p:fade/>
  </p:transition>
</p:sld>
</file>

<file path=ppt/theme/theme1.xml><?xml version="1.0" encoding="utf-8"?>
<a:theme xmlns:a="http://schemas.openxmlformats.org/drawingml/2006/main" name="2025 Foster Template">
  <a:themeElements>
    <a:clrScheme name="2025 Foster">
      <a:dk1>
        <a:srgbClr val="000000"/>
      </a:dk1>
      <a:lt1>
        <a:srgbClr val="FFFFFF"/>
      </a:lt1>
      <a:dk2>
        <a:srgbClr val="32006E"/>
      </a:dk2>
      <a:lt2>
        <a:srgbClr val="FFFFFF"/>
      </a:lt2>
      <a:accent1>
        <a:srgbClr val="B7A579"/>
      </a:accent1>
      <a:accent2>
        <a:srgbClr val="8C51FF"/>
      </a:accent2>
      <a:accent3>
        <a:srgbClr val="917B4C"/>
      </a:accent3>
      <a:accent4>
        <a:srgbClr val="000000"/>
      </a:accent4>
      <a:accent5>
        <a:srgbClr val="D6D5E6"/>
      </a:accent5>
      <a:accent6>
        <a:srgbClr val="C1BAEB"/>
      </a:accent6>
      <a:hlink>
        <a:srgbClr val="6A44AC"/>
      </a:hlink>
      <a:folHlink>
        <a:srgbClr val="6A45AB"/>
      </a:folHlink>
    </a:clrScheme>
    <a:fontScheme name="Custom 1">
      <a:majorFont>
        <a:latin typeface="Encode Sans Normal"/>
        <a:ea typeface=""/>
        <a:cs typeface=""/>
      </a:majorFont>
      <a:minorFont>
        <a:latin typeface="Ope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defRPr dirty="0">
            <a:latin typeface="+mn-lt"/>
          </a:defRPr>
        </a:defPPr>
      </a:lstStyle>
    </a:txDef>
  </a:objectDefaults>
  <a:extraClrSchemeLst/>
  <a:extLst>
    <a:ext uri="{05A4C25C-085E-4340-85A3-A5531E510DB2}">
      <thm15:themeFamily xmlns:thm15="http://schemas.microsoft.com/office/thememl/2012/main" name="Presentation1" id="{C83D68AC-D092-DE4D-91CD-78B5B2F14BB7}" vid="{76B0F23E-65E1-BF4F-AD56-3242312FE2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e08c221-0eca-4d51-ae15-1dc733eb7f09">
      <Terms xmlns="http://schemas.microsoft.com/office/infopath/2007/PartnerControls"/>
    </lcf76f155ced4ddcb4097134ff3c332f>
    <TaxCatchAll xmlns="ab06a5aa-8e31-4bdb-9b13-38c58a92ec8a"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CC02147D869F5D4A8DCDB203BDC4D329" ma:contentTypeVersion="15" ma:contentTypeDescription="Create a new document." ma:contentTypeScope="" ma:versionID="f17a597da68fab695020270d6a7086cb">
  <xsd:schema xmlns:xsd="http://www.w3.org/2001/XMLSchema" xmlns:xs="http://www.w3.org/2001/XMLSchema" xmlns:p="http://schemas.microsoft.com/office/2006/metadata/properties" xmlns:ns2="3e08c221-0eca-4d51-ae15-1dc733eb7f09" xmlns:ns3="59ca73c7-24b6-45ce-ba44-a049ea6a0300" xmlns:ns4="ab06a5aa-8e31-4bdb-9b13-38c58a92ec8a" targetNamespace="http://schemas.microsoft.com/office/2006/metadata/properties" ma:root="true" ma:fieldsID="50ee8e58bc979c30809c6ae6bdc56957" ns2:_="" ns3:_="" ns4:_="">
    <xsd:import namespace="3e08c221-0eca-4d51-ae15-1dc733eb7f09"/>
    <xsd:import namespace="59ca73c7-24b6-45ce-ba44-a049ea6a0300"/>
    <xsd:import namespace="ab06a5aa-8e31-4bdb-9b13-38c58a92ec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08c221-0eca-4d51-ae15-1dc733eb7f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e20148b9-20a4-48a0-acba-ba52d68a37a3" ma:termSetId="09814cd3-568e-fe90-9814-8d621ff8fb84" ma:anchorId="fba54fb3-c3e1-fe81-a776-ca4b69148c4d" ma:open="true" ma:isKeyword="false">
      <xsd:complexType>
        <xsd:sequence>
          <xsd:element ref="pc:Terms" minOccurs="0" maxOccurs="1"/>
        </xsd:sequence>
      </xsd:complex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9ca73c7-24b6-45ce-ba44-a049ea6a0300"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b06a5aa-8e31-4bdb-9b13-38c58a92ec8a"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06e45dac-407b-4abe-b599-ada99fe8f0c3}" ma:internalName="TaxCatchAll" ma:showField="CatchAllData" ma:web="59ca73c7-24b6-45ce-ba44-a049ea6a030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5E56C4E-BE7C-4EF0-9A58-932F2D9A29D2}">
  <ds:schemaRefs>
    <ds:schemaRef ds:uri="http://purl.org/dc/terms/"/>
    <ds:schemaRef ds:uri="http://purl.org/dc/elements/1.1/"/>
    <ds:schemaRef ds:uri="http://schemas.microsoft.com/office/2006/documentManagement/types"/>
    <ds:schemaRef ds:uri="ab06a5aa-8e31-4bdb-9b13-38c58a92ec8a"/>
    <ds:schemaRef ds:uri="3e08c221-0eca-4d51-ae15-1dc733eb7f09"/>
    <ds:schemaRef ds:uri="http://schemas.openxmlformats.org/package/2006/metadata/core-properties"/>
    <ds:schemaRef ds:uri="59ca73c7-24b6-45ce-ba44-a049ea6a0300"/>
    <ds:schemaRef ds:uri="http://schemas.microsoft.com/office/2006/metadata/properti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A0FAB5FD-9BA7-405C-859C-9F45E41B0168}">
  <ds:schemaRefs>
    <ds:schemaRef ds:uri="http://schemas.microsoft.com/sharepoint/v3/contenttype/forms"/>
  </ds:schemaRefs>
</ds:datastoreItem>
</file>

<file path=customXml/itemProps3.xml><?xml version="1.0" encoding="utf-8"?>
<ds:datastoreItem xmlns:ds="http://schemas.openxmlformats.org/officeDocument/2006/customXml" ds:itemID="{8187960B-CFD5-4D75-AB4F-AC2F70658F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08c221-0eca-4d51-ae15-1dc733eb7f09"/>
    <ds:schemaRef ds:uri="59ca73c7-24b6-45ce-ba44-a049ea6a0300"/>
    <ds:schemaRef ds:uri="ab06a5aa-8e31-4bdb-9b13-38c58a92ec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6b6dd5b-f02f-441a-99a0-162ac5060bd2}" enabled="0" method="" siteId="{f6b6dd5b-f02f-441a-99a0-162ac5060bd2}" removed="1"/>
</clbl:labelList>
</file>

<file path=docProps/app.xml><?xml version="1.0" encoding="utf-8"?>
<Properties xmlns="http://schemas.openxmlformats.org/officeDocument/2006/extended-properties" xmlns:vt="http://schemas.openxmlformats.org/officeDocument/2006/docPropsVTypes">
  <Template/>
  <TotalTime>379</TotalTime>
  <Words>1305</Words>
  <Application>Microsoft Office PowerPoint</Application>
  <PresentationFormat>On-screen Show (16:9)</PresentationFormat>
  <Paragraphs>249</Paragraphs>
  <Slides>32</Slides>
  <Notes>32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Calibri</vt:lpstr>
      <vt:lpstr>Uni Sans Regular</vt:lpstr>
      <vt:lpstr>Encode Sans Normal ExtraBold</vt:lpstr>
      <vt:lpstr>Helvetica Neue Light</vt:lpstr>
      <vt:lpstr>Wingdings</vt:lpstr>
      <vt:lpstr>Open Sans</vt:lpstr>
      <vt:lpstr>Open Sans Light</vt:lpstr>
      <vt:lpstr>Arial</vt:lpstr>
      <vt:lpstr>Helvetica Neue</vt:lpstr>
      <vt:lpstr>Encode Sans Normal Medium</vt:lpstr>
      <vt:lpstr>2025 Foster Template</vt:lpstr>
      <vt:lpstr>Introduction to Accounting and Finance Analytics</vt:lpstr>
      <vt:lpstr>What will we do today?</vt:lpstr>
      <vt:lpstr>Course Diagram</vt:lpstr>
      <vt:lpstr>Course Overview</vt:lpstr>
      <vt:lpstr>What will we do today?</vt:lpstr>
      <vt:lpstr>Accounting &amp; Finance Function</vt:lpstr>
      <vt:lpstr>A now Public Company Example (pre-IPO)</vt:lpstr>
      <vt:lpstr>That same public company after IPO</vt:lpstr>
      <vt:lpstr>Accounting &amp; Finance Function </vt:lpstr>
      <vt:lpstr>Accounting &amp; Finance Function</vt:lpstr>
      <vt:lpstr>What will we do today?</vt:lpstr>
      <vt:lpstr>Analyzing Public Disclosures </vt:lpstr>
      <vt:lpstr>What is accounting income?</vt:lpstr>
      <vt:lpstr>The Income Statement</vt:lpstr>
      <vt:lpstr>Analyzing Public Disclosures</vt:lpstr>
      <vt:lpstr>Analyzing Public Disclosures</vt:lpstr>
      <vt:lpstr>Marriott</vt:lpstr>
      <vt:lpstr>Analyzing Public Disclosures</vt:lpstr>
      <vt:lpstr>GAAP and Non-GAAP</vt:lpstr>
      <vt:lpstr>Understanding the Income statement</vt:lpstr>
      <vt:lpstr>Frequency of Exclusions </vt:lpstr>
      <vt:lpstr>Submission</vt:lpstr>
      <vt:lpstr>Submission Part 1</vt:lpstr>
      <vt:lpstr>What will we do today?</vt:lpstr>
      <vt:lpstr>Transaction analysis</vt:lpstr>
      <vt:lpstr>Transaction analysis</vt:lpstr>
      <vt:lpstr>Peach State University</vt:lpstr>
      <vt:lpstr>Peach State University</vt:lpstr>
      <vt:lpstr>What will we do today?</vt:lpstr>
      <vt:lpstr>Disclosure Decision</vt:lpstr>
      <vt:lpstr>What will we do next?</vt:lpstr>
      <vt:lpstr> Thank you</vt:lpstr>
    </vt:vector>
  </TitlesOfParts>
  <Manager/>
  <Company>UW Foster School of Business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Foster Template</dc:title>
  <dc:subject/>
  <dc:creator>Stephanie Hennessy</dc:creator>
  <cp:keywords>PowerPoint, Template</cp:keywords>
  <dc:description/>
  <cp:lastModifiedBy>Asher Curtis</cp:lastModifiedBy>
  <cp:revision>7</cp:revision>
  <cp:lastPrinted>2026-04-02T21:15:21Z</cp:lastPrinted>
  <dcterms:created xsi:type="dcterms:W3CDTF">2026-02-18T18:51:35Z</dcterms:created>
  <dcterms:modified xsi:type="dcterms:W3CDTF">2026-04-02T21:21:12Z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0x010100CC02147D869F5D4A8DCDB203BDC4D329</vt:lpwstr>
  </property>
  <property fmtid="{D5CDD505-2E9C-101B-9397-08002B2CF9AE}" pid="3" name="ImageCreateDate">
    <vt:lpwstr/>
  </property>
  <property fmtid="{D5CDD505-2E9C-101B-9397-08002B2CF9AE}" pid="4" name="Foster Site Scope">
    <vt:lpwstr>Intranet</vt:lpwstr>
  </property>
  <property fmtid="{D5CDD505-2E9C-101B-9397-08002B2CF9AE}" pid="5" name="Foster Permission Form">
    <vt:lpwstr/>
  </property>
  <property fmtid="{D5CDD505-2E9C-101B-9397-08002B2CF9AE}" pid="6" name="This needs to be set to identify the intended use of this image.  Examples would be &quot;Homepage&quot; or &quot;Program Cent">
    <vt:lpwstr/>
  </property>
  <property fmtid="{D5CDD505-2E9C-101B-9397-08002B2CF9AE}" pid="7" name="Page Location">
    <vt:lpwstr>Brand</vt:lpwstr>
  </property>
  <property fmtid="{D5CDD505-2E9C-101B-9397-08002B2CF9AE}" pid="8" name="Caption">
    <vt:lpwstr/>
  </property>
  <property fmtid="{D5CDD505-2E9C-101B-9397-08002B2CF9AE}" pid="9" name="Source Image">
    <vt:lpwstr/>
  </property>
  <property fmtid="{D5CDD505-2E9C-101B-9397-08002B2CF9AE}" pid="10" name="Comments">
    <vt:lpwstr/>
  </property>
  <property fmtid="{D5CDD505-2E9C-101B-9397-08002B2CF9AE}" pid="11" name="Order">
    <vt:r8>2700</vt:r8>
  </property>
  <property fmtid="{D5CDD505-2E9C-101B-9397-08002B2CF9AE}" pid="12" name="xd_Signature">
    <vt:bool>false</vt:bool>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MediaServiceImageTags">
    <vt:lpwstr/>
  </property>
</Properties>
</file>